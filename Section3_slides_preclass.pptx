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8" r:id="rId18"/>
    <p:sldId id="273" r:id="rId19"/>
    <p:sldId id="274" r:id="rId20"/>
    <p:sldId id="27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84261"/>
  </p:normalViewPr>
  <p:slideViewPr>
    <p:cSldViewPr>
      <p:cViewPr varScale="1">
        <p:scale>
          <a:sx n="99" d="100"/>
          <a:sy n="99" d="100"/>
        </p:scale>
        <p:origin x="128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72C1F-6C3C-C74F-B70B-0EE17F8CC302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11D80-A48E-B842-A5FC-4C2CD2C43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158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confidence interval gives us a </a:t>
            </a:r>
            <a:r>
              <a:rPr lang="en-US" altLang="zh-CN" i="0" dirty="0"/>
              <a:t>range</a:t>
            </a:r>
            <a:r>
              <a:rPr lang="en-US" altLang="zh-CN" dirty="0"/>
              <a:t> of plausible values for the true population parameter. It’s not saying there’s a 95% chance the parameter itself moves around; the parameter is fixed, but our interval from the sample varies.</a:t>
            </a:r>
          </a:p>
          <a:p>
            <a:r>
              <a:rPr lang="en-US" altLang="zh-CN" dirty="0"/>
              <a:t>The </a:t>
            </a:r>
            <a:r>
              <a:rPr lang="en-US" altLang="zh-CN" b="0" dirty="0"/>
              <a:t>estimate: </a:t>
            </a:r>
            <a:r>
              <a:rPr lang="en-US" altLang="zh-CN" dirty="0"/>
              <a:t>mean, proportion, etc.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624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Intuition: CLT </a:t>
            </a:r>
            <a:r>
              <a:rPr lang="en-US" altLang="zh-CN" i="0" dirty="0"/>
              <a:t>connects sample data to population inference. It’s the bridge </a:t>
            </a:r>
            <a:r>
              <a:rPr lang="en-US" altLang="zh-CN" dirty="0"/>
              <a:t>that lets us do inference in practice.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6562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Confidence intervals account for random error but not for </a:t>
            </a:r>
            <a:r>
              <a:rPr lang="en-US" altLang="zh-CN" b="0" dirty="0"/>
              <a:t>systematic error</a:t>
            </a:r>
            <a:r>
              <a:rPr lang="en-US" altLang="zh-CN" dirty="0"/>
              <a:t> (bad sampling, biased methods).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1855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br>
              <a:rPr lang="en-US" altLang="zh-CN" dirty="0"/>
            </a:br>
            <a:r>
              <a:rPr lang="en-US" altLang="zh-CN" b="0" dirty="0"/>
              <a:t>Group A: Mean = 10, 95% CI = [8, 12]</a:t>
            </a:r>
          </a:p>
          <a:p>
            <a:r>
              <a:rPr lang="en-US" altLang="zh-CN" b="0" dirty="0"/>
              <a:t>Group B: Mean = 12, 95% CI = [10, 14]</a:t>
            </a:r>
          </a:p>
          <a:p>
            <a:r>
              <a:rPr lang="en-US" altLang="zh-CN" b="0" dirty="0"/>
              <a:t>These intervals overlap (10–12).</a:t>
            </a:r>
          </a:p>
          <a:p>
            <a:r>
              <a:rPr lang="en-US" altLang="zh-CN" b="0" dirty="0"/>
              <a:t>But if we compute the difference (A–B = –2), its 95% CI might be [–3.5, –0.5].</a:t>
            </a:r>
          </a:p>
          <a:p>
            <a:r>
              <a:rPr lang="en-US" altLang="zh-CN" b="0" dirty="0"/>
              <a:t>This CI does not include 0 </a:t>
            </a:r>
            <a:r>
              <a:rPr lang="en-US" altLang="zh-CN" b="0" dirty="0">
                <a:sym typeface="Wingdings" pitchFamily="2" charset="2"/>
              </a:rPr>
              <a:t></a:t>
            </a:r>
            <a:r>
              <a:rPr lang="en-US" altLang="zh-CN" b="0" dirty="0"/>
              <a:t> significant difference</a:t>
            </a:r>
          </a:p>
          <a:p>
            <a:r>
              <a:rPr lang="en-US" altLang="zh-CN" b="0" dirty="0"/>
              <a:t>So even though the original CIs overlap, the groups are still statistically different.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6317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Medical example: A drug reduces blood pressure by 1 mmHg with p &lt; 0.001 (statistically significant</a:t>
            </a:r>
            <a:r>
              <a:rPr lang="en-US" altLang="zh-CN" dirty="0"/>
              <a:t>). But in practice, that reduction is too small to improve patient health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en-US" altLang="zh-CN" dirty="0"/>
              <a:t> not substantively significant.</a:t>
            </a:r>
            <a:endParaRPr lang="en-US" altLang="zh-CN" b="0" dirty="0"/>
          </a:p>
          <a:p>
            <a:r>
              <a:rPr lang="en-US" altLang="zh-CN" b="0" dirty="0"/>
              <a:t>Education example: A new teaching method raises test scores by 10 points on average, but the p-value = 0.12. Substantively, that effect could be meaningful for students, but the study didn’t have enough power.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2250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Break into groups in 3 or 4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788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1158071"/>
          </a:xfr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503" y="345440"/>
            <a:ext cx="10754994" cy="148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595" y="1981200"/>
            <a:ext cx="9782810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4715" y="6448256"/>
            <a:ext cx="2571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9437" y="1600200"/>
            <a:ext cx="8493125" cy="271426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6000" dirty="0">
                <a:solidFill>
                  <a:srgbClr val="005493"/>
                </a:solidFill>
              </a:rPr>
              <a:t>G</a:t>
            </a:r>
            <a:r>
              <a:rPr lang="en-US" altLang="zh-CN" sz="6000" dirty="0">
                <a:solidFill>
                  <a:schemeClr val="tx2"/>
                </a:solidFill>
              </a:rPr>
              <a:t>ENED </a:t>
            </a:r>
            <a:r>
              <a:rPr lang="en-US" altLang="zh-CN" sz="6000" dirty="0">
                <a:solidFill>
                  <a:srgbClr val="005493"/>
                </a:solidFill>
              </a:rPr>
              <a:t>1079 Section 3 </a:t>
            </a:r>
            <a:r>
              <a:rPr sz="6000" dirty="0">
                <a:solidFill>
                  <a:srgbClr val="005493"/>
                </a:solidFill>
              </a:rPr>
              <a:t>Confidence Intervals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752600"/>
            <a:ext cx="7084061" cy="291438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50000"/>
              </a:lnSpc>
              <a:spcBef>
                <a:spcPts val="700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/>
                <a:cs typeface="Arial"/>
              </a:rPr>
              <a:t>Review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concepts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lnSpc>
                <a:spcPct val="150000"/>
              </a:lnSpc>
              <a:spcBef>
                <a:spcPts val="600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questions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lnSpc>
                <a:spcPct val="150000"/>
              </a:lnSpc>
              <a:spcBef>
                <a:spcPts val="700"/>
              </a:spcBef>
              <a:buFont typeface="Calibri"/>
              <a:buChar char="-"/>
              <a:tabLst>
                <a:tab pos="697865" algn="l"/>
              </a:tabLst>
            </a:pPr>
            <a:r>
              <a:rPr sz="2000" dirty="0">
                <a:latin typeface="Arial"/>
                <a:cs typeface="Arial"/>
              </a:rPr>
              <a:t>Practice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</a:p>
          <a:p>
            <a:pPr marL="697865" lvl="1" indent="-227965">
              <a:lnSpc>
                <a:spcPct val="150000"/>
              </a:lnSpc>
              <a:spcBef>
                <a:spcPts val="530"/>
              </a:spcBef>
              <a:buFont typeface="Calibri"/>
              <a:buChar char="-"/>
              <a:tabLst>
                <a:tab pos="697865" algn="l"/>
              </a:tabLst>
            </a:pPr>
            <a:r>
              <a:rPr sz="2000" dirty="0">
                <a:latin typeface="Arial"/>
                <a:cs typeface="Arial"/>
              </a:rPr>
              <a:t>Practice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endParaRPr lang="en-US" sz="2000" dirty="0">
              <a:latin typeface="Arial"/>
              <a:cs typeface="Arial"/>
            </a:endParaRPr>
          </a:p>
          <a:p>
            <a:pPr marL="240665" indent="-227965">
              <a:lnSpc>
                <a:spcPct val="150000"/>
              </a:lnSpc>
              <a:spcBef>
                <a:spcPts val="640"/>
              </a:spcBef>
              <a:buChar char="•"/>
              <a:tabLst>
                <a:tab pos="240665" algn="l"/>
              </a:tabLst>
            </a:pPr>
            <a:r>
              <a:rPr lang="en-US" sz="2400" dirty="0">
                <a:latin typeface="Arial"/>
                <a:cs typeface="Arial"/>
              </a:rPr>
              <a:t>Group</a:t>
            </a:r>
            <a:r>
              <a:rPr lang="en-US" sz="2400" spc="-13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Activity</a:t>
            </a:r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–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147935" cy="4048672"/>
          </a:xfrm>
          <a:prstGeom prst="rect">
            <a:avLst/>
          </a:prstGeom>
        </p:spPr>
        <p:txBody>
          <a:bodyPr vert="horz" wrap="square" lIns="0" tIns="53975" rIns="0" bIns="0" rtlCol="0" anchor="t">
            <a:spAutoFit/>
          </a:bodyPr>
          <a:lstStyle/>
          <a:p>
            <a:pPr marL="240665" indent="-227965">
              <a:lnSpc>
                <a:spcPct val="120000"/>
              </a:lnSpc>
              <a:spcBef>
                <a:spcPts val="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95%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 dirty="0">
              <a:latin typeface="Arial"/>
              <a:cs typeface="Arial"/>
            </a:endParaRPr>
          </a:p>
          <a:p>
            <a:pPr marL="698500" marR="93980" indent="-228600" algn="l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lang="en-US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range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values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95%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sure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some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true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population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parameter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lies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between,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given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our</a:t>
            </a:r>
            <a:r>
              <a:rPr lang="en-US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assumptions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about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data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observe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(e.g.,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was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randomly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collected).</a:t>
            </a:r>
            <a:endParaRPr lang="en-US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515"/>
              </a:spcBef>
              <a:buFont typeface="Calibri"/>
              <a:buChar char="-"/>
              <a:tabLst>
                <a:tab pos="698500" algn="l"/>
              </a:tabLst>
            </a:pP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Or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:</a:t>
            </a:r>
            <a:r>
              <a:rPr lang="en-US" sz="1800" spc="-5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range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values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likely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include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parameter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5B9BD5"/>
                </a:solidFill>
                <a:latin typeface="Arial"/>
                <a:cs typeface="Arial"/>
              </a:rPr>
              <a:t>are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trying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estimate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from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sample.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It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there if the experiment or test was repeated 100 times, 95 of those would contain the true population parameter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trying</a:t>
            </a:r>
            <a:r>
              <a:rPr lang="en-US"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5B9BD5"/>
                </a:solidFill>
                <a:latin typeface="Arial"/>
                <a:cs typeface="Arial"/>
              </a:rPr>
              <a:t>estimate.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53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It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10" dirty="0">
                <a:latin typeface="Arial"/>
                <a:cs typeface="Arial"/>
              </a:rPr>
              <a:t> elements: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295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(1)</a:t>
            </a:r>
            <a:r>
              <a:rPr sz="1800" spc="-6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estimate,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(2)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how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much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varies,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(3)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size.</a:t>
            </a:r>
            <a:endParaRPr sz="22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How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get a more accurate estimate 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interval: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295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Increase</a:t>
            </a:r>
            <a:r>
              <a:rPr sz="18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size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Central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Limit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Theorem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–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283190" cy="31926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indent="-227965">
              <a:lnSpc>
                <a:spcPct val="120000"/>
              </a:lnSpc>
              <a:spcBef>
                <a:spcPts val="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Central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Limit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Theorem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(CLT)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that…</a:t>
            </a:r>
            <a:endParaRPr sz="2000" dirty="0">
              <a:latin typeface="Arial"/>
              <a:cs typeface="Arial"/>
            </a:endParaRPr>
          </a:p>
          <a:p>
            <a:pPr marL="698500" marR="13335" lvl="1" indent="-228600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As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size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grows,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distribution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converges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normal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distribution.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This</a:t>
            </a:r>
            <a:r>
              <a:rPr sz="18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spc="-35" dirty="0">
                <a:solidFill>
                  <a:srgbClr val="5B9BD5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what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typically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calculate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intervals.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20000"/>
              </a:lnSpc>
              <a:buClr>
                <a:srgbClr val="5B9BD5"/>
              </a:buClr>
              <a:buFont typeface="Calibri"/>
              <a:buChar char="-"/>
            </a:pP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6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25" dirty="0">
                <a:latin typeface="Arial"/>
                <a:cs typeface="Arial"/>
              </a:rPr>
              <a:t> CLT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20" dirty="0">
                <a:latin typeface="Arial"/>
                <a:cs typeface="Arial"/>
              </a:rPr>
              <a:t> for?</a:t>
            </a:r>
            <a:endParaRPr sz="2000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intervals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statistical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tests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(e.g.,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patients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taking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drug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more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likely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experience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viral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suppression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HIV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than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patients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taking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drug</a:t>
            </a:r>
            <a:r>
              <a:rPr sz="1800" spc="-5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Y?)</a:t>
            </a:r>
            <a:endParaRPr sz="18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310"/>
              </a:spcBef>
              <a:buFont typeface="Calibri"/>
              <a:buChar char="-"/>
              <a:tabLst>
                <a:tab pos="697865" algn="l"/>
              </a:tabLst>
            </a:pPr>
            <a:r>
              <a:rPr sz="1800" spc="-8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tell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how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“good”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estimate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75" dirty="0">
                <a:solidFill>
                  <a:srgbClr val="5B9BD5"/>
                </a:solidFill>
                <a:latin typeface="Wingdings"/>
                <a:cs typeface="Arial"/>
                <a:sym typeface="Wingdings" pitchFamily="2" charset="2"/>
              </a:rPr>
              <a:t></a:t>
            </a:r>
            <a:r>
              <a:rPr sz="1800" spc="45" dirty="0">
                <a:solidFill>
                  <a:srgbClr val="5B9BD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larger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CI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more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caution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must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be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taken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and</a:t>
            </a:r>
            <a:r>
              <a:rPr spc="-65" dirty="0">
                <a:solidFill>
                  <a:schemeClr val="tx2"/>
                </a:solidFill>
              </a:rPr>
              <a:t> </a:t>
            </a:r>
            <a:r>
              <a:rPr spc="-20" dirty="0">
                <a:solidFill>
                  <a:schemeClr val="tx2"/>
                </a:solidFill>
              </a:rPr>
              <a:t>CLT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-</a:t>
            </a:r>
            <a:r>
              <a:rPr spc="-6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0110" y="1500647"/>
            <a:ext cx="7891780" cy="4780280"/>
            <a:chOff x="745638" y="1447800"/>
            <a:chExt cx="7891780" cy="4780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407" y="1689044"/>
              <a:ext cx="7684887" cy="4538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638" y="1447800"/>
              <a:ext cx="7891193" cy="47243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332085" cy="18885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307975">
              <a:lnSpc>
                <a:spcPct val="120000"/>
              </a:lnSpc>
              <a:spcBef>
                <a:spcPts val="330"/>
              </a:spcBef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sample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college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surveyed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whether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all- </a:t>
            </a:r>
            <a:r>
              <a:rPr sz="2000" dirty="0">
                <a:latin typeface="Arial"/>
                <a:cs typeface="Arial"/>
              </a:rPr>
              <a:t>nighter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finish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assignment.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 for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proportion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 college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all-nighter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[0.512,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0.668].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How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would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you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interpret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confidence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interval?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756140" cy="157305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2016,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pollsters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routinely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reported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support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Trump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ranging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40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percent.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Ignoring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electoral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college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issues,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might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explain</a:t>
            </a:r>
            <a:r>
              <a:rPr sz="2000" b="1" spc="-10" dirty="0">
                <a:latin typeface="Arial"/>
                <a:cs typeface="Arial"/>
              </a:rPr>
              <a:t> their </a:t>
            </a:r>
            <a:r>
              <a:rPr sz="2000" b="1" dirty="0">
                <a:latin typeface="Arial"/>
                <a:cs typeface="Arial"/>
              </a:rPr>
              <a:t>incorrect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predictions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election</a:t>
            </a:r>
            <a:r>
              <a:rPr sz="2000" b="1" spc="-10" dirty="0">
                <a:latin typeface="Arial"/>
                <a:cs typeface="Arial"/>
              </a:rPr>
              <a:t> outcome?</a:t>
            </a:r>
            <a:endParaRPr lang="en-US" sz="2200" b="1" spc="-10" dirty="0">
              <a:latin typeface="Arial"/>
              <a:cs typeface="Arial"/>
            </a:endParaRPr>
          </a:p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endParaRPr lang="en-US" sz="2200" spc="-10" dirty="0">
              <a:solidFill>
                <a:srgbClr val="5B9BD5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88" y="533400"/>
            <a:ext cx="11374011" cy="848822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469265" marR="5080" algn="l">
              <a:lnSpc>
                <a:spcPts val="4680"/>
              </a:lnSpc>
              <a:spcBef>
                <a:spcPts val="755"/>
              </a:spcBef>
            </a:pPr>
            <a:r>
              <a:rPr sz="3600" dirty="0">
                <a:solidFill>
                  <a:schemeClr val="tx2"/>
                </a:solidFill>
              </a:rPr>
              <a:t>Confidence</a:t>
            </a:r>
            <a:r>
              <a:rPr sz="3600" spc="-2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Intervals</a:t>
            </a:r>
            <a:r>
              <a:rPr sz="3600" spc="-1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and</a:t>
            </a:r>
            <a:r>
              <a:rPr sz="3600" spc="-15" dirty="0">
                <a:solidFill>
                  <a:schemeClr val="tx2"/>
                </a:solidFill>
              </a:rPr>
              <a:t> </a:t>
            </a:r>
            <a:r>
              <a:rPr sz="3600" spc="-10" dirty="0">
                <a:solidFill>
                  <a:schemeClr val="tx2"/>
                </a:solidFill>
              </a:rPr>
              <a:t>Statistical Significance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052685" cy="393812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marR="734060" indent="-228600" algn="just">
              <a:lnSpc>
                <a:spcPct val="120000"/>
              </a:lnSpc>
              <a:spcBef>
                <a:spcPts val="35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two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intervals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do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not</a:t>
            </a:r>
            <a:r>
              <a:rPr sz="2000" b="1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overlap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conclude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 </a:t>
            </a:r>
            <a:r>
              <a:rPr sz="2000" dirty="0">
                <a:latin typeface="Arial"/>
                <a:cs typeface="Arial"/>
              </a:rPr>
              <a:t>statistically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population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given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level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spc="-10" dirty="0">
                <a:latin typeface="Arial"/>
                <a:cs typeface="Arial"/>
              </a:rPr>
              <a:t>confidence</a:t>
            </a:r>
            <a:endParaRPr sz="2000" dirty="0">
              <a:latin typeface="Arial"/>
              <a:cs typeface="Arial"/>
            </a:endParaRPr>
          </a:p>
          <a:p>
            <a:pPr marL="698500" marR="302895" lvl="1" indent="-228600" algn="just">
              <a:lnSpc>
                <a:spcPct val="120000"/>
              </a:lnSpc>
              <a:spcBef>
                <a:spcPts val="505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confidence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intervals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*do*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overlap,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does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prove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*not*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statistically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significant</a:t>
            </a:r>
            <a:r>
              <a:rPr sz="1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difference</a:t>
            </a:r>
            <a:endParaRPr sz="1800" dirty="0">
              <a:latin typeface="Arial"/>
              <a:cs typeface="Arial"/>
            </a:endParaRPr>
          </a:p>
          <a:p>
            <a:pPr marL="697865" lvl="1" indent="-227965" algn="just">
              <a:lnSpc>
                <a:spcPct val="120000"/>
              </a:lnSpc>
              <a:spcBef>
                <a:spcPts val="204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overlapping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CI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“rule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thumb”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only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20000"/>
              </a:lnSpc>
              <a:buClr>
                <a:srgbClr val="FF0000"/>
              </a:buClr>
              <a:buFont typeface="Calibri"/>
              <a:buChar char="-"/>
            </a:pPr>
            <a:endParaRPr sz="2200" dirty="0">
              <a:latin typeface="Arial"/>
              <a:cs typeface="Arial"/>
            </a:endParaRPr>
          </a:p>
          <a:p>
            <a:pPr marL="241300" marR="5080" indent="-228600">
              <a:lnSpc>
                <a:spcPct val="120000"/>
              </a:lnSpc>
              <a:spcBef>
                <a:spcPts val="167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interval</a:t>
            </a:r>
            <a:r>
              <a:rPr sz="2000" b="1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for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difference</a:t>
            </a:r>
            <a:r>
              <a:rPr sz="2000" b="1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contain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zero,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conclude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statistically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population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given </a:t>
            </a:r>
            <a:r>
              <a:rPr sz="2000" dirty="0">
                <a:latin typeface="Arial"/>
                <a:cs typeface="Arial"/>
              </a:rPr>
              <a:t>level 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confidence.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11811000" cy="848822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469265" marR="5080">
              <a:lnSpc>
                <a:spcPts val="4680"/>
              </a:lnSpc>
              <a:spcBef>
                <a:spcPts val="755"/>
              </a:spcBef>
            </a:pPr>
            <a:r>
              <a:rPr sz="3600" dirty="0">
                <a:solidFill>
                  <a:schemeClr val="tx2"/>
                </a:solidFill>
              </a:rPr>
              <a:t>Statistical</a:t>
            </a:r>
            <a:r>
              <a:rPr sz="3600" spc="-2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Significance</a:t>
            </a:r>
            <a:r>
              <a:rPr sz="3600" spc="-5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vs</a:t>
            </a:r>
            <a:r>
              <a:rPr sz="3600" spc="-5" dirty="0">
                <a:solidFill>
                  <a:schemeClr val="tx2"/>
                </a:solidFill>
              </a:rPr>
              <a:t> </a:t>
            </a:r>
            <a:r>
              <a:rPr sz="3600" spc="-10" dirty="0">
                <a:solidFill>
                  <a:schemeClr val="tx2"/>
                </a:solidFill>
              </a:rPr>
              <a:t>Substantive Significance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595"/>
            <a:ext cx="10354945" cy="14046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algn="just">
              <a:lnSpc>
                <a:spcPct val="120000"/>
              </a:lnSpc>
              <a:spcBef>
                <a:spcPts val="890"/>
              </a:spcBef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statistical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substantive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significance?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sz="2200" dirty="0">
              <a:latin typeface="Arial"/>
              <a:cs typeface="Arial"/>
            </a:endParaRPr>
          </a:p>
          <a:p>
            <a:pPr marL="12700" algn="just">
              <a:lnSpc>
                <a:spcPct val="120000"/>
              </a:lnSpc>
              <a:spcBef>
                <a:spcPts val="1380"/>
              </a:spcBef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highlight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0" dirty="0">
                <a:latin typeface="Arial"/>
                <a:cs typeface="Arial"/>
              </a:rPr>
              <a:t> difference?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2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Intervals:</a:t>
            </a:r>
            <a:r>
              <a:rPr spc="-1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Group</a:t>
            </a:r>
            <a:r>
              <a:rPr spc="-180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Activity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5564"/>
            <a:ext cx="10334625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abstracts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studies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social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media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mental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health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next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slides.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study,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answer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following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question: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primary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outcomes?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0" dirty="0">
                <a:latin typeface="Arial"/>
                <a:cs typeface="Arial"/>
              </a:rPr>
              <a:t> treatment?</a:t>
            </a:r>
            <a:endParaRPr sz="2000" dirty="0">
              <a:latin typeface="Arial"/>
              <a:cs typeface="Arial"/>
            </a:endParaRPr>
          </a:p>
          <a:p>
            <a:pPr marL="241300" marR="848360" indent="-228600">
              <a:lnSpc>
                <a:spcPct val="100000"/>
              </a:lnSpc>
              <a:spcBef>
                <a:spcPts val="12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treatment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effects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outcome?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Report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each </a:t>
            </a:r>
            <a:r>
              <a:rPr sz="2000" spc="-10" dirty="0">
                <a:latin typeface="Arial"/>
                <a:cs typeface="Arial"/>
              </a:rPr>
              <a:t>outcome.</a:t>
            </a:r>
            <a:endParaRPr sz="2000" dirty="0">
              <a:latin typeface="Arial"/>
              <a:cs typeface="Arial"/>
            </a:endParaRPr>
          </a:p>
          <a:p>
            <a:pPr marL="241300" marR="287655" indent="-228600">
              <a:lnSpc>
                <a:spcPct val="100000"/>
              </a:lnSpc>
              <a:spcBef>
                <a:spcPts val="12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potential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explanations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explain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studies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arrived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different results?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220334"/>
          </a:xfrm>
          <a:prstGeom prst="rect">
            <a:avLst/>
          </a:prstGeom>
        </p:spPr>
        <p:txBody>
          <a:bodyPr vert="horz" wrap="square" lIns="0" tIns="537972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Study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552" y="1620922"/>
            <a:ext cx="4733917" cy="22993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7412" y="4317492"/>
            <a:ext cx="4307205" cy="873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14"/>
              </a:spcBef>
            </a:pP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Barthorpe,</a:t>
            </a:r>
            <a:r>
              <a:rPr sz="1400" spc="-1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Amber,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et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al.</a:t>
            </a:r>
            <a:r>
              <a:rPr sz="14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"Is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social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media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screen</a:t>
            </a:r>
            <a:r>
              <a:rPr sz="1400" b="1" spc="5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time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really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associated</a:t>
            </a:r>
            <a:r>
              <a:rPr sz="14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with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poor</a:t>
            </a:r>
            <a:r>
              <a:rPr sz="14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adolescent</a:t>
            </a:r>
            <a:r>
              <a:rPr sz="14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mental health?</a:t>
            </a:r>
            <a:r>
              <a:rPr sz="1400" b="1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400" b="1" spc="-7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time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use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diary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study."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Journal</a:t>
            </a:r>
            <a:r>
              <a:rPr sz="1400" i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400" i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222222"/>
                </a:solidFill>
                <a:latin typeface="Arial"/>
                <a:cs typeface="Arial"/>
              </a:rPr>
              <a:t>affective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disorders</a:t>
            </a:r>
            <a:r>
              <a:rPr sz="1400" i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274</a:t>
            </a:r>
            <a:r>
              <a:rPr sz="14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(2020):</a:t>
            </a:r>
            <a:r>
              <a:rPr sz="14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864-</a:t>
            </a:r>
            <a:r>
              <a:rPr sz="1400" spc="-20" dirty="0">
                <a:solidFill>
                  <a:srgbClr val="222222"/>
                </a:solidFill>
                <a:latin typeface="Arial"/>
                <a:cs typeface="Arial"/>
              </a:rPr>
              <a:t>870.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4356" y="793584"/>
            <a:ext cx="6112484" cy="55643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095" y="838200"/>
            <a:ext cx="9862704" cy="59027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Study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654" y="1724659"/>
            <a:ext cx="3086100" cy="1122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1285">
              <a:lnSpc>
                <a:spcPct val="99400"/>
              </a:lnSpc>
              <a:spcBef>
                <a:spcPts val="105"/>
              </a:spcBef>
            </a:pP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Lambert,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Jeffrey,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et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al.</a:t>
            </a:r>
            <a:r>
              <a:rPr sz="1200" spc="-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"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Taking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200" b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one-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week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break</a:t>
            </a:r>
            <a:r>
              <a:rPr sz="12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from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social</a:t>
            </a:r>
            <a:r>
              <a:rPr sz="1200" b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media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improves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well-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being,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depression,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anxiety: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randomized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controlled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</a:pP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trial." 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Cyberpsychology,</a:t>
            </a:r>
            <a:r>
              <a:rPr sz="1200" i="1" spc="-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Behavior,</a:t>
            </a:r>
            <a:r>
              <a:rPr sz="1200" i="1" dirty="0">
                <a:solidFill>
                  <a:srgbClr val="222222"/>
                </a:solidFill>
                <a:latin typeface="Arial"/>
                <a:cs typeface="Arial"/>
              </a:rPr>
              <a:t> and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 Social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dirty="0">
                <a:solidFill>
                  <a:srgbClr val="222222"/>
                </a:solidFill>
                <a:latin typeface="Arial"/>
                <a:cs typeface="Arial"/>
              </a:rPr>
              <a:t>Networking</a:t>
            </a:r>
            <a:r>
              <a:rPr sz="1200" i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25.5</a:t>
            </a:r>
            <a:r>
              <a:rPr sz="12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(2022):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287-</a:t>
            </a:r>
            <a:r>
              <a:rPr sz="1200" spc="-25" dirty="0">
                <a:solidFill>
                  <a:srgbClr val="222222"/>
                </a:solidFill>
                <a:latin typeface="Arial"/>
                <a:cs typeface="Arial"/>
              </a:rPr>
              <a:t>293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7314" y="1128001"/>
            <a:ext cx="7461285" cy="5032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318" y="762000"/>
            <a:ext cx="7455180" cy="5029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606588"/>
            <a:ext cx="7696200" cy="5194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5709A-0E55-CBB9-A860-2E7BEAB9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1415772"/>
          </a:xfrm>
        </p:spPr>
        <p:txBody>
          <a:bodyPr/>
          <a:lstStyle/>
          <a:p>
            <a:pPr marL="12700">
              <a:spcBef>
                <a:spcPts val="100"/>
              </a:spcBef>
            </a:pPr>
            <a:r>
              <a:rPr lang="en-US" altLang="zh-CN" dirty="0">
                <a:solidFill>
                  <a:schemeClr val="tx2"/>
                </a:solidFill>
              </a:rPr>
              <a:t>Study</a:t>
            </a:r>
            <a:r>
              <a:rPr lang="en-US" altLang="zh-CN" spc="-25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1</a:t>
            </a:r>
            <a:r>
              <a:rPr lang="en-US" altLang="zh-CN" spc="-160" dirty="0">
                <a:solidFill>
                  <a:schemeClr val="tx2"/>
                </a:solidFill>
              </a:rPr>
              <a:t> </a:t>
            </a:r>
            <a:r>
              <a:rPr lang="en-US" altLang="zh-CN" spc="-10" dirty="0">
                <a:solidFill>
                  <a:schemeClr val="tx2"/>
                </a:solidFill>
              </a:rPr>
              <a:t>Answers</a:t>
            </a:r>
            <a:br>
              <a:rPr lang="en-US" altLang="zh-CN" sz="4000" dirty="0">
                <a:solidFill>
                  <a:schemeClr val="tx2"/>
                </a:solidFill>
              </a:rPr>
            </a:br>
            <a:r>
              <a:rPr lang="en-US" altLang="zh-CN" sz="2400" dirty="0"/>
              <a:t>“</a:t>
            </a:r>
            <a:r>
              <a:rPr lang="en-US" altLang="zh-CN" sz="2400" dirty="0">
                <a:solidFill>
                  <a:srgbClr val="222222"/>
                </a:solidFill>
              </a:rPr>
              <a:t>Is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social media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screen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time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really associated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with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poor</a:t>
            </a:r>
            <a:r>
              <a:rPr lang="en-US" altLang="zh-CN" sz="2400" spc="-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adolescent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mental </a:t>
            </a:r>
            <a:r>
              <a:rPr lang="en-US" altLang="zh-CN" sz="2400" dirty="0">
                <a:solidFill>
                  <a:srgbClr val="222222"/>
                </a:solidFill>
              </a:rPr>
              <a:t>health?</a:t>
            </a:r>
            <a:r>
              <a:rPr lang="en-US" altLang="zh-CN" sz="2400" spc="-7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-8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time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use diary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study.”</a:t>
            </a:r>
            <a:endParaRPr kumimoji="1" lang="zh-CN" altLang="en-US" sz="24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3C440F-A50D-D139-6E33-A5F5FDB1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595" y="2133600"/>
            <a:ext cx="9782810" cy="269304"/>
          </a:xfrm>
        </p:spPr>
        <p:txBody>
          <a:bodyPr/>
          <a:lstStyle/>
          <a:p>
            <a:pPr marL="298450" marR="442595" indent="-285750">
              <a:lnSpc>
                <a:spcPts val="211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endParaRPr lang="en-US" altLang="zh-C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647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6B9CC-548B-F2AA-A59D-2FBFB82F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2092881"/>
          </a:xfrm>
        </p:spPr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Study</a:t>
            </a:r>
            <a:r>
              <a:rPr lang="en-US" altLang="zh-CN" spc="-25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en-US" altLang="zh-CN" spc="-165" dirty="0">
                <a:solidFill>
                  <a:schemeClr val="tx2"/>
                </a:solidFill>
              </a:rPr>
              <a:t> </a:t>
            </a:r>
            <a:r>
              <a:rPr lang="en-US" altLang="zh-CN" spc="-10" dirty="0">
                <a:solidFill>
                  <a:schemeClr val="tx2"/>
                </a:solidFill>
              </a:rPr>
              <a:t>Answers</a:t>
            </a:r>
            <a:br>
              <a:rPr lang="en-US" altLang="zh-CN" spc="-10" dirty="0">
                <a:solidFill>
                  <a:schemeClr val="tx2"/>
                </a:solidFill>
              </a:rPr>
            </a:br>
            <a:r>
              <a:rPr lang="en-US" altLang="zh-CN" sz="2400" spc="-10" dirty="0">
                <a:solidFill>
                  <a:srgbClr val="222222"/>
                </a:solidFill>
              </a:rPr>
              <a:t>"Taking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one-week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break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from</a:t>
            </a:r>
            <a:r>
              <a:rPr lang="en-US" altLang="zh-CN" sz="2400" spc="-1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social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media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improves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well-</a:t>
            </a:r>
            <a:r>
              <a:rPr lang="en-US" altLang="zh-CN" sz="2400" spc="-10" dirty="0">
                <a:solidFill>
                  <a:srgbClr val="222222"/>
                </a:solidFill>
              </a:rPr>
              <a:t>being, </a:t>
            </a:r>
            <a:r>
              <a:rPr lang="en-US" altLang="zh-CN" sz="2400" dirty="0">
                <a:solidFill>
                  <a:srgbClr val="222222"/>
                </a:solidFill>
              </a:rPr>
              <a:t>depression,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and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anxiety: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randomized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controlled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trial."</a:t>
            </a:r>
            <a:br>
              <a:rPr lang="en-US" altLang="zh-CN" sz="2400" dirty="0"/>
            </a:b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CE89EC-E1C8-FB3E-D51F-FCDD55BCF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595" y="2209800"/>
            <a:ext cx="9782810" cy="269304"/>
          </a:xfrm>
        </p:spPr>
        <p:txBody>
          <a:bodyPr/>
          <a:lstStyle/>
          <a:p>
            <a:pPr marL="298450" marR="246379" indent="-285750">
              <a:lnSpc>
                <a:spcPts val="2110"/>
              </a:lnSpc>
              <a:spcBef>
                <a:spcPts val="1695"/>
              </a:spcBef>
              <a:buChar char="•"/>
              <a:tabLst>
                <a:tab pos="298450" algn="l"/>
              </a:tabLst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354257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Why might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the study results</a:t>
            </a:r>
            <a:r>
              <a:rPr spc="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differ?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Final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Questions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45832" y="1981200"/>
            <a:ext cx="978281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4795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dirty="0"/>
              <a:t>studies,</a:t>
            </a:r>
            <a:r>
              <a:rPr spc="-2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social</a:t>
            </a:r>
            <a:r>
              <a:rPr spc="-10" dirty="0"/>
              <a:t> </a:t>
            </a:r>
            <a:r>
              <a:rPr dirty="0"/>
              <a:t>media</a:t>
            </a:r>
            <a:r>
              <a:rPr spc="-2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dirty="0">
                <a:latin typeface="Arial"/>
                <a:cs typeface="Arial"/>
              </a:rPr>
              <a:t>significant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effect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likelihood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depression,</a:t>
            </a:r>
            <a:r>
              <a:rPr spc="-25" dirty="0"/>
              <a:t> </a:t>
            </a:r>
            <a:r>
              <a:rPr spc="-10" dirty="0"/>
              <a:t>anxiety,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low-self</a:t>
            </a:r>
            <a:r>
              <a:rPr spc="-25" dirty="0"/>
              <a:t> </a:t>
            </a:r>
            <a:r>
              <a:rPr spc="-10" dirty="0"/>
              <a:t>esteem?</a:t>
            </a:r>
          </a:p>
          <a:p>
            <a:pPr marL="241300" marR="5080" indent="-228600">
              <a:lnSpc>
                <a:spcPct val="100000"/>
              </a:lnSpc>
              <a:spcBef>
                <a:spcPts val="1800"/>
              </a:spcBef>
              <a:buChar char="•"/>
              <a:tabLst>
                <a:tab pos="241300" algn="l"/>
              </a:tabLst>
            </a:pP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dirty="0"/>
              <a:t>studies,</a:t>
            </a:r>
            <a:r>
              <a:rPr spc="-2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social</a:t>
            </a:r>
            <a:r>
              <a:rPr spc="-5" dirty="0"/>
              <a:t> </a:t>
            </a:r>
            <a:r>
              <a:rPr dirty="0"/>
              <a:t>media</a:t>
            </a:r>
            <a:r>
              <a:rPr spc="-2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b="1" dirty="0">
                <a:latin typeface="Arial"/>
                <a:cs typeface="Arial"/>
              </a:rPr>
              <a:t>substantive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effect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likelihood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depression,</a:t>
            </a:r>
            <a:r>
              <a:rPr spc="-25" dirty="0"/>
              <a:t> </a:t>
            </a:r>
            <a:r>
              <a:rPr spc="-10" dirty="0"/>
              <a:t>anxiety,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low-self</a:t>
            </a:r>
            <a:r>
              <a:rPr spc="-25" dirty="0"/>
              <a:t> </a:t>
            </a:r>
            <a:r>
              <a:rPr spc="-10" dirty="0"/>
              <a:t>esteem?</a:t>
            </a: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har char="•"/>
              <a:tabLst>
                <a:tab pos="240665" algn="l"/>
              </a:tabLst>
            </a:pPr>
            <a:r>
              <a:rPr dirty="0"/>
              <a:t>Do</a:t>
            </a:r>
            <a:r>
              <a:rPr spc="-15" dirty="0"/>
              <a:t> </a:t>
            </a:r>
            <a:r>
              <a:rPr dirty="0"/>
              <a:t>you</a:t>
            </a:r>
            <a:r>
              <a:rPr spc="-10" dirty="0"/>
              <a:t> </a:t>
            </a:r>
            <a:r>
              <a:rPr dirty="0"/>
              <a:t>believe</a:t>
            </a:r>
            <a:r>
              <a:rPr spc="-15" dirty="0"/>
              <a:t> </a:t>
            </a:r>
            <a:r>
              <a:rPr dirty="0"/>
              <a:t>these</a:t>
            </a:r>
            <a:r>
              <a:rPr spc="-10" dirty="0"/>
              <a:t> findings?</a:t>
            </a: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har char="•"/>
              <a:tabLst>
                <a:tab pos="240665" algn="l"/>
              </a:tabLst>
            </a:pP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study</a:t>
            </a:r>
            <a:r>
              <a:rPr spc="-15" dirty="0"/>
              <a:t> </a:t>
            </a:r>
            <a:r>
              <a:rPr dirty="0"/>
              <a:t>do</a:t>
            </a:r>
            <a:r>
              <a:rPr spc="-10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think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better?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5493"/>
                </a:solidFill>
              </a:rPr>
              <a:t>Upcoming / Reminders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DE234-F88C-27ED-56A1-A5B27A7F1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000" dirty="0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Unit Assignment 1: due Sept 25 (Friday) at 5pm ET on Canvas </a:t>
            </a:r>
          </a:p>
        </p:txBody>
      </p:sp>
      <p:sp>
        <p:nvSpPr>
          <p:cNvPr id="218" name="Google Shape;218;p2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9" name="Google Shape;219;p24"/>
          <p:cNvSpPr txBox="1"/>
          <p:nvPr/>
        </p:nvSpPr>
        <p:spPr>
          <a:xfrm>
            <a:off x="9998676" y="1528120"/>
            <a:ext cx="18288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76200">
              <a:buClr>
                <a:schemeClr val="accent1"/>
              </a:buClr>
              <a:buSzPts val="2400"/>
            </a:pP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263105-6C38-1AA6-DAEB-106F955EEDC4}"/>
              </a:ext>
            </a:extLst>
          </p:cNvPr>
          <p:cNvSpPr txBox="1"/>
          <p:nvPr/>
        </p:nvSpPr>
        <p:spPr>
          <a:xfrm>
            <a:off x="9761838" y="38305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14589</TotalTime>
  <Words>1099</Words>
  <Application>Microsoft Macintosh PowerPoint</Application>
  <PresentationFormat>Widescreen</PresentationFormat>
  <Paragraphs>96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等线</vt:lpstr>
      <vt:lpstr>Arial</vt:lpstr>
      <vt:lpstr>Calibri</vt:lpstr>
      <vt:lpstr>Century Gothic</vt:lpstr>
      <vt:lpstr>Times New Roman</vt:lpstr>
      <vt:lpstr>Wingdings</vt:lpstr>
      <vt:lpstr>Office Theme</vt:lpstr>
      <vt:lpstr>GENED 1079 Section 3 Confidence Intervals</vt:lpstr>
      <vt:lpstr>Agenda</vt:lpstr>
      <vt:lpstr>Confidence Intervals – Review</vt:lpstr>
      <vt:lpstr>Central Limit Theorem – Review</vt:lpstr>
      <vt:lpstr>Confidence Intervals and CLT - Review</vt:lpstr>
      <vt:lpstr>Practice Question 1</vt:lpstr>
      <vt:lpstr>Practice Question 2</vt:lpstr>
      <vt:lpstr>Confidence Intervals and Statistical Significance</vt:lpstr>
      <vt:lpstr>Statistical Significance vs Substantive Significance</vt:lpstr>
      <vt:lpstr>Confidence Intervals: Group Activity</vt:lpstr>
      <vt:lpstr>Study 1</vt:lpstr>
      <vt:lpstr>PowerPoint Presentation</vt:lpstr>
      <vt:lpstr>Study 2</vt:lpstr>
      <vt:lpstr>PowerPoint Presentation</vt:lpstr>
      <vt:lpstr>PowerPoint Presentation</vt:lpstr>
      <vt:lpstr>Study 1 Answers “Is social media screen time really associated with poor adolescent mental health? A time use diary study.”</vt:lpstr>
      <vt:lpstr>Study 2 Answers "Taking a one-week break from social media improves well-being, depression, and anxiety: a randomized controlled trial." </vt:lpstr>
      <vt:lpstr>Why might the study results differ?</vt:lpstr>
      <vt:lpstr>Final Questions</vt:lpstr>
      <vt:lpstr>Upcoming / 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GENED 1079 Section 5: Confidence Intervals</dc:title>
  <dc:creator>Sarthak Agarwal</dc:creator>
  <cp:lastModifiedBy>Jhang, Janice</cp:lastModifiedBy>
  <cp:revision>27</cp:revision>
  <dcterms:created xsi:type="dcterms:W3CDTF">2023-10-11T22:38:17Z</dcterms:created>
  <dcterms:modified xsi:type="dcterms:W3CDTF">2026-09-22T20:20:04Z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2023-10-10T00:00:00Z</vt:filetime>
  </property>
  <property fmtid="{D5CDD505-2E9C-101B-9397-08002B2CF9AE}" pid="3" name="LastSaved">
    <vt:filetime>2023-10-11T00:00:00Z</vt:filetime>
  </property>
  <property fmtid="{D5CDD505-2E9C-101B-9397-08002B2CF9AE}" pid="4" name="Producer">
    <vt:lpwstr>macOS Version 13.4 (Build 22F66) Quartz PDFContext</vt:lpwstr>
  </property>
</Properties>
</file>