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20"/>
  </p:notesMasterIdLst>
  <p:handoutMasterIdLst>
    <p:handoutMasterId r:id="rId21"/>
  </p:handoutMasterIdLst>
  <p:sldIdLst>
    <p:sldId id="550" r:id="rId2"/>
    <p:sldId id="543" r:id="rId3"/>
    <p:sldId id="573" r:id="rId4"/>
    <p:sldId id="570" r:id="rId5"/>
    <p:sldId id="564" r:id="rId6"/>
    <p:sldId id="549" r:id="rId7"/>
    <p:sldId id="566" r:id="rId8"/>
    <p:sldId id="575" r:id="rId9"/>
    <p:sldId id="554" r:id="rId10"/>
    <p:sldId id="576" r:id="rId11"/>
    <p:sldId id="539" r:id="rId12"/>
    <p:sldId id="540" r:id="rId13"/>
    <p:sldId id="541" r:id="rId14"/>
    <p:sldId id="542" r:id="rId15"/>
    <p:sldId id="531" r:id="rId16"/>
    <p:sldId id="572" r:id="rId17"/>
    <p:sldId id="552" r:id="rId18"/>
    <p:sldId id="555" r:id="rId19"/>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FC369E-7530-4CB2-8298-D84FD190DD57}">
          <p14:sldIdLst>
            <p14:sldId id="550"/>
            <p14:sldId id="543"/>
            <p14:sldId id="573"/>
            <p14:sldId id="570"/>
            <p14:sldId id="564"/>
            <p14:sldId id="549"/>
            <p14:sldId id="566"/>
            <p14:sldId id="575"/>
            <p14:sldId id="554"/>
            <p14:sldId id="576"/>
            <p14:sldId id="539"/>
            <p14:sldId id="540"/>
            <p14:sldId id="541"/>
            <p14:sldId id="542"/>
            <p14:sldId id="531"/>
          </p14:sldIdLst>
        </p14:section>
        <p14:section name="Untitled Section" id="{968D8C67-5363-4E7C-8725-5157FECC8B80}">
          <p14:sldIdLst>
            <p14:sldId id="572"/>
            <p14:sldId id="552"/>
            <p14:sldId id="55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Cutler" initials="DC" lastIdx="1" clrIdx="0">
    <p:extLst>
      <p:ext uri="{19B8F6BF-5375-455C-9EA6-DF929625EA0E}">
        <p15:presenceInfo xmlns:p15="http://schemas.microsoft.com/office/powerpoint/2012/main" userId="f7817227c7a45f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001"/>
    <a:srgbClr val="002060"/>
    <a:srgbClr val="008000"/>
    <a:srgbClr val="DAFE04"/>
    <a:srgbClr val="DAFD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00" autoAdjust="0"/>
    <p:restoredTop sz="51744" autoAdjust="0"/>
  </p:normalViewPr>
  <p:slideViewPr>
    <p:cSldViewPr>
      <p:cViewPr varScale="1">
        <p:scale>
          <a:sx n="58" d="100"/>
          <a:sy n="58" d="100"/>
        </p:scale>
        <p:origin x="2752" y="19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280"/>
    </p:cViewPr>
  </p:sorterViewPr>
  <p:notesViewPr>
    <p:cSldViewPr>
      <p:cViewPr varScale="1">
        <p:scale>
          <a:sx n="60" d="100"/>
          <a:sy n="60" d="100"/>
        </p:scale>
        <p:origin x="2218" y="43"/>
      </p:cViewPr>
      <p:guideLst>
        <p:guide orient="horz" pos="2957"/>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1"/>
            <a:ext cx="3077225" cy="46942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lvl1pPr defTabSz="942288">
              <a:defRPr sz="1300">
                <a:latin typeface="Times New Roman" pitchFamily="18" charset="0"/>
              </a:defRPr>
            </a:lvl1pPr>
          </a:lstStyle>
          <a:p>
            <a:r>
              <a:rPr lang="en-US" dirty="0" err="1"/>
              <a:t>GenEd</a:t>
            </a:r>
            <a:r>
              <a:rPr lang="en-US" dirty="0"/>
              <a:t> 1079</a:t>
            </a:r>
          </a:p>
        </p:txBody>
      </p:sp>
      <p:sp>
        <p:nvSpPr>
          <p:cNvPr id="17411" name="Rectangle 3"/>
          <p:cNvSpPr>
            <a:spLocks noGrp="1" noChangeArrowheads="1"/>
          </p:cNvSpPr>
          <p:nvPr>
            <p:ph type="dt" sz="quarter" idx="1"/>
          </p:nvPr>
        </p:nvSpPr>
        <p:spPr bwMode="auto">
          <a:xfrm>
            <a:off x="4025252" y="1"/>
            <a:ext cx="3077224" cy="46942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lvl1pPr algn="r" defTabSz="942288">
              <a:defRPr sz="1300">
                <a:latin typeface="Times New Roman" pitchFamily="18" charset="0"/>
              </a:defRPr>
            </a:lvl1pPr>
          </a:lstStyle>
          <a:p>
            <a:r>
              <a:rPr lang="en-US" dirty="0"/>
              <a:t>Session 1.2</a:t>
            </a:r>
          </a:p>
        </p:txBody>
      </p:sp>
      <p:sp>
        <p:nvSpPr>
          <p:cNvPr id="17412" name="Rectangle 4"/>
          <p:cNvSpPr>
            <a:spLocks noGrp="1" noChangeArrowheads="1"/>
          </p:cNvSpPr>
          <p:nvPr>
            <p:ph type="ftr" sz="quarter" idx="2"/>
          </p:nvPr>
        </p:nvSpPr>
        <p:spPr bwMode="auto">
          <a:xfrm>
            <a:off x="0" y="8919052"/>
            <a:ext cx="3077225" cy="469424"/>
          </a:xfrm>
          <a:prstGeom prst="rect">
            <a:avLst/>
          </a:prstGeom>
          <a:noFill/>
          <a:ln w="9525">
            <a:noFill/>
            <a:miter lim="800000"/>
            <a:headEnd/>
            <a:tailEnd/>
          </a:ln>
          <a:effectLst/>
        </p:spPr>
        <p:txBody>
          <a:bodyPr vert="horz" wrap="square" lIns="94224" tIns="47111" rIns="94224" bIns="47111" numCol="1" anchor="b" anchorCtr="0" compatLnSpc="1">
            <a:prstTxWarp prst="textNoShape">
              <a:avLst/>
            </a:prstTxWarp>
          </a:bodyPr>
          <a:lstStyle>
            <a:lvl1pPr defTabSz="942288">
              <a:defRPr sz="1300">
                <a:latin typeface="Times New Roman" pitchFamily="18" charset="0"/>
              </a:defRPr>
            </a:lvl1pPr>
          </a:lstStyle>
          <a:p>
            <a:endParaRPr lang="en-US"/>
          </a:p>
        </p:txBody>
      </p:sp>
      <p:sp>
        <p:nvSpPr>
          <p:cNvPr id="17413" name="Rectangle 5"/>
          <p:cNvSpPr>
            <a:spLocks noGrp="1" noChangeArrowheads="1"/>
          </p:cNvSpPr>
          <p:nvPr>
            <p:ph type="sldNum" sz="quarter" idx="3"/>
          </p:nvPr>
        </p:nvSpPr>
        <p:spPr bwMode="auto">
          <a:xfrm>
            <a:off x="4025252" y="8919052"/>
            <a:ext cx="3077224" cy="469424"/>
          </a:xfrm>
          <a:prstGeom prst="rect">
            <a:avLst/>
          </a:prstGeom>
          <a:noFill/>
          <a:ln w="9525">
            <a:noFill/>
            <a:miter lim="800000"/>
            <a:headEnd/>
            <a:tailEnd/>
          </a:ln>
          <a:effectLst/>
        </p:spPr>
        <p:txBody>
          <a:bodyPr vert="horz" wrap="square" lIns="94224" tIns="47111" rIns="94224" bIns="47111" numCol="1" anchor="b" anchorCtr="0" compatLnSpc="1">
            <a:prstTxWarp prst="textNoShape">
              <a:avLst/>
            </a:prstTxWarp>
          </a:bodyPr>
          <a:lstStyle>
            <a:lvl1pPr algn="r" defTabSz="942288">
              <a:defRPr sz="1300">
                <a:latin typeface="Times New Roman" pitchFamily="18" charset="0"/>
              </a:defRPr>
            </a:lvl1pPr>
          </a:lstStyle>
          <a:p>
            <a:fld id="{F63A1A5D-0E59-4256-9580-3E96B86FE8A8}" type="slidenum">
              <a:rPr lang="en-US"/>
              <a:pPr/>
              <a:t>‹#›</a:t>
            </a:fld>
            <a:endParaRPr lang="en-US"/>
          </a:p>
        </p:txBody>
      </p:sp>
    </p:spTree>
    <p:extLst>
      <p:ext uri="{BB962C8B-B14F-4D97-AF65-F5344CB8AC3E}">
        <p14:creationId xmlns:p14="http://schemas.microsoft.com/office/powerpoint/2010/main" val="2199594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1"/>
            <a:ext cx="3077225" cy="46942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lvl1pPr defTabSz="942288">
              <a:defRPr sz="1300">
                <a:latin typeface="Times New Roman" pitchFamily="18" charset="0"/>
              </a:defRPr>
            </a:lvl1pPr>
          </a:lstStyle>
          <a:p>
            <a:r>
              <a:rPr lang="en-US"/>
              <a:t>QR24, Fall 2005, Lecture 2</a:t>
            </a:r>
          </a:p>
        </p:txBody>
      </p:sp>
      <p:sp>
        <p:nvSpPr>
          <p:cNvPr id="5123" name="Rectangle 3"/>
          <p:cNvSpPr>
            <a:spLocks noGrp="1" noChangeArrowheads="1"/>
          </p:cNvSpPr>
          <p:nvPr>
            <p:ph type="dt" idx="1"/>
          </p:nvPr>
        </p:nvSpPr>
        <p:spPr bwMode="auto">
          <a:xfrm>
            <a:off x="4025252" y="1"/>
            <a:ext cx="3077224" cy="46942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lvl1pPr algn="r" defTabSz="942288">
              <a:defRPr sz="1300">
                <a:latin typeface="Times New Roman" pitchFamily="18" charset="0"/>
              </a:defRPr>
            </a:lvl1pPr>
          </a:lstStyle>
          <a:p>
            <a:endParaRPr lang="en-US"/>
          </a:p>
        </p:txBody>
      </p:sp>
      <p:sp>
        <p:nvSpPr>
          <p:cNvPr id="5124" name="Rectangle 4"/>
          <p:cNvSpPr>
            <a:spLocks noGrp="1" noRot="1" noChangeAspect="1" noChangeArrowheads="1" noTextEdit="1"/>
          </p:cNvSpPr>
          <p:nvPr>
            <p:ph type="sldImg" idx="2"/>
          </p:nvPr>
        </p:nvSpPr>
        <p:spPr bwMode="auto">
          <a:xfrm>
            <a:off x="422275" y="704850"/>
            <a:ext cx="6257925" cy="3521075"/>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46483" y="4459526"/>
            <a:ext cx="5209511" cy="422481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8919052"/>
            <a:ext cx="3077225" cy="469424"/>
          </a:xfrm>
          <a:prstGeom prst="rect">
            <a:avLst/>
          </a:prstGeom>
          <a:noFill/>
          <a:ln w="9525">
            <a:noFill/>
            <a:miter lim="800000"/>
            <a:headEnd/>
            <a:tailEnd/>
          </a:ln>
          <a:effectLst/>
        </p:spPr>
        <p:txBody>
          <a:bodyPr vert="horz" wrap="square" lIns="94224" tIns="47111" rIns="94224" bIns="47111" numCol="1" anchor="b" anchorCtr="0" compatLnSpc="1">
            <a:prstTxWarp prst="textNoShape">
              <a:avLst/>
            </a:prstTxWarp>
          </a:bodyPr>
          <a:lstStyle>
            <a:lvl1pPr defTabSz="942288">
              <a:defRPr sz="1300">
                <a:latin typeface="Times New Roman" pitchFamily="18" charset="0"/>
              </a:defRPr>
            </a:lvl1pPr>
          </a:lstStyle>
          <a:p>
            <a:endParaRPr lang="en-US"/>
          </a:p>
        </p:txBody>
      </p:sp>
      <p:sp>
        <p:nvSpPr>
          <p:cNvPr id="5127" name="Rectangle 7"/>
          <p:cNvSpPr>
            <a:spLocks noGrp="1" noChangeArrowheads="1"/>
          </p:cNvSpPr>
          <p:nvPr>
            <p:ph type="sldNum" sz="quarter" idx="5"/>
          </p:nvPr>
        </p:nvSpPr>
        <p:spPr bwMode="auto">
          <a:xfrm>
            <a:off x="4025252" y="8919052"/>
            <a:ext cx="3077224" cy="469424"/>
          </a:xfrm>
          <a:prstGeom prst="rect">
            <a:avLst/>
          </a:prstGeom>
          <a:noFill/>
          <a:ln w="9525">
            <a:noFill/>
            <a:miter lim="800000"/>
            <a:headEnd/>
            <a:tailEnd/>
          </a:ln>
          <a:effectLst/>
        </p:spPr>
        <p:txBody>
          <a:bodyPr vert="horz" wrap="square" lIns="94224" tIns="47111" rIns="94224" bIns="47111" numCol="1" anchor="b" anchorCtr="0" compatLnSpc="1">
            <a:prstTxWarp prst="textNoShape">
              <a:avLst/>
            </a:prstTxWarp>
          </a:bodyPr>
          <a:lstStyle>
            <a:lvl1pPr algn="r" defTabSz="942288">
              <a:defRPr sz="1300">
                <a:latin typeface="Times New Roman" pitchFamily="18" charset="0"/>
              </a:defRPr>
            </a:lvl1pPr>
          </a:lstStyle>
          <a:p>
            <a:fld id="{510FF742-9BE3-414A-87AC-D68001451B72}" type="slidenum">
              <a:rPr lang="en-US"/>
              <a:pPr/>
              <a:t>‹#›</a:t>
            </a:fld>
            <a:endParaRPr lang="en-US"/>
          </a:p>
        </p:txBody>
      </p:sp>
    </p:spTree>
    <p:extLst>
      <p:ext uri="{BB962C8B-B14F-4D97-AF65-F5344CB8AC3E}">
        <p14:creationId xmlns:p14="http://schemas.microsoft.com/office/powerpoint/2010/main" val="1695932229"/>
      </p:ext>
    </p:extLst>
  </p:cSld>
  <p:clrMap bg1="lt1" tx1="dk1" bg2="lt2" tx2="dk2" accent1="accent1" accent2="accent2" accent3="accent3" accent4="accent4" accent5="accent5" accent6="accent6" hlink="hlink" folHlink="folHlink"/>
  <p:hf ftr="0" dt="0"/>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a:t>
            </a:fld>
            <a:endParaRPr lang="en-US" dirty="0"/>
          </a:p>
        </p:txBody>
      </p:sp>
    </p:spTree>
    <p:extLst>
      <p:ext uri="{BB962C8B-B14F-4D97-AF65-F5344CB8AC3E}">
        <p14:creationId xmlns:p14="http://schemas.microsoft.com/office/powerpoint/2010/main" val="4276465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a:t>
            </a:fld>
            <a:endParaRPr lang="en-US" dirty="0"/>
          </a:p>
        </p:txBody>
      </p:sp>
    </p:spTree>
    <p:extLst>
      <p:ext uri="{BB962C8B-B14F-4D97-AF65-F5344CB8AC3E}">
        <p14:creationId xmlns:p14="http://schemas.microsoft.com/office/powerpoint/2010/main" val="3117887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TF</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3</a:t>
            </a:fld>
            <a:endParaRPr lang="en-US"/>
          </a:p>
        </p:txBody>
      </p:sp>
    </p:spTree>
    <p:extLst>
      <p:ext uri="{BB962C8B-B14F-4D97-AF65-F5344CB8AC3E}">
        <p14:creationId xmlns:p14="http://schemas.microsoft.com/office/powerpoint/2010/main" val="8588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4</a:t>
            </a:fld>
            <a:endParaRPr lang="en-US" dirty="0"/>
          </a:p>
        </p:txBody>
      </p:sp>
    </p:spTree>
    <p:extLst>
      <p:ext uri="{BB962C8B-B14F-4D97-AF65-F5344CB8AC3E}">
        <p14:creationId xmlns:p14="http://schemas.microsoft.com/office/powerpoint/2010/main" val="1715722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lvl="0" rtl="0"/>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5</a:t>
            </a:fld>
            <a:endParaRPr lang="en-US" dirty="0"/>
          </a:p>
        </p:txBody>
      </p:sp>
    </p:spTree>
    <p:extLst>
      <p:ext uri="{BB962C8B-B14F-4D97-AF65-F5344CB8AC3E}">
        <p14:creationId xmlns:p14="http://schemas.microsoft.com/office/powerpoint/2010/main" val="4068736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6</a:t>
            </a:fld>
            <a:endParaRPr lang="en-US" dirty="0"/>
          </a:p>
        </p:txBody>
      </p:sp>
    </p:spTree>
    <p:extLst>
      <p:ext uri="{BB962C8B-B14F-4D97-AF65-F5344CB8AC3E}">
        <p14:creationId xmlns:p14="http://schemas.microsoft.com/office/powerpoint/2010/main" val="3478006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7</a:t>
            </a:fld>
            <a:endParaRPr lang="en-US"/>
          </a:p>
        </p:txBody>
      </p:sp>
    </p:spTree>
    <p:extLst>
      <p:ext uri="{BB962C8B-B14F-4D97-AF65-F5344CB8AC3E}">
        <p14:creationId xmlns:p14="http://schemas.microsoft.com/office/powerpoint/2010/main" val="2654526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68C5-B18F-2FE6-A623-0811927EB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D5609-38F1-2D29-4839-5E950C8A29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A877B-152F-E022-4914-1C0D12265421}"/>
              </a:ext>
            </a:extLst>
          </p:cNvPr>
          <p:cNvSpPr>
            <a:spLocks noGrp="1"/>
          </p:cNvSpPr>
          <p:nvPr>
            <p:ph type="body" idx="1"/>
          </p:nvPr>
        </p:nvSpPr>
        <p:spPr/>
        <p:txBody>
          <a:bodyPr/>
          <a:lstStyle/>
          <a:p>
            <a:endParaRPr lang="en-US" dirty="0">
              <a:sym typeface="Wingdings" panose="05000000000000000000" pitchFamily="2" charset="2"/>
            </a:endParaRPr>
          </a:p>
        </p:txBody>
      </p:sp>
      <p:sp>
        <p:nvSpPr>
          <p:cNvPr id="4" name="Header Placeholder 3">
            <a:extLst>
              <a:ext uri="{FF2B5EF4-FFF2-40B4-BE49-F238E27FC236}">
                <a16:creationId xmlns:a16="http://schemas.microsoft.com/office/drawing/2014/main" id="{6B898803-935A-2B9B-BD3F-1F1889A216D7}"/>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F04A8519-CB1F-ABA2-A1D3-0252C07CC6ED}"/>
              </a:ext>
            </a:extLst>
          </p:cNvPr>
          <p:cNvSpPr>
            <a:spLocks noGrp="1"/>
          </p:cNvSpPr>
          <p:nvPr>
            <p:ph type="sldNum" sz="quarter" idx="5"/>
          </p:nvPr>
        </p:nvSpPr>
        <p:spPr/>
        <p:txBody>
          <a:bodyPr/>
          <a:lstStyle/>
          <a:p>
            <a:fld id="{510FF742-9BE3-414A-87AC-D68001451B72}" type="slidenum">
              <a:rPr lang="en-US" smtClean="0"/>
              <a:pPr/>
              <a:t>8</a:t>
            </a:fld>
            <a:endParaRPr lang="en-US"/>
          </a:p>
        </p:txBody>
      </p:sp>
    </p:spTree>
    <p:extLst>
      <p:ext uri="{BB962C8B-B14F-4D97-AF65-F5344CB8AC3E}">
        <p14:creationId xmlns:p14="http://schemas.microsoft.com/office/powerpoint/2010/main" val="3658367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9</a:t>
            </a:fld>
            <a:endParaRPr lang="en-US"/>
          </a:p>
        </p:txBody>
      </p:sp>
    </p:spTree>
    <p:extLst>
      <p:ext uri="{BB962C8B-B14F-4D97-AF65-F5344CB8AC3E}">
        <p14:creationId xmlns:p14="http://schemas.microsoft.com/office/powerpoint/2010/main" val="1259454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9FAAC-86EC-3FDD-74A7-71DB65EA9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90068-A8C6-683D-9B6C-32A163A6E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99EE94-F066-A7ED-DA84-A6D5039E93FD}"/>
              </a:ext>
            </a:extLst>
          </p:cNvPr>
          <p:cNvSpPr>
            <a:spLocks noGrp="1"/>
          </p:cNvSpPr>
          <p:nvPr>
            <p:ph type="body" idx="1"/>
          </p:nvPr>
        </p:nvSpPr>
        <p:spPr/>
        <p:txBody>
          <a:bodyPr/>
          <a:lstStyle/>
          <a:p>
            <a:pPr rtl="0"/>
            <a:endParaRPr lang="en-US" dirty="0"/>
          </a:p>
        </p:txBody>
      </p:sp>
      <p:sp>
        <p:nvSpPr>
          <p:cNvPr id="4" name="Header Placeholder 3">
            <a:extLst>
              <a:ext uri="{FF2B5EF4-FFF2-40B4-BE49-F238E27FC236}">
                <a16:creationId xmlns:a16="http://schemas.microsoft.com/office/drawing/2014/main" id="{B01CAC1B-30F4-F0B6-7A13-87257DF1B813}"/>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DE068C40-1B87-EF2F-E843-5BBA35BAF929}"/>
              </a:ext>
            </a:extLst>
          </p:cNvPr>
          <p:cNvSpPr>
            <a:spLocks noGrp="1"/>
          </p:cNvSpPr>
          <p:nvPr>
            <p:ph type="sldNum" sz="quarter" idx="5"/>
          </p:nvPr>
        </p:nvSpPr>
        <p:spPr/>
        <p:txBody>
          <a:bodyPr/>
          <a:lstStyle/>
          <a:p>
            <a:fld id="{510FF742-9BE3-414A-87AC-D68001451B72}" type="slidenum">
              <a:rPr lang="en-US" smtClean="0"/>
              <a:pPr/>
              <a:t>10</a:t>
            </a:fld>
            <a:endParaRPr lang="en-US"/>
          </a:p>
        </p:txBody>
      </p:sp>
    </p:spTree>
    <p:extLst>
      <p:ext uri="{BB962C8B-B14F-4D97-AF65-F5344CB8AC3E}">
        <p14:creationId xmlns:p14="http://schemas.microsoft.com/office/powerpoint/2010/main" val="506669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11</a:t>
            </a:fld>
            <a:endParaRPr lang="en-US"/>
          </a:p>
        </p:txBody>
      </p:sp>
    </p:spTree>
    <p:extLst>
      <p:ext uri="{BB962C8B-B14F-4D97-AF65-F5344CB8AC3E}">
        <p14:creationId xmlns:p14="http://schemas.microsoft.com/office/powerpoint/2010/main" val="2345048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12</a:t>
            </a:fld>
            <a:endParaRPr lang="en-US"/>
          </a:p>
        </p:txBody>
      </p:sp>
    </p:spTree>
    <p:extLst>
      <p:ext uri="{BB962C8B-B14F-4D97-AF65-F5344CB8AC3E}">
        <p14:creationId xmlns:p14="http://schemas.microsoft.com/office/powerpoint/2010/main" val="3583208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13</a:t>
            </a:fld>
            <a:endParaRPr lang="en-US"/>
          </a:p>
        </p:txBody>
      </p:sp>
    </p:spTree>
    <p:extLst>
      <p:ext uri="{BB962C8B-B14F-4D97-AF65-F5344CB8AC3E}">
        <p14:creationId xmlns:p14="http://schemas.microsoft.com/office/powerpoint/2010/main" val="112584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14</a:t>
            </a:fld>
            <a:endParaRPr lang="en-US"/>
          </a:p>
        </p:txBody>
      </p:sp>
    </p:spTree>
    <p:extLst>
      <p:ext uri="{BB962C8B-B14F-4D97-AF65-F5344CB8AC3E}">
        <p14:creationId xmlns:p14="http://schemas.microsoft.com/office/powerpoint/2010/main" val="2152282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15</a:t>
            </a:fld>
            <a:endParaRPr lang="en-US"/>
          </a:p>
        </p:txBody>
      </p:sp>
    </p:spTree>
    <p:extLst>
      <p:ext uri="{BB962C8B-B14F-4D97-AF65-F5344CB8AC3E}">
        <p14:creationId xmlns:p14="http://schemas.microsoft.com/office/powerpoint/2010/main" val="6412300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16</a:t>
            </a:fld>
            <a:endParaRPr lang="en-US"/>
          </a:p>
        </p:txBody>
      </p:sp>
    </p:spTree>
    <p:extLst>
      <p:ext uri="{BB962C8B-B14F-4D97-AF65-F5344CB8AC3E}">
        <p14:creationId xmlns:p14="http://schemas.microsoft.com/office/powerpoint/2010/main" val="2577531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17</a:t>
            </a:fld>
            <a:endParaRPr lang="en-US"/>
          </a:p>
        </p:txBody>
      </p:sp>
    </p:spTree>
    <p:extLst>
      <p:ext uri="{BB962C8B-B14F-4D97-AF65-F5344CB8AC3E}">
        <p14:creationId xmlns:p14="http://schemas.microsoft.com/office/powerpoint/2010/main" val="25500980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18</a:t>
            </a:fld>
            <a:endParaRPr lang="en-US"/>
          </a:p>
        </p:txBody>
      </p:sp>
    </p:spTree>
    <p:extLst>
      <p:ext uri="{BB962C8B-B14F-4D97-AF65-F5344CB8AC3E}">
        <p14:creationId xmlns:p14="http://schemas.microsoft.com/office/powerpoint/2010/main" val="3843719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F12E4-82B1-4C9E-866C-F4BA7850BBC2}"/>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378BC9AF-055C-9EB7-ABAB-FC2DB452CF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8D7B09-47B5-7ACC-C572-1398E825D40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9299F1E-3479-193D-F076-FDE1165E12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C1F55C-B7F5-7315-EA45-537043E704C1}"/>
              </a:ext>
            </a:extLst>
          </p:cNvPr>
          <p:cNvSpPr>
            <a:spLocks noGrp="1"/>
          </p:cNvSpPr>
          <p:nvPr>
            <p:ph type="sldNum" sz="quarter" idx="12"/>
          </p:nvPr>
        </p:nvSpPr>
        <p:spPr/>
        <p:txBody>
          <a:bodyPr/>
          <a:lstStyle/>
          <a:p>
            <a:fld id="{AD9E4465-94D5-4431-84CA-14A88314D356}" type="slidenum">
              <a:rPr lang="en-US" smtClean="0"/>
              <a:pPr/>
              <a:t>‹#›</a:t>
            </a:fld>
            <a:endParaRPr lang="en-US"/>
          </a:p>
        </p:txBody>
      </p:sp>
    </p:spTree>
    <p:extLst>
      <p:ext uri="{BB962C8B-B14F-4D97-AF65-F5344CB8AC3E}">
        <p14:creationId xmlns:p14="http://schemas.microsoft.com/office/powerpoint/2010/main" val="403951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7B52-1ADD-226F-270A-3765E77C4F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146AC-9892-F789-B95B-E27653D1B6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3BEC06-E14C-F54F-1328-B6BD9679F2F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D3A37B7-7633-EB34-DFDA-E7E3E0DEE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8A42-8F99-23D0-29D6-C3F0DA7D5588}"/>
              </a:ext>
            </a:extLst>
          </p:cNvPr>
          <p:cNvSpPr>
            <a:spLocks noGrp="1"/>
          </p:cNvSpPr>
          <p:nvPr>
            <p:ph type="sldNum" sz="quarter" idx="12"/>
          </p:nvPr>
        </p:nvSpPr>
        <p:spPr/>
        <p:txBody>
          <a:bodyPr/>
          <a:lstStyle/>
          <a:p>
            <a:fld id="{171A6C5B-A11A-470F-8319-62E6F3F410BC}" type="slidenum">
              <a:rPr lang="en-US" smtClean="0"/>
              <a:pPr/>
              <a:t>‹#›</a:t>
            </a:fld>
            <a:endParaRPr lang="en-US"/>
          </a:p>
        </p:txBody>
      </p:sp>
    </p:spTree>
    <p:extLst>
      <p:ext uri="{BB962C8B-B14F-4D97-AF65-F5344CB8AC3E}">
        <p14:creationId xmlns:p14="http://schemas.microsoft.com/office/powerpoint/2010/main" val="3278822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B6E0-68CE-9625-3357-053AD16E09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E948C4-CE32-CEF6-98B8-3E2BE4C511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0EB9F4-5836-AEF1-35FE-1ED83020ADC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D6433FD-0579-B417-2C65-7308287C26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3BC3B8-F32E-22AC-CFC6-C9677B24898E}"/>
              </a:ext>
            </a:extLst>
          </p:cNvPr>
          <p:cNvSpPr>
            <a:spLocks noGrp="1"/>
          </p:cNvSpPr>
          <p:nvPr>
            <p:ph type="sldNum" sz="quarter" idx="12"/>
          </p:nvPr>
        </p:nvSpPr>
        <p:spPr/>
        <p:txBody>
          <a:bodyPr/>
          <a:lstStyle/>
          <a:p>
            <a:fld id="{5BA7088D-159D-45B9-837C-DC989E28F571}" type="slidenum">
              <a:rPr lang="en-US" smtClean="0"/>
              <a:pPr/>
              <a:t>‹#›</a:t>
            </a:fld>
            <a:endParaRPr lang="en-US"/>
          </a:p>
        </p:txBody>
      </p:sp>
    </p:spTree>
    <p:extLst>
      <p:ext uri="{BB962C8B-B14F-4D97-AF65-F5344CB8AC3E}">
        <p14:creationId xmlns:p14="http://schemas.microsoft.com/office/powerpoint/2010/main" val="1960633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66CD-E55C-87C0-2EB5-0F0D9CFAE4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478E27-FB8F-E836-6FCC-021284B4A6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D767D8-4B4A-F805-C81A-08EA06DB96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023D79-99F4-F913-0E17-8BABCB155E8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5D687DB-A7D9-E4AF-3276-92587FC71C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2060AD-92FF-53B8-E910-3C929AC9DC73}"/>
              </a:ext>
            </a:extLst>
          </p:cNvPr>
          <p:cNvSpPr>
            <a:spLocks noGrp="1"/>
          </p:cNvSpPr>
          <p:nvPr>
            <p:ph type="sldNum" sz="quarter" idx="12"/>
          </p:nvPr>
        </p:nvSpPr>
        <p:spPr/>
        <p:txBody>
          <a:bodyPr/>
          <a:lstStyle/>
          <a:p>
            <a:fld id="{91099942-4C55-43D4-88D5-9841C8810E16}" type="slidenum">
              <a:rPr lang="en-US" smtClean="0"/>
              <a:pPr/>
              <a:t>‹#›</a:t>
            </a:fld>
            <a:endParaRPr lang="en-US"/>
          </a:p>
        </p:txBody>
      </p:sp>
    </p:spTree>
    <p:extLst>
      <p:ext uri="{BB962C8B-B14F-4D97-AF65-F5344CB8AC3E}">
        <p14:creationId xmlns:p14="http://schemas.microsoft.com/office/powerpoint/2010/main" val="2231492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32E56-2FB1-E986-5224-A647504371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7C990D-5782-4EC7-7EF1-64D05DCA7D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192039-8459-1B5E-0E45-09ED9FD346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D4A4E0-A0D3-AA4B-2DC1-02B0A10137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0D83D4-699A-4524-F440-7FBBF287A4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1C6000-55DE-5786-80C4-F338B9FB92A0}"/>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66F1D108-6401-075E-29A9-E95219D2E4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6686A1-EF96-BEE6-6022-E61520F6FFE5}"/>
              </a:ext>
            </a:extLst>
          </p:cNvPr>
          <p:cNvSpPr>
            <a:spLocks noGrp="1"/>
          </p:cNvSpPr>
          <p:nvPr>
            <p:ph type="sldNum" sz="quarter" idx="12"/>
          </p:nvPr>
        </p:nvSpPr>
        <p:spPr/>
        <p:txBody>
          <a:bodyPr/>
          <a:lstStyle/>
          <a:p>
            <a:fld id="{4C7E9727-91FB-4A9E-8138-5CF2914F2F17}" type="slidenum">
              <a:rPr lang="en-US" smtClean="0"/>
              <a:pPr/>
              <a:t>‹#›</a:t>
            </a:fld>
            <a:endParaRPr lang="en-US"/>
          </a:p>
        </p:txBody>
      </p:sp>
    </p:spTree>
    <p:extLst>
      <p:ext uri="{BB962C8B-B14F-4D97-AF65-F5344CB8AC3E}">
        <p14:creationId xmlns:p14="http://schemas.microsoft.com/office/powerpoint/2010/main" val="288096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4601F-877C-CA3A-3837-F01A600D40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E89CCD-2143-2BA4-17C9-0AFFA121CE1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70E82C6-A6E9-07AA-F4D0-FF288C27B7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8045CE-88CB-7BBB-F99C-BF5410B1117B}"/>
              </a:ext>
            </a:extLst>
          </p:cNvPr>
          <p:cNvSpPr>
            <a:spLocks noGrp="1"/>
          </p:cNvSpPr>
          <p:nvPr>
            <p:ph type="sldNum" sz="quarter" idx="12"/>
          </p:nvPr>
        </p:nvSpPr>
        <p:spPr/>
        <p:txBody>
          <a:bodyPr/>
          <a:lstStyle/>
          <a:p>
            <a:fld id="{C4E5501E-8159-4510-A10A-BA57CB33C493}" type="slidenum">
              <a:rPr lang="en-US" smtClean="0"/>
              <a:pPr/>
              <a:t>‹#›</a:t>
            </a:fld>
            <a:endParaRPr lang="en-US"/>
          </a:p>
        </p:txBody>
      </p:sp>
    </p:spTree>
    <p:extLst>
      <p:ext uri="{BB962C8B-B14F-4D97-AF65-F5344CB8AC3E}">
        <p14:creationId xmlns:p14="http://schemas.microsoft.com/office/powerpoint/2010/main" val="4049998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24E501-EFD8-2147-604C-3786ED15E789}"/>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8642B46-EADB-F75C-32CA-5BE7DFC718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E43F21-C79E-533A-BD55-79BFF15DCC88}"/>
              </a:ext>
            </a:extLst>
          </p:cNvPr>
          <p:cNvSpPr>
            <a:spLocks noGrp="1"/>
          </p:cNvSpPr>
          <p:nvPr>
            <p:ph type="sldNum" sz="quarter" idx="12"/>
          </p:nvPr>
        </p:nvSpPr>
        <p:spPr/>
        <p:txBody>
          <a:bodyPr/>
          <a:lstStyle/>
          <a:p>
            <a:fld id="{AC0FA5F5-E8F6-4452-92CE-D3E7786ECDA7}" type="slidenum">
              <a:rPr lang="en-US" smtClean="0"/>
              <a:pPr/>
              <a:t>‹#›</a:t>
            </a:fld>
            <a:endParaRPr lang="en-US"/>
          </a:p>
        </p:txBody>
      </p:sp>
    </p:spTree>
    <p:extLst>
      <p:ext uri="{BB962C8B-B14F-4D97-AF65-F5344CB8AC3E}">
        <p14:creationId xmlns:p14="http://schemas.microsoft.com/office/powerpoint/2010/main" val="3319859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2E483-2C26-4EB6-165E-165C7572EF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673595-BAA3-B21A-E2AF-61AE7D7FFC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D6460D-0E43-EC56-E2AA-DEFD798D12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CE19B8-241C-B174-DA3F-DE000C7BC7E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90D43DD-9387-62F8-7520-BEBA273D0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9EE768-B9F6-A607-B3ED-9695B4650562}"/>
              </a:ext>
            </a:extLst>
          </p:cNvPr>
          <p:cNvSpPr>
            <a:spLocks noGrp="1"/>
          </p:cNvSpPr>
          <p:nvPr>
            <p:ph type="sldNum" sz="quarter" idx="12"/>
          </p:nvPr>
        </p:nvSpPr>
        <p:spPr/>
        <p:txBody>
          <a:bodyPr/>
          <a:lstStyle/>
          <a:p>
            <a:fld id="{5E4D0D55-E9CB-48F4-8233-40C895D00295}" type="slidenum">
              <a:rPr lang="en-US" smtClean="0"/>
              <a:pPr/>
              <a:t>‹#›</a:t>
            </a:fld>
            <a:endParaRPr lang="en-US"/>
          </a:p>
        </p:txBody>
      </p:sp>
    </p:spTree>
    <p:extLst>
      <p:ext uri="{BB962C8B-B14F-4D97-AF65-F5344CB8AC3E}">
        <p14:creationId xmlns:p14="http://schemas.microsoft.com/office/powerpoint/2010/main" val="309852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4CB07-9899-1A99-4A23-6F040E47E6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1C9849-3F51-E083-5170-D7C639E085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417053-8BC8-EB50-FC97-34A59DCA89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33A30E-B9DA-73C1-8425-DEFCE026FB5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93E05CF-EF0E-98C5-CC9E-FA6170ADF4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9D70A4-0CC1-6CC2-2BC3-CBA0DCD4CA23}"/>
              </a:ext>
            </a:extLst>
          </p:cNvPr>
          <p:cNvSpPr>
            <a:spLocks noGrp="1"/>
          </p:cNvSpPr>
          <p:nvPr>
            <p:ph type="sldNum" sz="quarter" idx="12"/>
          </p:nvPr>
        </p:nvSpPr>
        <p:spPr/>
        <p:txBody>
          <a:bodyPr/>
          <a:lstStyle/>
          <a:p>
            <a:fld id="{83DE2C7B-AAC9-47EF-99E5-B567BA2FF760}" type="slidenum">
              <a:rPr lang="en-US" smtClean="0"/>
              <a:pPr/>
              <a:t>‹#›</a:t>
            </a:fld>
            <a:endParaRPr lang="en-US"/>
          </a:p>
        </p:txBody>
      </p:sp>
    </p:spTree>
    <p:extLst>
      <p:ext uri="{BB962C8B-B14F-4D97-AF65-F5344CB8AC3E}">
        <p14:creationId xmlns:p14="http://schemas.microsoft.com/office/powerpoint/2010/main" val="720604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D2A68-0CA8-571E-D753-D813976182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D5CF6B-9F30-B346-6A62-DF54EA41A4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4CBDA3-2123-1AE5-BC40-93DB1B70757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FF72053-7461-5A4D-D7FE-BE19FB905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493174-545B-CD51-3127-4A8622608FAC}"/>
              </a:ext>
            </a:extLst>
          </p:cNvPr>
          <p:cNvSpPr>
            <a:spLocks noGrp="1"/>
          </p:cNvSpPr>
          <p:nvPr>
            <p:ph type="sldNum" sz="quarter" idx="12"/>
          </p:nvPr>
        </p:nvSpPr>
        <p:spPr/>
        <p:txBody>
          <a:bodyPr/>
          <a:lstStyle/>
          <a:p>
            <a:fld id="{CC69673D-AD18-4A6A-9E1A-B90E573BC376}" type="slidenum">
              <a:rPr lang="en-US" smtClean="0"/>
              <a:pPr/>
              <a:t>‹#›</a:t>
            </a:fld>
            <a:endParaRPr lang="en-US"/>
          </a:p>
        </p:txBody>
      </p:sp>
    </p:spTree>
    <p:extLst>
      <p:ext uri="{BB962C8B-B14F-4D97-AF65-F5344CB8AC3E}">
        <p14:creationId xmlns:p14="http://schemas.microsoft.com/office/powerpoint/2010/main" val="3401805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EA6B01-E481-37FA-09CF-FD5B33B3F6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B4BDB0-8391-3C65-6432-8B0F581325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7CEA4-1CE5-27ED-1CD1-FED32D6D06D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2AD1F9C-71B4-DF75-5409-5CEF56875C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37FF8B-B861-BE71-94DF-6176F0AD2771}"/>
              </a:ext>
            </a:extLst>
          </p:cNvPr>
          <p:cNvSpPr>
            <a:spLocks noGrp="1"/>
          </p:cNvSpPr>
          <p:nvPr>
            <p:ph type="sldNum" sz="quarter" idx="12"/>
          </p:nvPr>
        </p:nvSpPr>
        <p:spPr/>
        <p:txBody>
          <a:bodyPr/>
          <a:lstStyle/>
          <a:p>
            <a:fld id="{8CFDD8C9-508E-40AA-9518-E128BF01C191}" type="slidenum">
              <a:rPr lang="en-US" smtClean="0"/>
              <a:pPr/>
              <a:t>‹#›</a:t>
            </a:fld>
            <a:endParaRPr lang="en-US"/>
          </a:p>
        </p:txBody>
      </p:sp>
    </p:spTree>
    <p:extLst>
      <p:ext uri="{BB962C8B-B14F-4D97-AF65-F5344CB8AC3E}">
        <p14:creationId xmlns:p14="http://schemas.microsoft.com/office/powerpoint/2010/main" val="3492693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BA0992-1854-3AC6-ECC8-9E4B0AECCA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D9F2338-D7A9-860B-0EEC-2AB8F85ABE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4F8F604-1AEA-393A-ECEF-E58080BF09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BEB19D4-36F2-7AB9-C458-1600D2703A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EDB6F5-8D1A-458A-25E5-8FCBCC7927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1C4B5A-0C5A-4FE8-B95C-2F3DC08F7AE8}" type="slidenum">
              <a:rPr lang="en-US" smtClean="0"/>
              <a:pPr/>
              <a:t>‹#›</a:t>
            </a:fld>
            <a:endParaRPr lang="en-US"/>
          </a:p>
        </p:txBody>
      </p:sp>
    </p:spTree>
    <p:extLst>
      <p:ext uri="{BB962C8B-B14F-4D97-AF65-F5344CB8AC3E}">
        <p14:creationId xmlns:p14="http://schemas.microsoft.com/office/powerpoint/2010/main" val="206361118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hf hdr="0" ftr="0" dt="0"/>
  <p:txStyles>
    <p:titleStyle>
      <a:lvl1pPr algn="l" defTabSz="914400" rtl="0" eaLnBrk="1" latinLnBrk="0" hangingPunct="1">
        <a:lnSpc>
          <a:spcPct val="90000"/>
        </a:lnSpc>
        <a:spcBef>
          <a:spcPct val="0"/>
        </a:spcBef>
        <a:buNone/>
        <a:defRPr sz="4400" b="1" kern="1200">
          <a:solidFill>
            <a:schemeClr val="accent1">
              <a:lumMod val="75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083FEE-962A-CCEC-A380-14926E4750D7}"/>
              </a:ext>
            </a:extLst>
          </p:cNvPr>
          <p:cNvSpPr>
            <a:spLocks noGrp="1"/>
          </p:cNvSpPr>
          <p:nvPr>
            <p:ph type="ctrTitle"/>
          </p:nvPr>
        </p:nvSpPr>
        <p:spPr/>
        <p:txBody>
          <a:bodyPr/>
          <a:lstStyle/>
          <a:p>
            <a:r>
              <a:rPr lang="en-US" altLang="zh-CN" b="1" dirty="0">
                <a:latin typeface="Arial" panose="020B0604020202020204" pitchFamily="34" charset="0"/>
                <a:cs typeface="Arial" panose="020B0604020202020204" pitchFamily="34" charset="0"/>
              </a:rPr>
              <a:t>GENED 1079 Section 4</a:t>
            </a:r>
            <a:endParaRPr lang="en-US" b="1" dirty="0">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314593E9-0543-80DE-8502-56C498BCA50F}"/>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A2398404-5AAA-BD53-C255-BC2720C68720}"/>
              </a:ext>
            </a:extLst>
          </p:cNvPr>
          <p:cNvSpPr>
            <a:spLocks noGrp="1"/>
          </p:cNvSpPr>
          <p:nvPr>
            <p:ph type="sldNum" sz="quarter" idx="12"/>
          </p:nvPr>
        </p:nvSpPr>
        <p:spPr/>
        <p:txBody>
          <a:bodyPr/>
          <a:lstStyle/>
          <a:p>
            <a:fld id="{171A6C5B-A11A-470F-8319-62E6F3F410BC}" type="slidenum">
              <a:rPr lang="en-US" smtClean="0"/>
              <a:pPr/>
              <a:t>1</a:t>
            </a:fld>
            <a:endParaRPr lang="en-US" dirty="0"/>
          </a:p>
        </p:txBody>
      </p:sp>
    </p:spTree>
    <p:extLst>
      <p:ext uri="{BB962C8B-B14F-4D97-AF65-F5344CB8AC3E}">
        <p14:creationId xmlns:p14="http://schemas.microsoft.com/office/powerpoint/2010/main" val="1931291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6044-4AC9-5448-8F93-265D370FC7A1}"/>
              </a:ext>
            </a:extLst>
          </p:cNvPr>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Agenda</a:t>
            </a:r>
          </a:p>
        </p:txBody>
      </p:sp>
      <p:sp>
        <p:nvSpPr>
          <p:cNvPr id="3" name="Content Placeholder 2">
            <a:extLst>
              <a:ext uri="{FF2B5EF4-FFF2-40B4-BE49-F238E27FC236}">
                <a16:creationId xmlns:a16="http://schemas.microsoft.com/office/drawing/2014/main" id="{6AE92F2E-CFA7-BD47-9434-12405C99F1BE}"/>
              </a:ext>
            </a:extLst>
          </p:cNvPr>
          <p:cNvSpPr>
            <a:spLocks noGrp="1"/>
          </p:cNvSpPr>
          <p:nvPr>
            <p:ph idx="1"/>
          </p:nvPr>
        </p:nvSpPr>
        <p:spPr/>
        <p:txBody>
          <a:bodyPr>
            <a:normAutofit/>
          </a:bodyPr>
          <a:lstStyle/>
          <a:p>
            <a:pPr fontAlgn="base">
              <a:lnSpc>
                <a:spcPct val="200000"/>
              </a:lnSpc>
              <a:spcBef>
                <a:spcPct val="0"/>
              </a:spcBef>
              <a:spcAft>
                <a:spcPct val="0"/>
              </a:spcAft>
            </a:pPr>
            <a:r>
              <a:rPr lang="en-US" sz="2400" dirty="0">
                <a:solidFill>
                  <a:schemeClr val="tx1"/>
                </a:solidFill>
                <a:latin typeface="Arial" panose="020B0604020202020204" pitchFamily="34" charset="0"/>
                <a:cs typeface="Arial" panose="020B0604020202020204" pitchFamily="34" charset="0"/>
              </a:rPr>
              <a:t>Review of economics of pharmaceuticals </a:t>
            </a:r>
            <a:r>
              <a:rPr lang="en-US" sz="2400" dirty="0">
                <a:latin typeface="Arial" panose="020B0604020202020204" pitchFamily="34" charset="0"/>
                <a:cs typeface="Arial" panose="020B0604020202020204" pitchFamily="34" charset="0"/>
              </a:rPr>
              <a:t>(~30</a:t>
            </a:r>
            <a:r>
              <a:rPr lang="en-US" sz="2400" dirty="0">
                <a:solidFill>
                  <a:schemeClr val="tx1"/>
                </a:solidFill>
                <a:latin typeface="Arial" panose="020B0604020202020204" pitchFamily="34" charset="0"/>
                <a:cs typeface="Arial" panose="020B0604020202020204" pitchFamily="34" charset="0"/>
              </a:rPr>
              <a:t> min)</a:t>
            </a:r>
          </a:p>
          <a:p>
            <a:pPr fontAlgn="base">
              <a:lnSpc>
                <a:spcPct val="200000"/>
              </a:lnSpc>
              <a:spcBef>
                <a:spcPct val="0"/>
              </a:spcBef>
              <a:spcAft>
                <a:spcPct val="0"/>
              </a:spcAft>
            </a:pPr>
            <a:r>
              <a:rPr lang="en-US" sz="2400" dirty="0">
                <a:solidFill>
                  <a:schemeClr val="tx1"/>
                </a:solidFill>
                <a:latin typeface="Arial" panose="020B0604020202020204" pitchFamily="34" charset="0"/>
                <a:cs typeface="Arial" panose="020B0604020202020204" pitchFamily="34" charset="0"/>
              </a:rPr>
              <a:t>Practice problem </a:t>
            </a:r>
            <a:r>
              <a:rPr lang="en-US" sz="2400" dirty="0">
                <a:latin typeface="Arial" panose="020B0604020202020204" pitchFamily="34" charset="0"/>
                <a:cs typeface="Arial" panose="020B0604020202020204" pitchFamily="34" charset="0"/>
              </a:rPr>
              <a:t>(~45</a:t>
            </a:r>
            <a:r>
              <a:rPr lang="en-US" sz="2400" dirty="0">
                <a:solidFill>
                  <a:schemeClr val="tx1"/>
                </a:solidFill>
                <a:latin typeface="Arial" panose="020B0604020202020204" pitchFamily="34" charset="0"/>
                <a:cs typeface="Arial" panose="020B0604020202020204" pitchFamily="34" charset="0"/>
              </a:rPr>
              <a:t> min)</a:t>
            </a:r>
          </a:p>
          <a:p>
            <a:pPr marL="114300" indent="0" fontAlgn="base">
              <a:lnSpc>
                <a:spcPct val="200000"/>
              </a:lnSpc>
              <a:spcBef>
                <a:spcPct val="0"/>
              </a:spcBef>
              <a:spcAft>
                <a:spcPct val="0"/>
              </a:spcAft>
              <a:buNone/>
            </a:pPr>
            <a:endParaRPr lang="en-US" sz="2400" dirty="0">
              <a:solidFill>
                <a:schemeClr val="tx1"/>
              </a:solidFill>
              <a:latin typeface="Arial" panose="020B0604020202020204" pitchFamily="34" charset="0"/>
              <a:cs typeface="Arial" panose="020B0604020202020204" pitchFamily="34" charset="0"/>
            </a:endParaRPr>
          </a:p>
          <a:p>
            <a:pPr marL="0" indent="0" fontAlgn="base">
              <a:lnSpc>
                <a:spcPct val="200000"/>
              </a:lnSpc>
              <a:spcBef>
                <a:spcPct val="0"/>
              </a:spcBef>
              <a:spcAft>
                <a:spcPct val="0"/>
              </a:spcAft>
              <a:buNone/>
            </a:pPr>
            <a:endParaRPr lang="en-US" sz="2400" dirty="0">
              <a:solidFill>
                <a:schemeClr val="tx1"/>
              </a:solidFill>
              <a:latin typeface="Arial" panose="020B0604020202020204" pitchFamily="34" charset="0"/>
              <a:cs typeface="Arial" panose="020B0604020202020204" pitchFamily="34" charset="0"/>
            </a:endParaRPr>
          </a:p>
          <a:p>
            <a:pPr fontAlgn="base">
              <a:lnSpc>
                <a:spcPct val="200000"/>
              </a:lnSpc>
              <a:spcBef>
                <a:spcPct val="0"/>
              </a:spcBef>
              <a:spcAft>
                <a:spcPct val="0"/>
              </a:spcAft>
            </a:pPr>
            <a:endParaRPr lang="en-US" sz="2400" dirty="0">
              <a:solidFill>
                <a:schemeClr val="tx1"/>
              </a:solidFill>
              <a:latin typeface="Arial" panose="020B0604020202020204" pitchFamily="34" charset="0"/>
              <a:cs typeface="Arial" panose="020B0604020202020204" pitchFamily="34" charset="0"/>
            </a:endParaRPr>
          </a:p>
          <a:p>
            <a:pPr marL="114300" indent="0">
              <a:lnSpc>
                <a:spcPct val="200000"/>
              </a:lnSpc>
              <a:buNone/>
            </a:pPr>
            <a:endParaRPr lang="en-US" sz="2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A5AB1ED-6C96-0F46-A4C5-63830FE0456A}"/>
              </a:ext>
            </a:extLst>
          </p:cNvPr>
          <p:cNvSpPr>
            <a:spLocks noGrp="1"/>
          </p:cNvSpPr>
          <p:nvPr>
            <p:ph type="sldNum" sz="quarter" idx="12"/>
          </p:nvPr>
        </p:nvSpPr>
        <p:spPr/>
        <p:txBody>
          <a:bodyPr/>
          <a:lstStyle/>
          <a:p>
            <a:fld id="{171A6C5B-A11A-470F-8319-62E6F3F410BC}" type="slidenum">
              <a:rPr lang="en-US" smtClean="0"/>
              <a:pPr/>
              <a:t>2</a:t>
            </a:fld>
            <a:endParaRPr lang="en-US" dirty="0"/>
          </a:p>
        </p:txBody>
      </p:sp>
    </p:spTree>
    <p:extLst>
      <p:ext uri="{BB962C8B-B14F-4D97-AF65-F5344CB8AC3E}">
        <p14:creationId xmlns:p14="http://schemas.microsoft.com/office/powerpoint/2010/main" val="383518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692646-8D34-BBB6-CB40-11F1B2AE453E}"/>
              </a:ext>
            </a:extLst>
          </p:cNvPr>
          <p:cNvSpPr>
            <a:spLocks noGrp="1"/>
          </p:cNvSpPr>
          <p:nvPr>
            <p:ph type="title"/>
          </p:nvPr>
        </p:nvSpPr>
        <p:spPr/>
        <p:txBody>
          <a:bodyPr/>
          <a:lstStyle/>
          <a:p>
            <a:pPr algn="ctr"/>
            <a:r>
              <a:rPr lang="en-US" dirty="0"/>
              <a:t>Quick pulse check – who has taken Ec10?</a:t>
            </a:r>
          </a:p>
        </p:txBody>
      </p:sp>
      <p:sp>
        <p:nvSpPr>
          <p:cNvPr id="4" name="Slide Number Placeholder 3">
            <a:extLst>
              <a:ext uri="{FF2B5EF4-FFF2-40B4-BE49-F238E27FC236}">
                <a16:creationId xmlns:a16="http://schemas.microsoft.com/office/drawing/2014/main" id="{61D41018-ED0B-E869-358B-9A41E6F53C6C}"/>
              </a:ext>
            </a:extLst>
          </p:cNvPr>
          <p:cNvSpPr>
            <a:spLocks noGrp="1"/>
          </p:cNvSpPr>
          <p:nvPr>
            <p:ph type="sldNum" sz="quarter" idx="12"/>
          </p:nvPr>
        </p:nvSpPr>
        <p:spPr/>
        <p:txBody>
          <a:bodyPr/>
          <a:lstStyle/>
          <a:p>
            <a:fld id="{171A6C5B-A11A-470F-8319-62E6F3F410BC}" type="slidenum">
              <a:rPr lang="en-US" smtClean="0"/>
              <a:pPr/>
              <a:t>3</a:t>
            </a:fld>
            <a:endParaRPr lang="en-US"/>
          </a:p>
        </p:txBody>
      </p:sp>
    </p:spTree>
    <p:extLst>
      <p:ext uri="{BB962C8B-B14F-4D97-AF65-F5344CB8AC3E}">
        <p14:creationId xmlns:p14="http://schemas.microsoft.com/office/powerpoint/2010/main" val="3719720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4E4F-5CD4-4248-9E4F-F3E4AFC84F98}"/>
              </a:ext>
            </a:extLst>
          </p:cNvPr>
          <p:cNvSpPr>
            <a:spLocks noGrp="1"/>
          </p:cNvSpPr>
          <p:nvPr>
            <p:ph type="title"/>
          </p:nvPr>
        </p:nvSpPr>
        <p:spPr/>
        <p:txBody>
          <a:bodyPr>
            <a:normAutofit/>
          </a:bodyPr>
          <a:lstStyle/>
          <a:p>
            <a:r>
              <a:rPr lang="en-US" altLang="zh-CN" sz="4000" dirty="0"/>
              <a:t>Economics of pharmaceuticals: Basics</a:t>
            </a:r>
            <a:endParaRPr lang="en-US" sz="4000" dirty="0"/>
          </a:p>
        </p:txBody>
      </p:sp>
      <p:sp>
        <p:nvSpPr>
          <p:cNvPr id="3" name="Content Placeholder 2">
            <a:extLst>
              <a:ext uri="{FF2B5EF4-FFF2-40B4-BE49-F238E27FC236}">
                <a16:creationId xmlns:a16="http://schemas.microsoft.com/office/drawing/2014/main" id="{D14E22EA-2745-1A42-A075-B07479D65C2B}"/>
              </a:ext>
            </a:extLst>
          </p:cNvPr>
          <p:cNvSpPr>
            <a:spLocks noGrp="1"/>
          </p:cNvSpPr>
          <p:nvPr>
            <p:ph idx="1"/>
          </p:nvPr>
        </p:nvSpPr>
        <p:spPr>
          <a:xfrm>
            <a:off x="838200" y="1825625"/>
            <a:ext cx="10515600" cy="4895850"/>
          </a:xfrm>
        </p:spPr>
        <p:txBody>
          <a:bodyPr>
            <a:noAutofit/>
          </a:bodyPr>
          <a:lstStyle/>
          <a:p>
            <a:pPr fontAlgn="base">
              <a:lnSpc>
                <a:spcPct val="170000"/>
              </a:lnSpc>
              <a:spcBef>
                <a:spcPct val="0"/>
              </a:spcBef>
              <a:spcAft>
                <a:spcPct val="0"/>
              </a:spcAft>
            </a:pPr>
            <a:r>
              <a:rPr lang="en-US" sz="2000" b="1" dirty="0"/>
              <a:t>Price</a:t>
            </a:r>
            <a:r>
              <a:rPr lang="en-US" sz="2000" dirty="0"/>
              <a:t> – what the drug company receives for each unit sold. </a:t>
            </a:r>
          </a:p>
          <a:p>
            <a:pPr fontAlgn="base">
              <a:lnSpc>
                <a:spcPct val="170000"/>
              </a:lnSpc>
              <a:spcBef>
                <a:spcPct val="0"/>
              </a:spcBef>
              <a:spcAft>
                <a:spcPct val="0"/>
              </a:spcAft>
            </a:pPr>
            <a:r>
              <a:rPr lang="en-US" sz="2000" b="1" dirty="0"/>
              <a:t>Copay</a:t>
            </a:r>
            <a:r>
              <a:rPr lang="en-US" sz="2000" dirty="0"/>
              <a:t> – what an insured patient pays out of pocket for each unit sold. The insurer pays the rest (price – copay). </a:t>
            </a:r>
          </a:p>
          <a:p>
            <a:pPr fontAlgn="base">
              <a:lnSpc>
                <a:spcPct val="170000"/>
              </a:lnSpc>
              <a:spcBef>
                <a:spcPct val="0"/>
              </a:spcBef>
              <a:spcAft>
                <a:spcPct val="0"/>
              </a:spcAft>
            </a:pPr>
            <a:r>
              <a:rPr lang="en-US" sz="2000" b="1" dirty="0"/>
              <a:t>Willingness to pay </a:t>
            </a:r>
            <a:r>
              <a:rPr lang="en-US" sz="2000" dirty="0"/>
              <a:t>– the most a person would be willing to pay for that drug. Above that price, they won’t buy. </a:t>
            </a:r>
          </a:p>
          <a:p>
            <a:pPr lvl="1" fontAlgn="base">
              <a:lnSpc>
                <a:spcPct val="170000"/>
              </a:lnSpc>
              <a:spcBef>
                <a:spcPct val="0"/>
              </a:spcBef>
              <a:spcAft>
                <a:spcPct val="0"/>
              </a:spcAft>
            </a:pPr>
            <a:r>
              <a:rPr lang="en-US" sz="2000" dirty="0"/>
              <a:t>Depends on how much they </a:t>
            </a:r>
            <a:r>
              <a:rPr lang="en-US" sz="2000" b="1" dirty="0"/>
              <a:t>value</a:t>
            </a:r>
            <a:r>
              <a:rPr lang="en-US" sz="2000" dirty="0"/>
              <a:t> the drug</a:t>
            </a:r>
          </a:p>
          <a:p>
            <a:pPr lvl="1" fontAlgn="base">
              <a:lnSpc>
                <a:spcPct val="170000"/>
              </a:lnSpc>
              <a:spcBef>
                <a:spcPct val="0"/>
              </a:spcBef>
              <a:spcAft>
                <a:spcPct val="0"/>
              </a:spcAft>
            </a:pPr>
            <a:r>
              <a:rPr lang="en-US" sz="2000" dirty="0"/>
              <a:t>… and on what they can </a:t>
            </a:r>
            <a:r>
              <a:rPr lang="en-US" sz="2000" b="1" dirty="0"/>
              <a:t>afford</a:t>
            </a:r>
            <a:r>
              <a:rPr lang="en-US" sz="2000" dirty="0"/>
              <a:t>: money spent on a drug can’t go towards rent or food (opportunity cost)</a:t>
            </a:r>
          </a:p>
          <a:p>
            <a:pPr lvl="1" fontAlgn="base">
              <a:lnSpc>
                <a:spcPct val="170000"/>
              </a:lnSpc>
              <a:spcBef>
                <a:spcPct val="0"/>
              </a:spcBef>
              <a:spcAft>
                <a:spcPct val="0"/>
              </a:spcAft>
            </a:pPr>
            <a:r>
              <a:rPr lang="en-US" sz="2000" dirty="0"/>
              <a:t>Also includes willingness to let others (i.e. insurance) pay</a:t>
            </a:r>
            <a:endParaRPr lang="en-US" sz="1800" dirty="0"/>
          </a:p>
        </p:txBody>
      </p:sp>
      <p:sp>
        <p:nvSpPr>
          <p:cNvPr id="4" name="Slide Number Placeholder 3">
            <a:extLst>
              <a:ext uri="{FF2B5EF4-FFF2-40B4-BE49-F238E27FC236}">
                <a16:creationId xmlns:a16="http://schemas.microsoft.com/office/drawing/2014/main" id="{A8436E99-BD49-E44D-9298-780F83828CF8}"/>
              </a:ext>
            </a:extLst>
          </p:cNvPr>
          <p:cNvSpPr>
            <a:spLocks noGrp="1"/>
          </p:cNvSpPr>
          <p:nvPr>
            <p:ph type="sldNum" sz="quarter" idx="12"/>
          </p:nvPr>
        </p:nvSpPr>
        <p:spPr/>
        <p:txBody>
          <a:bodyPr/>
          <a:lstStyle/>
          <a:p>
            <a:fld id="{171A6C5B-A11A-470F-8319-62E6F3F410BC}" type="slidenum">
              <a:rPr lang="en-US" smtClean="0"/>
              <a:pPr/>
              <a:t>4</a:t>
            </a:fld>
            <a:endParaRPr lang="en-US" dirty="0"/>
          </a:p>
        </p:txBody>
      </p:sp>
    </p:spTree>
    <p:extLst>
      <p:ext uri="{BB962C8B-B14F-4D97-AF65-F5344CB8AC3E}">
        <p14:creationId xmlns:p14="http://schemas.microsoft.com/office/powerpoint/2010/main" val="50794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4E4F-5CD4-4248-9E4F-F3E4AFC84F98}"/>
              </a:ext>
            </a:extLst>
          </p:cNvPr>
          <p:cNvSpPr>
            <a:spLocks noGrp="1"/>
          </p:cNvSpPr>
          <p:nvPr>
            <p:ph type="title"/>
          </p:nvPr>
        </p:nvSpPr>
        <p:spPr/>
        <p:txBody>
          <a:bodyPr>
            <a:normAutofit/>
          </a:bodyPr>
          <a:lstStyle/>
          <a:p>
            <a:r>
              <a:rPr lang="en-US" sz="4000" dirty="0"/>
              <a:t>Economics of pharmaceuticals: Basics</a:t>
            </a:r>
          </a:p>
        </p:txBody>
      </p:sp>
      <p:sp>
        <p:nvSpPr>
          <p:cNvPr id="3" name="Content Placeholder 2">
            <a:extLst>
              <a:ext uri="{FF2B5EF4-FFF2-40B4-BE49-F238E27FC236}">
                <a16:creationId xmlns:a16="http://schemas.microsoft.com/office/drawing/2014/main" id="{D14E22EA-2745-1A42-A075-B07479D65C2B}"/>
              </a:ext>
            </a:extLst>
          </p:cNvPr>
          <p:cNvSpPr>
            <a:spLocks noGrp="1"/>
          </p:cNvSpPr>
          <p:nvPr>
            <p:ph idx="1"/>
          </p:nvPr>
        </p:nvSpPr>
        <p:spPr>
          <a:xfrm>
            <a:off x="838200" y="1825625"/>
            <a:ext cx="10515600" cy="4667250"/>
          </a:xfrm>
        </p:spPr>
        <p:txBody>
          <a:bodyPr>
            <a:normAutofit fontScale="92500" lnSpcReduction="10000"/>
          </a:bodyPr>
          <a:lstStyle/>
          <a:p>
            <a:pPr lvl="0" fontAlgn="base">
              <a:spcBef>
                <a:spcPct val="0"/>
              </a:spcBef>
              <a:spcAft>
                <a:spcPct val="0"/>
              </a:spcAft>
            </a:pPr>
            <a:r>
              <a:rPr lang="en-US" sz="2000" b="1" u="sng" dirty="0"/>
              <a:t>Demand:</a:t>
            </a:r>
            <a:r>
              <a:rPr lang="en-US" sz="2000" b="1" dirty="0"/>
              <a:t> </a:t>
            </a:r>
            <a:r>
              <a:rPr lang="en-US" sz="2000" dirty="0"/>
              <a:t>How many units people will buy at each price (based on willingness-to-pay)</a:t>
            </a:r>
            <a:endParaRPr lang="en-US" sz="2000" b="1" dirty="0">
              <a:solidFill>
                <a:schemeClr val="tx1"/>
              </a:solidFill>
            </a:endParaRPr>
          </a:p>
          <a:p>
            <a:pPr lvl="0" fontAlgn="base">
              <a:spcBef>
                <a:spcPct val="0"/>
              </a:spcBef>
              <a:spcAft>
                <a:spcPct val="0"/>
              </a:spcAft>
            </a:pPr>
            <a:r>
              <a:rPr lang="en-US" sz="2000" b="1" u="sng" dirty="0">
                <a:solidFill>
                  <a:schemeClr val="tx1"/>
                </a:solidFill>
              </a:rPr>
              <a:t>Supply</a:t>
            </a:r>
            <a:r>
              <a:rPr lang="en-US" sz="2000" dirty="0">
                <a:solidFill>
                  <a:schemeClr val="tx1"/>
                </a:solidFill>
              </a:rPr>
              <a:t>: How many units the company will sell at each price. </a:t>
            </a:r>
          </a:p>
          <a:p>
            <a:pPr lvl="0" fontAlgn="base">
              <a:spcBef>
                <a:spcPct val="0"/>
              </a:spcBef>
              <a:spcAft>
                <a:spcPct val="0"/>
              </a:spcAft>
            </a:pPr>
            <a:endParaRPr lang="en-US" sz="2000" dirty="0">
              <a:solidFill>
                <a:schemeClr val="tx1"/>
              </a:solidFill>
            </a:endParaRPr>
          </a:p>
          <a:p>
            <a:pPr lvl="0" fontAlgn="base">
              <a:spcBef>
                <a:spcPct val="0"/>
              </a:spcBef>
              <a:spcAft>
                <a:spcPct val="0"/>
              </a:spcAft>
            </a:pPr>
            <a:r>
              <a:rPr lang="en-US" sz="2000" dirty="0">
                <a:solidFill>
                  <a:schemeClr val="tx1"/>
                </a:solidFill>
              </a:rPr>
              <a:t>Companies want to maximize (expected) profits:</a:t>
            </a:r>
          </a:p>
          <a:p>
            <a:pPr marL="0" indent="0" algn="ctr" fontAlgn="base">
              <a:spcBef>
                <a:spcPct val="0"/>
              </a:spcBef>
              <a:spcAft>
                <a:spcPct val="0"/>
              </a:spcAft>
              <a:buNone/>
            </a:pPr>
            <a:r>
              <a:rPr lang="el-GR" sz="3500" b="1" dirty="0">
                <a:solidFill>
                  <a:schemeClr val="tx1"/>
                </a:solidFill>
              </a:rPr>
              <a:t>Π=(𝑃</a:t>
            </a:r>
            <a:r>
              <a:rPr lang="el-GR" sz="3500" b="1" dirty="0"/>
              <a:t>−</a:t>
            </a:r>
            <a:r>
              <a:rPr lang="el-GR" sz="3600" b="1" dirty="0"/>
              <a:t> 𝑀</a:t>
            </a:r>
            <a:r>
              <a:rPr lang="el-GR" sz="3500" b="1" dirty="0"/>
              <a:t>)</a:t>
            </a:r>
            <a:r>
              <a:rPr lang="el-GR" sz="3500" b="1" dirty="0">
                <a:solidFill>
                  <a:schemeClr val="tx1"/>
                </a:solidFill>
              </a:rPr>
              <a:t>∗𝑄−𝐹</a:t>
            </a:r>
            <a:endParaRPr lang="en-US" sz="3500" b="1" dirty="0">
              <a:solidFill>
                <a:schemeClr val="tx1"/>
              </a:solidFill>
            </a:endParaRPr>
          </a:p>
          <a:p>
            <a:pPr marL="0" indent="0" algn="ctr" fontAlgn="base">
              <a:spcBef>
                <a:spcPct val="0"/>
              </a:spcBef>
              <a:spcAft>
                <a:spcPct val="0"/>
              </a:spcAft>
              <a:buNone/>
            </a:pPr>
            <a:endParaRPr lang="en-US" sz="2000" dirty="0"/>
          </a:p>
          <a:p>
            <a:pPr fontAlgn="base">
              <a:spcBef>
                <a:spcPct val="0"/>
              </a:spcBef>
              <a:spcAft>
                <a:spcPct val="0"/>
              </a:spcAft>
            </a:pPr>
            <a:r>
              <a:rPr lang="en-US" sz="2000" dirty="0">
                <a:solidFill>
                  <a:schemeClr val="tx1"/>
                </a:solidFill>
              </a:rPr>
              <a:t>P = price that the company charges per units</a:t>
            </a:r>
          </a:p>
          <a:p>
            <a:pPr fontAlgn="base">
              <a:spcBef>
                <a:spcPct val="0"/>
              </a:spcBef>
              <a:spcAft>
                <a:spcPct val="0"/>
              </a:spcAft>
            </a:pPr>
            <a:r>
              <a:rPr lang="en-US" sz="2000" dirty="0">
                <a:solidFill>
                  <a:schemeClr val="tx1"/>
                </a:solidFill>
              </a:rPr>
              <a:t>M = marginal cost, i.e., the cost to make one more unit</a:t>
            </a:r>
            <a:endParaRPr lang="en-US" sz="2000" dirty="0"/>
          </a:p>
          <a:p>
            <a:pPr fontAlgn="base">
              <a:spcBef>
                <a:spcPct val="0"/>
              </a:spcBef>
              <a:spcAft>
                <a:spcPct val="0"/>
              </a:spcAft>
            </a:pPr>
            <a:r>
              <a:rPr lang="en-US" sz="2000" dirty="0">
                <a:solidFill>
                  <a:schemeClr val="tx1"/>
                </a:solidFill>
              </a:rPr>
              <a:t>Q = </a:t>
            </a:r>
            <a:r>
              <a:rPr lang="en-US" sz="2000" dirty="0"/>
              <a:t> number of units sold at that price</a:t>
            </a:r>
          </a:p>
          <a:p>
            <a:pPr fontAlgn="base">
              <a:spcBef>
                <a:spcPct val="0"/>
              </a:spcBef>
              <a:spcAft>
                <a:spcPct val="0"/>
              </a:spcAft>
            </a:pPr>
            <a:r>
              <a:rPr lang="en-US" sz="2000" dirty="0">
                <a:solidFill>
                  <a:schemeClr val="tx1"/>
                </a:solidFill>
              </a:rPr>
              <a:t>F = fixed costs, i.e., upfront costs (R&amp;D, clinical trials) paid no matter how many units sell</a:t>
            </a:r>
            <a:endParaRPr lang="en-US" sz="1800" dirty="0">
              <a:solidFill>
                <a:schemeClr val="tx1"/>
              </a:solidFill>
            </a:endParaRPr>
          </a:p>
          <a:p>
            <a:pPr marL="114300" indent="0">
              <a:buNone/>
            </a:pPr>
            <a:endParaRPr lang="en-US" dirty="0"/>
          </a:p>
        </p:txBody>
      </p:sp>
      <p:sp>
        <p:nvSpPr>
          <p:cNvPr id="4" name="Slide Number Placeholder 3">
            <a:extLst>
              <a:ext uri="{FF2B5EF4-FFF2-40B4-BE49-F238E27FC236}">
                <a16:creationId xmlns:a16="http://schemas.microsoft.com/office/drawing/2014/main" id="{A8436E99-BD49-E44D-9298-780F83828CF8}"/>
              </a:ext>
            </a:extLst>
          </p:cNvPr>
          <p:cNvSpPr>
            <a:spLocks noGrp="1"/>
          </p:cNvSpPr>
          <p:nvPr>
            <p:ph type="sldNum" sz="quarter" idx="12"/>
          </p:nvPr>
        </p:nvSpPr>
        <p:spPr/>
        <p:txBody>
          <a:bodyPr/>
          <a:lstStyle/>
          <a:p>
            <a:fld id="{171A6C5B-A11A-470F-8319-62E6F3F410BC}" type="slidenum">
              <a:rPr lang="en-US" smtClean="0"/>
              <a:pPr/>
              <a:t>5</a:t>
            </a:fld>
            <a:endParaRPr lang="en-US" dirty="0"/>
          </a:p>
        </p:txBody>
      </p:sp>
    </p:spTree>
    <p:extLst>
      <p:ext uri="{BB962C8B-B14F-4D97-AF65-F5344CB8AC3E}">
        <p14:creationId xmlns:p14="http://schemas.microsoft.com/office/powerpoint/2010/main" val="243405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6044-4AC9-5448-8F93-265D370FC7A1}"/>
              </a:ext>
            </a:extLst>
          </p:cNvPr>
          <p:cNvSpPr>
            <a:spLocks noGrp="1"/>
          </p:cNvSpPr>
          <p:nvPr>
            <p:ph type="title"/>
          </p:nvPr>
        </p:nvSpPr>
        <p:spPr/>
        <p:txBody>
          <a:bodyPr/>
          <a:lstStyle/>
          <a:p>
            <a:r>
              <a:rPr lang="en-US" dirty="0"/>
              <a:t>Understanding the Profit Formula</a:t>
            </a:r>
          </a:p>
        </p:txBody>
      </p:sp>
      <p:sp>
        <p:nvSpPr>
          <p:cNvPr id="3" name="Content Placeholder 2">
            <a:extLst>
              <a:ext uri="{FF2B5EF4-FFF2-40B4-BE49-F238E27FC236}">
                <a16:creationId xmlns:a16="http://schemas.microsoft.com/office/drawing/2014/main" id="{6AE92F2E-CFA7-BD47-9434-12405C99F1BE}"/>
              </a:ext>
            </a:extLst>
          </p:cNvPr>
          <p:cNvSpPr>
            <a:spLocks noGrp="1"/>
          </p:cNvSpPr>
          <p:nvPr>
            <p:ph idx="1"/>
          </p:nvPr>
        </p:nvSpPr>
        <p:spPr>
          <a:xfrm>
            <a:off x="838200" y="1825625"/>
            <a:ext cx="10515600" cy="4667250"/>
          </a:xfrm>
        </p:spPr>
        <p:txBody>
          <a:bodyPr>
            <a:noAutofit/>
          </a:bodyPr>
          <a:lstStyle/>
          <a:p>
            <a:pPr marL="0" indent="0" algn="ctr" fontAlgn="base">
              <a:spcBef>
                <a:spcPct val="0"/>
              </a:spcBef>
              <a:spcAft>
                <a:spcPct val="0"/>
              </a:spcAft>
              <a:buNone/>
            </a:pPr>
            <a:r>
              <a:rPr lang="en-US" sz="1800" dirty="0">
                <a:solidFill>
                  <a:schemeClr val="tx1"/>
                </a:solidFill>
              </a:rPr>
              <a:t>Profits of pharmaceutical companies: </a:t>
            </a:r>
            <a:r>
              <a:rPr lang="el-GR" sz="1800" b="1" dirty="0">
                <a:solidFill>
                  <a:schemeClr val="tx1"/>
                </a:solidFill>
              </a:rPr>
              <a:t>Π=(𝑃−𝑀)∗𝑄−𝐹</a:t>
            </a:r>
            <a:endParaRPr lang="el-GR" sz="1800" dirty="0">
              <a:solidFill>
                <a:schemeClr val="tx1"/>
              </a:solidFill>
            </a:endParaRPr>
          </a:p>
          <a:p>
            <a:pPr marL="0" indent="0" algn="ctr" fontAlgn="base">
              <a:spcBef>
                <a:spcPct val="0"/>
              </a:spcBef>
              <a:spcAft>
                <a:spcPct val="0"/>
              </a:spcAft>
              <a:buNone/>
            </a:pPr>
            <a:r>
              <a:rPr lang="en-US" sz="1800" i="1" dirty="0">
                <a:solidFill>
                  <a:schemeClr val="tx1"/>
                </a:solidFill>
              </a:rPr>
              <a:t>P = price, M = marginal cost, Q = quantity demanded/supplied, F = fixed costs</a:t>
            </a:r>
          </a:p>
          <a:p>
            <a:pPr marL="0" indent="0" algn="ctr" fontAlgn="base">
              <a:spcBef>
                <a:spcPct val="0"/>
              </a:spcBef>
              <a:spcAft>
                <a:spcPct val="0"/>
              </a:spcAft>
              <a:buNone/>
            </a:pPr>
            <a:endParaRPr lang="en-US" sz="1800" dirty="0">
              <a:solidFill>
                <a:schemeClr val="tx1"/>
              </a:solidFill>
            </a:endParaRPr>
          </a:p>
          <a:p>
            <a:pPr fontAlgn="base">
              <a:spcBef>
                <a:spcPct val="0"/>
              </a:spcBef>
              <a:spcAft>
                <a:spcPct val="0"/>
              </a:spcAft>
            </a:pPr>
            <a:r>
              <a:rPr lang="en-US" sz="2000" dirty="0">
                <a:solidFill>
                  <a:schemeClr val="tx1"/>
                </a:solidFill>
              </a:rPr>
              <a:t>What are examples of </a:t>
            </a:r>
            <a:r>
              <a:rPr lang="en-US" sz="2000" b="1" dirty="0">
                <a:solidFill>
                  <a:schemeClr val="tx1"/>
                </a:solidFill>
              </a:rPr>
              <a:t>fixed costs</a:t>
            </a:r>
            <a:r>
              <a:rPr lang="en-US" sz="2000" dirty="0">
                <a:solidFill>
                  <a:schemeClr val="tx1"/>
                </a:solidFill>
              </a:rPr>
              <a:t>?</a:t>
            </a:r>
          </a:p>
          <a:p>
            <a:pPr fontAlgn="base">
              <a:spcBef>
                <a:spcPct val="0"/>
              </a:spcBef>
              <a:spcAft>
                <a:spcPct val="0"/>
              </a:spcAft>
            </a:pPr>
            <a:endParaRPr lang="en-US" sz="2000" dirty="0">
              <a:solidFill>
                <a:schemeClr val="tx1"/>
              </a:solidFill>
            </a:endParaRPr>
          </a:p>
          <a:p>
            <a:pPr fontAlgn="base">
              <a:spcBef>
                <a:spcPct val="0"/>
              </a:spcBef>
              <a:spcAft>
                <a:spcPct val="0"/>
              </a:spcAft>
            </a:pPr>
            <a:r>
              <a:rPr lang="en-US" sz="2000" dirty="0">
                <a:solidFill>
                  <a:schemeClr val="tx1"/>
                </a:solidFill>
              </a:rPr>
              <a:t>What are examples of </a:t>
            </a:r>
            <a:r>
              <a:rPr lang="en-US" sz="2000" b="1" dirty="0">
                <a:solidFill>
                  <a:schemeClr val="tx1"/>
                </a:solidFill>
              </a:rPr>
              <a:t>marginal costs</a:t>
            </a:r>
            <a:r>
              <a:rPr lang="en-US" sz="2000" dirty="0">
                <a:solidFill>
                  <a:schemeClr val="tx1"/>
                </a:solidFill>
              </a:rPr>
              <a:t>? </a:t>
            </a:r>
          </a:p>
          <a:p>
            <a:pPr fontAlgn="base">
              <a:spcBef>
                <a:spcPct val="0"/>
              </a:spcBef>
              <a:spcAft>
                <a:spcPct val="0"/>
              </a:spcAft>
            </a:pPr>
            <a:endParaRPr lang="en-US" sz="2000" dirty="0">
              <a:solidFill>
                <a:schemeClr val="tx1"/>
              </a:solidFill>
            </a:endParaRPr>
          </a:p>
          <a:p>
            <a:pPr fontAlgn="base">
              <a:spcBef>
                <a:spcPct val="0"/>
              </a:spcBef>
              <a:spcAft>
                <a:spcPct val="0"/>
              </a:spcAft>
            </a:pPr>
            <a:r>
              <a:rPr lang="en-US" sz="2000" dirty="0">
                <a:solidFill>
                  <a:schemeClr val="tx1"/>
                </a:solidFill>
              </a:rPr>
              <a:t>Which costs matter for deciding whether to </a:t>
            </a:r>
            <a:r>
              <a:rPr lang="en-US" sz="2000" b="1" dirty="0">
                <a:solidFill>
                  <a:schemeClr val="tx1"/>
                </a:solidFill>
              </a:rPr>
              <a:t>develop</a:t>
            </a:r>
            <a:r>
              <a:rPr lang="en-US" sz="2000" dirty="0">
                <a:solidFill>
                  <a:schemeClr val="tx1"/>
                </a:solidFill>
              </a:rPr>
              <a:t> a drug?</a:t>
            </a:r>
          </a:p>
          <a:p>
            <a:pPr fontAlgn="base">
              <a:spcBef>
                <a:spcPct val="0"/>
              </a:spcBef>
              <a:spcAft>
                <a:spcPct val="0"/>
              </a:spcAft>
            </a:pPr>
            <a:endParaRPr lang="en-US" sz="2000" dirty="0">
              <a:solidFill>
                <a:schemeClr val="tx1"/>
              </a:solidFill>
            </a:endParaRPr>
          </a:p>
          <a:p>
            <a:pPr fontAlgn="base">
              <a:spcBef>
                <a:spcPct val="0"/>
              </a:spcBef>
              <a:spcAft>
                <a:spcPct val="0"/>
              </a:spcAft>
            </a:pPr>
            <a:r>
              <a:rPr lang="en-US" sz="2000" dirty="0">
                <a:solidFill>
                  <a:schemeClr val="tx1"/>
                </a:solidFill>
              </a:rPr>
              <a:t>Which costs matter for deciding how to </a:t>
            </a:r>
            <a:r>
              <a:rPr lang="en-US" sz="2000" b="1" dirty="0">
                <a:solidFill>
                  <a:schemeClr val="tx1"/>
                </a:solidFill>
              </a:rPr>
              <a:t>price</a:t>
            </a:r>
            <a:r>
              <a:rPr lang="en-US" sz="2000" dirty="0">
                <a:solidFill>
                  <a:schemeClr val="tx1"/>
                </a:solidFill>
              </a:rPr>
              <a:t> a drug? </a:t>
            </a:r>
            <a:endParaRPr lang="en-US" sz="1600" dirty="0">
              <a:solidFill>
                <a:schemeClr val="tx1"/>
              </a:solidFill>
            </a:endParaRPr>
          </a:p>
          <a:p>
            <a:pPr marL="114300" indent="0">
              <a:buNone/>
            </a:pPr>
            <a:endParaRPr lang="en-US" sz="2400" dirty="0"/>
          </a:p>
        </p:txBody>
      </p:sp>
      <p:sp>
        <p:nvSpPr>
          <p:cNvPr id="4" name="Slide Number Placeholder 3">
            <a:extLst>
              <a:ext uri="{FF2B5EF4-FFF2-40B4-BE49-F238E27FC236}">
                <a16:creationId xmlns:a16="http://schemas.microsoft.com/office/drawing/2014/main" id="{6A5AB1ED-6C96-0F46-A4C5-63830FE0456A}"/>
              </a:ext>
            </a:extLst>
          </p:cNvPr>
          <p:cNvSpPr>
            <a:spLocks noGrp="1"/>
          </p:cNvSpPr>
          <p:nvPr>
            <p:ph type="sldNum" sz="quarter" idx="12"/>
          </p:nvPr>
        </p:nvSpPr>
        <p:spPr/>
        <p:txBody>
          <a:bodyPr/>
          <a:lstStyle/>
          <a:p>
            <a:fld id="{171A6C5B-A11A-470F-8319-62E6F3F410BC}" type="slidenum">
              <a:rPr lang="en-US" smtClean="0"/>
              <a:pPr/>
              <a:t>6</a:t>
            </a:fld>
            <a:endParaRPr lang="en-US" dirty="0"/>
          </a:p>
        </p:txBody>
      </p:sp>
    </p:spTree>
    <p:extLst>
      <p:ext uri="{BB962C8B-B14F-4D97-AF65-F5344CB8AC3E}">
        <p14:creationId xmlns:p14="http://schemas.microsoft.com/office/powerpoint/2010/main" val="2661894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D38F-5AF4-FF84-E7F9-13311272C1BF}"/>
              </a:ext>
            </a:extLst>
          </p:cNvPr>
          <p:cNvSpPr>
            <a:spLocks noGrp="1"/>
          </p:cNvSpPr>
          <p:nvPr>
            <p:ph type="title"/>
          </p:nvPr>
        </p:nvSpPr>
        <p:spPr/>
        <p:txBody>
          <a:bodyPr/>
          <a:lstStyle/>
          <a:p>
            <a:r>
              <a:rPr lang="en-US" dirty="0"/>
              <a:t>Understanding “Willingness to Pay”</a:t>
            </a:r>
          </a:p>
        </p:txBody>
      </p:sp>
      <p:sp>
        <p:nvSpPr>
          <p:cNvPr id="4" name="Slide Number Placeholder 3">
            <a:extLst>
              <a:ext uri="{FF2B5EF4-FFF2-40B4-BE49-F238E27FC236}">
                <a16:creationId xmlns:a16="http://schemas.microsoft.com/office/drawing/2014/main" id="{B328CD7A-1E89-526C-21AE-5C99F58F4E2C}"/>
              </a:ext>
            </a:extLst>
          </p:cNvPr>
          <p:cNvSpPr>
            <a:spLocks noGrp="1"/>
          </p:cNvSpPr>
          <p:nvPr>
            <p:ph type="sldNum" sz="quarter" idx="12"/>
          </p:nvPr>
        </p:nvSpPr>
        <p:spPr/>
        <p:txBody>
          <a:bodyPr/>
          <a:lstStyle/>
          <a:p>
            <a:fld id="{171A6C5B-A11A-470F-8319-62E6F3F410BC}" type="slidenum">
              <a:rPr lang="en-US" smtClean="0"/>
              <a:pPr/>
              <a:t>7</a:t>
            </a:fld>
            <a:endParaRPr lang="en-US"/>
          </a:p>
        </p:txBody>
      </p:sp>
      <p:sp>
        <p:nvSpPr>
          <p:cNvPr id="19" name="TextBox 18">
            <a:extLst>
              <a:ext uri="{FF2B5EF4-FFF2-40B4-BE49-F238E27FC236}">
                <a16:creationId xmlns:a16="http://schemas.microsoft.com/office/drawing/2014/main" id="{B242EB66-40FC-C394-5D0C-756E59DBCCAE}"/>
              </a:ext>
            </a:extLst>
          </p:cNvPr>
          <p:cNvSpPr txBox="1"/>
          <p:nvPr/>
        </p:nvSpPr>
        <p:spPr>
          <a:xfrm>
            <a:off x="457200" y="2299946"/>
            <a:ext cx="2719408" cy="3231654"/>
          </a:xfrm>
          <a:prstGeom prst="rect">
            <a:avLst/>
          </a:prstGeom>
          <a:noFill/>
        </p:spPr>
        <p:txBody>
          <a:bodyPr wrap="square" rtlCol="0">
            <a:spAutoFit/>
          </a:bodyPr>
          <a:lstStyle/>
          <a:p>
            <a:r>
              <a:rPr lang="en-US" sz="1700" dirty="0">
                <a:latin typeface="Arial" panose="020B0604020202020204" pitchFamily="34" charset="0"/>
                <a:cs typeface="Arial" panose="020B0604020202020204" pitchFamily="34" charset="0"/>
              </a:rPr>
              <a:t>Imagine 250 people, lined up from </a:t>
            </a:r>
            <a:r>
              <a:rPr lang="en-US" sz="1700" b="1" dirty="0">
                <a:latin typeface="Arial" panose="020B0604020202020204" pitchFamily="34" charset="0"/>
                <a:cs typeface="Arial" panose="020B0604020202020204" pitchFamily="34" charset="0"/>
              </a:rPr>
              <a:t>highest</a:t>
            </a:r>
            <a:r>
              <a:rPr lang="en-US" sz="1700" dirty="0">
                <a:latin typeface="Arial" panose="020B0604020202020204" pitchFamily="34" charset="0"/>
                <a:cs typeface="Arial" panose="020B0604020202020204" pitchFamily="34" charset="0"/>
              </a:rPr>
              <a:t> to </a:t>
            </a:r>
            <a:r>
              <a:rPr lang="en-US" sz="1700" b="1" dirty="0">
                <a:latin typeface="Arial" panose="020B0604020202020204" pitchFamily="34" charset="0"/>
                <a:cs typeface="Arial" panose="020B0604020202020204" pitchFamily="34" charset="0"/>
              </a:rPr>
              <a:t>lowest</a:t>
            </a:r>
            <a:r>
              <a:rPr lang="en-US" sz="1700" dirty="0">
                <a:latin typeface="Arial" panose="020B0604020202020204" pitchFamily="34" charset="0"/>
                <a:cs typeface="Arial" panose="020B0604020202020204" pitchFamily="34" charset="0"/>
              </a:rPr>
              <a:t> willingness-to-pay. (Assume each person wants to buy 1 unit.)</a:t>
            </a:r>
          </a:p>
          <a:p>
            <a:r>
              <a:rPr lang="en-US" sz="17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Each step = a group of 50 people with the same WTP. </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The red line (MC) = the cost to make one more unit</a:t>
            </a:r>
          </a:p>
        </p:txBody>
      </p:sp>
      <p:pic>
        <p:nvPicPr>
          <p:cNvPr id="3" name="Picture 2">
            <a:extLst>
              <a:ext uri="{FF2B5EF4-FFF2-40B4-BE49-F238E27FC236}">
                <a16:creationId xmlns:a16="http://schemas.microsoft.com/office/drawing/2014/main" id="{84E42520-A646-D8E7-6F65-586161A93A6E}"/>
              </a:ext>
            </a:extLst>
          </p:cNvPr>
          <p:cNvPicPr>
            <a:picLocks noChangeAspect="1"/>
          </p:cNvPicPr>
          <p:nvPr/>
        </p:nvPicPr>
        <p:blipFill>
          <a:blip r:embed="rId3"/>
          <a:stretch>
            <a:fillRect/>
          </a:stretch>
        </p:blipFill>
        <p:spPr>
          <a:xfrm>
            <a:off x="3581400" y="1469753"/>
            <a:ext cx="8153400" cy="4892040"/>
          </a:xfrm>
          <a:prstGeom prst="rect">
            <a:avLst/>
          </a:prstGeom>
        </p:spPr>
      </p:pic>
    </p:spTree>
    <p:extLst>
      <p:ext uri="{BB962C8B-B14F-4D97-AF65-F5344CB8AC3E}">
        <p14:creationId xmlns:p14="http://schemas.microsoft.com/office/powerpoint/2010/main" val="286880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92180-FC9D-8F2B-B12F-DF61D3CBB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CDDC9-F819-EC17-EB71-D4238809A9A2}"/>
              </a:ext>
            </a:extLst>
          </p:cNvPr>
          <p:cNvSpPr>
            <a:spLocks noGrp="1"/>
          </p:cNvSpPr>
          <p:nvPr>
            <p:ph type="title"/>
          </p:nvPr>
        </p:nvSpPr>
        <p:spPr/>
        <p:txBody>
          <a:bodyPr/>
          <a:lstStyle/>
          <a:p>
            <a:r>
              <a:rPr lang="en-US" dirty="0"/>
              <a:t>Choosing one price</a:t>
            </a:r>
          </a:p>
        </p:txBody>
      </p:sp>
      <p:sp>
        <p:nvSpPr>
          <p:cNvPr id="4" name="Slide Number Placeholder 3">
            <a:extLst>
              <a:ext uri="{FF2B5EF4-FFF2-40B4-BE49-F238E27FC236}">
                <a16:creationId xmlns:a16="http://schemas.microsoft.com/office/drawing/2014/main" id="{D5396611-1F5A-A41C-EA05-6939FF8D776A}"/>
              </a:ext>
            </a:extLst>
          </p:cNvPr>
          <p:cNvSpPr>
            <a:spLocks noGrp="1"/>
          </p:cNvSpPr>
          <p:nvPr>
            <p:ph type="sldNum" sz="quarter" idx="12"/>
          </p:nvPr>
        </p:nvSpPr>
        <p:spPr/>
        <p:txBody>
          <a:bodyPr/>
          <a:lstStyle/>
          <a:p>
            <a:fld id="{171A6C5B-A11A-470F-8319-62E6F3F410BC}" type="slidenum">
              <a:rPr lang="en-US" smtClean="0"/>
              <a:pPr/>
              <a:t>8</a:t>
            </a:fld>
            <a:endParaRPr lang="en-US"/>
          </a:p>
        </p:txBody>
      </p:sp>
      <p:graphicFrame>
        <p:nvGraphicFramePr>
          <p:cNvPr id="7" name="Table 6">
            <a:extLst>
              <a:ext uri="{FF2B5EF4-FFF2-40B4-BE49-F238E27FC236}">
                <a16:creationId xmlns:a16="http://schemas.microsoft.com/office/drawing/2014/main" id="{66286EB1-41CF-E22C-EFC5-B3FE86C8EB0C}"/>
              </a:ext>
            </a:extLst>
          </p:cNvPr>
          <p:cNvGraphicFramePr>
            <a:graphicFrameLocks noGrp="1"/>
          </p:cNvGraphicFramePr>
          <p:nvPr/>
        </p:nvGraphicFramePr>
        <p:xfrm>
          <a:off x="170694" y="2787264"/>
          <a:ext cx="4949370" cy="2494280"/>
        </p:xfrm>
        <a:graphic>
          <a:graphicData uri="http://schemas.openxmlformats.org/drawingml/2006/table">
            <a:tbl>
              <a:tblPr firstRow="1" bandRow="1">
                <a:tableStyleId>{93296810-A885-4BE3-A3E7-6D5BEEA58F35}</a:tableStyleId>
              </a:tblPr>
              <a:tblGrid>
                <a:gridCol w="1649790">
                  <a:extLst>
                    <a:ext uri="{9D8B030D-6E8A-4147-A177-3AD203B41FA5}">
                      <a16:colId xmlns:a16="http://schemas.microsoft.com/office/drawing/2014/main" val="4084365346"/>
                    </a:ext>
                  </a:extLst>
                </a:gridCol>
                <a:gridCol w="1649790">
                  <a:extLst>
                    <a:ext uri="{9D8B030D-6E8A-4147-A177-3AD203B41FA5}">
                      <a16:colId xmlns:a16="http://schemas.microsoft.com/office/drawing/2014/main" val="105315224"/>
                    </a:ext>
                  </a:extLst>
                </a:gridCol>
                <a:gridCol w="1649790">
                  <a:extLst>
                    <a:ext uri="{9D8B030D-6E8A-4147-A177-3AD203B41FA5}">
                      <a16:colId xmlns:a16="http://schemas.microsoft.com/office/drawing/2014/main" val="1169804669"/>
                    </a:ext>
                  </a:extLst>
                </a:gridCol>
              </a:tblGrid>
              <a:tr h="0">
                <a:tc>
                  <a:txBody>
                    <a:bodyPr/>
                    <a:lstStyle/>
                    <a:p>
                      <a:pPr algn="ctr"/>
                      <a:r>
                        <a:rPr lang="en-US" dirty="0"/>
                        <a:t>Price</a:t>
                      </a:r>
                    </a:p>
                  </a:txBody>
                  <a:tcPr anchor="ctr"/>
                </a:tc>
                <a:tc>
                  <a:txBody>
                    <a:bodyPr/>
                    <a:lstStyle/>
                    <a:p>
                      <a:pPr algn="ctr"/>
                      <a:r>
                        <a:rPr lang="en-US" dirty="0"/>
                        <a:t>Units</a:t>
                      </a:r>
                    </a:p>
                  </a:txBody>
                  <a:tcPr anchor="ctr"/>
                </a:tc>
                <a:tc>
                  <a:txBody>
                    <a:bodyPr/>
                    <a:lstStyle/>
                    <a:p>
                      <a:pPr algn="ctr"/>
                      <a:r>
                        <a:rPr lang="en-US" dirty="0"/>
                        <a:t>Profit = (Price- MC) * Units</a:t>
                      </a:r>
                    </a:p>
                  </a:txBody>
                  <a:tcPr anchor="ctr"/>
                </a:tc>
                <a:extLst>
                  <a:ext uri="{0D108BD9-81ED-4DB2-BD59-A6C34878D82A}">
                    <a16:rowId xmlns:a16="http://schemas.microsoft.com/office/drawing/2014/main" val="2920843972"/>
                  </a:ext>
                </a:extLst>
              </a:tr>
              <a:tr h="370840">
                <a:tc>
                  <a:txBody>
                    <a:bodyPr/>
                    <a:lstStyle/>
                    <a:p>
                      <a:pPr algn="ctr"/>
                      <a:r>
                        <a:rPr lang="en-US" dirty="0"/>
                        <a:t>$3.50</a:t>
                      </a:r>
                    </a:p>
                  </a:txBody>
                  <a:tcPr anchor="ctr"/>
                </a:tc>
                <a:tc>
                  <a:txBody>
                    <a:bodyPr/>
                    <a:lstStyle/>
                    <a:p>
                      <a:pPr algn="ctr"/>
                      <a:r>
                        <a:rPr lang="en-US" dirty="0"/>
                        <a:t>50</a:t>
                      </a:r>
                    </a:p>
                  </a:txBody>
                  <a:tcPr anchor="ctr"/>
                </a:tc>
                <a:tc>
                  <a:txBody>
                    <a:bodyPr/>
                    <a:lstStyle/>
                    <a:p>
                      <a:pPr algn="ctr"/>
                      <a:r>
                        <a:rPr lang="en-US" dirty="0"/>
                        <a:t>$137.50</a:t>
                      </a:r>
                    </a:p>
                  </a:txBody>
                  <a:tcPr anchor="ctr"/>
                </a:tc>
                <a:extLst>
                  <a:ext uri="{0D108BD9-81ED-4DB2-BD59-A6C34878D82A}">
                    <a16:rowId xmlns:a16="http://schemas.microsoft.com/office/drawing/2014/main" val="674179483"/>
                  </a:ext>
                </a:extLst>
              </a:tr>
              <a:tr h="370840">
                <a:tc>
                  <a:txBody>
                    <a:bodyPr/>
                    <a:lstStyle/>
                    <a:p>
                      <a:pPr algn="ctr"/>
                      <a:r>
                        <a:rPr lang="en-US" dirty="0"/>
                        <a:t>$2.50</a:t>
                      </a:r>
                    </a:p>
                  </a:txBody>
                  <a:tcPr anchor="ctr"/>
                </a:tc>
                <a:tc>
                  <a:txBody>
                    <a:bodyPr/>
                    <a:lstStyle/>
                    <a:p>
                      <a:pPr algn="ctr"/>
                      <a:r>
                        <a:rPr lang="en-US" dirty="0"/>
                        <a:t>100</a:t>
                      </a:r>
                    </a:p>
                  </a:txBody>
                  <a:tcPr anchor="ctr"/>
                </a:tc>
                <a:tc>
                  <a:txBody>
                    <a:bodyPr/>
                    <a:lstStyle/>
                    <a:p>
                      <a:pPr algn="ctr"/>
                      <a:r>
                        <a:rPr lang="en-US" dirty="0"/>
                        <a:t>$175 </a:t>
                      </a:r>
                      <a:r>
                        <a:rPr lang="en-US" dirty="0">
                          <a:sym typeface="Wingdings" pitchFamily="2" charset="2"/>
                        </a:rPr>
                        <a:t> best</a:t>
                      </a:r>
                      <a:endParaRPr lang="en-US" dirty="0"/>
                    </a:p>
                  </a:txBody>
                  <a:tcPr anchor="ctr"/>
                </a:tc>
                <a:extLst>
                  <a:ext uri="{0D108BD9-81ED-4DB2-BD59-A6C34878D82A}">
                    <a16:rowId xmlns:a16="http://schemas.microsoft.com/office/drawing/2014/main" val="2567761460"/>
                  </a:ext>
                </a:extLst>
              </a:tr>
              <a:tr h="370840">
                <a:tc>
                  <a:txBody>
                    <a:bodyPr/>
                    <a:lstStyle/>
                    <a:p>
                      <a:pPr algn="ctr"/>
                      <a:r>
                        <a:rPr lang="en-US" dirty="0"/>
                        <a:t>$1.50</a:t>
                      </a:r>
                    </a:p>
                  </a:txBody>
                  <a:tcPr anchor="ctr"/>
                </a:tc>
                <a:tc>
                  <a:txBody>
                    <a:bodyPr/>
                    <a:lstStyle/>
                    <a:p>
                      <a:pPr algn="ctr"/>
                      <a:r>
                        <a:rPr lang="en-US" dirty="0"/>
                        <a:t>150</a:t>
                      </a:r>
                    </a:p>
                  </a:txBody>
                  <a:tcPr anchor="ctr"/>
                </a:tc>
                <a:tc>
                  <a:txBody>
                    <a:bodyPr/>
                    <a:lstStyle/>
                    <a:p>
                      <a:pPr algn="ctr"/>
                      <a:r>
                        <a:rPr lang="en-US" dirty="0"/>
                        <a:t>$112.50</a:t>
                      </a:r>
                    </a:p>
                  </a:txBody>
                  <a:tcPr anchor="ctr"/>
                </a:tc>
                <a:extLst>
                  <a:ext uri="{0D108BD9-81ED-4DB2-BD59-A6C34878D82A}">
                    <a16:rowId xmlns:a16="http://schemas.microsoft.com/office/drawing/2014/main" val="3945441974"/>
                  </a:ext>
                </a:extLst>
              </a:tr>
              <a:tr h="370840">
                <a:tc>
                  <a:txBody>
                    <a:bodyPr/>
                    <a:lstStyle/>
                    <a:p>
                      <a:pPr algn="ctr"/>
                      <a:r>
                        <a:rPr lang="en-US" dirty="0"/>
                        <a:t>$1.00</a:t>
                      </a:r>
                    </a:p>
                  </a:txBody>
                  <a:tcPr anchor="ctr"/>
                </a:tc>
                <a:tc>
                  <a:txBody>
                    <a:bodyPr/>
                    <a:lstStyle/>
                    <a:p>
                      <a:pPr algn="ctr"/>
                      <a:r>
                        <a:rPr lang="en-US" dirty="0"/>
                        <a:t>200</a:t>
                      </a:r>
                    </a:p>
                  </a:txBody>
                  <a:tcPr anchor="ctr"/>
                </a:tc>
                <a:tc>
                  <a:txBody>
                    <a:bodyPr/>
                    <a:lstStyle/>
                    <a:p>
                      <a:pPr algn="ctr"/>
                      <a:r>
                        <a:rPr lang="en-US" dirty="0"/>
                        <a:t>$50</a:t>
                      </a:r>
                    </a:p>
                  </a:txBody>
                  <a:tcPr anchor="ctr"/>
                </a:tc>
                <a:extLst>
                  <a:ext uri="{0D108BD9-81ED-4DB2-BD59-A6C34878D82A}">
                    <a16:rowId xmlns:a16="http://schemas.microsoft.com/office/drawing/2014/main" val="3594812851"/>
                  </a:ext>
                </a:extLst>
              </a:tr>
              <a:tr h="370840">
                <a:tc>
                  <a:txBody>
                    <a:bodyPr/>
                    <a:lstStyle/>
                    <a:p>
                      <a:pPr algn="ctr"/>
                      <a:r>
                        <a:rPr lang="en-US" dirty="0"/>
                        <a:t>$0.50</a:t>
                      </a:r>
                    </a:p>
                  </a:txBody>
                  <a:tcPr anchor="ctr"/>
                </a:tc>
                <a:tc>
                  <a:txBody>
                    <a:bodyPr/>
                    <a:lstStyle/>
                    <a:p>
                      <a:pPr algn="ctr"/>
                      <a:r>
                        <a:rPr lang="en-US" dirty="0"/>
                        <a:t>250</a:t>
                      </a:r>
                    </a:p>
                  </a:txBody>
                  <a:tcPr anchor="ctr"/>
                </a:tc>
                <a:tc>
                  <a:txBody>
                    <a:bodyPr/>
                    <a:lstStyle/>
                    <a:p>
                      <a:pPr algn="ctr"/>
                      <a:r>
                        <a:rPr lang="en-US" dirty="0"/>
                        <a:t>Loses money</a:t>
                      </a:r>
                    </a:p>
                  </a:txBody>
                  <a:tcPr anchor="ctr"/>
                </a:tc>
                <a:extLst>
                  <a:ext uri="{0D108BD9-81ED-4DB2-BD59-A6C34878D82A}">
                    <a16:rowId xmlns:a16="http://schemas.microsoft.com/office/drawing/2014/main" val="3003808154"/>
                  </a:ext>
                </a:extLst>
              </a:tr>
            </a:tbl>
          </a:graphicData>
        </a:graphic>
      </p:graphicFrame>
      <p:sp>
        <p:nvSpPr>
          <p:cNvPr id="10" name="TextBox 9">
            <a:extLst>
              <a:ext uri="{FF2B5EF4-FFF2-40B4-BE49-F238E27FC236}">
                <a16:creationId xmlns:a16="http://schemas.microsoft.com/office/drawing/2014/main" id="{DA4C6361-106E-A049-3245-965C5E7B1F5F}"/>
              </a:ext>
            </a:extLst>
          </p:cNvPr>
          <p:cNvSpPr txBox="1"/>
          <p:nvPr/>
        </p:nvSpPr>
        <p:spPr>
          <a:xfrm>
            <a:off x="170694" y="1977095"/>
            <a:ext cx="4949370" cy="615553"/>
          </a:xfrm>
          <a:prstGeom prst="rect">
            <a:avLst/>
          </a:prstGeom>
          <a:noFill/>
        </p:spPr>
        <p:txBody>
          <a:bodyPr wrap="square" rtlCol="0">
            <a:spAutoFit/>
          </a:bodyPr>
          <a:lstStyle/>
          <a:p>
            <a:r>
              <a:rPr lang="en-US" sz="1700" dirty="0">
                <a:latin typeface="Arial" panose="020B0604020202020204" pitchFamily="34" charset="0"/>
                <a:cs typeface="Arial" panose="020B0604020202020204" pitchFamily="34" charset="0"/>
              </a:rPr>
              <a:t>The company usually can’t charge each person a different price, so it picks </a:t>
            </a:r>
            <a:r>
              <a:rPr lang="en-US" sz="1700" b="1" dirty="0">
                <a:latin typeface="Arial" panose="020B0604020202020204" pitchFamily="34" charset="0"/>
                <a:cs typeface="Arial" panose="020B0604020202020204" pitchFamily="34" charset="0"/>
              </a:rPr>
              <a:t>one</a:t>
            </a:r>
            <a:r>
              <a:rPr lang="en-US" sz="1700" dirty="0">
                <a:latin typeface="Arial" panose="020B0604020202020204" pitchFamily="34" charset="0"/>
                <a:cs typeface="Arial" panose="020B0604020202020204" pitchFamily="34" charset="0"/>
              </a:rPr>
              <a:t> price for everyone.</a:t>
            </a:r>
          </a:p>
        </p:txBody>
      </p:sp>
      <p:sp>
        <p:nvSpPr>
          <p:cNvPr id="12" name="TextBox 11">
            <a:extLst>
              <a:ext uri="{FF2B5EF4-FFF2-40B4-BE49-F238E27FC236}">
                <a16:creationId xmlns:a16="http://schemas.microsoft.com/office/drawing/2014/main" id="{1C976B30-F2F1-C3EC-4EA2-65BE1279B3A5}"/>
              </a:ext>
            </a:extLst>
          </p:cNvPr>
          <p:cNvSpPr txBox="1"/>
          <p:nvPr/>
        </p:nvSpPr>
        <p:spPr>
          <a:xfrm>
            <a:off x="250524" y="5476160"/>
            <a:ext cx="4949370" cy="615553"/>
          </a:xfrm>
          <a:prstGeom prst="rect">
            <a:avLst/>
          </a:prstGeom>
          <a:noFill/>
        </p:spPr>
        <p:txBody>
          <a:bodyPr wrap="square" rtlCol="0">
            <a:spAutoFit/>
          </a:bodyPr>
          <a:lstStyle/>
          <a:p>
            <a:r>
              <a:rPr lang="en-US" sz="1700" b="1" dirty="0">
                <a:latin typeface="Arial" panose="020B0604020202020204" pitchFamily="34" charset="0"/>
                <a:cs typeface="Arial" panose="020B0604020202020204" pitchFamily="34" charset="0"/>
              </a:rPr>
              <a:t>Tradeoff: </a:t>
            </a:r>
            <a:r>
              <a:rPr lang="en-US" sz="1700" dirty="0">
                <a:latin typeface="Arial" panose="020B0604020202020204" pitchFamily="34" charset="0"/>
                <a:cs typeface="Arial" panose="020B0604020202020204" pitchFamily="34" charset="0"/>
              </a:rPr>
              <a:t>a higher price means more profit on each unit, but fewer buyers. </a:t>
            </a:r>
            <a:endParaRPr lang="en-US" sz="1700" b="1"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BE021C14-909B-2395-10EE-5E4FC282EE69}"/>
              </a:ext>
            </a:extLst>
          </p:cNvPr>
          <p:cNvPicPr>
            <a:picLocks noChangeAspect="1"/>
          </p:cNvPicPr>
          <p:nvPr/>
        </p:nvPicPr>
        <p:blipFill>
          <a:blip r:embed="rId3"/>
          <a:stretch>
            <a:fillRect/>
          </a:stretch>
        </p:blipFill>
        <p:spPr>
          <a:xfrm>
            <a:off x="5105400" y="2057400"/>
            <a:ext cx="7071936" cy="4243162"/>
          </a:xfrm>
          <a:prstGeom prst="rect">
            <a:avLst/>
          </a:prstGeom>
        </p:spPr>
      </p:pic>
    </p:spTree>
    <p:extLst>
      <p:ext uri="{BB962C8B-B14F-4D97-AF65-F5344CB8AC3E}">
        <p14:creationId xmlns:p14="http://schemas.microsoft.com/office/powerpoint/2010/main" val="218410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6044-4AC9-5448-8F93-265D370FC7A1}"/>
              </a:ext>
            </a:extLst>
          </p:cNvPr>
          <p:cNvSpPr>
            <a:spLocks noGrp="1"/>
          </p:cNvSpPr>
          <p:nvPr>
            <p:ph type="title"/>
          </p:nvPr>
        </p:nvSpPr>
        <p:spPr/>
        <p:txBody>
          <a:bodyPr>
            <a:normAutofit/>
          </a:bodyPr>
          <a:lstStyle/>
          <a:p>
            <a:r>
              <a:rPr lang="en-US" dirty="0"/>
              <a:t>Who sets the price?</a:t>
            </a:r>
          </a:p>
        </p:txBody>
      </p:sp>
      <p:sp>
        <p:nvSpPr>
          <p:cNvPr id="3" name="Content Placeholder 2">
            <a:extLst>
              <a:ext uri="{FF2B5EF4-FFF2-40B4-BE49-F238E27FC236}">
                <a16:creationId xmlns:a16="http://schemas.microsoft.com/office/drawing/2014/main" id="{6AE92F2E-CFA7-BD47-9434-12405C99F1BE}"/>
              </a:ext>
            </a:extLst>
          </p:cNvPr>
          <p:cNvSpPr>
            <a:spLocks noGrp="1"/>
          </p:cNvSpPr>
          <p:nvPr>
            <p:ph idx="1"/>
          </p:nvPr>
        </p:nvSpPr>
        <p:spPr>
          <a:xfrm>
            <a:off x="838200" y="1600200"/>
            <a:ext cx="10515600" cy="5121275"/>
          </a:xfrm>
        </p:spPr>
        <p:txBody>
          <a:bodyPr>
            <a:noAutofit/>
          </a:bodyPr>
          <a:lstStyle/>
          <a:p>
            <a:pPr marL="400050" indent="-285750">
              <a:lnSpc>
                <a:spcPct val="120000"/>
              </a:lnSpc>
            </a:pPr>
            <a:r>
              <a:rPr lang="en-US" sz="1800" dirty="0"/>
              <a:t>Recall market rules from lecture:</a:t>
            </a:r>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r>
              <a:rPr lang="en-US" sz="1800" dirty="0"/>
              <a:t>Company’s dream: Charge each person their own WTP. </a:t>
            </a:r>
          </a:p>
          <a:p>
            <a:pPr marL="857250" lvl="1" indent="-285750">
              <a:lnSpc>
                <a:spcPct val="120000"/>
              </a:lnSpc>
            </a:pPr>
            <a:r>
              <a:rPr lang="en-US" sz="1800" dirty="0">
                <a:sym typeface="Wingdings" pitchFamily="2" charset="2"/>
              </a:rPr>
              <a:t> </a:t>
            </a:r>
            <a:r>
              <a:rPr lang="en-US" sz="1800" i="1" dirty="0"/>
              <a:t>We’ll explore this in the practice problem! </a:t>
            </a:r>
          </a:p>
        </p:txBody>
      </p:sp>
      <p:sp>
        <p:nvSpPr>
          <p:cNvPr id="4" name="Slide Number Placeholder 3">
            <a:extLst>
              <a:ext uri="{FF2B5EF4-FFF2-40B4-BE49-F238E27FC236}">
                <a16:creationId xmlns:a16="http://schemas.microsoft.com/office/drawing/2014/main" id="{6A5AB1ED-6C96-0F46-A4C5-63830FE0456A}"/>
              </a:ext>
            </a:extLst>
          </p:cNvPr>
          <p:cNvSpPr>
            <a:spLocks noGrp="1"/>
          </p:cNvSpPr>
          <p:nvPr>
            <p:ph type="sldNum" sz="quarter" idx="12"/>
          </p:nvPr>
        </p:nvSpPr>
        <p:spPr/>
        <p:txBody>
          <a:bodyPr/>
          <a:lstStyle/>
          <a:p>
            <a:fld id="{171A6C5B-A11A-470F-8319-62E6F3F410BC}" type="slidenum">
              <a:rPr lang="en-US" smtClean="0"/>
              <a:pPr/>
              <a:t>9</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033112CC-07C7-57B5-3737-D6ABC9697FB1}"/>
                  </a:ext>
                </a:extLst>
              </p:cNvPr>
              <p:cNvGraphicFramePr>
                <a:graphicFrameLocks noGrp="1"/>
              </p:cNvGraphicFramePr>
              <p:nvPr>
                <p:extLst>
                  <p:ext uri="{D42A27DB-BD31-4B8C-83A1-F6EECF244321}">
                    <p14:modId xmlns:p14="http://schemas.microsoft.com/office/powerpoint/2010/main" val="2379215907"/>
                  </p:ext>
                </p:extLst>
              </p:nvPr>
            </p:nvGraphicFramePr>
            <p:xfrm>
              <a:off x="571500" y="2133600"/>
              <a:ext cx="11049000" cy="2971800"/>
            </p:xfrm>
            <a:graphic>
              <a:graphicData uri="http://schemas.openxmlformats.org/drawingml/2006/table">
                <a:tbl>
                  <a:tblPr firstRow="1" bandRow="1">
                    <a:tableStyleId>{073A0DAA-6AF3-43AB-8588-CEC1D06C72B9}</a:tableStyleId>
                  </a:tblPr>
                  <a:tblGrid>
                    <a:gridCol w="3683000">
                      <a:extLst>
                        <a:ext uri="{9D8B030D-6E8A-4147-A177-3AD203B41FA5}">
                          <a16:colId xmlns:a16="http://schemas.microsoft.com/office/drawing/2014/main" val="3707780026"/>
                        </a:ext>
                      </a:extLst>
                    </a:gridCol>
                    <a:gridCol w="3683000">
                      <a:extLst>
                        <a:ext uri="{9D8B030D-6E8A-4147-A177-3AD203B41FA5}">
                          <a16:colId xmlns:a16="http://schemas.microsoft.com/office/drawing/2014/main" val="183303201"/>
                        </a:ext>
                      </a:extLst>
                    </a:gridCol>
                    <a:gridCol w="3683000">
                      <a:extLst>
                        <a:ext uri="{9D8B030D-6E8A-4147-A177-3AD203B41FA5}">
                          <a16:colId xmlns:a16="http://schemas.microsoft.com/office/drawing/2014/main" val="928599604"/>
                        </a:ext>
                      </a:extLst>
                    </a:gridCol>
                  </a:tblGrid>
                  <a:tr h="481023">
                    <a:tc>
                      <a:txBody>
                        <a:bodyPr/>
                        <a:lstStyle/>
                        <a:p>
                          <a:r>
                            <a:rPr lang="en-US" dirty="0"/>
                            <a:t>Market Rule</a:t>
                          </a:r>
                        </a:p>
                      </a:txBody>
                      <a:tcPr/>
                    </a:tc>
                    <a:tc>
                      <a:txBody>
                        <a:bodyPr/>
                        <a:lstStyle/>
                        <a:p>
                          <a:r>
                            <a:rPr lang="en-US" dirty="0"/>
                            <a:t>What happens to price</a:t>
                          </a:r>
                        </a:p>
                      </a:txBody>
                      <a:tcPr/>
                    </a:tc>
                    <a:tc>
                      <a:txBody>
                        <a:bodyPr/>
                        <a:lstStyle/>
                        <a:p>
                          <a:r>
                            <a:rPr lang="en-US" dirty="0"/>
                            <a:t>Example</a:t>
                          </a:r>
                        </a:p>
                      </a:txBody>
                      <a:tcPr/>
                    </a:tc>
                    <a:extLst>
                      <a:ext uri="{0D108BD9-81ED-4DB2-BD59-A6C34878D82A}">
                        <a16:rowId xmlns:a16="http://schemas.microsoft.com/office/drawing/2014/main" val="2623517976"/>
                      </a:ext>
                    </a:extLst>
                  </a:tr>
                  <a:tr h="830259">
                    <a:tc>
                      <a:txBody>
                        <a:bodyPr/>
                        <a:lstStyle/>
                        <a:p>
                          <a:r>
                            <a:rPr lang="en-US" dirty="0"/>
                            <a:t>1. Any firm can make the drug</a:t>
                          </a:r>
                        </a:p>
                      </a:txBody>
                      <a:tcPr/>
                    </a:tc>
                    <a:tc>
                      <a:txBody>
                        <a:bodyPr/>
                        <a:lstStyle/>
                        <a:p>
                          <a:r>
                            <a:rPr lang="en-US" dirty="0"/>
                            <a:t>Competition pushes the price down to MC</a:t>
                          </a:r>
                        </a:p>
                      </a:txBody>
                      <a:tcPr/>
                    </a:tc>
                    <a:tc>
                      <a:txBody>
                        <a:bodyPr/>
                        <a:lstStyle/>
                        <a:p>
                          <a:r>
                            <a:rPr lang="en-US" dirty="0"/>
                            <a:t>Generic drugs, after patent expiration</a:t>
                          </a:r>
                        </a:p>
                      </a:txBody>
                      <a:tcPr/>
                    </a:tc>
                    <a:extLst>
                      <a:ext uri="{0D108BD9-81ED-4DB2-BD59-A6C34878D82A}">
                        <a16:rowId xmlns:a16="http://schemas.microsoft.com/office/drawing/2014/main" val="989664259"/>
                      </a:ext>
                    </a:extLst>
                  </a:tr>
                  <a:tr h="830259">
                    <a:tc>
                      <a:txBody>
                        <a:bodyPr/>
                        <a:lstStyle/>
                        <a:p>
                          <a:r>
                            <a:rPr lang="en-US" dirty="0"/>
                            <a:t>2. Only the patent holder can sell the drug</a:t>
                          </a:r>
                        </a:p>
                      </a:txBody>
                      <a:tcPr/>
                    </a:tc>
                    <a:tc>
                      <a:txBody>
                        <a:bodyPr/>
                        <a:lstStyle/>
                        <a:p>
                          <a:pPr marL="0" lvl="0" indent="0">
                            <a:buFont typeface="Arial" panose="020B0604020202020204" pitchFamily="34" charset="0"/>
                            <a:buNone/>
                          </a:pPr>
                          <a:r>
                            <a:rPr lang="en-US" dirty="0">
                              <a:solidFill>
                                <a:schemeClr val="tx1"/>
                              </a:solidFill>
                            </a:rPr>
                            <a:t>Price </a:t>
                          </a:r>
                          <a14:m>
                            <m:oMath xmlns:m="http://schemas.openxmlformats.org/officeDocument/2006/math">
                              <m:r>
                                <a:rPr lang="en-US" sz="1800" smtClean="0">
                                  <a:solidFill>
                                    <a:schemeClr val="tx1"/>
                                  </a:solidFill>
                                  <a:latin typeface="Cambria Math" panose="02040503050406030204" pitchFamily="18" charset="0"/>
                                </a:rPr>
                                <m:t>≥</m:t>
                              </m:r>
                            </m:oMath>
                          </a14:m>
                          <a:r>
                            <a:rPr lang="en-US" dirty="0">
                              <a:solidFill>
                                <a:schemeClr val="tx1"/>
                              </a:solidFill>
                            </a:rPr>
                            <a:t> </a:t>
                          </a:r>
                          <a:r>
                            <a:rPr lang="en-US" dirty="0"/>
                            <a:t>MC. The company picks the most</a:t>
                          </a:r>
                          <a:r>
                            <a:rPr lang="en-US" baseline="0" dirty="0"/>
                            <a:t> profitable price.</a:t>
                          </a:r>
                          <a:endParaRPr lang="en-US" dirty="0"/>
                        </a:p>
                      </a:txBody>
                      <a:tcPr/>
                    </a:tc>
                    <a:tc>
                      <a:txBody>
                        <a:bodyPr/>
                        <a:lstStyle/>
                        <a:p>
                          <a:r>
                            <a:rPr lang="en-US" dirty="0"/>
                            <a:t>Brand-name drugs under patent, like Keytruda</a:t>
                          </a:r>
                        </a:p>
                      </a:txBody>
                      <a:tcPr/>
                    </a:tc>
                    <a:extLst>
                      <a:ext uri="{0D108BD9-81ED-4DB2-BD59-A6C34878D82A}">
                        <a16:rowId xmlns:a16="http://schemas.microsoft.com/office/drawing/2014/main" val="3123315553"/>
                      </a:ext>
                    </a:extLst>
                  </a:tr>
                  <a:tr h="830259">
                    <a:tc>
                      <a:txBody>
                        <a:bodyPr/>
                        <a:lstStyle/>
                        <a:p>
                          <a:r>
                            <a:rPr lang="en-US" dirty="0"/>
                            <a:t>3. Only the patent holder + patients are well-insured</a:t>
                          </a:r>
                        </a:p>
                      </a:txBody>
                      <a:tcPr/>
                    </a:tc>
                    <a:tc>
                      <a:txBody>
                        <a:bodyPr/>
                        <a:lstStyle/>
                        <a:p>
                          <a:r>
                            <a:rPr lang="en-US" dirty="0"/>
                            <a:t>WTP is very high, so price goes as high as government or society allows</a:t>
                          </a:r>
                        </a:p>
                      </a:txBody>
                      <a:tcPr/>
                    </a:tc>
                    <a:tc>
                      <a:txBody>
                        <a:bodyPr/>
                        <a:lstStyle/>
                        <a:p>
                          <a:r>
                            <a:rPr lang="en-US" dirty="0"/>
                            <a:t>Specialty drugs in the US</a:t>
                          </a:r>
                        </a:p>
                      </a:txBody>
                      <a:tcPr/>
                    </a:tc>
                    <a:extLst>
                      <a:ext uri="{0D108BD9-81ED-4DB2-BD59-A6C34878D82A}">
                        <a16:rowId xmlns:a16="http://schemas.microsoft.com/office/drawing/2014/main" val="1639435218"/>
                      </a:ext>
                    </a:extLst>
                  </a:tr>
                </a:tbl>
              </a:graphicData>
            </a:graphic>
          </p:graphicFrame>
        </mc:Choice>
        <mc:Fallback xmlns="">
          <p:graphicFrame>
            <p:nvGraphicFramePr>
              <p:cNvPr id="5" name="Table 4">
                <a:extLst>
                  <a:ext uri="{FF2B5EF4-FFF2-40B4-BE49-F238E27FC236}">
                    <a16:creationId xmlns:a16="http://schemas.microsoft.com/office/drawing/2014/main" id="{033112CC-07C7-57B5-3737-D6ABC9697FB1}"/>
                  </a:ext>
                </a:extLst>
              </p:cNvPr>
              <p:cNvGraphicFramePr>
                <a:graphicFrameLocks noGrp="1"/>
              </p:cNvGraphicFramePr>
              <p:nvPr>
                <p:extLst>
                  <p:ext uri="{D42A27DB-BD31-4B8C-83A1-F6EECF244321}">
                    <p14:modId xmlns:p14="http://schemas.microsoft.com/office/powerpoint/2010/main" val="2379215907"/>
                  </p:ext>
                </p:extLst>
              </p:nvPr>
            </p:nvGraphicFramePr>
            <p:xfrm>
              <a:off x="571500" y="2133600"/>
              <a:ext cx="11049000" cy="2971800"/>
            </p:xfrm>
            <a:graphic>
              <a:graphicData uri="http://schemas.openxmlformats.org/drawingml/2006/table">
                <a:tbl>
                  <a:tblPr firstRow="1" bandRow="1">
                    <a:tableStyleId>{073A0DAA-6AF3-43AB-8588-CEC1D06C72B9}</a:tableStyleId>
                  </a:tblPr>
                  <a:tblGrid>
                    <a:gridCol w="3683000">
                      <a:extLst>
                        <a:ext uri="{9D8B030D-6E8A-4147-A177-3AD203B41FA5}">
                          <a16:colId xmlns:a16="http://schemas.microsoft.com/office/drawing/2014/main" val="3707780026"/>
                        </a:ext>
                      </a:extLst>
                    </a:gridCol>
                    <a:gridCol w="3683000">
                      <a:extLst>
                        <a:ext uri="{9D8B030D-6E8A-4147-A177-3AD203B41FA5}">
                          <a16:colId xmlns:a16="http://schemas.microsoft.com/office/drawing/2014/main" val="183303201"/>
                        </a:ext>
                      </a:extLst>
                    </a:gridCol>
                    <a:gridCol w="3683000">
                      <a:extLst>
                        <a:ext uri="{9D8B030D-6E8A-4147-A177-3AD203B41FA5}">
                          <a16:colId xmlns:a16="http://schemas.microsoft.com/office/drawing/2014/main" val="928599604"/>
                        </a:ext>
                      </a:extLst>
                    </a:gridCol>
                  </a:tblGrid>
                  <a:tr h="481023">
                    <a:tc>
                      <a:txBody>
                        <a:bodyPr/>
                        <a:lstStyle/>
                        <a:p>
                          <a:r>
                            <a:rPr lang="en-US" dirty="0"/>
                            <a:t>Market Rule</a:t>
                          </a:r>
                        </a:p>
                      </a:txBody>
                      <a:tcPr/>
                    </a:tc>
                    <a:tc>
                      <a:txBody>
                        <a:bodyPr/>
                        <a:lstStyle/>
                        <a:p>
                          <a:r>
                            <a:rPr lang="en-US" dirty="0"/>
                            <a:t>What happens to price</a:t>
                          </a:r>
                        </a:p>
                      </a:txBody>
                      <a:tcPr/>
                    </a:tc>
                    <a:tc>
                      <a:txBody>
                        <a:bodyPr/>
                        <a:lstStyle/>
                        <a:p>
                          <a:r>
                            <a:rPr lang="en-US" dirty="0"/>
                            <a:t>Example</a:t>
                          </a:r>
                        </a:p>
                      </a:txBody>
                      <a:tcPr/>
                    </a:tc>
                    <a:extLst>
                      <a:ext uri="{0D108BD9-81ED-4DB2-BD59-A6C34878D82A}">
                        <a16:rowId xmlns:a16="http://schemas.microsoft.com/office/drawing/2014/main" val="2623517976"/>
                      </a:ext>
                    </a:extLst>
                  </a:tr>
                  <a:tr h="830259">
                    <a:tc>
                      <a:txBody>
                        <a:bodyPr/>
                        <a:lstStyle/>
                        <a:p>
                          <a:r>
                            <a:rPr lang="en-US" dirty="0"/>
                            <a:t>1. Any firm can make the drug</a:t>
                          </a:r>
                        </a:p>
                      </a:txBody>
                      <a:tcPr/>
                    </a:tc>
                    <a:tc>
                      <a:txBody>
                        <a:bodyPr/>
                        <a:lstStyle/>
                        <a:p>
                          <a:r>
                            <a:rPr lang="en-US" dirty="0"/>
                            <a:t>Competition pushes the price down to MC</a:t>
                          </a:r>
                        </a:p>
                      </a:txBody>
                      <a:tcPr/>
                    </a:tc>
                    <a:tc>
                      <a:txBody>
                        <a:bodyPr/>
                        <a:lstStyle/>
                        <a:p>
                          <a:r>
                            <a:rPr lang="en-US" dirty="0"/>
                            <a:t>Generic drugs, after patent expiration</a:t>
                          </a:r>
                        </a:p>
                      </a:txBody>
                      <a:tcPr/>
                    </a:tc>
                    <a:extLst>
                      <a:ext uri="{0D108BD9-81ED-4DB2-BD59-A6C34878D82A}">
                        <a16:rowId xmlns:a16="http://schemas.microsoft.com/office/drawing/2014/main" val="989664259"/>
                      </a:ext>
                    </a:extLst>
                  </a:tr>
                  <a:tr h="830259">
                    <a:tc>
                      <a:txBody>
                        <a:bodyPr/>
                        <a:lstStyle/>
                        <a:p>
                          <a:r>
                            <a:rPr lang="en-US" dirty="0"/>
                            <a:t>2. Only the patent holder can sell the drug</a:t>
                          </a:r>
                        </a:p>
                      </a:txBody>
                      <a:tcPr/>
                    </a:tc>
                    <a:tc>
                      <a:txBody>
                        <a:bodyPr/>
                        <a:lstStyle/>
                        <a:p>
                          <a:endParaRPr lang="en-US"/>
                        </a:p>
                      </a:txBody>
                      <a:tcPr>
                        <a:blipFill>
                          <a:blip r:embed="rId3"/>
                          <a:stretch>
                            <a:fillRect l="-100345" t="-159091" r="-101034" b="-101515"/>
                          </a:stretch>
                        </a:blipFill>
                      </a:tcPr>
                    </a:tc>
                    <a:tc>
                      <a:txBody>
                        <a:bodyPr/>
                        <a:lstStyle/>
                        <a:p>
                          <a:r>
                            <a:rPr lang="en-US" dirty="0"/>
                            <a:t>Brand-name drugs under patent, like Keytruda</a:t>
                          </a:r>
                        </a:p>
                      </a:txBody>
                      <a:tcPr/>
                    </a:tc>
                    <a:extLst>
                      <a:ext uri="{0D108BD9-81ED-4DB2-BD59-A6C34878D82A}">
                        <a16:rowId xmlns:a16="http://schemas.microsoft.com/office/drawing/2014/main" val="3123315553"/>
                      </a:ext>
                    </a:extLst>
                  </a:tr>
                  <a:tr h="830259">
                    <a:tc>
                      <a:txBody>
                        <a:bodyPr/>
                        <a:lstStyle/>
                        <a:p>
                          <a:r>
                            <a:rPr lang="en-US" dirty="0"/>
                            <a:t>3. Only the patent holder + patients are well-insured</a:t>
                          </a:r>
                        </a:p>
                      </a:txBody>
                      <a:tcPr/>
                    </a:tc>
                    <a:tc>
                      <a:txBody>
                        <a:bodyPr/>
                        <a:lstStyle/>
                        <a:p>
                          <a:r>
                            <a:rPr lang="en-US" dirty="0"/>
                            <a:t>WTP is very high, so price goes as high as government or society allows</a:t>
                          </a:r>
                        </a:p>
                      </a:txBody>
                      <a:tcPr/>
                    </a:tc>
                    <a:tc>
                      <a:txBody>
                        <a:bodyPr/>
                        <a:lstStyle/>
                        <a:p>
                          <a:r>
                            <a:rPr lang="en-US" dirty="0"/>
                            <a:t>Specialty drugs in the US</a:t>
                          </a:r>
                        </a:p>
                      </a:txBody>
                      <a:tcPr/>
                    </a:tc>
                    <a:extLst>
                      <a:ext uri="{0D108BD9-81ED-4DB2-BD59-A6C34878D82A}">
                        <a16:rowId xmlns:a16="http://schemas.microsoft.com/office/drawing/2014/main" val="1639435218"/>
                      </a:ext>
                    </a:extLst>
                  </a:tr>
                </a:tbl>
              </a:graphicData>
            </a:graphic>
          </p:graphicFrame>
        </mc:Fallback>
      </mc:AlternateContent>
    </p:spTree>
    <p:extLst>
      <p:ext uri="{BB962C8B-B14F-4D97-AF65-F5344CB8AC3E}">
        <p14:creationId xmlns:p14="http://schemas.microsoft.com/office/powerpoint/2010/main" val="3984830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FC7C7-7863-2A37-6B24-864C89796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A2540-B6B7-8A49-BCFF-5C29E988C7F4}"/>
              </a:ext>
            </a:extLst>
          </p:cNvPr>
          <p:cNvSpPr>
            <a:spLocks noGrp="1"/>
          </p:cNvSpPr>
          <p:nvPr>
            <p:ph type="title"/>
          </p:nvPr>
        </p:nvSpPr>
        <p:spPr/>
        <p:txBody>
          <a:bodyPr>
            <a:normAutofit/>
          </a:bodyPr>
          <a:lstStyle/>
          <a:p>
            <a:r>
              <a:rPr lang="en-US" sz="3600" dirty="0"/>
              <a:t>Is a drug worth its price?: cost-effectiveness</a:t>
            </a:r>
          </a:p>
        </p:txBody>
      </p:sp>
      <p:sp>
        <p:nvSpPr>
          <p:cNvPr id="3" name="Content Placeholder 2">
            <a:extLst>
              <a:ext uri="{FF2B5EF4-FFF2-40B4-BE49-F238E27FC236}">
                <a16:creationId xmlns:a16="http://schemas.microsoft.com/office/drawing/2014/main" id="{AE1B9743-572C-19C7-9B7E-A8EEDB2713EA}"/>
              </a:ext>
            </a:extLst>
          </p:cNvPr>
          <p:cNvSpPr>
            <a:spLocks noGrp="1"/>
          </p:cNvSpPr>
          <p:nvPr>
            <p:ph idx="1"/>
          </p:nvPr>
        </p:nvSpPr>
        <p:spPr>
          <a:xfrm>
            <a:off x="838200" y="1690688"/>
            <a:ext cx="10515600" cy="4802187"/>
          </a:xfrm>
        </p:spPr>
        <p:txBody>
          <a:bodyPr>
            <a:normAutofit lnSpcReduction="10000"/>
          </a:bodyPr>
          <a:lstStyle/>
          <a:p>
            <a:pPr fontAlgn="base">
              <a:spcBef>
                <a:spcPct val="0"/>
              </a:spcBef>
              <a:spcAft>
                <a:spcPct val="0"/>
              </a:spcAft>
            </a:pPr>
            <a:r>
              <a:rPr lang="en-US" sz="2000" dirty="0">
                <a:solidFill>
                  <a:schemeClr val="tx1"/>
                </a:solidFill>
              </a:rPr>
              <a:t>Value of a statistical life year in the US? </a:t>
            </a:r>
          </a:p>
          <a:p>
            <a:pPr lvl="1" fontAlgn="base">
              <a:spcBef>
                <a:spcPct val="0"/>
              </a:spcBef>
              <a:spcAft>
                <a:spcPct val="0"/>
              </a:spcAft>
            </a:pPr>
            <a:r>
              <a:rPr lang="en-US" sz="1800" dirty="0"/>
              <a:t>C</a:t>
            </a:r>
            <a:r>
              <a:rPr lang="en-US" sz="1800" dirty="0">
                <a:solidFill>
                  <a:schemeClr val="tx1"/>
                </a:solidFill>
              </a:rPr>
              <a:t>ommon rule of </a:t>
            </a:r>
            <a:r>
              <a:rPr lang="en-US" sz="1800" dirty="0"/>
              <a:t>thumb: $100,000 per year in perfect health (i.e., change in health)</a:t>
            </a:r>
          </a:p>
          <a:p>
            <a:pPr fontAlgn="base">
              <a:spcBef>
                <a:spcPct val="0"/>
              </a:spcBef>
              <a:spcAft>
                <a:spcPct val="0"/>
              </a:spcAft>
            </a:pPr>
            <a:endParaRPr lang="en-US" sz="1600" dirty="0">
              <a:solidFill>
                <a:schemeClr val="tx1"/>
              </a:solidFill>
            </a:endParaRPr>
          </a:p>
          <a:p>
            <a:pPr fontAlgn="base">
              <a:spcBef>
                <a:spcPct val="0"/>
              </a:spcBef>
              <a:spcAft>
                <a:spcPct val="0"/>
              </a:spcAft>
            </a:pPr>
            <a:r>
              <a:rPr lang="en-US" sz="2000" dirty="0"/>
              <a:t>Two ways to ask the same question:</a:t>
            </a:r>
          </a:p>
          <a:p>
            <a:pPr fontAlgn="base">
              <a:spcBef>
                <a:spcPct val="0"/>
              </a:spcBef>
              <a:spcAft>
                <a:spcPct val="0"/>
              </a:spcAft>
            </a:pPr>
            <a:endParaRPr lang="en-US" sz="2000" dirty="0"/>
          </a:p>
          <a:p>
            <a:pPr fontAlgn="base">
              <a:spcBef>
                <a:spcPct val="0"/>
              </a:spcBef>
              <a:spcAft>
                <a:spcPct val="0"/>
              </a:spcAft>
            </a:pPr>
            <a:endParaRPr lang="en-US" sz="2000" dirty="0"/>
          </a:p>
          <a:p>
            <a:pPr fontAlgn="base">
              <a:spcBef>
                <a:spcPct val="0"/>
              </a:spcBef>
              <a:spcAft>
                <a:spcPct val="0"/>
              </a:spcAft>
            </a:pPr>
            <a:endParaRPr lang="en-US" sz="2000" dirty="0"/>
          </a:p>
          <a:p>
            <a:r>
              <a:rPr lang="en-US" sz="2000" dirty="0"/>
              <a:t>Example from lecture: </a:t>
            </a:r>
            <a:r>
              <a:rPr lang="en-US" sz="2000" dirty="0" err="1"/>
              <a:t>Provenge</a:t>
            </a:r>
            <a:r>
              <a:rPr lang="en-US" sz="2000" dirty="0"/>
              <a:t> costs $93,000 and adds 4 months (⅓ year) of life</a:t>
            </a:r>
          </a:p>
          <a:p>
            <a:pPr lvl="1"/>
            <a:r>
              <a:rPr lang="en-US" sz="1600" dirty="0"/>
              <a:t>Benefit = ⅓ × $100K ≈ $33K, which is </a:t>
            </a:r>
            <a:r>
              <a:rPr lang="en-US" sz="1600" b="1" dirty="0"/>
              <a:t>less</a:t>
            </a:r>
            <a:r>
              <a:rPr lang="en-US" sz="1600" dirty="0"/>
              <a:t> than the $93K price ✗</a:t>
            </a:r>
          </a:p>
          <a:p>
            <a:pPr lvl="1"/>
            <a:r>
              <a:rPr lang="en-US" sz="1600" dirty="0"/>
              <a:t>Cost per year = $93K ÷ ⅓ = $279K, which is </a:t>
            </a:r>
            <a:r>
              <a:rPr lang="en-US" sz="1600" b="1" dirty="0"/>
              <a:t>more</a:t>
            </a:r>
            <a:r>
              <a:rPr lang="en-US" sz="1600" dirty="0"/>
              <a:t> than $100K ✗</a:t>
            </a:r>
          </a:p>
          <a:p>
            <a:pPr lvl="1"/>
            <a:r>
              <a:rPr lang="en-US" sz="1600" dirty="0"/>
              <a:t>→ </a:t>
            </a:r>
            <a:r>
              <a:rPr lang="en-US" sz="1600" b="1" dirty="0"/>
              <a:t>Not cost-effective</a:t>
            </a:r>
            <a:r>
              <a:rPr lang="en-US" sz="1600" dirty="0"/>
              <a:t>, and both methods agree</a:t>
            </a:r>
          </a:p>
          <a:p>
            <a:pPr fontAlgn="base">
              <a:spcBef>
                <a:spcPct val="0"/>
              </a:spcBef>
              <a:spcAft>
                <a:spcPct val="0"/>
              </a:spcAft>
            </a:pPr>
            <a:endParaRPr lang="en-US" sz="2000" dirty="0"/>
          </a:p>
          <a:p>
            <a:pPr fontAlgn="base">
              <a:spcBef>
                <a:spcPct val="0"/>
              </a:spcBef>
              <a:spcAft>
                <a:spcPct val="0"/>
              </a:spcAft>
            </a:pPr>
            <a:endParaRPr lang="en-US" sz="2000" dirty="0"/>
          </a:p>
          <a:p>
            <a:pPr fontAlgn="base">
              <a:spcBef>
                <a:spcPct val="0"/>
              </a:spcBef>
              <a:spcAft>
                <a:spcPct val="0"/>
              </a:spcAft>
            </a:pPr>
            <a:endParaRPr lang="en-US" sz="2000" dirty="0">
              <a:solidFill>
                <a:schemeClr val="tx1"/>
              </a:solidFill>
            </a:endParaRPr>
          </a:p>
          <a:p>
            <a:pPr marL="114300" indent="0">
              <a:buNone/>
            </a:pPr>
            <a:endParaRPr lang="en-US" sz="2000" dirty="0"/>
          </a:p>
        </p:txBody>
      </p:sp>
      <p:sp>
        <p:nvSpPr>
          <p:cNvPr id="4" name="Slide Number Placeholder 3">
            <a:extLst>
              <a:ext uri="{FF2B5EF4-FFF2-40B4-BE49-F238E27FC236}">
                <a16:creationId xmlns:a16="http://schemas.microsoft.com/office/drawing/2014/main" id="{606081A2-9947-E813-CDCB-D01740645ADC}"/>
              </a:ext>
            </a:extLst>
          </p:cNvPr>
          <p:cNvSpPr>
            <a:spLocks noGrp="1"/>
          </p:cNvSpPr>
          <p:nvPr>
            <p:ph type="sldNum" sz="quarter" idx="12"/>
          </p:nvPr>
        </p:nvSpPr>
        <p:spPr/>
        <p:txBody>
          <a:bodyPr/>
          <a:lstStyle/>
          <a:p>
            <a:fld id="{171A6C5B-A11A-470F-8319-62E6F3F410BC}" type="slidenum">
              <a:rPr lang="en-US" smtClean="0"/>
              <a:pPr/>
              <a:t>10</a:t>
            </a:fld>
            <a:endParaRPr lang="en-US"/>
          </a:p>
        </p:txBody>
      </p:sp>
      <p:graphicFrame>
        <p:nvGraphicFramePr>
          <p:cNvPr id="5" name="Table 4">
            <a:extLst>
              <a:ext uri="{FF2B5EF4-FFF2-40B4-BE49-F238E27FC236}">
                <a16:creationId xmlns:a16="http://schemas.microsoft.com/office/drawing/2014/main" id="{4809748E-711D-AB31-2B89-5BF632B2F8F3}"/>
              </a:ext>
            </a:extLst>
          </p:cNvPr>
          <p:cNvGraphicFramePr>
            <a:graphicFrameLocks noGrp="1"/>
          </p:cNvGraphicFramePr>
          <p:nvPr/>
        </p:nvGraphicFramePr>
        <p:xfrm>
          <a:off x="1600200" y="3434443"/>
          <a:ext cx="9601200" cy="1112520"/>
        </p:xfrm>
        <a:graphic>
          <a:graphicData uri="http://schemas.openxmlformats.org/drawingml/2006/table">
            <a:tbl>
              <a:tblPr firstRow="1" bandRow="1">
                <a:tableStyleId>{7DF18680-E054-41AD-8BC1-D1AEF772440D}</a:tableStyleId>
              </a:tblPr>
              <a:tblGrid>
                <a:gridCol w="3200400">
                  <a:extLst>
                    <a:ext uri="{9D8B030D-6E8A-4147-A177-3AD203B41FA5}">
                      <a16:colId xmlns:a16="http://schemas.microsoft.com/office/drawing/2014/main" val="2473179133"/>
                    </a:ext>
                  </a:extLst>
                </a:gridCol>
                <a:gridCol w="3200400">
                  <a:extLst>
                    <a:ext uri="{9D8B030D-6E8A-4147-A177-3AD203B41FA5}">
                      <a16:colId xmlns:a16="http://schemas.microsoft.com/office/drawing/2014/main" val="2182298940"/>
                    </a:ext>
                  </a:extLst>
                </a:gridCol>
                <a:gridCol w="3200400">
                  <a:extLst>
                    <a:ext uri="{9D8B030D-6E8A-4147-A177-3AD203B41FA5}">
                      <a16:colId xmlns:a16="http://schemas.microsoft.com/office/drawing/2014/main" val="2991226489"/>
                    </a:ext>
                  </a:extLst>
                </a:gridCol>
              </a:tblGrid>
              <a:tr h="370840">
                <a:tc>
                  <a:txBody>
                    <a:bodyPr/>
                    <a:lstStyle/>
                    <a:p>
                      <a:endParaRPr lang="en-US"/>
                    </a:p>
                  </a:txBody>
                  <a:tcPr/>
                </a:tc>
                <a:tc>
                  <a:txBody>
                    <a:bodyPr/>
                    <a:lstStyle/>
                    <a:p>
                      <a:r>
                        <a:rPr lang="en-US" dirty="0"/>
                        <a:t>Calculate</a:t>
                      </a:r>
                    </a:p>
                  </a:txBody>
                  <a:tcPr/>
                </a:tc>
                <a:tc>
                  <a:txBody>
                    <a:bodyPr/>
                    <a:lstStyle/>
                    <a:p>
                      <a:r>
                        <a:rPr lang="en-US" dirty="0"/>
                        <a:t>Worth it if…</a:t>
                      </a:r>
                    </a:p>
                  </a:txBody>
                  <a:tcPr/>
                </a:tc>
                <a:extLst>
                  <a:ext uri="{0D108BD9-81ED-4DB2-BD59-A6C34878D82A}">
                    <a16:rowId xmlns:a16="http://schemas.microsoft.com/office/drawing/2014/main" val="3298660402"/>
                  </a:ext>
                </a:extLst>
              </a:tr>
              <a:tr h="370840">
                <a:tc>
                  <a:txBody>
                    <a:bodyPr/>
                    <a:lstStyle/>
                    <a:p>
                      <a:r>
                        <a:rPr lang="en-US" dirty="0"/>
                        <a:t>Benefit vs. price (lecture)</a:t>
                      </a:r>
                    </a:p>
                  </a:txBody>
                  <a:tcPr/>
                </a:tc>
                <a:tc>
                  <a:txBody>
                    <a:bodyPr/>
                    <a:lstStyle/>
                    <a:p>
                      <a:r>
                        <a:rPr lang="en-US" dirty="0"/>
                        <a:t>Benefit = Years Gained x $100k</a:t>
                      </a:r>
                    </a:p>
                  </a:txBody>
                  <a:tcPr/>
                </a:tc>
                <a:tc>
                  <a:txBody>
                    <a:bodyPr/>
                    <a:lstStyle/>
                    <a:p>
                      <a:r>
                        <a:rPr lang="en-US" dirty="0"/>
                        <a:t>Benefit &gt; Price</a:t>
                      </a:r>
                    </a:p>
                  </a:txBody>
                  <a:tcPr/>
                </a:tc>
                <a:extLst>
                  <a:ext uri="{0D108BD9-81ED-4DB2-BD59-A6C34878D82A}">
                    <a16:rowId xmlns:a16="http://schemas.microsoft.com/office/drawing/2014/main" val="2212681950"/>
                  </a:ext>
                </a:extLst>
              </a:tr>
              <a:tr h="370840">
                <a:tc>
                  <a:txBody>
                    <a:bodyPr/>
                    <a:lstStyle/>
                    <a:p>
                      <a:r>
                        <a:rPr lang="en-US" dirty="0"/>
                        <a:t>Cost per year gained</a:t>
                      </a:r>
                    </a:p>
                  </a:txBody>
                  <a:tcPr/>
                </a:tc>
                <a:tc>
                  <a:txBody>
                    <a:bodyPr/>
                    <a:lstStyle/>
                    <a:p>
                      <a:r>
                        <a:rPr lang="en-US" dirty="0"/>
                        <a:t>Price + Years Gained</a:t>
                      </a:r>
                    </a:p>
                  </a:txBody>
                  <a:tcPr/>
                </a:tc>
                <a:tc>
                  <a:txBody>
                    <a:bodyPr/>
                    <a:lstStyle/>
                    <a:p>
                      <a:r>
                        <a:rPr lang="en-US" dirty="0"/>
                        <a:t>Cost per year &lt; $100k</a:t>
                      </a:r>
                    </a:p>
                  </a:txBody>
                  <a:tcPr/>
                </a:tc>
                <a:extLst>
                  <a:ext uri="{0D108BD9-81ED-4DB2-BD59-A6C34878D82A}">
                    <a16:rowId xmlns:a16="http://schemas.microsoft.com/office/drawing/2014/main" val="1916973767"/>
                  </a:ext>
                </a:extLst>
              </a:tr>
            </a:tbl>
          </a:graphicData>
        </a:graphic>
      </p:graphicFrame>
    </p:spTree>
    <p:extLst>
      <p:ext uri="{BB962C8B-B14F-4D97-AF65-F5344CB8AC3E}">
        <p14:creationId xmlns:p14="http://schemas.microsoft.com/office/powerpoint/2010/main" val="2595377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82ACF-CEA6-1C48-99AD-AB3AC47A1AAA}"/>
              </a:ext>
            </a:extLst>
          </p:cNvPr>
          <p:cNvSpPr>
            <a:spLocks noGrp="1"/>
          </p:cNvSpPr>
          <p:nvPr>
            <p:ph type="title"/>
          </p:nvPr>
        </p:nvSpPr>
        <p:spPr/>
        <p:txBody>
          <a:bodyPr/>
          <a:lstStyle/>
          <a:p>
            <a:r>
              <a:rPr lang="en-US" dirty="0"/>
              <a:t>Practice Problem Prompt</a:t>
            </a:r>
          </a:p>
        </p:txBody>
      </p:sp>
      <p:sp>
        <p:nvSpPr>
          <p:cNvPr id="3" name="Content Placeholder 2">
            <a:extLst>
              <a:ext uri="{FF2B5EF4-FFF2-40B4-BE49-F238E27FC236}">
                <a16:creationId xmlns:a16="http://schemas.microsoft.com/office/drawing/2014/main" id="{57C1A583-F97D-134F-B161-4139E764591D}"/>
              </a:ext>
            </a:extLst>
          </p:cNvPr>
          <p:cNvSpPr>
            <a:spLocks noGrp="1"/>
          </p:cNvSpPr>
          <p:nvPr>
            <p:ph idx="1"/>
          </p:nvPr>
        </p:nvSpPr>
        <p:spPr/>
        <p:txBody>
          <a:bodyPr>
            <a:normAutofit/>
          </a:bodyPr>
          <a:lstStyle/>
          <a:p>
            <a:r>
              <a:rPr lang="en-US" sz="1600" dirty="0"/>
              <a:t>There are about 1-2 million of people living with </a:t>
            </a:r>
            <a:r>
              <a:rPr lang="en-US" sz="1600" b="1" dirty="0"/>
              <a:t>melanoma</a:t>
            </a:r>
            <a:r>
              <a:rPr lang="en-US" sz="1600" dirty="0"/>
              <a:t> (skin cancer) in the US. One person dies of melanoma every hour. New cancer drugs, called checkpoint inhibitors, remove the ability of some cancer cells to hide from the immune system. One checkpoint inhibitor, </a:t>
            </a:r>
            <a:r>
              <a:rPr lang="en-US" sz="1600" b="1" dirty="0"/>
              <a:t>Keytruda</a:t>
            </a:r>
            <a:r>
              <a:rPr lang="en-US" sz="1600" dirty="0"/>
              <a:t>, manufactured by </a:t>
            </a:r>
            <a:r>
              <a:rPr lang="en-US" sz="1600" b="1" dirty="0"/>
              <a:t>Merck</a:t>
            </a:r>
            <a:r>
              <a:rPr lang="en-US" sz="1600" dirty="0"/>
              <a:t>, increases survival of cancer patients significantly. In a clinical trial using Keytruda against melanoma, while the life expectancy of people not taking the drug was about </a:t>
            </a:r>
            <a:r>
              <a:rPr lang="en-US" sz="1600" b="1" dirty="0"/>
              <a:t>1</a:t>
            </a:r>
            <a:r>
              <a:rPr lang="en-US" sz="1600" dirty="0"/>
              <a:t> </a:t>
            </a:r>
            <a:r>
              <a:rPr lang="en-US" sz="1600" b="1" dirty="0"/>
              <a:t>year</a:t>
            </a:r>
            <a:r>
              <a:rPr lang="en-US" sz="1600" dirty="0"/>
              <a:t>, people taking the drug lived on average </a:t>
            </a:r>
            <a:r>
              <a:rPr lang="en-US" sz="1600" b="1" dirty="0"/>
              <a:t>3 years </a:t>
            </a:r>
            <a:r>
              <a:rPr lang="en-US" sz="1600" dirty="0"/>
              <a:t>(</a:t>
            </a:r>
            <a:r>
              <a:rPr lang="en-US" sz="1600" i="1" dirty="0"/>
              <a:t>this is simplified here for the purpose of this exercise</a:t>
            </a:r>
            <a:r>
              <a:rPr lang="en-US" sz="1600" dirty="0"/>
              <a:t>). Some patients have been completely cured.</a:t>
            </a:r>
          </a:p>
          <a:p>
            <a:r>
              <a:rPr lang="en-US" sz="1600" dirty="0"/>
              <a:t>Assume that the </a:t>
            </a:r>
            <a:r>
              <a:rPr lang="en-US" sz="1600" b="1" dirty="0"/>
              <a:t>development cost </a:t>
            </a:r>
            <a:r>
              <a:rPr lang="en-US" sz="1600" dirty="0"/>
              <a:t>(the fixed cost) for Keytruda was </a:t>
            </a:r>
            <a:r>
              <a:rPr lang="en-US" sz="1600" b="1" dirty="0"/>
              <a:t>$2.6 billion </a:t>
            </a:r>
            <a:r>
              <a:rPr lang="en-US" sz="1600" dirty="0"/>
              <a:t>and the </a:t>
            </a:r>
            <a:r>
              <a:rPr lang="en-US" sz="1600" b="1" dirty="0"/>
              <a:t>manufacturing cost </a:t>
            </a:r>
            <a:r>
              <a:rPr lang="en-US" sz="1600" dirty="0"/>
              <a:t>is </a:t>
            </a:r>
            <a:r>
              <a:rPr lang="en-US" sz="1600" b="1" dirty="0"/>
              <a:t>$1000 </a:t>
            </a:r>
            <a:r>
              <a:rPr lang="en-US" sz="1600" dirty="0"/>
              <a:t>for the entire course of treatment. Assume that people’s </a:t>
            </a:r>
            <a:r>
              <a:rPr lang="en-US" sz="1600" b="1" dirty="0"/>
              <a:t>willingness to pay </a:t>
            </a:r>
            <a:r>
              <a:rPr lang="en-US" sz="1600" dirty="0"/>
              <a:t>for Keytruda varies with the seriousness of the disease in the following way: for people with advanced metastatic cancer, Keytruda may be the only promising treatment option, and they are willing to pay more than people with less advanced forms of the disease.</a:t>
            </a:r>
          </a:p>
        </p:txBody>
      </p:sp>
      <p:sp>
        <p:nvSpPr>
          <p:cNvPr id="4" name="Slide Number Placeholder 3">
            <a:extLst>
              <a:ext uri="{FF2B5EF4-FFF2-40B4-BE49-F238E27FC236}">
                <a16:creationId xmlns:a16="http://schemas.microsoft.com/office/drawing/2014/main" id="{075CA122-6225-0749-97CB-E53F7123C2B7}"/>
              </a:ext>
            </a:extLst>
          </p:cNvPr>
          <p:cNvSpPr>
            <a:spLocks noGrp="1"/>
          </p:cNvSpPr>
          <p:nvPr>
            <p:ph type="sldNum" sz="quarter" idx="12"/>
          </p:nvPr>
        </p:nvSpPr>
        <p:spPr/>
        <p:txBody>
          <a:bodyPr/>
          <a:lstStyle/>
          <a:p>
            <a:fld id="{171A6C5B-A11A-470F-8319-62E6F3F410BC}" type="slidenum">
              <a:rPr lang="en-US" smtClean="0"/>
              <a:pPr/>
              <a:t>11</a:t>
            </a:fld>
            <a:endParaRPr lang="en-US"/>
          </a:p>
        </p:txBody>
      </p:sp>
    </p:spTree>
    <p:extLst>
      <p:ext uri="{BB962C8B-B14F-4D97-AF65-F5344CB8AC3E}">
        <p14:creationId xmlns:p14="http://schemas.microsoft.com/office/powerpoint/2010/main" val="4251311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7CA09-6446-B14B-A647-23B01DAD1703}"/>
              </a:ext>
            </a:extLst>
          </p:cNvPr>
          <p:cNvSpPr>
            <a:spLocks noGrp="1"/>
          </p:cNvSpPr>
          <p:nvPr>
            <p:ph type="title"/>
          </p:nvPr>
        </p:nvSpPr>
        <p:spPr/>
        <p:txBody>
          <a:bodyPr>
            <a:normAutofit/>
          </a:bodyPr>
          <a:lstStyle/>
          <a:p>
            <a:r>
              <a:rPr lang="en-US" sz="4200" dirty="0"/>
              <a:t>Part 1: Merck can only charge one price </a:t>
            </a:r>
          </a:p>
        </p:txBody>
      </p:sp>
      <p:sp>
        <p:nvSpPr>
          <p:cNvPr id="3" name="Content Placeholder 2">
            <a:extLst>
              <a:ext uri="{FF2B5EF4-FFF2-40B4-BE49-F238E27FC236}">
                <a16:creationId xmlns:a16="http://schemas.microsoft.com/office/drawing/2014/main" id="{E372E4F5-CC35-C64E-AF68-FCC38B6B231E}"/>
              </a:ext>
            </a:extLst>
          </p:cNvPr>
          <p:cNvSpPr>
            <a:spLocks noGrp="1"/>
          </p:cNvSpPr>
          <p:nvPr>
            <p:ph idx="1"/>
          </p:nvPr>
        </p:nvSpPr>
        <p:spPr/>
        <p:txBody>
          <a:bodyPr>
            <a:normAutofit fontScale="70000" lnSpcReduction="20000"/>
          </a:bodyPr>
          <a:lstStyle/>
          <a:p>
            <a:pPr fontAlgn="base">
              <a:spcBef>
                <a:spcPct val="0"/>
              </a:spcBef>
              <a:spcAft>
                <a:spcPct val="0"/>
              </a:spcAft>
            </a:pPr>
            <a:r>
              <a:rPr lang="en-US" sz="2400" dirty="0">
                <a:solidFill>
                  <a:schemeClr val="tx1"/>
                </a:solidFill>
              </a:rPr>
              <a:t>In the following exercise, consider a population of 10,000 people and ignore the fixed costs.</a:t>
            </a:r>
          </a:p>
          <a:p>
            <a:pPr lvl="1" fontAlgn="base">
              <a:spcBef>
                <a:spcPct val="0"/>
              </a:spcBef>
              <a:spcAft>
                <a:spcPct val="0"/>
              </a:spcAft>
            </a:pPr>
            <a:r>
              <a:rPr lang="en-US" dirty="0">
                <a:solidFill>
                  <a:schemeClr val="tx1"/>
                </a:solidFill>
              </a:rPr>
              <a:t>400 have advanced metastatic cancer and are willing to pay $300,000</a:t>
            </a:r>
          </a:p>
          <a:p>
            <a:pPr lvl="1" fontAlgn="base">
              <a:spcBef>
                <a:spcPct val="0"/>
              </a:spcBef>
              <a:spcAft>
                <a:spcPct val="0"/>
              </a:spcAft>
            </a:pPr>
            <a:r>
              <a:rPr lang="en-US" dirty="0">
                <a:solidFill>
                  <a:schemeClr val="tx1"/>
                </a:solidFill>
              </a:rPr>
              <a:t>600 have a less advanced form of cancer and are willing to pay $100,000</a:t>
            </a:r>
          </a:p>
          <a:p>
            <a:pPr lvl="1" fontAlgn="base">
              <a:spcBef>
                <a:spcPct val="0"/>
              </a:spcBef>
              <a:spcAft>
                <a:spcPct val="0"/>
              </a:spcAft>
            </a:pPr>
            <a:r>
              <a:rPr lang="en-US" dirty="0">
                <a:solidFill>
                  <a:schemeClr val="tx1"/>
                </a:solidFill>
              </a:rPr>
              <a:t>1,000 have a less advanced form of the disease and they are not insured and are willing to pay $1,000. </a:t>
            </a:r>
          </a:p>
          <a:p>
            <a:pPr lvl="1" fontAlgn="base">
              <a:spcBef>
                <a:spcPct val="0"/>
              </a:spcBef>
              <a:spcAft>
                <a:spcPct val="0"/>
              </a:spcAft>
            </a:pPr>
            <a:r>
              <a:rPr lang="en-US" dirty="0">
                <a:solidFill>
                  <a:schemeClr val="tx1"/>
                </a:solidFill>
              </a:rPr>
              <a:t>1,000 have a less advanced form of the disease and they are not insured and are willing to pay $500. </a:t>
            </a:r>
          </a:p>
          <a:p>
            <a:endParaRPr lang="en-US" sz="2400" dirty="0"/>
          </a:p>
          <a:p>
            <a:pPr marL="114300" indent="0" fontAlgn="base">
              <a:spcBef>
                <a:spcPct val="0"/>
              </a:spcBef>
              <a:spcAft>
                <a:spcPct val="0"/>
              </a:spcAft>
              <a:buNone/>
            </a:pPr>
            <a:r>
              <a:rPr lang="en-US" sz="2400" b="1" dirty="0"/>
              <a:t>Q1: On a graph with quantity on the X axis and price on the Y axis, draw the supply and demand curves.</a:t>
            </a:r>
          </a:p>
          <a:p>
            <a:pPr marL="114300" indent="0" fontAlgn="base">
              <a:spcBef>
                <a:spcPct val="0"/>
              </a:spcBef>
              <a:spcAft>
                <a:spcPct val="0"/>
              </a:spcAft>
              <a:buNone/>
            </a:pPr>
            <a:endParaRPr lang="en-US" sz="2400" b="1" dirty="0"/>
          </a:p>
          <a:p>
            <a:pPr marL="114300" indent="0" fontAlgn="base">
              <a:spcBef>
                <a:spcPct val="0"/>
              </a:spcBef>
              <a:spcAft>
                <a:spcPct val="0"/>
              </a:spcAft>
              <a:buNone/>
            </a:pPr>
            <a:r>
              <a:rPr lang="en-US" sz="2400" b="1" dirty="0"/>
              <a:t>Q2: What price will Merck charge? Who gets Keytruda?</a:t>
            </a:r>
          </a:p>
          <a:p>
            <a:pPr fontAlgn="base">
              <a:spcBef>
                <a:spcPct val="0"/>
              </a:spcBef>
              <a:spcAft>
                <a:spcPct val="0"/>
              </a:spcAft>
            </a:pPr>
            <a:endParaRPr lang="en-US" sz="2200" dirty="0">
              <a:solidFill>
                <a:schemeClr val="tx1"/>
              </a:solidFill>
            </a:endParaRPr>
          </a:p>
          <a:p>
            <a:endParaRPr lang="en-US" dirty="0"/>
          </a:p>
        </p:txBody>
      </p:sp>
      <p:sp>
        <p:nvSpPr>
          <p:cNvPr id="4" name="Slide Number Placeholder 3">
            <a:extLst>
              <a:ext uri="{FF2B5EF4-FFF2-40B4-BE49-F238E27FC236}">
                <a16:creationId xmlns:a16="http://schemas.microsoft.com/office/drawing/2014/main" id="{F567894C-B81C-314C-93BE-4D46C5D2CDDE}"/>
              </a:ext>
            </a:extLst>
          </p:cNvPr>
          <p:cNvSpPr>
            <a:spLocks noGrp="1"/>
          </p:cNvSpPr>
          <p:nvPr>
            <p:ph type="sldNum" sz="quarter" idx="12"/>
          </p:nvPr>
        </p:nvSpPr>
        <p:spPr/>
        <p:txBody>
          <a:bodyPr/>
          <a:lstStyle/>
          <a:p>
            <a:fld id="{171A6C5B-A11A-470F-8319-62E6F3F410BC}" type="slidenum">
              <a:rPr lang="en-US" smtClean="0"/>
              <a:pPr/>
              <a:t>12</a:t>
            </a:fld>
            <a:endParaRPr lang="en-US"/>
          </a:p>
        </p:txBody>
      </p:sp>
    </p:spTree>
    <p:extLst>
      <p:ext uri="{BB962C8B-B14F-4D97-AF65-F5344CB8AC3E}">
        <p14:creationId xmlns:p14="http://schemas.microsoft.com/office/powerpoint/2010/main" val="384114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B7118-B276-604C-A708-09932F0E6246}"/>
              </a:ext>
            </a:extLst>
          </p:cNvPr>
          <p:cNvSpPr>
            <a:spLocks noGrp="1"/>
          </p:cNvSpPr>
          <p:nvPr>
            <p:ph type="title"/>
          </p:nvPr>
        </p:nvSpPr>
        <p:spPr/>
        <p:txBody>
          <a:bodyPr>
            <a:normAutofit/>
          </a:bodyPr>
          <a:lstStyle/>
          <a:p>
            <a:r>
              <a:rPr lang="en-US" sz="4200" dirty="0"/>
              <a:t>Part 2: Merck can charge different prices </a:t>
            </a:r>
          </a:p>
        </p:txBody>
      </p:sp>
      <p:sp>
        <p:nvSpPr>
          <p:cNvPr id="3" name="Content Placeholder 2">
            <a:extLst>
              <a:ext uri="{FF2B5EF4-FFF2-40B4-BE49-F238E27FC236}">
                <a16:creationId xmlns:a16="http://schemas.microsoft.com/office/drawing/2014/main" id="{2CFAF9FF-7FD1-0540-88FE-5117322F1015}"/>
              </a:ext>
            </a:extLst>
          </p:cNvPr>
          <p:cNvSpPr>
            <a:spLocks noGrp="1"/>
          </p:cNvSpPr>
          <p:nvPr>
            <p:ph idx="1"/>
          </p:nvPr>
        </p:nvSpPr>
        <p:spPr>
          <a:xfrm>
            <a:off x="457200" y="1573840"/>
            <a:ext cx="11353800" cy="4674559"/>
          </a:xfrm>
        </p:spPr>
        <p:txBody>
          <a:bodyPr>
            <a:noAutofit/>
          </a:bodyPr>
          <a:lstStyle/>
          <a:p>
            <a:pPr fontAlgn="base">
              <a:spcBef>
                <a:spcPct val="0"/>
              </a:spcBef>
              <a:spcAft>
                <a:spcPct val="0"/>
              </a:spcAft>
            </a:pPr>
            <a:r>
              <a:rPr lang="en-US" sz="1800" dirty="0"/>
              <a:t>Now, Merck can charge </a:t>
            </a:r>
            <a:r>
              <a:rPr lang="en-US" sz="1800" b="1" dirty="0"/>
              <a:t>different prices to different groups </a:t>
            </a:r>
            <a:r>
              <a:rPr lang="en-US" sz="1800" dirty="0"/>
              <a:t>for the same drug. Assume Merck can stop people from reselling it. </a:t>
            </a:r>
            <a:endParaRPr lang="en-US" sz="1800" dirty="0">
              <a:solidFill>
                <a:schemeClr val="tx1"/>
              </a:solidFill>
            </a:endParaRPr>
          </a:p>
          <a:p>
            <a:pPr fontAlgn="base">
              <a:spcBef>
                <a:spcPct val="0"/>
              </a:spcBef>
              <a:spcAft>
                <a:spcPct val="0"/>
              </a:spcAft>
            </a:pPr>
            <a:r>
              <a:rPr lang="en-US" sz="1800" dirty="0">
                <a:solidFill>
                  <a:schemeClr val="tx1"/>
                </a:solidFill>
              </a:rPr>
              <a:t>In the following exercise, consider a population of 10000 people and ignore the fixed costs.</a:t>
            </a:r>
          </a:p>
          <a:p>
            <a:pPr lvl="1" fontAlgn="base">
              <a:spcBef>
                <a:spcPct val="0"/>
              </a:spcBef>
              <a:spcAft>
                <a:spcPct val="0"/>
              </a:spcAft>
            </a:pPr>
            <a:r>
              <a:rPr lang="en-US" sz="1800" dirty="0">
                <a:solidFill>
                  <a:schemeClr val="tx1"/>
                </a:solidFill>
              </a:rPr>
              <a:t>400 have advanced metastatic cancer and are willing to pay $300,000</a:t>
            </a:r>
          </a:p>
          <a:p>
            <a:pPr lvl="1" fontAlgn="base">
              <a:spcBef>
                <a:spcPct val="0"/>
              </a:spcBef>
              <a:spcAft>
                <a:spcPct val="0"/>
              </a:spcAft>
            </a:pPr>
            <a:r>
              <a:rPr lang="en-US" sz="1800" dirty="0">
                <a:solidFill>
                  <a:schemeClr val="tx1"/>
                </a:solidFill>
              </a:rPr>
              <a:t>600 have a less advanced form of cancer and are willing to pay $100,000</a:t>
            </a:r>
          </a:p>
          <a:p>
            <a:pPr lvl="1" fontAlgn="base">
              <a:spcBef>
                <a:spcPct val="0"/>
              </a:spcBef>
              <a:spcAft>
                <a:spcPct val="0"/>
              </a:spcAft>
            </a:pPr>
            <a:r>
              <a:rPr lang="en-US" sz="1800" dirty="0">
                <a:solidFill>
                  <a:schemeClr val="tx1"/>
                </a:solidFill>
              </a:rPr>
              <a:t>1,000 have a less advanced form of the disease and they are not insured and are willing to pay $1,000. </a:t>
            </a:r>
          </a:p>
          <a:p>
            <a:pPr lvl="1" fontAlgn="base">
              <a:spcBef>
                <a:spcPct val="0"/>
              </a:spcBef>
              <a:spcAft>
                <a:spcPct val="0"/>
              </a:spcAft>
            </a:pPr>
            <a:r>
              <a:rPr lang="en-US" sz="1800" dirty="0">
                <a:solidFill>
                  <a:schemeClr val="tx1"/>
                </a:solidFill>
              </a:rPr>
              <a:t>1,000 have a less advanced form of the disease and they are not insured and are willing to pay $500. </a:t>
            </a:r>
          </a:p>
          <a:p>
            <a:pPr lvl="1" fontAlgn="base">
              <a:spcBef>
                <a:spcPct val="0"/>
              </a:spcBef>
              <a:spcAft>
                <a:spcPct val="0"/>
              </a:spcAft>
            </a:pPr>
            <a:endParaRPr lang="en-US" sz="1400" dirty="0"/>
          </a:p>
          <a:p>
            <a:pPr fontAlgn="base">
              <a:spcBef>
                <a:spcPct val="0"/>
              </a:spcBef>
              <a:spcAft>
                <a:spcPct val="0"/>
              </a:spcAft>
            </a:pPr>
            <a:r>
              <a:rPr lang="en-US" sz="1800" b="1" dirty="0"/>
              <a:t>Q1: What price will Merck charge each group? What are its total profits? Who gets Keytruda now?</a:t>
            </a:r>
          </a:p>
          <a:p>
            <a:pPr fontAlgn="base">
              <a:spcBef>
                <a:spcPct val="0"/>
              </a:spcBef>
              <a:spcAft>
                <a:spcPct val="0"/>
              </a:spcAft>
            </a:pPr>
            <a:r>
              <a:rPr lang="en-US" sz="1800" b="1" dirty="0"/>
              <a:t>Q2: Does Merck make more profits when it can charge one price or differentiated prices?</a:t>
            </a:r>
          </a:p>
          <a:p>
            <a:pPr fontAlgn="base">
              <a:spcBef>
                <a:spcPct val="0"/>
              </a:spcBef>
              <a:spcAft>
                <a:spcPct val="0"/>
              </a:spcAft>
            </a:pPr>
            <a:r>
              <a:rPr lang="en-US" sz="1800" b="1" dirty="0"/>
              <a:t>Q3: Give one pro and one con of differentiated pricing for </a:t>
            </a:r>
            <a:r>
              <a:rPr lang="en-US" sz="1800" b="1" u="sng" dirty="0"/>
              <a:t>Merck</a:t>
            </a:r>
            <a:r>
              <a:rPr lang="en-US" sz="1800" b="1" dirty="0"/>
              <a:t>, and one each for </a:t>
            </a:r>
            <a:r>
              <a:rPr lang="en-US" sz="1800" b="1" u="sng" dirty="0"/>
              <a:t>patients</a:t>
            </a:r>
            <a:r>
              <a:rPr lang="en-US" sz="1800" b="1" dirty="0"/>
              <a:t>. </a:t>
            </a:r>
          </a:p>
          <a:p>
            <a:endParaRPr lang="en-US" sz="1800" dirty="0"/>
          </a:p>
        </p:txBody>
      </p:sp>
      <p:sp>
        <p:nvSpPr>
          <p:cNvPr id="4" name="Slide Number Placeholder 3">
            <a:extLst>
              <a:ext uri="{FF2B5EF4-FFF2-40B4-BE49-F238E27FC236}">
                <a16:creationId xmlns:a16="http://schemas.microsoft.com/office/drawing/2014/main" id="{6152D6BF-F487-1F4B-9424-A52DFC046F43}"/>
              </a:ext>
            </a:extLst>
          </p:cNvPr>
          <p:cNvSpPr>
            <a:spLocks noGrp="1"/>
          </p:cNvSpPr>
          <p:nvPr>
            <p:ph type="sldNum" sz="quarter" idx="12"/>
          </p:nvPr>
        </p:nvSpPr>
        <p:spPr/>
        <p:txBody>
          <a:bodyPr/>
          <a:lstStyle/>
          <a:p>
            <a:fld id="{171A6C5B-A11A-470F-8319-62E6F3F410BC}" type="slidenum">
              <a:rPr lang="en-US" smtClean="0"/>
              <a:pPr/>
              <a:t>13</a:t>
            </a:fld>
            <a:endParaRPr lang="en-US"/>
          </a:p>
        </p:txBody>
      </p:sp>
    </p:spTree>
    <p:extLst>
      <p:ext uri="{BB962C8B-B14F-4D97-AF65-F5344CB8AC3E}">
        <p14:creationId xmlns:p14="http://schemas.microsoft.com/office/powerpoint/2010/main" val="302388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11D1-7B9D-C14C-A01E-437F3F2DC634}"/>
              </a:ext>
            </a:extLst>
          </p:cNvPr>
          <p:cNvSpPr>
            <a:spLocks noGrp="1"/>
          </p:cNvSpPr>
          <p:nvPr>
            <p:ph type="title"/>
          </p:nvPr>
        </p:nvSpPr>
        <p:spPr/>
        <p:txBody>
          <a:bodyPr>
            <a:normAutofit/>
          </a:bodyPr>
          <a:lstStyle/>
          <a:p>
            <a:r>
              <a:rPr lang="en-US" sz="3600" dirty="0"/>
              <a:t>Part 3: Is Keytruda cost-effective?</a:t>
            </a:r>
            <a:br>
              <a:rPr lang="en-US" dirty="0"/>
            </a:br>
            <a:endParaRPr lang="en-US" dirty="0"/>
          </a:p>
        </p:txBody>
      </p:sp>
      <p:sp>
        <p:nvSpPr>
          <p:cNvPr id="3" name="Content Placeholder 2">
            <a:extLst>
              <a:ext uri="{FF2B5EF4-FFF2-40B4-BE49-F238E27FC236}">
                <a16:creationId xmlns:a16="http://schemas.microsoft.com/office/drawing/2014/main" id="{3EEE720F-E4A0-FB40-96BF-68B651DCE054}"/>
              </a:ext>
            </a:extLst>
          </p:cNvPr>
          <p:cNvSpPr>
            <a:spLocks noGrp="1"/>
          </p:cNvSpPr>
          <p:nvPr>
            <p:ph idx="1"/>
          </p:nvPr>
        </p:nvSpPr>
        <p:spPr>
          <a:xfrm>
            <a:off x="838200" y="1690688"/>
            <a:ext cx="10515600" cy="4373563"/>
          </a:xfrm>
        </p:spPr>
        <p:txBody>
          <a:bodyPr>
            <a:normAutofit fontScale="92500"/>
          </a:bodyPr>
          <a:lstStyle/>
          <a:p>
            <a:pPr fontAlgn="base">
              <a:spcBef>
                <a:spcPct val="0"/>
              </a:spcBef>
              <a:spcAft>
                <a:spcPct val="0"/>
              </a:spcAft>
            </a:pPr>
            <a:r>
              <a:rPr lang="en-US" sz="1800" dirty="0"/>
              <a:t>Recall: </a:t>
            </a:r>
          </a:p>
          <a:p>
            <a:pPr lvl="1" fontAlgn="base">
              <a:spcBef>
                <a:spcPct val="0"/>
              </a:spcBef>
              <a:spcAft>
                <a:spcPct val="0"/>
              </a:spcAft>
            </a:pPr>
            <a:r>
              <a:rPr lang="en-US" sz="1800" dirty="0"/>
              <a:t>Price is $300k (from Part 1)</a:t>
            </a:r>
          </a:p>
          <a:p>
            <a:pPr lvl="1" fontAlgn="base">
              <a:spcBef>
                <a:spcPct val="0"/>
              </a:spcBef>
              <a:spcAft>
                <a:spcPct val="0"/>
              </a:spcAft>
            </a:pPr>
            <a:r>
              <a:rPr lang="en-US" sz="1800" dirty="0"/>
              <a:t>Life expectancy </a:t>
            </a:r>
            <a:r>
              <a:rPr lang="en-US" sz="1800" u="sng" dirty="0"/>
              <a:t>without</a:t>
            </a:r>
            <a:r>
              <a:rPr lang="en-US" sz="1800" dirty="0"/>
              <a:t> Keytruda: 1 year</a:t>
            </a:r>
          </a:p>
          <a:p>
            <a:pPr lvl="1" fontAlgn="base">
              <a:spcBef>
                <a:spcPct val="0"/>
              </a:spcBef>
              <a:spcAft>
                <a:spcPct val="0"/>
              </a:spcAft>
            </a:pPr>
            <a:r>
              <a:rPr lang="en-US" sz="1800" dirty="0"/>
              <a:t>Life expectancy </a:t>
            </a:r>
            <a:r>
              <a:rPr lang="en-US" sz="1800" i="1" dirty="0"/>
              <a:t>with</a:t>
            </a:r>
            <a:r>
              <a:rPr lang="en-US" sz="1800" dirty="0"/>
              <a:t> Keytruda: 3 years</a:t>
            </a:r>
          </a:p>
          <a:p>
            <a:pPr lvl="1" fontAlgn="base">
              <a:spcBef>
                <a:spcPct val="0"/>
              </a:spcBef>
              <a:spcAft>
                <a:spcPct val="0"/>
              </a:spcAft>
            </a:pPr>
            <a:endParaRPr lang="en-US" sz="1400" dirty="0"/>
          </a:p>
          <a:p>
            <a:pPr marL="0" indent="0" fontAlgn="base">
              <a:spcBef>
                <a:spcPct val="0"/>
              </a:spcBef>
              <a:spcAft>
                <a:spcPct val="0"/>
              </a:spcAft>
              <a:buNone/>
            </a:pPr>
            <a:r>
              <a:rPr lang="en-US" sz="1800" b="1" dirty="0"/>
              <a:t>Q1: Calculate the cost per year of life gained</a:t>
            </a:r>
          </a:p>
          <a:p>
            <a:pPr marL="0" indent="0" fontAlgn="base">
              <a:spcBef>
                <a:spcPct val="0"/>
              </a:spcBef>
              <a:spcAft>
                <a:spcPct val="0"/>
              </a:spcAft>
              <a:buNone/>
            </a:pPr>
            <a:endParaRPr lang="en-US" sz="1800" b="1" dirty="0"/>
          </a:p>
          <a:p>
            <a:pPr marL="0" indent="0" fontAlgn="base">
              <a:spcBef>
                <a:spcPct val="0"/>
              </a:spcBef>
              <a:spcAft>
                <a:spcPct val="0"/>
              </a:spcAft>
              <a:buNone/>
            </a:pPr>
            <a:r>
              <a:rPr lang="en-US" sz="1800" b="1" dirty="0"/>
              <a:t>Q2: Is Keytruda cost-effective, based on the value of a statistical life from class (~$100k per year)?</a:t>
            </a:r>
          </a:p>
          <a:p>
            <a:pPr marL="0" indent="0" fontAlgn="base">
              <a:spcBef>
                <a:spcPct val="0"/>
              </a:spcBef>
              <a:spcAft>
                <a:spcPct val="0"/>
              </a:spcAft>
              <a:buNone/>
            </a:pPr>
            <a:endParaRPr lang="en-US" sz="1800" b="1" dirty="0"/>
          </a:p>
          <a:p>
            <a:pPr marL="0" indent="0" fontAlgn="base">
              <a:spcBef>
                <a:spcPct val="0"/>
              </a:spcBef>
              <a:spcAft>
                <a:spcPct val="0"/>
              </a:spcAft>
              <a:buNone/>
            </a:pPr>
            <a:r>
              <a:rPr lang="en-US" sz="1800" b="1" dirty="0"/>
              <a:t>Q3: What are the pros and cons of an insurer or national health plan using cost-effectiveness to decide whether to cover Keytruda? </a:t>
            </a:r>
            <a:endParaRPr lang="en-US" sz="2400" dirty="0"/>
          </a:p>
          <a:p>
            <a:endParaRPr lang="en-US" dirty="0"/>
          </a:p>
        </p:txBody>
      </p:sp>
      <p:sp>
        <p:nvSpPr>
          <p:cNvPr id="4" name="Slide Number Placeholder 3">
            <a:extLst>
              <a:ext uri="{FF2B5EF4-FFF2-40B4-BE49-F238E27FC236}">
                <a16:creationId xmlns:a16="http://schemas.microsoft.com/office/drawing/2014/main" id="{6257D003-2C8E-D249-9009-E8BED5EE0CC1}"/>
              </a:ext>
            </a:extLst>
          </p:cNvPr>
          <p:cNvSpPr>
            <a:spLocks noGrp="1"/>
          </p:cNvSpPr>
          <p:nvPr>
            <p:ph type="sldNum" sz="quarter" idx="12"/>
          </p:nvPr>
        </p:nvSpPr>
        <p:spPr/>
        <p:txBody>
          <a:bodyPr/>
          <a:lstStyle/>
          <a:p>
            <a:fld id="{171A6C5B-A11A-470F-8319-62E6F3F410BC}" type="slidenum">
              <a:rPr lang="en-US" smtClean="0"/>
              <a:pPr/>
              <a:t>14</a:t>
            </a:fld>
            <a:endParaRPr lang="en-US"/>
          </a:p>
        </p:txBody>
      </p:sp>
    </p:spTree>
    <p:extLst>
      <p:ext uri="{BB962C8B-B14F-4D97-AF65-F5344CB8AC3E}">
        <p14:creationId xmlns:p14="http://schemas.microsoft.com/office/powerpoint/2010/main" val="1658357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Wrap up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15</a:t>
            </a:fld>
            <a:endParaRPr lang="en-US" dirty="0"/>
          </a:p>
        </p:txBody>
      </p:sp>
      <p:sp>
        <p:nvSpPr>
          <p:cNvPr id="6" name="TextBox 5">
            <a:extLst>
              <a:ext uri="{FF2B5EF4-FFF2-40B4-BE49-F238E27FC236}">
                <a16:creationId xmlns:a16="http://schemas.microsoft.com/office/drawing/2014/main" id="{3869B352-1872-490A-A260-CE104D3A5499}"/>
              </a:ext>
            </a:extLst>
          </p:cNvPr>
          <p:cNvSpPr txBox="1"/>
          <p:nvPr/>
        </p:nvSpPr>
        <p:spPr>
          <a:xfrm>
            <a:off x="838200" y="1959469"/>
            <a:ext cx="8001000" cy="3108543"/>
          </a:xfrm>
          <a:prstGeom prst="rect">
            <a:avLst/>
          </a:prstGeom>
          <a:noFill/>
        </p:spPr>
        <p:txBody>
          <a:bodyPr wrap="square" rtlCol="0">
            <a:spAutoFit/>
          </a:bodyPr>
          <a:lstStyle/>
          <a:p>
            <a:pPr marL="285750" indent="-285750">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Any questions?</a:t>
            </a:r>
          </a:p>
          <a:p>
            <a:pPr marL="285750" indent="-285750">
              <a:buFont typeface="Arial" panose="020B0604020202020204" pitchFamily="34" charset="0"/>
              <a:buChar char="•"/>
            </a:pPr>
            <a:endParaRPr lang="en-US" altLang="zh-CN" sz="2000" dirty="0">
              <a:latin typeface="Arial" panose="020B0604020202020204" pitchFamily="34" charset="0"/>
              <a:cs typeface="Arial" panose="020B0604020202020204" pitchFamily="34" charset="0"/>
            </a:endParaRPr>
          </a:p>
          <a:p>
            <a:pPr marL="285750" indent="-285750">
              <a:lnSpc>
                <a:spcPct val="200000"/>
              </a:lnSpc>
              <a:buFont typeface="Arial" panose="020B0604020202020204" pitchFamily="34" charset="0"/>
              <a:buChar char="•"/>
            </a:pPr>
            <a:r>
              <a:rPr lang="en-US" altLang="zh-CN" sz="2800" b="1" dirty="0">
                <a:latin typeface="Arial" panose="020B0604020202020204" pitchFamily="34" charset="0"/>
                <a:cs typeface="Arial" panose="020B0604020202020204" pitchFamily="34" charset="0"/>
              </a:rPr>
              <a:t>Reminders:</a:t>
            </a:r>
          </a:p>
          <a:p>
            <a:pPr marL="742950" lvl="1" indent="-285750">
              <a:lnSpc>
                <a:spcPct val="200000"/>
              </a:lnSpc>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Problem set 2 is due on </a:t>
            </a:r>
            <a:r>
              <a:rPr lang="en-US" altLang="zh-CN" sz="2000" i="1" dirty="0">
                <a:latin typeface="Arial" panose="020B0604020202020204" pitchFamily="34" charset="0"/>
                <a:cs typeface="Arial" panose="020B0604020202020204" pitchFamily="34" charset="0"/>
              </a:rPr>
              <a:t>Oct 12 (Mon) at 5pm</a:t>
            </a:r>
            <a:r>
              <a:rPr lang="en-US" altLang="zh-CN" sz="2000" dirty="0">
                <a:latin typeface="Arial" panose="020B0604020202020204" pitchFamily="34" charset="0"/>
                <a:cs typeface="Arial" panose="020B0604020202020204" pitchFamily="34" charset="0"/>
              </a:rPr>
              <a:t>.</a:t>
            </a:r>
          </a:p>
          <a:p>
            <a:pPr marL="742950" lvl="1" indent="-285750">
              <a:lnSpc>
                <a:spcPct val="200000"/>
              </a:lnSpc>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Unit 2 assignment is due on </a:t>
            </a:r>
            <a:r>
              <a:rPr lang="en-US" altLang="zh-CN" sz="2000" i="1" dirty="0">
                <a:latin typeface="Arial" panose="020B0604020202020204" pitchFamily="34" charset="0"/>
                <a:cs typeface="Arial" panose="020B0604020202020204" pitchFamily="34" charset="0"/>
              </a:rPr>
              <a:t>Oct 23 (Fri) at 5pm</a:t>
            </a:r>
            <a:r>
              <a:rPr lang="en-US" altLang="zh-CN" sz="2000" dirty="0">
                <a:latin typeface="Arial" panose="020B0604020202020204" pitchFamily="34" charset="0"/>
                <a:cs typeface="Arial" panose="020B0604020202020204" pitchFamily="34" charset="0"/>
              </a:rPr>
              <a:t>.</a:t>
            </a:r>
          </a:p>
          <a:p>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825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5A7B4-F3E4-3A89-D252-9AB256D6E4AF}"/>
              </a:ext>
            </a:extLst>
          </p:cNvPr>
          <p:cNvSpPr>
            <a:spLocks noGrp="1"/>
          </p:cNvSpPr>
          <p:nvPr>
            <p:ph type="title"/>
          </p:nvPr>
        </p:nvSpPr>
        <p:spPr>
          <a:xfrm>
            <a:off x="4267200" y="2590800"/>
            <a:ext cx="10515600" cy="1325563"/>
          </a:xfrm>
        </p:spPr>
        <p:txBody>
          <a:bodyPr/>
          <a:lstStyle/>
          <a:p>
            <a:r>
              <a:rPr lang="en-US" dirty="0"/>
              <a:t>Appendix</a:t>
            </a:r>
          </a:p>
        </p:txBody>
      </p:sp>
      <p:sp>
        <p:nvSpPr>
          <p:cNvPr id="4" name="Slide Number Placeholder 3">
            <a:extLst>
              <a:ext uri="{FF2B5EF4-FFF2-40B4-BE49-F238E27FC236}">
                <a16:creationId xmlns:a16="http://schemas.microsoft.com/office/drawing/2014/main" id="{71CDADAE-EC01-F4D9-70DA-0AF8BAF13F1E}"/>
              </a:ext>
            </a:extLst>
          </p:cNvPr>
          <p:cNvSpPr>
            <a:spLocks noGrp="1"/>
          </p:cNvSpPr>
          <p:nvPr>
            <p:ph type="sldNum" sz="quarter" idx="12"/>
          </p:nvPr>
        </p:nvSpPr>
        <p:spPr/>
        <p:txBody>
          <a:bodyPr/>
          <a:lstStyle/>
          <a:p>
            <a:fld id="{171A6C5B-A11A-470F-8319-62E6F3F410BC}" type="slidenum">
              <a:rPr lang="en-US" smtClean="0"/>
              <a:pPr/>
              <a:t>16</a:t>
            </a:fld>
            <a:endParaRPr lang="en-US"/>
          </a:p>
        </p:txBody>
      </p:sp>
    </p:spTree>
    <p:extLst>
      <p:ext uri="{BB962C8B-B14F-4D97-AF65-F5344CB8AC3E}">
        <p14:creationId xmlns:p14="http://schemas.microsoft.com/office/powerpoint/2010/main" val="3498924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D38F-5AF4-FF84-E7F9-13311272C1BF}"/>
              </a:ext>
            </a:extLst>
          </p:cNvPr>
          <p:cNvSpPr>
            <a:spLocks noGrp="1"/>
          </p:cNvSpPr>
          <p:nvPr>
            <p:ph type="title"/>
          </p:nvPr>
        </p:nvSpPr>
        <p:spPr/>
        <p:txBody>
          <a:bodyPr/>
          <a:lstStyle/>
          <a:p>
            <a:r>
              <a:rPr lang="en-US" dirty="0"/>
              <a:t>Understanding “Willingness to Pay”</a:t>
            </a:r>
          </a:p>
        </p:txBody>
      </p:sp>
      <p:sp>
        <p:nvSpPr>
          <p:cNvPr id="4" name="Slide Number Placeholder 3">
            <a:extLst>
              <a:ext uri="{FF2B5EF4-FFF2-40B4-BE49-F238E27FC236}">
                <a16:creationId xmlns:a16="http://schemas.microsoft.com/office/drawing/2014/main" id="{B328CD7A-1E89-526C-21AE-5C99F58F4E2C}"/>
              </a:ext>
            </a:extLst>
          </p:cNvPr>
          <p:cNvSpPr>
            <a:spLocks noGrp="1"/>
          </p:cNvSpPr>
          <p:nvPr>
            <p:ph type="sldNum" sz="quarter" idx="12"/>
          </p:nvPr>
        </p:nvSpPr>
        <p:spPr/>
        <p:txBody>
          <a:bodyPr/>
          <a:lstStyle/>
          <a:p>
            <a:fld id="{171A6C5B-A11A-470F-8319-62E6F3F410BC}" type="slidenum">
              <a:rPr lang="en-US" smtClean="0"/>
              <a:pPr/>
              <a:t>17</a:t>
            </a:fld>
            <a:endParaRPr lang="en-US" dirty="0"/>
          </a:p>
        </p:txBody>
      </p:sp>
      <p:cxnSp>
        <p:nvCxnSpPr>
          <p:cNvPr id="5" name="Connector: Elbow 4">
            <a:extLst>
              <a:ext uri="{FF2B5EF4-FFF2-40B4-BE49-F238E27FC236}">
                <a16:creationId xmlns:a16="http://schemas.microsoft.com/office/drawing/2014/main" id="{D9461128-0E6F-4DCA-81E7-0C86C8A82120}"/>
              </a:ext>
            </a:extLst>
          </p:cNvPr>
          <p:cNvCxnSpPr>
            <a:cxnSpLocks/>
          </p:cNvCxnSpPr>
          <p:nvPr/>
        </p:nvCxnSpPr>
        <p:spPr>
          <a:xfrm>
            <a:off x="3886200" y="2580861"/>
            <a:ext cx="4909931" cy="3485322"/>
          </a:xfrm>
          <a:prstGeom prst="bentConnector3">
            <a:avLst>
              <a:gd name="adj1" fmla="val 67"/>
            </a:avLst>
          </a:prstGeom>
          <a:ln w="19050"/>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228DFB98-F1BB-8A3E-4436-5465C9E0F76C}"/>
              </a:ext>
            </a:extLst>
          </p:cNvPr>
          <p:cNvSpPr txBox="1"/>
          <p:nvPr/>
        </p:nvSpPr>
        <p:spPr>
          <a:xfrm>
            <a:off x="7610062" y="6185452"/>
            <a:ext cx="1186069" cy="369332"/>
          </a:xfrm>
          <a:prstGeom prst="rect">
            <a:avLst/>
          </a:prstGeom>
          <a:noFill/>
        </p:spPr>
        <p:txBody>
          <a:bodyPr wrap="square" rtlCol="0">
            <a:spAutoFit/>
          </a:bodyPr>
          <a:lstStyle/>
          <a:p>
            <a:r>
              <a:rPr lang="en-US" dirty="0"/>
              <a:t>Quantity</a:t>
            </a:r>
          </a:p>
        </p:txBody>
      </p:sp>
      <p:cxnSp>
        <p:nvCxnSpPr>
          <p:cNvPr id="7" name="Connector: Elbow 6">
            <a:extLst>
              <a:ext uri="{FF2B5EF4-FFF2-40B4-BE49-F238E27FC236}">
                <a16:creationId xmlns:a16="http://schemas.microsoft.com/office/drawing/2014/main" id="{D669CBD1-4738-AA34-5A05-CE110CFC54B9}"/>
              </a:ext>
            </a:extLst>
          </p:cNvPr>
          <p:cNvCxnSpPr/>
          <p:nvPr/>
        </p:nvCxnSpPr>
        <p:spPr>
          <a:xfrm>
            <a:off x="3886200" y="3124200"/>
            <a:ext cx="3723862" cy="2941983"/>
          </a:xfrm>
          <a:prstGeom prst="bentConnector3">
            <a:avLst/>
          </a:prstGeom>
          <a:ln w="19050">
            <a:solidFill>
              <a:srgbClr val="002060"/>
            </a:solidFill>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9398F9BD-C667-C167-6248-34E4BB81335D}"/>
              </a:ext>
            </a:extLst>
          </p:cNvPr>
          <p:cNvSpPr txBox="1"/>
          <p:nvPr/>
        </p:nvSpPr>
        <p:spPr>
          <a:xfrm>
            <a:off x="3223591" y="2882040"/>
            <a:ext cx="748747" cy="369332"/>
          </a:xfrm>
          <a:prstGeom prst="rect">
            <a:avLst/>
          </a:prstGeom>
          <a:noFill/>
        </p:spPr>
        <p:txBody>
          <a:bodyPr wrap="square" rtlCol="0">
            <a:spAutoFit/>
          </a:bodyPr>
          <a:lstStyle/>
          <a:p>
            <a:r>
              <a:rPr lang="en-US" dirty="0" err="1">
                <a:solidFill>
                  <a:srgbClr val="002060"/>
                </a:solidFill>
              </a:rPr>
              <a:t>W</a:t>
            </a:r>
            <a:r>
              <a:rPr lang="en-US" baseline="-25000" dirty="0" err="1">
                <a:solidFill>
                  <a:srgbClr val="002060"/>
                </a:solidFill>
              </a:rPr>
              <a:t>rich</a:t>
            </a:r>
            <a:endParaRPr lang="en-US" baseline="-25000" dirty="0">
              <a:solidFill>
                <a:srgbClr val="002060"/>
              </a:solidFill>
            </a:endParaRPr>
          </a:p>
        </p:txBody>
      </p:sp>
      <p:sp>
        <p:nvSpPr>
          <p:cNvPr id="9" name="TextBox 8">
            <a:extLst>
              <a:ext uri="{FF2B5EF4-FFF2-40B4-BE49-F238E27FC236}">
                <a16:creationId xmlns:a16="http://schemas.microsoft.com/office/drawing/2014/main" id="{7D9EFC65-C8CB-DAD2-DE37-1C2C275B3A58}"/>
              </a:ext>
            </a:extLst>
          </p:cNvPr>
          <p:cNvSpPr txBox="1"/>
          <p:nvPr/>
        </p:nvSpPr>
        <p:spPr>
          <a:xfrm>
            <a:off x="2978609" y="2162907"/>
            <a:ext cx="2967868" cy="369332"/>
          </a:xfrm>
          <a:prstGeom prst="rect">
            <a:avLst/>
          </a:prstGeom>
          <a:noFill/>
        </p:spPr>
        <p:txBody>
          <a:bodyPr wrap="square" rtlCol="0">
            <a:spAutoFit/>
          </a:bodyPr>
          <a:lstStyle/>
          <a:p>
            <a:r>
              <a:rPr lang="en-US" dirty="0"/>
              <a:t>Willingness to pay (dollars)</a:t>
            </a:r>
          </a:p>
        </p:txBody>
      </p:sp>
      <p:cxnSp>
        <p:nvCxnSpPr>
          <p:cNvPr id="10" name="Straight Connector 9">
            <a:extLst>
              <a:ext uri="{FF2B5EF4-FFF2-40B4-BE49-F238E27FC236}">
                <a16:creationId xmlns:a16="http://schemas.microsoft.com/office/drawing/2014/main" id="{7869400A-8C97-FE90-DDBD-2FAF68C6E189}"/>
              </a:ext>
            </a:extLst>
          </p:cNvPr>
          <p:cNvCxnSpPr/>
          <p:nvPr/>
        </p:nvCxnSpPr>
        <p:spPr>
          <a:xfrm>
            <a:off x="3886200" y="5657986"/>
            <a:ext cx="4828597"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98F365-6036-CAE5-9EA4-4E96BDC25DA8}"/>
              </a:ext>
            </a:extLst>
          </p:cNvPr>
          <p:cNvSpPr txBox="1"/>
          <p:nvPr/>
        </p:nvSpPr>
        <p:spPr>
          <a:xfrm>
            <a:off x="3331246" y="5535016"/>
            <a:ext cx="641092" cy="369332"/>
          </a:xfrm>
          <a:prstGeom prst="rect">
            <a:avLst/>
          </a:prstGeom>
          <a:noFill/>
        </p:spPr>
        <p:txBody>
          <a:bodyPr wrap="square" rtlCol="0">
            <a:spAutoFit/>
          </a:bodyPr>
          <a:lstStyle/>
          <a:p>
            <a:r>
              <a:rPr lang="en-US" dirty="0">
                <a:solidFill>
                  <a:schemeClr val="accent6">
                    <a:lumMod val="75000"/>
                  </a:schemeClr>
                </a:solidFill>
              </a:rPr>
              <a:t>MC</a:t>
            </a:r>
          </a:p>
        </p:txBody>
      </p:sp>
      <p:sp>
        <p:nvSpPr>
          <p:cNvPr id="12" name="TextBox 11">
            <a:extLst>
              <a:ext uri="{FF2B5EF4-FFF2-40B4-BE49-F238E27FC236}">
                <a16:creationId xmlns:a16="http://schemas.microsoft.com/office/drawing/2014/main" id="{5808BB5E-AA0E-A374-7F4E-0E2E4B7CD8DF}"/>
              </a:ext>
            </a:extLst>
          </p:cNvPr>
          <p:cNvSpPr txBox="1"/>
          <p:nvPr/>
        </p:nvSpPr>
        <p:spPr>
          <a:xfrm>
            <a:off x="5823041" y="2991461"/>
            <a:ext cx="3107014" cy="369332"/>
          </a:xfrm>
          <a:prstGeom prst="rect">
            <a:avLst/>
          </a:prstGeom>
          <a:noFill/>
        </p:spPr>
        <p:txBody>
          <a:bodyPr wrap="square" rtlCol="0">
            <a:spAutoFit/>
          </a:bodyPr>
          <a:lstStyle/>
          <a:p>
            <a:r>
              <a:rPr lang="en-US" dirty="0">
                <a:solidFill>
                  <a:srgbClr val="002060"/>
                </a:solidFill>
              </a:rPr>
              <a:t>Willingness to pay of rich</a:t>
            </a:r>
          </a:p>
        </p:txBody>
      </p:sp>
      <p:cxnSp>
        <p:nvCxnSpPr>
          <p:cNvPr id="13" name="Connector: Elbow 12">
            <a:extLst>
              <a:ext uri="{FF2B5EF4-FFF2-40B4-BE49-F238E27FC236}">
                <a16:creationId xmlns:a16="http://schemas.microsoft.com/office/drawing/2014/main" id="{5025B78F-F850-24EA-5BEB-2403EC2BB2FF}"/>
              </a:ext>
            </a:extLst>
          </p:cNvPr>
          <p:cNvCxnSpPr/>
          <p:nvPr/>
        </p:nvCxnSpPr>
        <p:spPr>
          <a:xfrm>
            <a:off x="3886200" y="5490965"/>
            <a:ext cx="3274362" cy="575218"/>
          </a:xfrm>
          <a:prstGeom prst="bentConnector3">
            <a:avLst>
              <a:gd name="adj1" fmla="val 98305"/>
            </a:avLst>
          </a:prstGeom>
          <a:ln w="127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50A4164-F3B7-6A1A-F1AA-EE3F35C1D782}"/>
              </a:ext>
            </a:extLst>
          </p:cNvPr>
          <p:cNvSpPr txBox="1"/>
          <p:nvPr/>
        </p:nvSpPr>
        <p:spPr>
          <a:xfrm>
            <a:off x="3200908" y="5191967"/>
            <a:ext cx="748747" cy="369332"/>
          </a:xfrm>
          <a:prstGeom prst="rect">
            <a:avLst/>
          </a:prstGeom>
          <a:noFill/>
        </p:spPr>
        <p:txBody>
          <a:bodyPr wrap="square" rtlCol="0">
            <a:spAutoFit/>
          </a:bodyPr>
          <a:lstStyle/>
          <a:p>
            <a:r>
              <a:rPr lang="en-US" dirty="0" err="1">
                <a:solidFill>
                  <a:schemeClr val="accent2">
                    <a:lumMod val="75000"/>
                  </a:schemeClr>
                </a:solidFill>
              </a:rPr>
              <a:t>W</a:t>
            </a:r>
            <a:r>
              <a:rPr lang="en-US" baseline="-25000" dirty="0" err="1">
                <a:solidFill>
                  <a:schemeClr val="accent2">
                    <a:lumMod val="75000"/>
                  </a:schemeClr>
                </a:solidFill>
              </a:rPr>
              <a:t>poor</a:t>
            </a:r>
            <a:endParaRPr lang="en-US" baseline="-25000" dirty="0">
              <a:solidFill>
                <a:schemeClr val="accent2">
                  <a:lumMod val="75000"/>
                </a:schemeClr>
              </a:solidFill>
            </a:endParaRPr>
          </a:p>
        </p:txBody>
      </p:sp>
      <p:cxnSp>
        <p:nvCxnSpPr>
          <p:cNvPr id="17" name="Straight Arrow Connector 16">
            <a:extLst>
              <a:ext uri="{FF2B5EF4-FFF2-40B4-BE49-F238E27FC236}">
                <a16:creationId xmlns:a16="http://schemas.microsoft.com/office/drawing/2014/main" id="{C7B6EA00-2ECD-52E4-BCED-D21B9A4EF735}"/>
              </a:ext>
            </a:extLst>
          </p:cNvPr>
          <p:cNvCxnSpPr>
            <a:cxnSpLocks/>
          </p:cNvCxnSpPr>
          <p:nvPr/>
        </p:nvCxnSpPr>
        <p:spPr>
          <a:xfrm>
            <a:off x="1947272" y="5561299"/>
            <a:ext cx="1805004" cy="5026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F0400AD-D056-93E0-0A1F-85AB97BEDED3}"/>
              </a:ext>
            </a:extLst>
          </p:cNvPr>
          <p:cNvSpPr txBox="1"/>
          <p:nvPr/>
        </p:nvSpPr>
        <p:spPr>
          <a:xfrm>
            <a:off x="271586" y="3406676"/>
            <a:ext cx="2719408" cy="2308324"/>
          </a:xfrm>
          <a:prstGeom prst="rect">
            <a:avLst/>
          </a:prstGeom>
          <a:noFill/>
        </p:spPr>
        <p:txBody>
          <a:bodyPr wrap="square" rtlCol="0">
            <a:spAutoFit/>
          </a:bodyPr>
          <a:lstStyle/>
          <a:p>
            <a:r>
              <a:rPr lang="en-US" sz="1600" dirty="0">
                <a:solidFill>
                  <a:srgbClr val="FF0000"/>
                </a:solidFill>
              </a:rPr>
              <a:t>Imagine that the X-axis is a group of 100 people, ordered by the amount of money they’d pay for your product:</a:t>
            </a:r>
          </a:p>
          <a:p>
            <a:endParaRPr lang="en-US" sz="1600" dirty="0">
              <a:solidFill>
                <a:srgbClr val="FF0000"/>
              </a:solidFill>
            </a:endParaRPr>
          </a:p>
          <a:p>
            <a:r>
              <a:rPr lang="en-US" sz="1600" dirty="0">
                <a:solidFill>
                  <a:srgbClr val="FF0000"/>
                </a:solidFill>
              </a:rPr>
              <a:t>the left-most person would offer to pay the most and the right-most person would offer to pay the least</a:t>
            </a:r>
          </a:p>
        </p:txBody>
      </p:sp>
      <p:sp>
        <p:nvSpPr>
          <p:cNvPr id="15" name="TextBox 14">
            <a:extLst>
              <a:ext uri="{FF2B5EF4-FFF2-40B4-BE49-F238E27FC236}">
                <a16:creationId xmlns:a16="http://schemas.microsoft.com/office/drawing/2014/main" id="{DF4E4EE0-39E2-672F-C886-ACCD655431A7}"/>
              </a:ext>
            </a:extLst>
          </p:cNvPr>
          <p:cNvSpPr txBox="1"/>
          <p:nvPr/>
        </p:nvSpPr>
        <p:spPr>
          <a:xfrm>
            <a:off x="6089266" y="5163503"/>
            <a:ext cx="3289889" cy="369332"/>
          </a:xfrm>
          <a:prstGeom prst="rect">
            <a:avLst/>
          </a:prstGeom>
          <a:noFill/>
        </p:spPr>
        <p:txBody>
          <a:bodyPr wrap="square" rtlCol="0">
            <a:spAutoFit/>
          </a:bodyPr>
          <a:lstStyle/>
          <a:p>
            <a:r>
              <a:rPr lang="en-US" dirty="0">
                <a:solidFill>
                  <a:schemeClr val="accent2">
                    <a:lumMod val="75000"/>
                  </a:schemeClr>
                </a:solidFill>
              </a:rPr>
              <a:t>Willingness to pay of poor</a:t>
            </a:r>
          </a:p>
        </p:txBody>
      </p:sp>
    </p:spTree>
    <p:extLst>
      <p:ext uri="{BB962C8B-B14F-4D97-AF65-F5344CB8AC3E}">
        <p14:creationId xmlns:p14="http://schemas.microsoft.com/office/powerpoint/2010/main" val="246311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1" grpId="0"/>
      <p:bldP spid="12" grpId="0"/>
      <p:bldP spid="14" grpId="0"/>
      <p:bldP spid="22"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D38F-5AF4-FF84-E7F9-13311272C1BF}"/>
              </a:ext>
            </a:extLst>
          </p:cNvPr>
          <p:cNvSpPr>
            <a:spLocks noGrp="1"/>
          </p:cNvSpPr>
          <p:nvPr>
            <p:ph type="title"/>
          </p:nvPr>
        </p:nvSpPr>
        <p:spPr/>
        <p:txBody>
          <a:bodyPr/>
          <a:lstStyle/>
          <a:p>
            <a:r>
              <a:rPr lang="en-US" dirty="0"/>
              <a:t>Understanding “Willingness to Pay”</a:t>
            </a:r>
          </a:p>
        </p:txBody>
      </p:sp>
      <p:sp>
        <p:nvSpPr>
          <p:cNvPr id="4" name="Slide Number Placeholder 3">
            <a:extLst>
              <a:ext uri="{FF2B5EF4-FFF2-40B4-BE49-F238E27FC236}">
                <a16:creationId xmlns:a16="http://schemas.microsoft.com/office/drawing/2014/main" id="{B328CD7A-1E89-526C-21AE-5C99F58F4E2C}"/>
              </a:ext>
            </a:extLst>
          </p:cNvPr>
          <p:cNvSpPr>
            <a:spLocks noGrp="1"/>
          </p:cNvSpPr>
          <p:nvPr>
            <p:ph type="sldNum" sz="quarter" idx="12"/>
          </p:nvPr>
        </p:nvSpPr>
        <p:spPr/>
        <p:txBody>
          <a:bodyPr/>
          <a:lstStyle/>
          <a:p>
            <a:fld id="{171A6C5B-A11A-470F-8319-62E6F3F410BC}" type="slidenum">
              <a:rPr lang="en-US" smtClean="0"/>
              <a:pPr/>
              <a:t>18</a:t>
            </a:fld>
            <a:endParaRPr lang="en-US"/>
          </a:p>
        </p:txBody>
      </p:sp>
      <p:cxnSp>
        <p:nvCxnSpPr>
          <p:cNvPr id="5" name="Connector: Elbow 4">
            <a:extLst>
              <a:ext uri="{FF2B5EF4-FFF2-40B4-BE49-F238E27FC236}">
                <a16:creationId xmlns:a16="http://schemas.microsoft.com/office/drawing/2014/main" id="{D9461128-0E6F-4DCA-81E7-0C86C8A82120}"/>
              </a:ext>
            </a:extLst>
          </p:cNvPr>
          <p:cNvCxnSpPr>
            <a:cxnSpLocks/>
          </p:cNvCxnSpPr>
          <p:nvPr/>
        </p:nvCxnSpPr>
        <p:spPr>
          <a:xfrm>
            <a:off x="3886200" y="2580861"/>
            <a:ext cx="4909931" cy="3485322"/>
          </a:xfrm>
          <a:prstGeom prst="bentConnector3">
            <a:avLst>
              <a:gd name="adj1" fmla="val 67"/>
            </a:avLst>
          </a:prstGeom>
          <a:ln w="19050"/>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228DFB98-F1BB-8A3E-4436-5465C9E0F76C}"/>
              </a:ext>
            </a:extLst>
          </p:cNvPr>
          <p:cNvSpPr txBox="1"/>
          <p:nvPr/>
        </p:nvSpPr>
        <p:spPr>
          <a:xfrm>
            <a:off x="7610062" y="6185452"/>
            <a:ext cx="1186069" cy="369332"/>
          </a:xfrm>
          <a:prstGeom prst="rect">
            <a:avLst/>
          </a:prstGeom>
          <a:noFill/>
        </p:spPr>
        <p:txBody>
          <a:bodyPr wrap="square" rtlCol="0">
            <a:spAutoFit/>
          </a:bodyPr>
          <a:lstStyle/>
          <a:p>
            <a:r>
              <a:rPr lang="en-US" dirty="0"/>
              <a:t>Quantity</a:t>
            </a:r>
          </a:p>
        </p:txBody>
      </p:sp>
      <p:cxnSp>
        <p:nvCxnSpPr>
          <p:cNvPr id="7" name="Connector: Elbow 6">
            <a:extLst>
              <a:ext uri="{FF2B5EF4-FFF2-40B4-BE49-F238E27FC236}">
                <a16:creationId xmlns:a16="http://schemas.microsoft.com/office/drawing/2014/main" id="{D669CBD1-4738-AA34-5A05-CE110CFC54B9}"/>
              </a:ext>
            </a:extLst>
          </p:cNvPr>
          <p:cNvCxnSpPr/>
          <p:nvPr/>
        </p:nvCxnSpPr>
        <p:spPr>
          <a:xfrm>
            <a:off x="3886200" y="3124200"/>
            <a:ext cx="3723862" cy="2941983"/>
          </a:xfrm>
          <a:prstGeom prst="bentConnector3">
            <a:avLst/>
          </a:prstGeom>
          <a:ln w="19050">
            <a:solidFill>
              <a:srgbClr val="002060"/>
            </a:solidFill>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9398F9BD-C667-C167-6248-34E4BB81335D}"/>
              </a:ext>
            </a:extLst>
          </p:cNvPr>
          <p:cNvSpPr txBox="1"/>
          <p:nvPr/>
        </p:nvSpPr>
        <p:spPr>
          <a:xfrm>
            <a:off x="3223591" y="2882040"/>
            <a:ext cx="748747" cy="369332"/>
          </a:xfrm>
          <a:prstGeom prst="rect">
            <a:avLst/>
          </a:prstGeom>
          <a:noFill/>
        </p:spPr>
        <p:txBody>
          <a:bodyPr wrap="square" rtlCol="0">
            <a:spAutoFit/>
          </a:bodyPr>
          <a:lstStyle/>
          <a:p>
            <a:r>
              <a:rPr lang="en-US" dirty="0" err="1">
                <a:solidFill>
                  <a:srgbClr val="002060"/>
                </a:solidFill>
              </a:rPr>
              <a:t>W</a:t>
            </a:r>
            <a:r>
              <a:rPr lang="en-US" baseline="-25000" dirty="0" err="1">
                <a:solidFill>
                  <a:srgbClr val="002060"/>
                </a:solidFill>
              </a:rPr>
              <a:t>rich</a:t>
            </a:r>
            <a:endParaRPr lang="en-US" baseline="-25000" dirty="0">
              <a:solidFill>
                <a:srgbClr val="002060"/>
              </a:solidFill>
            </a:endParaRPr>
          </a:p>
        </p:txBody>
      </p:sp>
      <p:sp>
        <p:nvSpPr>
          <p:cNvPr id="9" name="TextBox 8">
            <a:extLst>
              <a:ext uri="{FF2B5EF4-FFF2-40B4-BE49-F238E27FC236}">
                <a16:creationId xmlns:a16="http://schemas.microsoft.com/office/drawing/2014/main" id="{7D9EFC65-C8CB-DAD2-DE37-1C2C275B3A58}"/>
              </a:ext>
            </a:extLst>
          </p:cNvPr>
          <p:cNvSpPr txBox="1"/>
          <p:nvPr/>
        </p:nvSpPr>
        <p:spPr>
          <a:xfrm>
            <a:off x="2978609" y="2162907"/>
            <a:ext cx="2967868" cy="369332"/>
          </a:xfrm>
          <a:prstGeom prst="rect">
            <a:avLst/>
          </a:prstGeom>
          <a:noFill/>
        </p:spPr>
        <p:txBody>
          <a:bodyPr wrap="square" rtlCol="0">
            <a:spAutoFit/>
          </a:bodyPr>
          <a:lstStyle/>
          <a:p>
            <a:r>
              <a:rPr lang="en-US" dirty="0"/>
              <a:t>Willingness to pay (dollars)</a:t>
            </a:r>
          </a:p>
        </p:txBody>
      </p:sp>
      <p:cxnSp>
        <p:nvCxnSpPr>
          <p:cNvPr id="10" name="Straight Connector 9">
            <a:extLst>
              <a:ext uri="{FF2B5EF4-FFF2-40B4-BE49-F238E27FC236}">
                <a16:creationId xmlns:a16="http://schemas.microsoft.com/office/drawing/2014/main" id="{7869400A-8C97-FE90-DDBD-2FAF68C6E189}"/>
              </a:ext>
            </a:extLst>
          </p:cNvPr>
          <p:cNvCxnSpPr/>
          <p:nvPr/>
        </p:nvCxnSpPr>
        <p:spPr>
          <a:xfrm>
            <a:off x="3886200" y="5657986"/>
            <a:ext cx="4828597"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98F365-6036-CAE5-9EA4-4E96BDC25DA8}"/>
              </a:ext>
            </a:extLst>
          </p:cNvPr>
          <p:cNvSpPr txBox="1"/>
          <p:nvPr/>
        </p:nvSpPr>
        <p:spPr>
          <a:xfrm>
            <a:off x="3331246" y="5535016"/>
            <a:ext cx="641092" cy="369332"/>
          </a:xfrm>
          <a:prstGeom prst="rect">
            <a:avLst/>
          </a:prstGeom>
          <a:noFill/>
        </p:spPr>
        <p:txBody>
          <a:bodyPr wrap="square" rtlCol="0">
            <a:spAutoFit/>
          </a:bodyPr>
          <a:lstStyle/>
          <a:p>
            <a:r>
              <a:rPr lang="en-US" dirty="0">
                <a:solidFill>
                  <a:schemeClr val="accent6">
                    <a:lumMod val="75000"/>
                  </a:schemeClr>
                </a:solidFill>
              </a:rPr>
              <a:t>MC</a:t>
            </a:r>
          </a:p>
        </p:txBody>
      </p:sp>
      <p:sp>
        <p:nvSpPr>
          <p:cNvPr id="12" name="TextBox 11">
            <a:extLst>
              <a:ext uri="{FF2B5EF4-FFF2-40B4-BE49-F238E27FC236}">
                <a16:creationId xmlns:a16="http://schemas.microsoft.com/office/drawing/2014/main" id="{5808BB5E-AA0E-A374-7F4E-0E2E4B7CD8DF}"/>
              </a:ext>
            </a:extLst>
          </p:cNvPr>
          <p:cNvSpPr txBox="1"/>
          <p:nvPr/>
        </p:nvSpPr>
        <p:spPr>
          <a:xfrm>
            <a:off x="5823041" y="2991461"/>
            <a:ext cx="3107014" cy="369332"/>
          </a:xfrm>
          <a:prstGeom prst="rect">
            <a:avLst/>
          </a:prstGeom>
          <a:noFill/>
        </p:spPr>
        <p:txBody>
          <a:bodyPr wrap="square" rtlCol="0">
            <a:spAutoFit/>
          </a:bodyPr>
          <a:lstStyle/>
          <a:p>
            <a:r>
              <a:rPr lang="en-US" dirty="0">
                <a:solidFill>
                  <a:srgbClr val="002060"/>
                </a:solidFill>
              </a:rPr>
              <a:t>Willingness to pay of rich</a:t>
            </a:r>
          </a:p>
        </p:txBody>
      </p:sp>
      <p:cxnSp>
        <p:nvCxnSpPr>
          <p:cNvPr id="13" name="Connector: Elbow 12">
            <a:extLst>
              <a:ext uri="{FF2B5EF4-FFF2-40B4-BE49-F238E27FC236}">
                <a16:creationId xmlns:a16="http://schemas.microsoft.com/office/drawing/2014/main" id="{5025B78F-F850-24EA-5BEB-2403EC2BB2FF}"/>
              </a:ext>
            </a:extLst>
          </p:cNvPr>
          <p:cNvCxnSpPr/>
          <p:nvPr/>
        </p:nvCxnSpPr>
        <p:spPr>
          <a:xfrm>
            <a:off x="3886200" y="5490965"/>
            <a:ext cx="3274362" cy="575218"/>
          </a:xfrm>
          <a:prstGeom prst="bentConnector3">
            <a:avLst>
              <a:gd name="adj1" fmla="val 98305"/>
            </a:avLst>
          </a:prstGeom>
          <a:ln w="127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50A4164-F3B7-6A1A-F1AA-EE3F35C1D782}"/>
              </a:ext>
            </a:extLst>
          </p:cNvPr>
          <p:cNvSpPr txBox="1"/>
          <p:nvPr/>
        </p:nvSpPr>
        <p:spPr>
          <a:xfrm>
            <a:off x="3200908" y="5191967"/>
            <a:ext cx="748747" cy="369332"/>
          </a:xfrm>
          <a:prstGeom prst="rect">
            <a:avLst/>
          </a:prstGeom>
          <a:noFill/>
        </p:spPr>
        <p:txBody>
          <a:bodyPr wrap="square" rtlCol="0">
            <a:spAutoFit/>
          </a:bodyPr>
          <a:lstStyle/>
          <a:p>
            <a:r>
              <a:rPr lang="en-US" dirty="0" err="1">
                <a:solidFill>
                  <a:schemeClr val="accent2">
                    <a:lumMod val="75000"/>
                  </a:schemeClr>
                </a:solidFill>
              </a:rPr>
              <a:t>W</a:t>
            </a:r>
            <a:r>
              <a:rPr lang="en-US" baseline="-25000" dirty="0" err="1">
                <a:solidFill>
                  <a:schemeClr val="accent2">
                    <a:lumMod val="75000"/>
                  </a:schemeClr>
                </a:solidFill>
              </a:rPr>
              <a:t>poor</a:t>
            </a:r>
            <a:endParaRPr lang="en-US" baseline="-25000" dirty="0">
              <a:solidFill>
                <a:schemeClr val="accent2">
                  <a:lumMod val="75000"/>
                </a:schemeClr>
              </a:solidFill>
            </a:endParaRPr>
          </a:p>
        </p:txBody>
      </p:sp>
      <p:cxnSp>
        <p:nvCxnSpPr>
          <p:cNvPr id="17" name="Straight Arrow Connector 16">
            <a:extLst>
              <a:ext uri="{FF2B5EF4-FFF2-40B4-BE49-F238E27FC236}">
                <a16:creationId xmlns:a16="http://schemas.microsoft.com/office/drawing/2014/main" id="{C7B6EA00-2ECD-52E4-BCED-D21B9A4EF735}"/>
              </a:ext>
            </a:extLst>
          </p:cNvPr>
          <p:cNvCxnSpPr>
            <a:cxnSpLocks/>
          </p:cNvCxnSpPr>
          <p:nvPr/>
        </p:nvCxnSpPr>
        <p:spPr>
          <a:xfrm flipH="1">
            <a:off x="8717292" y="4999681"/>
            <a:ext cx="633793" cy="5616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F0400AD-D056-93E0-0A1F-85AB97BEDED3}"/>
              </a:ext>
            </a:extLst>
          </p:cNvPr>
          <p:cNvSpPr txBox="1"/>
          <p:nvPr/>
        </p:nvSpPr>
        <p:spPr>
          <a:xfrm>
            <a:off x="9379155" y="4415307"/>
            <a:ext cx="2719408" cy="1077218"/>
          </a:xfrm>
          <a:prstGeom prst="rect">
            <a:avLst/>
          </a:prstGeom>
          <a:noFill/>
        </p:spPr>
        <p:txBody>
          <a:bodyPr wrap="square" rtlCol="0">
            <a:spAutoFit/>
          </a:bodyPr>
          <a:lstStyle/>
          <a:p>
            <a:r>
              <a:rPr lang="en-US" sz="1600" dirty="0">
                <a:solidFill>
                  <a:srgbClr val="FF0000"/>
                </a:solidFill>
              </a:rPr>
              <a:t>Our firm </a:t>
            </a:r>
            <a:r>
              <a:rPr lang="en-US" sz="1600" u="sng" dirty="0">
                <a:solidFill>
                  <a:srgbClr val="FF0000"/>
                </a:solidFill>
              </a:rPr>
              <a:t>can’t</a:t>
            </a:r>
            <a:r>
              <a:rPr lang="en-US" sz="1600" dirty="0">
                <a:solidFill>
                  <a:srgbClr val="FF0000"/>
                </a:solidFill>
              </a:rPr>
              <a:t> sell for less than MC (marginal cost); otherwise, we will lose money at any quantity</a:t>
            </a:r>
          </a:p>
        </p:txBody>
      </p:sp>
      <p:sp>
        <p:nvSpPr>
          <p:cNvPr id="15" name="TextBox 14">
            <a:extLst>
              <a:ext uri="{FF2B5EF4-FFF2-40B4-BE49-F238E27FC236}">
                <a16:creationId xmlns:a16="http://schemas.microsoft.com/office/drawing/2014/main" id="{DF4E4EE0-39E2-672F-C886-ACCD655431A7}"/>
              </a:ext>
            </a:extLst>
          </p:cNvPr>
          <p:cNvSpPr txBox="1"/>
          <p:nvPr/>
        </p:nvSpPr>
        <p:spPr>
          <a:xfrm>
            <a:off x="6089266" y="5163503"/>
            <a:ext cx="3289889" cy="369332"/>
          </a:xfrm>
          <a:prstGeom prst="rect">
            <a:avLst/>
          </a:prstGeom>
          <a:noFill/>
        </p:spPr>
        <p:txBody>
          <a:bodyPr wrap="square" rtlCol="0">
            <a:spAutoFit/>
          </a:bodyPr>
          <a:lstStyle/>
          <a:p>
            <a:r>
              <a:rPr lang="en-US" dirty="0">
                <a:solidFill>
                  <a:schemeClr val="accent2">
                    <a:lumMod val="75000"/>
                  </a:schemeClr>
                </a:solidFill>
              </a:rPr>
              <a:t>Willingness to pay of poor</a:t>
            </a:r>
          </a:p>
        </p:txBody>
      </p:sp>
    </p:spTree>
    <p:extLst>
      <p:ext uri="{BB962C8B-B14F-4D97-AF65-F5344CB8AC3E}">
        <p14:creationId xmlns:p14="http://schemas.microsoft.com/office/powerpoint/2010/main" val="25978477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11188</TotalTime>
  <Words>1643</Words>
  <Application>Microsoft Macintosh PowerPoint</Application>
  <PresentationFormat>Widescreen</PresentationFormat>
  <Paragraphs>224</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 Math</vt:lpstr>
      <vt:lpstr>Times New Roman</vt:lpstr>
      <vt:lpstr>Wingdings</vt:lpstr>
      <vt:lpstr>Office Theme</vt:lpstr>
      <vt:lpstr>GENED 1079 Section 4</vt:lpstr>
      <vt:lpstr>Agenda</vt:lpstr>
      <vt:lpstr>Quick pulse check – who has taken Ec10?</vt:lpstr>
      <vt:lpstr>Economics of pharmaceuticals: Basics</vt:lpstr>
      <vt:lpstr>Economics of pharmaceuticals: Basics</vt:lpstr>
      <vt:lpstr>Understanding the Profit Formula</vt:lpstr>
      <vt:lpstr>Understanding “Willingness to Pay”</vt:lpstr>
      <vt:lpstr>Choosing one price</vt:lpstr>
      <vt:lpstr>Who sets the price?</vt:lpstr>
      <vt:lpstr>Is a drug worth its price?: cost-effectiveness</vt:lpstr>
      <vt:lpstr>Practice Problem Prompt</vt:lpstr>
      <vt:lpstr>Part 1: Merck can only charge one price </vt:lpstr>
      <vt:lpstr>Part 2: Merck can charge different prices </vt:lpstr>
      <vt:lpstr>Part 3: Is Keytruda cost-effective? </vt:lpstr>
      <vt:lpstr>Wrap up </vt:lpstr>
      <vt:lpstr>Appendix</vt:lpstr>
      <vt:lpstr>Understanding “Willingness to Pay”</vt:lpstr>
      <vt:lpstr>Understanding “Willingness to Pay”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Epidemics</dc:title>
  <dc:creator>David Cutler</dc:creator>
  <cp:lastModifiedBy>Jhang, Janice</cp:lastModifiedBy>
  <cp:revision>209</cp:revision>
  <cp:lastPrinted>2026-10-05T01:41:46Z</cp:lastPrinted>
  <dcterms:created xsi:type="dcterms:W3CDTF">2020-08-12T16:21:11Z</dcterms:created>
  <dcterms:modified xsi:type="dcterms:W3CDTF">2026-10-05T02:16:25Z</dcterms:modified>
</cp:coreProperties>
</file>