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77" r:id="rId3"/>
    <p:sldId id="378" r:id="rId4"/>
    <p:sldId id="257" r:id="rId5"/>
    <p:sldId id="365" r:id="rId6"/>
    <p:sldId id="350" r:id="rId7"/>
    <p:sldId id="355" r:id="rId8"/>
    <p:sldId id="352" r:id="rId9"/>
    <p:sldId id="358" r:id="rId10"/>
    <p:sldId id="264" r:id="rId11"/>
    <p:sldId id="362" r:id="rId12"/>
    <p:sldId id="366" r:id="rId13"/>
    <p:sldId id="262" r:id="rId14"/>
    <p:sldId id="367" r:id="rId15"/>
    <p:sldId id="379" r:id="rId16"/>
    <p:sldId id="380" r:id="rId17"/>
    <p:sldId id="369" r:id="rId18"/>
    <p:sldId id="374" r:id="rId19"/>
    <p:sldId id="371" r:id="rId20"/>
    <p:sldId id="354" r:id="rId21"/>
    <p:sldId id="372" r:id="rId22"/>
    <p:sldId id="376" r:id="rId23"/>
    <p:sldId id="375" r:id="rId24"/>
    <p:sldId id="35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1" autoAdjust="0"/>
    <p:restoredTop sz="72081" autoAdjust="0"/>
  </p:normalViewPr>
  <p:slideViewPr>
    <p:cSldViewPr snapToGrid="0">
      <p:cViewPr>
        <p:scale>
          <a:sx n="96" d="100"/>
          <a:sy n="96" d="100"/>
        </p:scale>
        <p:origin x="124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US SCD population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006-484F-9CED-6DBB0660ACA3}"/>
              </c:ext>
            </c:extLst>
          </c:dPt>
          <c:dPt>
            <c:idx val="1"/>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02-57D7-4B35-A92F-AE857345C139}"/>
              </c:ext>
            </c:extLst>
          </c:dPt>
          <c:dPt>
            <c:idx val="2"/>
            <c:bubble3D val="0"/>
            <c:spPr>
              <a:solidFill>
                <a:schemeClr val="bg2"/>
              </a:solidFill>
              <a:ln w="19050">
                <a:solidFill>
                  <a:schemeClr val="lt1"/>
                </a:solidFill>
              </a:ln>
              <a:effectLst/>
            </c:spPr>
            <c:extLst>
              <c:ext xmlns:c16="http://schemas.microsoft.com/office/drawing/2014/chart" uri="{C3380CC4-5D6E-409C-BE32-E72D297353CC}">
                <c16:uniqueId val="{00000001-57D7-4B35-A92F-AE857345C139}"/>
              </c:ext>
            </c:extLst>
          </c:dPt>
          <c:cat>
            <c:strRef>
              <c:f>Sheet1!$A$2:$A$4</c:f>
              <c:strCache>
                <c:ptCount val="3"/>
                <c:pt idx="0">
                  <c:v>Medicaid</c:v>
                </c:pt>
                <c:pt idx="1">
                  <c:v>Commercial</c:v>
                </c:pt>
                <c:pt idx="2">
                  <c:v>Other</c:v>
                </c:pt>
              </c:strCache>
            </c:strRef>
          </c:cat>
          <c:val>
            <c:numRef>
              <c:f>Sheet1!$B$2:$B$4</c:f>
              <c:numCache>
                <c:formatCode>General</c:formatCode>
                <c:ptCount val="3"/>
                <c:pt idx="0">
                  <c:v>50</c:v>
                </c:pt>
                <c:pt idx="1">
                  <c:v>33</c:v>
                </c:pt>
                <c:pt idx="2">
                  <c:v>17</c:v>
                </c:pt>
              </c:numCache>
            </c:numRef>
          </c:val>
          <c:extLst>
            <c:ext xmlns:c16="http://schemas.microsoft.com/office/drawing/2014/chart" uri="{C3380CC4-5D6E-409C-BE32-E72D297353CC}">
              <c16:uniqueId val="{00000000-57D7-4B35-A92F-AE857345C139}"/>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US pop</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39B-49BB-975B-B8FF111E9C35}"/>
              </c:ext>
            </c:extLst>
          </c:dPt>
          <c:dPt>
            <c:idx val="1"/>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02-1B7F-454B-848A-3372717329FB}"/>
              </c:ext>
            </c:extLst>
          </c:dPt>
          <c:dPt>
            <c:idx val="2"/>
            <c:bubble3D val="0"/>
            <c:spPr>
              <a:solidFill>
                <a:schemeClr val="bg2"/>
              </a:solidFill>
              <a:ln w="19050">
                <a:solidFill>
                  <a:schemeClr val="lt1"/>
                </a:solidFill>
              </a:ln>
              <a:effectLst/>
            </c:spPr>
            <c:extLst>
              <c:ext xmlns:c16="http://schemas.microsoft.com/office/drawing/2014/chart" uri="{C3380CC4-5D6E-409C-BE32-E72D297353CC}">
                <c16:uniqueId val="{00000001-1B7F-454B-848A-3372717329FB}"/>
              </c:ext>
            </c:extLst>
          </c:dPt>
          <c:cat>
            <c:strRef>
              <c:f>Sheet1!$A$2:$A$4</c:f>
              <c:strCache>
                <c:ptCount val="3"/>
                <c:pt idx="0">
                  <c:v>Medicaid</c:v>
                </c:pt>
                <c:pt idx="1">
                  <c:v>Commercial</c:v>
                </c:pt>
                <c:pt idx="2">
                  <c:v>Other</c:v>
                </c:pt>
              </c:strCache>
            </c:strRef>
          </c:cat>
          <c:val>
            <c:numRef>
              <c:f>Sheet1!$B$2:$B$4</c:f>
              <c:numCache>
                <c:formatCode>General</c:formatCode>
                <c:ptCount val="3"/>
                <c:pt idx="0">
                  <c:v>18.8</c:v>
                </c:pt>
                <c:pt idx="1">
                  <c:v>65.599999999999994</c:v>
                </c:pt>
                <c:pt idx="2">
                  <c:v>15.600000000000005</c:v>
                </c:pt>
              </c:numCache>
            </c:numRef>
          </c:val>
          <c:extLst>
            <c:ext xmlns:c16="http://schemas.microsoft.com/office/drawing/2014/chart" uri="{C3380CC4-5D6E-409C-BE32-E72D297353CC}">
              <c16:uniqueId val="{00000000-1B7F-454B-848A-3372717329FB}"/>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B0A1A5-EBDC-46CC-A190-10333B2BB6E0}" type="datetimeFigureOut">
              <a:rPr lang="en-US" smtClean="0"/>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9F2976-3FA4-49F4-A432-D1A065BDDFFA}" type="slidenum">
              <a:rPr lang="en-US" smtClean="0"/>
              <a:t>‹#›</a:t>
            </a:fld>
            <a:endParaRPr lang="en-US"/>
          </a:p>
        </p:txBody>
      </p:sp>
    </p:spTree>
    <p:extLst>
      <p:ext uri="{BB962C8B-B14F-4D97-AF65-F5344CB8AC3E}">
        <p14:creationId xmlns:p14="http://schemas.microsoft.com/office/powerpoint/2010/main" val="2045782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9F2976-3FA4-49F4-A432-D1A065BDDFFA}" type="slidenum">
              <a:rPr lang="en-US" smtClean="0"/>
              <a:t>4</a:t>
            </a:fld>
            <a:endParaRPr lang="en-US"/>
          </a:p>
        </p:txBody>
      </p:sp>
    </p:spTree>
    <p:extLst>
      <p:ext uri="{BB962C8B-B14F-4D97-AF65-F5344CB8AC3E}">
        <p14:creationId xmlns:p14="http://schemas.microsoft.com/office/powerpoint/2010/main" val="2607535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12-12:15</a:t>
            </a:r>
          </a:p>
          <a:p>
            <a:r>
              <a:rPr lang="en-US" dirty="0"/>
              <a:t>1:30-1:45</a:t>
            </a:r>
          </a:p>
        </p:txBody>
      </p:sp>
      <p:sp>
        <p:nvSpPr>
          <p:cNvPr id="4" name="Slide Number Placeholder 3"/>
          <p:cNvSpPr>
            <a:spLocks noGrp="1"/>
          </p:cNvSpPr>
          <p:nvPr>
            <p:ph type="sldNum" sz="quarter" idx="5"/>
          </p:nvPr>
        </p:nvSpPr>
        <p:spPr/>
        <p:txBody>
          <a:bodyPr/>
          <a:lstStyle/>
          <a:p>
            <a:fld id="{4F9F2976-3FA4-49F4-A432-D1A065BDDFFA}" type="slidenum">
              <a:rPr lang="en-US" smtClean="0"/>
              <a:t>5</a:t>
            </a:fld>
            <a:endParaRPr lang="en-US"/>
          </a:p>
        </p:txBody>
      </p:sp>
    </p:spTree>
    <p:extLst>
      <p:ext uri="{BB962C8B-B14F-4D97-AF65-F5344CB8AC3E}">
        <p14:creationId xmlns:p14="http://schemas.microsoft.com/office/powerpoint/2010/main" val="2758869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image: Estimated SCD prevalence in US – note unequally distributed geographically</a:t>
            </a:r>
          </a:p>
          <a:p>
            <a:r>
              <a:rPr lang="en-US" dirty="0"/>
              <a:t>Bottom image: SCD care centers – note how many states with a lot of people with SCD don’t have a lot of SCD care centers</a:t>
            </a:r>
          </a:p>
        </p:txBody>
      </p:sp>
      <p:sp>
        <p:nvSpPr>
          <p:cNvPr id="4" name="Slide Number Placeholder 3"/>
          <p:cNvSpPr>
            <a:spLocks noGrp="1"/>
          </p:cNvSpPr>
          <p:nvPr>
            <p:ph type="sldNum" sz="quarter" idx="5"/>
          </p:nvPr>
        </p:nvSpPr>
        <p:spPr/>
        <p:txBody>
          <a:bodyPr/>
          <a:lstStyle/>
          <a:p>
            <a:fld id="{4F9F2976-3FA4-49F4-A432-D1A065BDDFFA}" type="slidenum">
              <a:rPr lang="en-US" smtClean="0"/>
              <a:t>7</a:t>
            </a:fld>
            <a:endParaRPr lang="en-US"/>
          </a:p>
        </p:txBody>
      </p:sp>
    </p:spTree>
    <p:extLst>
      <p:ext uri="{BB962C8B-B14F-4D97-AF65-F5344CB8AC3E}">
        <p14:creationId xmlns:p14="http://schemas.microsoft.com/office/powerpoint/2010/main" val="1851761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vaso</a:t>
            </a:r>
            <a:r>
              <a:rPr lang="en-US" dirty="0"/>
              <a:t>-occlusive events (VOEs) -&gt; when blood cells clump together and block oxygen flow. Can cause severe pain and hospitalization. Bad for patients and v. expensive for medical system. </a:t>
            </a:r>
          </a:p>
          <a:p>
            <a:endParaRPr lang="en-US" dirty="0"/>
          </a:p>
          <a:p>
            <a:r>
              <a:rPr lang="en-US" dirty="0"/>
              <a:t>Note that it was only in July 2026 that </a:t>
            </a:r>
            <a:r>
              <a:rPr lang="en-US" dirty="0" err="1"/>
              <a:t>Casgevy</a:t>
            </a:r>
            <a:r>
              <a:rPr lang="en-US" dirty="0"/>
              <a:t> got expanded approval for younger kids, their preliminary approval was for people 12 years old and older.</a:t>
            </a:r>
          </a:p>
          <a:p>
            <a:endParaRPr lang="en-US" dirty="0"/>
          </a:p>
          <a:p>
            <a:r>
              <a:rPr lang="en-US" sz="1200" kern="1200" dirty="0" err="1">
                <a:solidFill>
                  <a:schemeClr val="tx1"/>
                </a:solidFill>
                <a:effectLst/>
                <a:latin typeface="+mn-lt"/>
                <a:ea typeface="+mn-ea"/>
                <a:cs typeface="+mn-cs"/>
              </a:rPr>
              <a:t>Casgevy</a:t>
            </a:r>
            <a:r>
              <a:rPr lang="en-US" sz="1200" kern="1200" dirty="0">
                <a:solidFill>
                  <a:schemeClr val="tx1"/>
                </a:solidFill>
                <a:effectLst/>
                <a:latin typeface="+mn-lt"/>
                <a:ea typeface="+mn-ea"/>
                <a:cs typeface="+mn-cs"/>
              </a:rPr>
              <a:t> basically edits like a genetic stimulant (</a:t>
            </a:r>
            <a:r>
              <a:rPr lang="en-US" sz="1200" kern="1200" dirty="0" err="1">
                <a:solidFill>
                  <a:schemeClr val="tx1"/>
                </a:solidFill>
                <a:effectLst/>
                <a:latin typeface="+mn-lt"/>
                <a:ea typeface="+mn-ea"/>
                <a:cs typeface="+mn-cs"/>
              </a:rPr>
              <a:t>transciption</a:t>
            </a:r>
            <a:r>
              <a:rPr lang="en-US" sz="1200" kern="1200" dirty="0">
                <a:solidFill>
                  <a:schemeClr val="tx1"/>
                </a:solidFill>
                <a:effectLst/>
                <a:latin typeface="+mn-lt"/>
                <a:ea typeface="+mn-ea"/>
                <a:cs typeface="+mn-cs"/>
              </a:rPr>
              <a:t> factor) of </a:t>
            </a:r>
            <a:r>
              <a:rPr lang="en-US" sz="1200" b="1" kern="1200" dirty="0">
                <a:solidFill>
                  <a:schemeClr val="tx1"/>
                </a:solidFill>
                <a:effectLst/>
                <a:latin typeface="+mn-lt"/>
                <a:ea typeface="+mn-ea"/>
                <a:cs typeface="+mn-cs"/>
              </a:rPr>
              <a:t>fetal</a:t>
            </a:r>
            <a:r>
              <a:rPr lang="en-US" sz="1200" kern="1200" dirty="0">
                <a:solidFill>
                  <a:schemeClr val="tx1"/>
                </a:solidFill>
                <a:effectLst/>
                <a:latin typeface="+mn-lt"/>
                <a:ea typeface="+mn-ea"/>
                <a:cs typeface="+mn-cs"/>
              </a:rPr>
              <a:t> hemoglobin to make it so we start producing levels similar of what was produced as a fetus! Fetal hemoglobin does not itself sickle </a:t>
            </a:r>
            <a:r>
              <a:rPr lang="en-US" sz="1200" b="1" kern="1200" dirty="0">
                <a:solidFill>
                  <a:schemeClr val="tx1"/>
                </a:solidFill>
                <a:effectLst/>
                <a:latin typeface="+mn-lt"/>
                <a:ea typeface="+mn-ea"/>
                <a:cs typeface="+mn-cs"/>
              </a:rPr>
              <a:t>and </a:t>
            </a:r>
            <a:r>
              <a:rPr lang="en-US" sz="1200" kern="1200" dirty="0">
                <a:solidFill>
                  <a:schemeClr val="tx1"/>
                </a:solidFill>
                <a:effectLst/>
                <a:latin typeface="+mn-lt"/>
                <a:ea typeface="+mn-ea"/>
                <a:cs typeface="+mn-cs"/>
              </a:rPr>
              <a:t>acts as a physical barrier from the sickled cells 'clumping' (polymerizing) which is what leads to pain crises and other complications of SCD</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Older sickle cell medications--mainly </a:t>
            </a:r>
            <a:r>
              <a:rPr lang="en-US" sz="1200" kern="1200" dirty="0" err="1">
                <a:solidFill>
                  <a:schemeClr val="tx1"/>
                </a:solidFill>
                <a:effectLst/>
                <a:latin typeface="+mn-lt"/>
                <a:ea typeface="+mn-ea"/>
                <a:cs typeface="+mn-cs"/>
              </a:rPr>
              <a:t>hydoxyurea</a:t>
            </a:r>
            <a:r>
              <a:rPr lang="en-US" sz="1200" kern="1200" dirty="0">
                <a:solidFill>
                  <a:schemeClr val="tx1"/>
                </a:solidFill>
                <a:effectLst/>
                <a:latin typeface="+mn-lt"/>
                <a:ea typeface="+mn-ea"/>
                <a:cs typeface="+mn-cs"/>
              </a:rPr>
              <a:t>--would stimulate fetal hemoglobin production, just not at the intrinsic genetic level!</a:t>
            </a:r>
          </a:p>
          <a:p>
            <a:endParaRPr lang="en-US" dirty="0"/>
          </a:p>
        </p:txBody>
      </p:sp>
      <p:sp>
        <p:nvSpPr>
          <p:cNvPr id="4" name="Slide Number Placeholder 3"/>
          <p:cNvSpPr>
            <a:spLocks noGrp="1"/>
          </p:cNvSpPr>
          <p:nvPr>
            <p:ph type="sldNum" sz="quarter" idx="5"/>
          </p:nvPr>
        </p:nvSpPr>
        <p:spPr/>
        <p:txBody>
          <a:bodyPr/>
          <a:lstStyle/>
          <a:p>
            <a:fld id="{4F9F2976-3FA4-49F4-A432-D1A065BDDFFA}" type="slidenum">
              <a:rPr lang="en-US" smtClean="0"/>
              <a:t>8</a:t>
            </a:fld>
            <a:endParaRPr lang="en-US"/>
          </a:p>
        </p:txBody>
      </p:sp>
    </p:spTree>
    <p:extLst>
      <p:ext uri="{BB962C8B-B14F-4D97-AF65-F5344CB8AC3E}">
        <p14:creationId xmlns:p14="http://schemas.microsoft.com/office/powerpoint/2010/main" val="623302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gene therapies, there’s also a lot of hospital care needed (weeks of inpatient stay). This adds $$ to the cost of treating patients as well (could imagine this is roughly analogous to cost of autologous transplant, est. $300k)</a:t>
            </a:r>
          </a:p>
        </p:txBody>
      </p:sp>
      <p:sp>
        <p:nvSpPr>
          <p:cNvPr id="4" name="Slide Number Placeholder 3"/>
          <p:cNvSpPr>
            <a:spLocks noGrp="1"/>
          </p:cNvSpPr>
          <p:nvPr>
            <p:ph type="sldNum" sz="quarter" idx="5"/>
          </p:nvPr>
        </p:nvSpPr>
        <p:spPr/>
        <p:txBody>
          <a:bodyPr/>
          <a:lstStyle/>
          <a:p>
            <a:fld id="{4F9F2976-3FA4-49F4-A432-D1A065BDDFFA}" type="slidenum">
              <a:rPr lang="en-US" smtClean="0"/>
              <a:t>9</a:t>
            </a:fld>
            <a:endParaRPr lang="en-US"/>
          </a:p>
        </p:txBody>
      </p:sp>
    </p:spTree>
    <p:extLst>
      <p:ext uri="{BB962C8B-B14F-4D97-AF65-F5344CB8AC3E}">
        <p14:creationId xmlns:p14="http://schemas.microsoft.com/office/powerpoint/2010/main" val="3284193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AC4593-34DC-441B-BA9F-0B029CAAB935}" type="slidenum">
              <a:rPr lang="en-US" smtClean="0"/>
              <a:t>10</a:t>
            </a:fld>
            <a:endParaRPr lang="en-US"/>
          </a:p>
        </p:txBody>
      </p:sp>
    </p:spTree>
    <p:extLst>
      <p:ext uri="{BB962C8B-B14F-4D97-AF65-F5344CB8AC3E}">
        <p14:creationId xmlns:p14="http://schemas.microsoft.com/office/powerpoint/2010/main" val="1587021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Massachusetts: 24% of people are enrolled in Medicaid</a:t>
            </a:r>
          </a:p>
          <a:p>
            <a:endParaRPr lang="en-US" dirty="0"/>
          </a:p>
          <a:p>
            <a:r>
              <a:rPr lang="en-US" dirty="0"/>
              <a:t>Note that we’ll talk more about Medicaid in our third unit on health reform, this is just some basic information for now</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Medicaid is an entitlement program – coverage guaranteed if you meet eligibility requirements. This presents a big risk to state budgets if they set treatment eligibility requirements too generously and end up on the hook for a lot of high-cost care. (Esp. because states have to balance their budgets, can’t just borrow money if they overspend like the federal government can)</a:t>
            </a:r>
          </a:p>
          <a:p>
            <a:endParaRPr lang="en-US" dirty="0"/>
          </a:p>
        </p:txBody>
      </p:sp>
      <p:sp>
        <p:nvSpPr>
          <p:cNvPr id="4" name="Slide Number Placeholder 3"/>
          <p:cNvSpPr>
            <a:spLocks noGrp="1"/>
          </p:cNvSpPr>
          <p:nvPr>
            <p:ph type="sldNum" sz="quarter" idx="5"/>
          </p:nvPr>
        </p:nvSpPr>
        <p:spPr/>
        <p:txBody>
          <a:bodyPr/>
          <a:lstStyle/>
          <a:p>
            <a:fld id="{BAAC4593-34DC-441B-BA9F-0B029CAAB935}" type="slidenum">
              <a:rPr lang="en-US" smtClean="0"/>
              <a:t>11</a:t>
            </a:fld>
            <a:endParaRPr lang="en-US"/>
          </a:p>
        </p:txBody>
      </p:sp>
    </p:spTree>
    <p:extLst>
      <p:ext uri="{BB962C8B-B14F-4D97-AF65-F5344CB8AC3E}">
        <p14:creationId xmlns:p14="http://schemas.microsoft.com/office/powerpoint/2010/main" val="3687308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a:t>
            </a:r>
          </a:p>
          <a:p>
            <a:r>
              <a:rPr lang="en-US" dirty="0"/>
              <a:t>1:45</a:t>
            </a:r>
          </a:p>
        </p:txBody>
      </p:sp>
      <p:sp>
        <p:nvSpPr>
          <p:cNvPr id="4" name="Slide Number Placeholder 3"/>
          <p:cNvSpPr>
            <a:spLocks noGrp="1"/>
          </p:cNvSpPr>
          <p:nvPr>
            <p:ph type="sldNum" sz="quarter" idx="5"/>
          </p:nvPr>
        </p:nvSpPr>
        <p:spPr/>
        <p:txBody>
          <a:bodyPr/>
          <a:lstStyle/>
          <a:p>
            <a:fld id="{4F9F2976-3FA4-49F4-A432-D1A065BDDFFA}" type="slidenum">
              <a:rPr lang="en-US" smtClean="0"/>
              <a:t>12</a:t>
            </a:fld>
            <a:endParaRPr lang="en-US"/>
          </a:p>
        </p:txBody>
      </p:sp>
    </p:spTree>
    <p:extLst>
      <p:ext uri="{BB962C8B-B14F-4D97-AF65-F5344CB8AC3E}">
        <p14:creationId xmlns:p14="http://schemas.microsoft.com/office/powerpoint/2010/main" val="2546947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Introduce plot twist ~12:27; 1:57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to TF: You can pre-assign states, or allow groups to pick their own (pre-assignment might be faster)</a:t>
            </a:r>
          </a:p>
          <a:p>
            <a:endParaRPr lang="en-US" dirty="0"/>
          </a:p>
          <a:p>
            <a:r>
              <a:rPr lang="en-US" dirty="0"/>
              <a:t>Remember in lecture, when Prof. Cutler asked about giving a child with spinal muscular atrophy access to a life-saving cure, everyone was for it? And remember how he said he wasn’t going to be mean and ask you to decide who got access when there wasn’t enough of the treatment for everyone? Well, today we are asking you to decide exactly that.</a:t>
            </a:r>
          </a:p>
          <a:p>
            <a:endParaRPr lang="en-US" dirty="0"/>
          </a:p>
          <a:p>
            <a:r>
              <a:rPr lang="en-US" dirty="0"/>
              <a:t>Re the cap on who can get it per year – this is a simplification based on the fact that the manufacturers are still ramping up their capacities, and the fact that you need specialized hospital care for a long time to receive therapy. In reality, some states might be able to treat more patients that this, and some will treat fewer. But for today, assume 10 as a rough estimate.</a:t>
            </a:r>
          </a:p>
          <a:p>
            <a:endParaRPr lang="en-US" dirty="0"/>
          </a:p>
          <a:p>
            <a:r>
              <a:rPr lang="en-US" dirty="0"/>
              <a:t>Note that this means that even groups who think their state should fund GT for everyone who wants it must decide who will get access first and who will have to wait.</a:t>
            </a:r>
          </a:p>
          <a:p>
            <a:endParaRPr lang="en-US" dirty="0"/>
          </a:p>
        </p:txBody>
      </p:sp>
      <p:sp>
        <p:nvSpPr>
          <p:cNvPr id="4" name="Slide Number Placeholder 3"/>
          <p:cNvSpPr>
            <a:spLocks noGrp="1"/>
          </p:cNvSpPr>
          <p:nvPr>
            <p:ph type="sldNum" sz="quarter" idx="5"/>
          </p:nvPr>
        </p:nvSpPr>
        <p:spPr/>
        <p:txBody>
          <a:bodyPr/>
          <a:lstStyle/>
          <a:p>
            <a:fld id="{4F9F2976-3FA4-49F4-A432-D1A065BDDFFA}" type="slidenum">
              <a:rPr lang="en-US" smtClean="0"/>
              <a:t>14</a:t>
            </a:fld>
            <a:endParaRPr lang="en-US"/>
          </a:p>
        </p:txBody>
      </p:sp>
    </p:spTree>
    <p:extLst>
      <p:ext uri="{BB962C8B-B14F-4D97-AF65-F5344CB8AC3E}">
        <p14:creationId xmlns:p14="http://schemas.microsoft.com/office/powerpoint/2010/main" val="3621107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12:27, 1:57</a:t>
            </a:r>
          </a:p>
          <a:p>
            <a:endParaRPr lang="en-US" dirty="0"/>
          </a:p>
          <a:p>
            <a:r>
              <a:rPr lang="en-US" dirty="0"/>
              <a:t>Ask groups to present their original allocation decision rule and their new decision based on this plot twist</a:t>
            </a:r>
          </a:p>
        </p:txBody>
      </p:sp>
      <p:sp>
        <p:nvSpPr>
          <p:cNvPr id="4" name="Slide Number Placeholder 3"/>
          <p:cNvSpPr>
            <a:spLocks noGrp="1"/>
          </p:cNvSpPr>
          <p:nvPr>
            <p:ph type="sldNum" sz="quarter" idx="5"/>
          </p:nvPr>
        </p:nvSpPr>
        <p:spPr/>
        <p:txBody>
          <a:bodyPr/>
          <a:lstStyle/>
          <a:p>
            <a:fld id="{4F9F2976-3FA4-49F4-A432-D1A065BDDFFA}" type="slidenum">
              <a:rPr lang="en-US" smtClean="0"/>
              <a:t>15</a:t>
            </a:fld>
            <a:endParaRPr lang="en-US"/>
          </a:p>
        </p:txBody>
      </p:sp>
    </p:spTree>
    <p:extLst>
      <p:ext uri="{BB962C8B-B14F-4D97-AF65-F5344CB8AC3E}">
        <p14:creationId xmlns:p14="http://schemas.microsoft.com/office/powerpoint/2010/main" val="217954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back together ~12:32; 2:02</a:t>
            </a:r>
          </a:p>
          <a:p>
            <a:r>
              <a:rPr lang="en-US" dirty="0"/>
              <a:t>Each group gets 6 minutes: 3 min to present, 3 for questions</a:t>
            </a:r>
          </a:p>
          <a:p>
            <a:r>
              <a:rPr lang="en-US" dirty="0"/>
              <a:t>Remind students of their stakeholder perspective</a:t>
            </a:r>
          </a:p>
          <a:p>
            <a:endParaRPr lang="en-US" dirty="0"/>
          </a:p>
          <a:p>
            <a:r>
              <a:rPr lang="en-US" dirty="0"/>
              <a:t>5 groups </a:t>
            </a:r>
            <a:r>
              <a:rPr lang="en-US" dirty="0">
                <a:sym typeface="Wingdings" pitchFamily="2" charset="2"/>
              </a:rPr>
              <a:t> 1:02</a:t>
            </a:r>
          </a:p>
          <a:p>
            <a:r>
              <a:rPr lang="en-US" dirty="0">
                <a:sym typeface="Wingdings" pitchFamily="2" charset="2"/>
              </a:rPr>
              <a:t>4 groups  2:26</a:t>
            </a:r>
            <a:endParaRPr lang="en-US" dirty="0"/>
          </a:p>
          <a:p>
            <a:endParaRPr lang="en-US" dirty="0"/>
          </a:p>
        </p:txBody>
      </p:sp>
      <p:sp>
        <p:nvSpPr>
          <p:cNvPr id="4" name="Slide Number Placeholder 3"/>
          <p:cNvSpPr>
            <a:spLocks noGrp="1"/>
          </p:cNvSpPr>
          <p:nvPr>
            <p:ph type="sldNum" sz="quarter" idx="5"/>
          </p:nvPr>
        </p:nvSpPr>
        <p:spPr/>
        <p:txBody>
          <a:bodyPr/>
          <a:lstStyle/>
          <a:p>
            <a:fld id="{4F9F2976-3FA4-49F4-A432-D1A065BDDFFA}" type="slidenum">
              <a:rPr lang="en-US" smtClean="0"/>
              <a:t>16</a:t>
            </a:fld>
            <a:endParaRPr lang="en-US"/>
          </a:p>
        </p:txBody>
      </p:sp>
    </p:spTree>
    <p:extLst>
      <p:ext uri="{BB962C8B-B14F-4D97-AF65-F5344CB8AC3E}">
        <p14:creationId xmlns:p14="http://schemas.microsoft.com/office/powerpoint/2010/main" val="975577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a:p>
            <a:pPr marL="171450" indent="-171450">
              <a:buFontTx/>
              <a:buChar char="-"/>
            </a:pPr>
            <a:r>
              <a:rPr lang="en-US" dirty="0"/>
              <a:t>People find it hard to turn down an identifiable person, so they tend to fund rescues and avoid rationing. </a:t>
            </a:r>
          </a:p>
          <a:p>
            <a:pPr lvl="0" rtl="0"/>
            <a:r>
              <a:rPr lang="en-US" b="1" dirty="0"/>
              <a:t>- </a:t>
            </a:r>
            <a:r>
              <a:rPr lang="en-US" b="0" dirty="0"/>
              <a:t>First come, first served </a:t>
            </a:r>
            <a:r>
              <a:rPr lang="en-US" dirty="0"/>
              <a:t>looks neutral. But the people who apply first tend to be the ones who heard about gene therapy early, have a hematologist who refers them, and can handle the paperwork. Those patients tend to be urban and better resourced.</a:t>
            </a:r>
          </a:p>
          <a:p>
            <a:pPr lvl="0" rtl="0"/>
            <a:r>
              <a:rPr lang="en-US" b="0" dirty="0"/>
              <a:t>- Lottery gives everyone </a:t>
            </a:r>
            <a:r>
              <a:rPr lang="en-US" dirty="0"/>
              <a:t>the same odds of winning. But winning only matters if you can actually go through treatment: a month in the hospital, a caregiver, months living near the treatment center, time off work, and fertility preservation that may not be covered. E has the same odds as everyone else and much less real access.</a:t>
            </a:r>
          </a:p>
          <a:p>
            <a:pPr marL="171450" indent="-171450">
              <a:buFontTx/>
              <a:buChar char="-"/>
            </a:pPr>
            <a:endParaRPr lang="en-US" dirty="0"/>
          </a:p>
          <a:p>
            <a:pPr marL="228600" indent="-228600">
              <a:buFontTx/>
              <a:buAutoNum type="arabicPeriod"/>
            </a:pPr>
            <a:r>
              <a:rPr lang="en-US" dirty="0"/>
              <a:t>If two groups used different rules and picked the same people, did the rule matter? Different principles usually agree on the easy cases, so the real disagreement is over the last one or two slots.</a:t>
            </a:r>
          </a:p>
          <a:p>
            <a:pPr marL="228600" indent="-228600">
              <a:buFontTx/>
              <a:buAutoNum type="arabicPeriod"/>
            </a:pPr>
            <a:r>
              <a:rPr lang="en-US" dirty="0"/>
              <a:t>Real Medicaid committees decide on criteria, not on life stories. Is that fairer or colder? People feel a stronger pull to save an identifiable person than to save statistical lives. Writing rules in advance protects against rewarding whoever has the most moving story, but it can feel impersonal.</a:t>
            </a:r>
          </a:p>
          <a:p>
            <a:pPr marL="228600" indent="-228600">
              <a:buFontTx/>
              <a:buAutoNum type="arabicPeriod"/>
            </a:pPr>
            <a:r>
              <a:rPr lang="en-US" dirty="0"/>
              <a:t>Every applicant costs the same $2–3M, so cost can’t separate them. Cost decides how many slots a state funds. Who gets those slots comes down to benefit and fairness. Is “most benefit” fair to B, who is suffering the most right now?</a:t>
            </a:r>
          </a:p>
          <a:p>
            <a:pPr marL="228600" indent="-228600">
              <a:buFontTx/>
              <a:buAutoNum type="arabicPeriod"/>
            </a:pPr>
            <a:r>
              <a:rPr lang="en-US" dirty="0"/>
              <a:t>If E wins the lottery but can’t leave home for a month, was E’s chance really equal? Who applies first under first come, first served? The fix is often support rather than re-ranking: fund travel, housing, and a caregiver. The CMS model gives states funding for support services like these. Mississippi, for example, funded a program coordinator to guide patients through treatment.</a:t>
            </a:r>
          </a:p>
          <a:p>
            <a:pPr marL="228600" indent="-228600">
              <a:buFontTx/>
              <a:buAutoNum type="arabicPeriod"/>
            </a:pPr>
            <a:endParaRPr lang="en-US" dirty="0"/>
          </a:p>
          <a:p>
            <a:pPr marL="228600" indent="-228600">
              <a:buFontTx/>
              <a:buAutoNum type="arabicPeriod"/>
            </a:pPr>
            <a:endParaRPr lang="en-US" dirty="0"/>
          </a:p>
          <a:p>
            <a:pPr lvl="0" rtl="0"/>
            <a:r>
              <a:rPr lang="en-US" dirty="0"/>
              <a:t>“It’s unfair that where you live decides your care.” If students defend states setting their own budgets.</a:t>
            </a:r>
          </a:p>
          <a:p>
            <a:pPr lvl="0" rtl="0"/>
            <a:r>
              <a:rPr lang="en-US" dirty="0"/>
              <a:t>That’s the trade-off of running Medicaid state by state. The CMS model reduces the differences: participating states cover about 84% of Medicaid patients with sickle cell. But patients in Georgia and Massachusetts are outside the model.</a:t>
            </a:r>
          </a:p>
          <a:p>
            <a:pPr marL="228600" indent="-228600">
              <a:buFontTx/>
              <a:buAutoNum type="arabicPeriod"/>
            </a:pPr>
            <a:endParaRPr lang="en-US" dirty="0"/>
          </a:p>
        </p:txBody>
      </p:sp>
      <p:sp>
        <p:nvSpPr>
          <p:cNvPr id="4" name="Slide Number Placeholder 3"/>
          <p:cNvSpPr>
            <a:spLocks noGrp="1"/>
          </p:cNvSpPr>
          <p:nvPr>
            <p:ph type="sldNum" sz="quarter" idx="5"/>
          </p:nvPr>
        </p:nvSpPr>
        <p:spPr/>
        <p:txBody>
          <a:bodyPr/>
          <a:lstStyle/>
          <a:p>
            <a:fld id="{4F9F2976-3FA4-49F4-A432-D1A065BDDFFA}" type="slidenum">
              <a:rPr lang="en-US" smtClean="0"/>
              <a:t>17</a:t>
            </a:fld>
            <a:endParaRPr lang="en-US"/>
          </a:p>
        </p:txBody>
      </p:sp>
    </p:spTree>
    <p:extLst>
      <p:ext uri="{BB962C8B-B14F-4D97-AF65-F5344CB8AC3E}">
        <p14:creationId xmlns:p14="http://schemas.microsoft.com/office/powerpoint/2010/main" val="4174253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 is about 1/3 as common in the US as SCD, yet it has received significantly more disease-specific private foundation research spending -&gt; more publications, more treatment approvals</a:t>
            </a:r>
          </a:p>
          <a:p>
            <a:endParaRPr lang="en-US" dirty="0"/>
          </a:p>
          <a:p>
            <a:r>
              <a:rPr lang="en-US" dirty="0"/>
              <a:t>Note that GT not on this graph (as the paper is from 2020).</a:t>
            </a:r>
          </a:p>
          <a:p>
            <a:endParaRPr lang="en-US" dirty="0"/>
          </a:p>
          <a:p>
            <a:r>
              <a:rPr lang="en-US" dirty="0"/>
              <a:t>CF drugs are also very high priced, but patient groups have been very successful in getting them covered, even in the UK, where NICE originally said they wouldn’t cover the drugs b/c they were not cost effective https://www.fiercepharma.com/pharma/vertex-clinches-trikafta-and-other-cystic-fibrosis-drug-reimbursement-deal-England </a:t>
            </a:r>
          </a:p>
        </p:txBody>
      </p:sp>
      <p:sp>
        <p:nvSpPr>
          <p:cNvPr id="4" name="Slide Number Placeholder 3"/>
          <p:cNvSpPr>
            <a:spLocks noGrp="1"/>
          </p:cNvSpPr>
          <p:nvPr>
            <p:ph type="sldNum" sz="quarter" idx="5"/>
          </p:nvPr>
        </p:nvSpPr>
        <p:spPr/>
        <p:txBody>
          <a:bodyPr/>
          <a:lstStyle/>
          <a:p>
            <a:fld id="{4F9F2976-3FA4-49F4-A432-D1A065BDDFFA}" type="slidenum">
              <a:rPr lang="en-US" smtClean="0"/>
              <a:t>18</a:t>
            </a:fld>
            <a:endParaRPr lang="en-US"/>
          </a:p>
        </p:txBody>
      </p:sp>
    </p:spTree>
    <p:extLst>
      <p:ext uri="{BB962C8B-B14F-4D97-AF65-F5344CB8AC3E}">
        <p14:creationId xmlns:p14="http://schemas.microsoft.com/office/powerpoint/2010/main" val="14745480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for class – what do you think?  Is it just that people in rich countries have access to newer, more expensive treatments than people in poor and middle-income countries?</a:t>
            </a:r>
          </a:p>
          <a:p>
            <a:endParaRPr lang="en-US" dirty="0"/>
          </a:p>
          <a:p>
            <a:r>
              <a:rPr lang="en-US" dirty="0"/>
              <a:t>If we don’t think this state of the world is just, whose responsibility is it to do something about that?</a:t>
            </a:r>
          </a:p>
        </p:txBody>
      </p:sp>
      <p:sp>
        <p:nvSpPr>
          <p:cNvPr id="4" name="Slide Number Placeholder 3"/>
          <p:cNvSpPr>
            <a:spLocks noGrp="1"/>
          </p:cNvSpPr>
          <p:nvPr>
            <p:ph type="sldNum" sz="quarter" idx="5"/>
          </p:nvPr>
        </p:nvSpPr>
        <p:spPr/>
        <p:txBody>
          <a:bodyPr/>
          <a:lstStyle/>
          <a:p>
            <a:fld id="{4F9F2976-3FA4-49F4-A432-D1A065BDDFFA}" type="slidenum">
              <a:rPr lang="en-US" smtClean="0"/>
              <a:t>20</a:t>
            </a:fld>
            <a:endParaRPr lang="en-US"/>
          </a:p>
        </p:txBody>
      </p:sp>
    </p:spTree>
    <p:extLst>
      <p:ext uri="{BB962C8B-B14F-4D97-AF65-F5344CB8AC3E}">
        <p14:creationId xmlns:p14="http://schemas.microsoft.com/office/powerpoint/2010/main" val="3999488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define each strategy (should have learned this in the video for Tuesday’s class)</a:t>
            </a:r>
          </a:p>
          <a:p>
            <a:endParaRPr lang="en-US" dirty="0"/>
          </a:p>
          <a:p>
            <a:r>
              <a:rPr lang="en-US" dirty="0"/>
              <a:t>Could any of these strategies work for gene therapies? Other SCD treatments? Give 2-3 min to discuss with neighbor, then ask them to share with class</a:t>
            </a:r>
          </a:p>
          <a:p>
            <a:endParaRPr lang="en-US" dirty="0"/>
          </a:p>
          <a:p>
            <a:r>
              <a:rPr lang="en-US" dirty="0"/>
              <a:t>Key takeaways hoping we’ll get at: these strategies are largely trying to push costs for LMICs down to MC. However, if MC is high (as in GTs), this may still be unaffordable</a:t>
            </a:r>
          </a:p>
          <a:p>
            <a:endParaRPr lang="en-US" dirty="0"/>
          </a:p>
          <a:p>
            <a:endParaRPr lang="en-US" dirty="0"/>
          </a:p>
        </p:txBody>
      </p:sp>
      <p:sp>
        <p:nvSpPr>
          <p:cNvPr id="4" name="Slide Number Placeholder 3"/>
          <p:cNvSpPr>
            <a:spLocks noGrp="1"/>
          </p:cNvSpPr>
          <p:nvPr>
            <p:ph type="sldNum" sz="quarter" idx="5"/>
          </p:nvPr>
        </p:nvSpPr>
        <p:spPr/>
        <p:txBody>
          <a:bodyPr/>
          <a:lstStyle/>
          <a:p>
            <a:fld id="{4F9F2976-3FA4-49F4-A432-D1A065BDDFFA}" type="slidenum">
              <a:rPr lang="en-US" smtClean="0"/>
              <a:t>21</a:t>
            </a:fld>
            <a:endParaRPr lang="en-US"/>
          </a:p>
        </p:txBody>
      </p:sp>
    </p:spTree>
    <p:extLst>
      <p:ext uri="{BB962C8B-B14F-4D97-AF65-F5344CB8AC3E}">
        <p14:creationId xmlns:p14="http://schemas.microsoft.com/office/powerpoint/2010/main" val="961164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75C93-89D4-319A-FEDB-5E832FF77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48674-BEF9-748A-F10B-3C6B9C0F6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BD21E8-6EAD-DA8D-CA8B-1C9A64473FF3}"/>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91797FF7-F34E-76AC-A22D-384DA2735E4D}"/>
              </a:ext>
            </a:extLst>
          </p:cNvPr>
          <p:cNvSpPr>
            <a:spLocks noGrp="1"/>
          </p:cNvSpPr>
          <p:nvPr>
            <p:ph type="sldNum" sz="quarter" idx="5"/>
          </p:nvPr>
        </p:nvSpPr>
        <p:spPr/>
        <p:txBody>
          <a:bodyPr/>
          <a:lstStyle/>
          <a:p>
            <a:fld id="{4F9F2976-3FA4-49F4-A432-D1A065BDDFFA}" type="slidenum">
              <a:rPr lang="en-US" smtClean="0"/>
              <a:t>22</a:t>
            </a:fld>
            <a:endParaRPr lang="en-US"/>
          </a:p>
        </p:txBody>
      </p:sp>
    </p:spTree>
    <p:extLst>
      <p:ext uri="{BB962C8B-B14F-4D97-AF65-F5344CB8AC3E}">
        <p14:creationId xmlns:p14="http://schemas.microsoft.com/office/powerpoint/2010/main" val="184033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23B4-9F62-8FBA-B27A-F3F8016D79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464871-2819-D0BD-0408-1FA50DC067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772C73-45F6-1624-A3F2-390D044C6C47}"/>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5" name="Footer Placeholder 4">
            <a:extLst>
              <a:ext uri="{FF2B5EF4-FFF2-40B4-BE49-F238E27FC236}">
                <a16:creationId xmlns:a16="http://schemas.microsoft.com/office/drawing/2014/main" id="{1F7F80B4-0487-50C5-FB56-6D2DB55EEE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50C6B9-96C7-C9E9-95A4-161F772AEAAE}"/>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3394024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F5B5-7A1F-9392-7629-02884A5818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73F3A9-95BC-52E1-E715-EDDA69C0EC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FB0624-D112-DDBF-4CD8-BFD6BF18D3F2}"/>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5" name="Footer Placeholder 4">
            <a:extLst>
              <a:ext uri="{FF2B5EF4-FFF2-40B4-BE49-F238E27FC236}">
                <a16:creationId xmlns:a16="http://schemas.microsoft.com/office/drawing/2014/main" id="{784D21A0-F9EE-5EAE-3296-40EA704A1C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12C72-C9F5-D541-2319-A67FEC2153E1}"/>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1778332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AC0B8-14D5-8242-B765-84E2B65987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4255F7-5A28-CBF1-AA87-92406789AB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A49AB8-4577-2A38-179D-0AB6F1FB39E2}"/>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5" name="Footer Placeholder 4">
            <a:extLst>
              <a:ext uri="{FF2B5EF4-FFF2-40B4-BE49-F238E27FC236}">
                <a16:creationId xmlns:a16="http://schemas.microsoft.com/office/drawing/2014/main" id="{F91EA773-87F8-49A1-909B-D1C00847BF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1445F-D831-0ADB-533A-7F2535794CAC}"/>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258368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90CD-E1C6-1064-CD48-6BF00F6B17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190F59-ECFF-D702-ED28-A2045165C9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A6DBE9-B979-3D4A-59F9-3C91B9D076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376D5-210B-E37F-2CFC-CA7217EE0FD5}"/>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6" name="Footer Placeholder 5">
            <a:extLst>
              <a:ext uri="{FF2B5EF4-FFF2-40B4-BE49-F238E27FC236}">
                <a16:creationId xmlns:a16="http://schemas.microsoft.com/office/drawing/2014/main" id="{7043A524-B147-C31C-2B68-B4C2BE5E0D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24A3DE-FD7A-A353-08C2-D607A6232AEB}"/>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2407590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F0F3-567B-DA13-BBFD-222728A6F7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B04FD0-C2BA-D50C-E1D0-15C218FAE2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7DBE77-FC08-6A65-7B94-4008A4A7E5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F9BA4B-9686-C769-1F48-C92259C5E5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EE3822-83C9-76BB-3E13-FD18BEF272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10E717-0644-FEC9-70C1-990EE1A16C65}"/>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8" name="Footer Placeholder 7">
            <a:extLst>
              <a:ext uri="{FF2B5EF4-FFF2-40B4-BE49-F238E27FC236}">
                <a16:creationId xmlns:a16="http://schemas.microsoft.com/office/drawing/2014/main" id="{B5E14E2C-633E-8EF7-1387-EDA9F083CFD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3BEA41-11FA-274D-490C-931F0AFE9CE3}"/>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4171524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8C80-46F9-C01A-D854-E53A91BD23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9F6F8A-3BBA-1640-0523-3DC5BDE36650}"/>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4" name="Footer Placeholder 3">
            <a:extLst>
              <a:ext uri="{FF2B5EF4-FFF2-40B4-BE49-F238E27FC236}">
                <a16:creationId xmlns:a16="http://schemas.microsoft.com/office/drawing/2014/main" id="{7FD57441-B95D-7BDF-5C4B-264C1B6CB0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657628-7BA1-3836-F16D-5DB65FE1EBDF}"/>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2049776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542E1A-0930-E538-55A9-2E3A87DD679A}"/>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3" name="Footer Placeholder 2">
            <a:extLst>
              <a:ext uri="{FF2B5EF4-FFF2-40B4-BE49-F238E27FC236}">
                <a16:creationId xmlns:a16="http://schemas.microsoft.com/office/drawing/2014/main" id="{4ED01CEE-3B40-74C6-07F7-958EC2F948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05E15F-8F16-2605-344C-08EFB3AA49EB}"/>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3533460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B9A5D-F9FB-16E6-28F1-2620F38C6D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A6EC01-E041-603A-9EE5-FD801464CE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C6C433-EFED-C5C6-67D0-FA79B43EAB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58BA7F-544B-3015-753E-A9915C1E978C}"/>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6" name="Footer Placeholder 5">
            <a:extLst>
              <a:ext uri="{FF2B5EF4-FFF2-40B4-BE49-F238E27FC236}">
                <a16:creationId xmlns:a16="http://schemas.microsoft.com/office/drawing/2014/main" id="{10AB2152-B9F1-F56B-2AE0-EF77BEA1F8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FD4345-3FF2-CEA5-98CA-560B5F52ACAF}"/>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1916381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854E5-B0D6-B447-729E-FA0BF1B85A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CA8D51-79E1-2C54-38CA-2303376A05F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C3FBCB-60AD-08E5-3AD6-BB9EDBA8A8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48858F-4E1D-6598-751B-F641E677026A}"/>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6" name="Footer Placeholder 5">
            <a:extLst>
              <a:ext uri="{FF2B5EF4-FFF2-40B4-BE49-F238E27FC236}">
                <a16:creationId xmlns:a16="http://schemas.microsoft.com/office/drawing/2014/main" id="{56EE668A-5898-6A1E-252B-307503DF72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0DECD6-5C74-1DF0-5841-E77CCD23940E}"/>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872947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F34D9-F2D1-0BDE-8467-C6DF6713BE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E662FA-90CA-CBB8-18C7-F6DD4DD245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D50101-4D11-EF40-9E27-CF9E94822640}"/>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5" name="Footer Placeholder 4">
            <a:extLst>
              <a:ext uri="{FF2B5EF4-FFF2-40B4-BE49-F238E27FC236}">
                <a16:creationId xmlns:a16="http://schemas.microsoft.com/office/drawing/2014/main" id="{B64F7134-7271-8EB9-3303-DA122C9BA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2415DD-FB30-94FA-1732-E47FD26C0A27}"/>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3873868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F0F65B-3F34-CF8C-2181-00DDD7BFE7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4A0B96-892C-FA7C-64A7-F019D8BE8E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3EBB77-65C8-2D39-AA2A-A71C6C80C486}"/>
              </a:ext>
            </a:extLst>
          </p:cNvPr>
          <p:cNvSpPr>
            <a:spLocks noGrp="1"/>
          </p:cNvSpPr>
          <p:nvPr>
            <p:ph type="dt" sz="half" idx="10"/>
          </p:nvPr>
        </p:nvSpPr>
        <p:spPr/>
        <p:txBody>
          <a:bodyPr/>
          <a:lstStyle/>
          <a:p>
            <a:fld id="{C4964F75-9EFB-4752-A7C7-92327931C0E6}" type="datetimeFigureOut">
              <a:rPr lang="en-US" smtClean="0"/>
              <a:t>10/13/26</a:t>
            </a:fld>
            <a:endParaRPr lang="en-US"/>
          </a:p>
        </p:txBody>
      </p:sp>
      <p:sp>
        <p:nvSpPr>
          <p:cNvPr id="5" name="Footer Placeholder 4">
            <a:extLst>
              <a:ext uri="{FF2B5EF4-FFF2-40B4-BE49-F238E27FC236}">
                <a16:creationId xmlns:a16="http://schemas.microsoft.com/office/drawing/2014/main" id="{8ED03796-F94E-D258-27F6-2DE8BE61AD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6C1013-7F97-00EB-9C5A-5BB69A1723CF}"/>
              </a:ext>
            </a:extLst>
          </p:cNvPr>
          <p:cNvSpPr>
            <a:spLocks noGrp="1"/>
          </p:cNvSpPr>
          <p:nvPr>
            <p:ph type="sldNum" sz="quarter" idx="12"/>
          </p:nvPr>
        </p:nvSpPr>
        <p:spPr/>
        <p:txBody>
          <a:bodyPr/>
          <a:lstStyle/>
          <a:p>
            <a:fld id="{1E5ADBC2-E731-48A5-B6DD-233F2C434679}" type="slidenum">
              <a:rPr lang="en-US" smtClean="0"/>
              <a:t>‹#›</a:t>
            </a:fld>
            <a:endParaRPr lang="en-US"/>
          </a:p>
        </p:txBody>
      </p:sp>
    </p:spTree>
    <p:extLst>
      <p:ext uri="{BB962C8B-B14F-4D97-AF65-F5344CB8AC3E}">
        <p14:creationId xmlns:p14="http://schemas.microsoft.com/office/powerpoint/2010/main" val="2797017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7E1A5D-12C1-954A-31F6-877D067DF2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B4295A-50F1-5087-632C-580C30CD92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D0CEC-E040-01EA-7296-0DF3C2C29B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964F75-9EFB-4752-A7C7-92327931C0E6}" type="datetimeFigureOut">
              <a:rPr lang="en-US" smtClean="0"/>
              <a:t>10/13/26</a:t>
            </a:fld>
            <a:endParaRPr lang="en-US"/>
          </a:p>
        </p:txBody>
      </p:sp>
      <p:sp>
        <p:nvSpPr>
          <p:cNvPr id="5" name="Footer Placeholder 4">
            <a:extLst>
              <a:ext uri="{FF2B5EF4-FFF2-40B4-BE49-F238E27FC236}">
                <a16:creationId xmlns:a16="http://schemas.microsoft.com/office/drawing/2014/main" id="{62056EF6-C6C4-67B3-740F-F0860371DC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8B526C-60F2-C6C5-23B0-017D015959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5ADBC2-E731-48A5-B6DD-233F2C434679}" type="slidenum">
              <a:rPr lang="en-US" smtClean="0"/>
              <a:t>‹#›</a:t>
            </a:fld>
            <a:endParaRPr lang="en-US"/>
          </a:p>
        </p:txBody>
      </p:sp>
    </p:spTree>
    <p:extLst>
      <p:ext uri="{BB962C8B-B14F-4D97-AF65-F5344CB8AC3E}">
        <p14:creationId xmlns:p14="http://schemas.microsoft.com/office/powerpoint/2010/main" val="638630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hyperlink" Target="https://pmc.ncbi.nlm.nih.gov/articles/PMC6832089/#bibr17-0033354919881438" TargetMode="External"/><Relationship Id="rId4" Type="http://schemas.openxmlformats.org/officeDocument/2006/relationships/hyperlink" Target="https://pmc.ncbi.nlm.nih.gov/articles/PMC6832089/#bibr1-0033354919881438"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doi.org/10.1182/blood.2024024519" TargetMode="Externa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8.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notesSlide" Target="../notesSlides/notesSlide13.xml"/><Relationship Id="rId4"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doi.org/10.1182/blood.2024024519" TargetMode="External"/><Relationship Id="rId13" Type="http://schemas.openxmlformats.org/officeDocument/2006/relationships/hyperlink" Target="https://doi.org/10.1056/NEJMra1510865" TargetMode="External"/><Relationship Id="rId3" Type="http://schemas.openxmlformats.org/officeDocument/2006/relationships/hyperlink" Target="https://www.cdc.gov/sickle-cell/data/index.html" TargetMode="External"/><Relationship Id="rId7" Type="http://schemas.openxmlformats.org/officeDocument/2006/relationships/hyperlink" Target="https://www.biopharmadive.com/news/crispr-sickle-cell-price-millions-gene-therapy-vertex-bluebird/702066/" TargetMode="External"/><Relationship Id="rId12" Type="http://schemas.openxmlformats.org/officeDocument/2006/relationships/hyperlink" Target="https://www.kff.org/medicaid/health-policy-101-medicaid/?entry=table-of-contents-how-has-medicaid-evolved-over-time" TargetMode="External"/><Relationship Id="rId2" Type="http://schemas.openxmlformats.org/officeDocument/2006/relationships/hyperlink" Target="https://my.clevelandclinic.org/health/diseases/12100-sickle-cell-disease" TargetMode="External"/><Relationship Id="rId1" Type="http://schemas.openxmlformats.org/officeDocument/2006/relationships/slideLayout" Target="../slideLayouts/slideLayout2.xml"/><Relationship Id="rId6" Type="http://schemas.openxmlformats.org/officeDocument/2006/relationships/hyperlink" Target="https://www.fda.gov/vaccines-blood-biologics/casgevy" TargetMode="External"/><Relationship Id="rId11" Type="http://schemas.openxmlformats.org/officeDocument/2006/relationships/hyperlink" Target="https://www.census.gov/library/publications/2023/demo/p60-281.html" TargetMode="External"/><Relationship Id="rId5" Type="http://schemas.openxmlformats.org/officeDocument/2006/relationships/hyperlink" Target="https://www.fda.gov/vaccines-blood-biologics/lyfgenia" TargetMode="External"/><Relationship Id="rId10" Type="http://schemas.openxmlformats.org/officeDocument/2006/relationships/hyperlink" Target="https://doi.org/10.1182/bloodadvances.2021006281" TargetMode="External"/><Relationship Id="rId4" Type="http://schemas.openxmlformats.org/officeDocument/2006/relationships/hyperlink" Target="https://doi.org/10.1177/0033354919881438" TargetMode="External"/><Relationship Id="rId9" Type="http://schemas.openxmlformats.org/officeDocument/2006/relationships/hyperlink" Target="https://www.medicaid.gov/medicaid/quality-of-care/quality-improvement-initiatives/improving-care-for-sickle-cell-disease/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EF432-13CF-2F37-E4D3-1EA51CE647CB}"/>
              </a:ext>
            </a:extLst>
          </p:cNvPr>
          <p:cNvSpPr>
            <a:spLocks noGrp="1"/>
          </p:cNvSpPr>
          <p:nvPr>
            <p:ph type="ctrTitle"/>
          </p:nvPr>
        </p:nvSpPr>
        <p:spPr/>
        <p:txBody>
          <a:bodyPr/>
          <a:lstStyle/>
          <a:p>
            <a:r>
              <a:rPr lang="en-US" dirty="0"/>
              <a:t>GENED 1079 Section 5</a:t>
            </a:r>
          </a:p>
        </p:txBody>
      </p:sp>
      <p:sp>
        <p:nvSpPr>
          <p:cNvPr id="3" name="Subtitle 2">
            <a:extLst>
              <a:ext uri="{FF2B5EF4-FFF2-40B4-BE49-F238E27FC236}">
                <a16:creationId xmlns:a16="http://schemas.microsoft.com/office/drawing/2014/main" id="{0B3AF63F-B213-7589-DEA5-DA00DE9E1D36}"/>
              </a:ext>
            </a:extLst>
          </p:cNvPr>
          <p:cNvSpPr>
            <a:spLocks noGrp="1"/>
          </p:cNvSpPr>
          <p:nvPr>
            <p:ph type="subTitle" idx="1"/>
          </p:nvPr>
        </p:nvSpPr>
        <p:spPr/>
        <p:txBody>
          <a:bodyPr/>
          <a:lstStyle/>
          <a:p>
            <a:r>
              <a:rPr lang="en-US" dirty="0"/>
              <a:t>Week of October 13, 2026</a:t>
            </a:r>
          </a:p>
        </p:txBody>
      </p:sp>
    </p:spTree>
    <p:extLst>
      <p:ext uri="{BB962C8B-B14F-4D97-AF65-F5344CB8AC3E}">
        <p14:creationId xmlns:p14="http://schemas.microsoft.com/office/powerpoint/2010/main" val="1670378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E69AD31-83B0-4B20-BA5A-9C0FBEEEF4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5246" y="-1"/>
            <a:ext cx="5341509" cy="6862601"/>
          </a:xfrm>
          <a:prstGeom prst="rect">
            <a:avLst/>
          </a:prstGeom>
        </p:spPr>
      </p:pic>
    </p:spTree>
    <p:extLst>
      <p:ext uri="{BB962C8B-B14F-4D97-AF65-F5344CB8AC3E}">
        <p14:creationId xmlns:p14="http://schemas.microsoft.com/office/powerpoint/2010/main" val="2697521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504B9-39D2-354D-9179-B91F5E852534}"/>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C2D93C0-03A4-7B24-647D-CB049B45D0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21978" y="0"/>
            <a:ext cx="5548044" cy="6858000"/>
          </a:xfrm>
          <a:prstGeom prst="rect">
            <a:avLst/>
          </a:prstGeom>
        </p:spPr>
      </p:pic>
    </p:spTree>
    <p:extLst>
      <p:ext uri="{BB962C8B-B14F-4D97-AF65-F5344CB8AC3E}">
        <p14:creationId xmlns:p14="http://schemas.microsoft.com/office/powerpoint/2010/main" val="1709811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483F5-BB30-46B0-D7D7-D7BCEB27F255}"/>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CFEEB8C-F5B4-ACAD-FD5A-B22F3A18EEAA}"/>
              </a:ext>
            </a:extLst>
          </p:cNvPr>
          <p:cNvSpPr>
            <a:spLocks noGrp="1"/>
          </p:cNvSpPr>
          <p:nvPr>
            <p:ph idx="1"/>
          </p:nvPr>
        </p:nvSpPr>
        <p:spPr/>
        <p:txBody>
          <a:bodyPr/>
          <a:lstStyle/>
          <a:p>
            <a:pPr marL="514350" indent="-514350">
              <a:buFont typeface="+mj-lt"/>
              <a:buAutoNum type="arabicPeriod"/>
            </a:pPr>
            <a:r>
              <a:rPr lang="en-US" dirty="0"/>
              <a:t>Intro: Sickle Cell Disease and Cell and Gene Therapies </a:t>
            </a:r>
            <a:r>
              <a:rPr lang="en-US" i="1" dirty="0"/>
              <a:t>(15 min)</a:t>
            </a:r>
          </a:p>
          <a:p>
            <a:pPr marL="514350" indent="-514350">
              <a:buFont typeface="+mj-lt"/>
              <a:buAutoNum type="arabicPeriod"/>
            </a:pPr>
            <a:r>
              <a:rPr lang="en-US" dirty="0"/>
              <a:t>Group Exercise: Decide how your state will allocate gene therapies for people with Medicaid </a:t>
            </a:r>
            <a:r>
              <a:rPr lang="en-US" i="1" dirty="0"/>
              <a:t>(20 min)</a:t>
            </a:r>
          </a:p>
          <a:p>
            <a:pPr marL="514350" indent="-514350">
              <a:buFont typeface="+mj-lt"/>
              <a:buAutoNum type="arabicPeriod"/>
            </a:pPr>
            <a:r>
              <a:rPr lang="en-US" dirty="0"/>
              <a:t>Presentations &amp; discussion </a:t>
            </a:r>
            <a:r>
              <a:rPr lang="en-US" i="1" dirty="0"/>
              <a:t>(35 min)</a:t>
            </a:r>
          </a:p>
          <a:p>
            <a:pPr marL="514350" indent="-514350">
              <a:buFont typeface="+mj-lt"/>
              <a:buAutoNum type="arabicPeriod"/>
            </a:pPr>
            <a:r>
              <a:rPr lang="en-US" dirty="0"/>
              <a:t>Access to therapies in low-resource settings / low and middle-income countries </a:t>
            </a:r>
            <a:r>
              <a:rPr lang="en-US" i="1" dirty="0"/>
              <a:t>(5 min)</a:t>
            </a:r>
          </a:p>
        </p:txBody>
      </p:sp>
    </p:spTree>
    <p:extLst>
      <p:ext uri="{BB962C8B-B14F-4D97-AF65-F5344CB8AC3E}">
        <p14:creationId xmlns:p14="http://schemas.microsoft.com/office/powerpoint/2010/main" val="1137331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4FBFA-5C74-D540-E6A8-BCE03C276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F4946-C443-9E40-2A28-56C025A1F1C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B5CA484C-59EB-04A4-67B9-82DA29406963}"/>
              </a:ext>
            </a:extLst>
          </p:cNvPr>
          <p:cNvSpPr>
            <a:spLocks noGrp="1"/>
          </p:cNvSpPr>
          <p:nvPr>
            <p:ph idx="1"/>
          </p:nvPr>
        </p:nvSpPr>
        <p:spPr/>
        <p:txBody>
          <a:bodyPr/>
          <a:lstStyle/>
          <a:p>
            <a:pPr marL="514350" indent="-514350">
              <a:buFont typeface="+mj-lt"/>
              <a:buAutoNum type="arabicPeriod"/>
            </a:pPr>
            <a:r>
              <a:rPr lang="en-US" b="1" dirty="0"/>
              <a:t>Intro: Sickle Cell Disease and Cell and Gene Therapies </a:t>
            </a:r>
          </a:p>
          <a:p>
            <a:pPr marL="514350" indent="-514350">
              <a:buFont typeface="+mj-lt"/>
              <a:buAutoNum type="arabicPeriod"/>
            </a:pPr>
            <a:r>
              <a:rPr lang="en-US" dirty="0"/>
              <a:t>Group Exercise: Decide how your state will allocate gene therapies for people with Medicaid </a:t>
            </a:r>
            <a:endParaRPr lang="en-US" i="1" dirty="0"/>
          </a:p>
          <a:p>
            <a:pPr marL="514350" indent="-514350">
              <a:buFont typeface="+mj-lt"/>
              <a:buAutoNum type="arabicPeriod"/>
            </a:pPr>
            <a:r>
              <a:rPr lang="en-US" dirty="0"/>
              <a:t>Presentations &amp; discussion</a:t>
            </a:r>
            <a:endParaRPr lang="en-US" i="1" dirty="0"/>
          </a:p>
          <a:p>
            <a:pPr marL="514350" indent="-514350">
              <a:buFont typeface="+mj-lt"/>
              <a:buAutoNum type="arabicPeriod"/>
            </a:pPr>
            <a:r>
              <a:rPr lang="en-US" dirty="0"/>
              <a:t>Access to therapies in low-resource settings / low and middle-income countries </a:t>
            </a:r>
            <a:endParaRPr lang="en-US" i="1" dirty="0"/>
          </a:p>
        </p:txBody>
      </p:sp>
    </p:spTree>
    <p:extLst>
      <p:ext uri="{BB962C8B-B14F-4D97-AF65-F5344CB8AC3E}">
        <p14:creationId xmlns:p14="http://schemas.microsoft.com/office/powerpoint/2010/main" val="2126875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DCED8-74AF-AC28-05AA-BDFA6937EF0F}"/>
              </a:ext>
            </a:extLst>
          </p:cNvPr>
          <p:cNvSpPr>
            <a:spLocks noGrp="1"/>
          </p:cNvSpPr>
          <p:nvPr>
            <p:ph type="title"/>
          </p:nvPr>
        </p:nvSpPr>
        <p:spPr/>
        <p:txBody>
          <a:bodyPr/>
          <a:lstStyle/>
          <a:p>
            <a:r>
              <a:rPr lang="en-US" dirty="0"/>
              <a:t>What is sickle cell disease (SCD)?</a:t>
            </a:r>
          </a:p>
        </p:txBody>
      </p:sp>
      <p:sp>
        <p:nvSpPr>
          <p:cNvPr id="3" name="Content Placeholder 2">
            <a:extLst>
              <a:ext uri="{FF2B5EF4-FFF2-40B4-BE49-F238E27FC236}">
                <a16:creationId xmlns:a16="http://schemas.microsoft.com/office/drawing/2014/main" id="{60399E8B-561F-60B7-D3DE-9A599040A7DB}"/>
              </a:ext>
            </a:extLst>
          </p:cNvPr>
          <p:cNvSpPr>
            <a:spLocks noGrp="1"/>
          </p:cNvSpPr>
          <p:nvPr>
            <p:ph idx="1"/>
          </p:nvPr>
        </p:nvSpPr>
        <p:spPr>
          <a:xfrm>
            <a:off x="838200" y="1825625"/>
            <a:ext cx="7384256" cy="4351338"/>
          </a:xfrm>
        </p:spPr>
        <p:txBody>
          <a:bodyPr>
            <a:normAutofit fontScale="92500" lnSpcReduction="10000"/>
          </a:bodyPr>
          <a:lstStyle/>
          <a:p>
            <a:pPr>
              <a:lnSpc>
                <a:spcPct val="110000"/>
              </a:lnSpc>
            </a:pPr>
            <a:r>
              <a:rPr lang="en-US" dirty="0"/>
              <a:t>Genetic blood disorder that causes some blood cells to be stiff and sickle-shaped. These blood cells can clump together, preventing oxygen flow through the body.</a:t>
            </a:r>
            <a:r>
              <a:rPr lang="en-US" baseline="30000" dirty="0"/>
              <a:t>1</a:t>
            </a:r>
            <a:endParaRPr lang="en-US" dirty="0"/>
          </a:p>
          <a:p>
            <a:pPr>
              <a:lnSpc>
                <a:spcPct val="110000"/>
              </a:lnSpc>
            </a:pPr>
            <a:r>
              <a:rPr lang="en-US" dirty="0"/>
              <a:t>Major symptoms include chronic and acute pain (including severe pain episodes that require ED/hospitalization), fatigue, strokes, and organ disease.</a:t>
            </a:r>
            <a:r>
              <a:rPr lang="en-US" baseline="30000" dirty="0"/>
              <a:t>2</a:t>
            </a:r>
            <a:endParaRPr lang="en-US" dirty="0"/>
          </a:p>
          <a:p>
            <a:pPr>
              <a:lnSpc>
                <a:spcPct val="110000"/>
              </a:lnSpc>
            </a:pPr>
            <a:r>
              <a:rPr lang="en-US" dirty="0"/>
              <a:t>People in the US with SCD live, on average, 20 years shorter than people without the disease.</a:t>
            </a:r>
            <a:r>
              <a:rPr lang="en-US" baseline="30000" dirty="0"/>
              <a:t>2</a:t>
            </a:r>
            <a:endParaRPr lang="en-US" dirty="0"/>
          </a:p>
          <a:p>
            <a:pPr>
              <a:lnSpc>
                <a:spcPct val="110000"/>
              </a:lnSpc>
            </a:pPr>
            <a:endParaRPr lang="en-US" dirty="0"/>
          </a:p>
        </p:txBody>
      </p:sp>
      <p:pic>
        <p:nvPicPr>
          <p:cNvPr id="5" name="Picture 4">
            <a:extLst>
              <a:ext uri="{FF2B5EF4-FFF2-40B4-BE49-F238E27FC236}">
                <a16:creationId xmlns:a16="http://schemas.microsoft.com/office/drawing/2014/main" id="{222C34ED-B449-29EB-9C34-02DFE719F151}"/>
              </a:ext>
            </a:extLst>
          </p:cNvPr>
          <p:cNvPicPr>
            <a:picLocks noChangeAspect="1"/>
          </p:cNvPicPr>
          <p:nvPr/>
        </p:nvPicPr>
        <p:blipFill>
          <a:blip r:embed="rId2"/>
          <a:stretch>
            <a:fillRect/>
          </a:stretch>
        </p:blipFill>
        <p:spPr>
          <a:xfrm>
            <a:off x="8652387" y="0"/>
            <a:ext cx="3539613" cy="6858000"/>
          </a:xfrm>
          <a:prstGeom prst="rect">
            <a:avLst/>
          </a:prstGeom>
        </p:spPr>
      </p:pic>
    </p:spTree>
    <p:extLst>
      <p:ext uri="{BB962C8B-B14F-4D97-AF65-F5344CB8AC3E}">
        <p14:creationId xmlns:p14="http://schemas.microsoft.com/office/powerpoint/2010/main" val="3623510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8B55-02DA-2243-A9BF-53E609631BC4}"/>
              </a:ext>
            </a:extLst>
          </p:cNvPr>
          <p:cNvSpPr>
            <a:spLocks noGrp="1"/>
          </p:cNvSpPr>
          <p:nvPr>
            <p:ph type="title"/>
          </p:nvPr>
        </p:nvSpPr>
        <p:spPr>
          <a:xfrm>
            <a:off x="838200" y="365125"/>
            <a:ext cx="5444359" cy="1325563"/>
          </a:xfrm>
        </p:spPr>
        <p:txBody>
          <a:bodyPr/>
          <a:lstStyle/>
          <a:p>
            <a:r>
              <a:rPr lang="en-US" dirty="0"/>
              <a:t>SCD prevalence in the US</a:t>
            </a:r>
          </a:p>
        </p:txBody>
      </p:sp>
      <p:pic>
        <p:nvPicPr>
          <p:cNvPr id="6" name="Picture 5">
            <a:extLst>
              <a:ext uri="{FF2B5EF4-FFF2-40B4-BE49-F238E27FC236}">
                <a16:creationId xmlns:a16="http://schemas.microsoft.com/office/drawing/2014/main" id="{9F1ED625-4DEC-8774-786A-227FD22CB3BF}"/>
              </a:ext>
            </a:extLst>
          </p:cNvPr>
          <p:cNvPicPr>
            <a:picLocks noChangeAspect="1"/>
          </p:cNvPicPr>
          <p:nvPr/>
        </p:nvPicPr>
        <p:blipFill>
          <a:blip r:embed="rId3"/>
          <a:stretch>
            <a:fillRect/>
          </a:stretch>
        </p:blipFill>
        <p:spPr>
          <a:xfrm>
            <a:off x="6786657" y="212344"/>
            <a:ext cx="4567144" cy="5535378"/>
          </a:xfrm>
          <a:prstGeom prst="rect">
            <a:avLst/>
          </a:prstGeom>
        </p:spPr>
      </p:pic>
      <p:sp>
        <p:nvSpPr>
          <p:cNvPr id="7" name="Content Placeholder 2">
            <a:extLst>
              <a:ext uri="{FF2B5EF4-FFF2-40B4-BE49-F238E27FC236}">
                <a16:creationId xmlns:a16="http://schemas.microsoft.com/office/drawing/2014/main" id="{C46AFFE4-BD28-C427-AE05-5C24CAFA8D53}"/>
              </a:ext>
            </a:extLst>
          </p:cNvPr>
          <p:cNvSpPr txBox="1">
            <a:spLocks/>
          </p:cNvSpPr>
          <p:nvPr/>
        </p:nvSpPr>
        <p:spPr>
          <a:xfrm>
            <a:off x="838200" y="1825625"/>
            <a:ext cx="5444359" cy="4351338"/>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dirty="0"/>
              <a:t>Approx 100,000 people in the US living with SCD</a:t>
            </a:r>
            <a:r>
              <a:rPr lang="en-US" baseline="30000" dirty="0"/>
              <a:t>2</a:t>
            </a:r>
            <a:endParaRPr lang="en-US" dirty="0"/>
          </a:p>
          <a:p>
            <a:pPr>
              <a:lnSpc>
                <a:spcPct val="110000"/>
              </a:lnSpc>
            </a:pPr>
            <a:r>
              <a:rPr lang="en-US" dirty="0"/>
              <a:t>&gt;90% of people in the US with SCD are Black or African American, 3-9% are Hispanic or Latino</a:t>
            </a:r>
            <a:r>
              <a:rPr lang="en-US" baseline="30000" dirty="0"/>
              <a:t>2</a:t>
            </a:r>
            <a:endParaRPr lang="en-US" dirty="0"/>
          </a:p>
          <a:p>
            <a:pPr>
              <a:lnSpc>
                <a:spcPct val="110000"/>
              </a:lnSpc>
            </a:pPr>
            <a:r>
              <a:rPr lang="en-US" dirty="0"/>
              <a:t>Large disparities in access to care: there are fewer SCD treatment centers and less money is invested in R&amp;D for SCD relative to other, even rarer diseases such as cystic fibrosis and hemophilia</a:t>
            </a:r>
            <a:r>
              <a:rPr lang="en-US" baseline="30000" dirty="0"/>
              <a:t>3</a:t>
            </a:r>
            <a:endParaRPr lang="en-US" dirty="0"/>
          </a:p>
          <a:p>
            <a:pPr>
              <a:lnSpc>
                <a:spcPct val="110000"/>
              </a:lnSpc>
            </a:pPr>
            <a:endParaRPr lang="en-US" dirty="0"/>
          </a:p>
        </p:txBody>
      </p:sp>
      <p:sp>
        <p:nvSpPr>
          <p:cNvPr id="9" name="TextBox 8">
            <a:extLst>
              <a:ext uri="{FF2B5EF4-FFF2-40B4-BE49-F238E27FC236}">
                <a16:creationId xmlns:a16="http://schemas.microsoft.com/office/drawing/2014/main" id="{262F1F38-D1D8-2139-622A-2E22D9608A02}"/>
              </a:ext>
            </a:extLst>
          </p:cNvPr>
          <p:cNvSpPr txBox="1"/>
          <p:nvPr/>
        </p:nvSpPr>
        <p:spPr>
          <a:xfrm>
            <a:off x="219739" y="6492875"/>
            <a:ext cx="6295361" cy="369332"/>
          </a:xfrm>
          <a:prstGeom prst="rect">
            <a:avLst/>
          </a:prstGeom>
          <a:noFill/>
        </p:spPr>
        <p:txBody>
          <a:bodyPr wrap="square" rtlCol="0">
            <a:spAutoFit/>
          </a:bodyPr>
          <a:lstStyle/>
          <a:p>
            <a:r>
              <a:rPr lang="en-US" dirty="0"/>
              <a:t>Image source: (3) Lee et al. 2019, Public Health Rep. &amp; Haskell</a:t>
            </a:r>
          </a:p>
        </p:txBody>
      </p:sp>
      <p:sp>
        <p:nvSpPr>
          <p:cNvPr id="10" name="TextBox 9">
            <a:extLst>
              <a:ext uri="{FF2B5EF4-FFF2-40B4-BE49-F238E27FC236}">
                <a16:creationId xmlns:a16="http://schemas.microsoft.com/office/drawing/2014/main" id="{CF95EC77-2E19-24A1-CDBC-429E254F6E00}"/>
              </a:ext>
            </a:extLst>
          </p:cNvPr>
          <p:cNvSpPr txBox="1"/>
          <p:nvPr/>
        </p:nvSpPr>
        <p:spPr>
          <a:xfrm>
            <a:off x="6786657" y="5819553"/>
            <a:ext cx="5079278" cy="1015663"/>
          </a:xfrm>
          <a:prstGeom prst="rect">
            <a:avLst/>
          </a:prstGeom>
          <a:noFill/>
        </p:spPr>
        <p:txBody>
          <a:bodyPr wrap="square" rtlCol="0">
            <a:spAutoFit/>
          </a:bodyPr>
          <a:lstStyle/>
          <a:p>
            <a:r>
              <a:rPr lang="en-US" sz="1000" dirty="0"/>
              <a:t>A) Estimated number of persons with sickle cell disease, based on state-specific African American and Hispanic birth-cohort disease prevalence and 2008 US Census population, corrected for early mortality. Map previously published by Hassell</a:t>
            </a:r>
            <a:r>
              <a:rPr lang="en-US" sz="1000" baseline="30000" dirty="0">
                <a:hlinkClick r:id="rId4"/>
              </a:rPr>
              <a:t>1</a:t>
            </a:r>
            <a:r>
              <a:rPr lang="en-US" sz="1000" dirty="0"/>
              <a:t> and reprinted with permission from the American College of Preventive Medicine. (B) Number of sickle cell disease treatment centers per state, 2017. Data source: Centers for Disease Control and Prevention (CDC).</a:t>
            </a:r>
            <a:r>
              <a:rPr lang="en-US" sz="1000" baseline="30000" dirty="0">
                <a:hlinkClick r:id="rId5"/>
              </a:rPr>
              <a:t>17</a:t>
            </a:r>
            <a:r>
              <a:rPr lang="en-US" sz="1000" dirty="0"/>
              <a:t> Used with permission from CDC.</a:t>
            </a:r>
          </a:p>
        </p:txBody>
      </p:sp>
    </p:spTree>
    <p:extLst>
      <p:ext uri="{BB962C8B-B14F-4D97-AF65-F5344CB8AC3E}">
        <p14:creationId xmlns:p14="http://schemas.microsoft.com/office/powerpoint/2010/main" val="465373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B728B-7D9B-7575-B4DE-F48546EF8B02}"/>
              </a:ext>
            </a:extLst>
          </p:cNvPr>
          <p:cNvSpPr>
            <a:spLocks noGrp="1"/>
          </p:cNvSpPr>
          <p:nvPr>
            <p:ph type="title"/>
          </p:nvPr>
        </p:nvSpPr>
        <p:spPr/>
        <p:txBody>
          <a:bodyPr/>
          <a:lstStyle/>
          <a:p>
            <a:r>
              <a:rPr lang="en-US" dirty="0"/>
              <a:t>Two gene therapies (GT) for SCD have been approved in the US</a:t>
            </a:r>
            <a:r>
              <a:rPr lang="en-US" baseline="30000" dirty="0"/>
              <a:t>1</a:t>
            </a:r>
            <a:endParaRPr lang="en-US" dirty="0"/>
          </a:p>
        </p:txBody>
      </p:sp>
      <p:graphicFrame>
        <p:nvGraphicFramePr>
          <p:cNvPr id="4" name="Table 3">
            <a:extLst>
              <a:ext uri="{FF2B5EF4-FFF2-40B4-BE49-F238E27FC236}">
                <a16:creationId xmlns:a16="http://schemas.microsoft.com/office/drawing/2014/main" id="{656CC5B5-8890-F6CB-B331-F6E46101970E}"/>
              </a:ext>
            </a:extLst>
          </p:cNvPr>
          <p:cNvGraphicFramePr>
            <a:graphicFrameLocks noGrp="1"/>
          </p:cNvGraphicFramePr>
          <p:nvPr>
            <p:extLst>
              <p:ext uri="{D42A27DB-BD31-4B8C-83A1-F6EECF244321}">
                <p14:modId xmlns:p14="http://schemas.microsoft.com/office/powerpoint/2010/main" val="4081366262"/>
              </p:ext>
            </p:extLst>
          </p:nvPr>
        </p:nvGraphicFramePr>
        <p:xfrm>
          <a:off x="1146968" y="2098409"/>
          <a:ext cx="9898064" cy="3845560"/>
        </p:xfrm>
        <a:graphic>
          <a:graphicData uri="http://schemas.openxmlformats.org/drawingml/2006/table">
            <a:tbl>
              <a:tblPr firstRow="1" bandRow="1">
                <a:tableStyleId>{5C22544A-7EE6-4342-B048-85BDC9FD1C3A}</a:tableStyleId>
              </a:tblPr>
              <a:tblGrid>
                <a:gridCol w="1289844">
                  <a:extLst>
                    <a:ext uri="{9D8B030D-6E8A-4147-A177-3AD203B41FA5}">
                      <a16:colId xmlns:a16="http://schemas.microsoft.com/office/drawing/2014/main" val="3878350279"/>
                    </a:ext>
                  </a:extLst>
                </a:gridCol>
                <a:gridCol w="1976763">
                  <a:extLst>
                    <a:ext uri="{9D8B030D-6E8A-4147-A177-3AD203B41FA5}">
                      <a16:colId xmlns:a16="http://schemas.microsoft.com/office/drawing/2014/main" val="997791524"/>
                    </a:ext>
                  </a:extLst>
                </a:gridCol>
                <a:gridCol w="2919366">
                  <a:extLst>
                    <a:ext uri="{9D8B030D-6E8A-4147-A177-3AD203B41FA5}">
                      <a16:colId xmlns:a16="http://schemas.microsoft.com/office/drawing/2014/main" val="3497709237"/>
                    </a:ext>
                  </a:extLst>
                </a:gridCol>
                <a:gridCol w="1966571">
                  <a:extLst>
                    <a:ext uri="{9D8B030D-6E8A-4147-A177-3AD203B41FA5}">
                      <a16:colId xmlns:a16="http://schemas.microsoft.com/office/drawing/2014/main" val="1984305055"/>
                    </a:ext>
                  </a:extLst>
                </a:gridCol>
                <a:gridCol w="1745520">
                  <a:extLst>
                    <a:ext uri="{9D8B030D-6E8A-4147-A177-3AD203B41FA5}">
                      <a16:colId xmlns:a16="http://schemas.microsoft.com/office/drawing/2014/main" val="3708359239"/>
                    </a:ext>
                  </a:extLst>
                </a:gridCol>
              </a:tblGrid>
              <a:tr h="370840">
                <a:tc>
                  <a:txBody>
                    <a:bodyPr/>
                    <a:lstStyle/>
                    <a:p>
                      <a:r>
                        <a:rPr lang="en-US" dirty="0"/>
                        <a:t>GT name</a:t>
                      </a:r>
                    </a:p>
                  </a:txBody>
                  <a:tcPr/>
                </a:tc>
                <a:tc>
                  <a:txBody>
                    <a:bodyPr/>
                    <a:lstStyle/>
                    <a:p>
                      <a:r>
                        <a:rPr lang="en-US" dirty="0"/>
                        <a:t>Manufacturer</a:t>
                      </a:r>
                    </a:p>
                  </a:txBody>
                  <a:tcPr/>
                </a:tc>
                <a:tc>
                  <a:txBody>
                    <a:bodyPr/>
                    <a:lstStyle/>
                    <a:p>
                      <a:r>
                        <a:rPr lang="en-US" dirty="0"/>
                        <a:t>Approved for</a:t>
                      </a:r>
                      <a:r>
                        <a:rPr lang="en-US" baseline="30000" dirty="0"/>
                        <a:t>4,5</a:t>
                      </a:r>
                      <a:endParaRPr lang="en-US" dirty="0"/>
                    </a:p>
                  </a:txBody>
                  <a:tcPr/>
                </a:tc>
                <a:tc>
                  <a:txBody>
                    <a:bodyPr/>
                    <a:lstStyle/>
                    <a:p>
                      <a:r>
                        <a:rPr lang="en-US" dirty="0"/>
                        <a:t>How it works</a:t>
                      </a:r>
                    </a:p>
                  </a:txBody>
                  <a:tcPr/>
                </a:tc>
                <a:tc>
                  <a:txBody>
                    <a:bodyPr/>
                    <a:lstStyle/>
                    <a:p>
                      <a:r>
                        <a:rPr lang="en-US" dirty="0"/>
                        <a:t>List price</a:t>
                      </a:r>
                      <a:r>
                        <a:rPr lang="en-US" baseline="30000" dirty="0"/>
                        <a:t>6</a:t>
                      </a:r>
                      <a:endParaRPr lang="en-US" dirty="0"/>
                    </a:p>
                  </a:txBody>
                  <a:tcPr/>
                </a:tc>
                <a:extLst>
                  <a:ext uri="{0D108BD9-81ED-4DB2-BD59-A6C34878D82A}">
                    <a16:rowId xmlns:a16="http://schemas.microsoft.com/office/drawing/2014/main" val="3303083446"/>
                  </a:ext>
                </a:extLst>
              </a:tr>
              <a:tr h="370840">
                <a:tc>
                  <a:txBody>
                    <a:bodyPr/>
                    <a:lstStyle/>
                    <a:p>
                      <a:r>
                        <a:rPr lang="en-US" dirty="0" err="1"/>
                        <a:t>Lyfgenia</a:t>
                      </a:r>
                      <a:endParaRPr lang="en-US" dirty="0"/>
                    </a:p>
                  </a:txBody>
                  <a:tcPr/>
                </a:tc>
                <a:tc>
                  <a:txBody>
                    <a:bodyPr/>
                    <a:lstStyle/>
                    <a:p>
                      <a:r>
                        <a:rPr lang="en-US" dirty="0"/>
                        <a:t>bluebird bio</a:t>
                      </a:r>
                    </a:p>
                  </a:txBody>
                  <a:tcPr/>
                </a:tc>
                <a:tc>
                  <a:txBody>
                    <a:bodyPr/>
                    <a:lstStyle/>
                    <a:p>
                      <a:r>
                        <a:rPr lang="en-US" dirty="0"/>
                        <a:t>Patients 12+ years old with SCD and history of </a:t>
                      </a:r>
                      <a:r>
                        <a:rPr lang="en-US" dirty="0" err="1"/>
                        <a:t>vaso</a:t>
                      </a:r>
                      <a:r>
                        <a:rPr lang="en-US" dirty="0"/>
                        <a:t>-occlusive events (VOEs)</a:t>
                      </a:r>
                    </a:p>
                  </a:txBody>
                  <a:tcPr/>
                </a:tc>
                <a:tc>
                  <a:txBody>
                    <a:bodyPr/>
                    <a:lstStyle/>
                    <a:p>
                      <a:r>
                        <a:rPr lang="en-US" dirty="0"/>
                        <a:t>Inserts a working hemoglobin gene into patients’ bone marrow cells</a:t>
                      </a:r>
                    </a:p>
                  </a:txBody>
                  <a:tcPr/>
                </a:tc>
                <a:tc>
                  <a:txBody>
                    <a:bodyPr/>
                    <a:lstStyle/>
                    <a:p>
                      <a:r>
                        <a:rPr lang="en-US" b="1" dirty="0"/>
                        <a:t>$3.1 million</a:t>
                      </a:r>
                    </a:p>
                  </a:txBody>
                  <a:tcPr/>
                </a:tc>
                <a:extLst>
                  <a:ext uri="{0D108BD9-81ED-4DB2-BD59-A6C34878D82A}">
                    <a16:rowId xmlns:a16="http://schemas.microsoft.com/office/drawing/2014/main" val="2040135882"/>
                  </a:ext>
                </a:extLst>
              </a:tr>
              <a:tr h="370840">
                <a:tc>
                  <a:txBody>
                    <a:bodyPr/>
                    <a:lstStyle/>
                    <a:p>
                      <a:r>
                        <a:rPr lang="en-US" dirty="0" err="1"/>
                        <a:t>Casgevy</a:t>
                      </a:r>
                      <a:endParaRPr lang="en-US" dirty="0"/>
                    </a:p>
                  </a:txBody>
                  <a:tcPr/>
                </a:tc>
                <a:tc>
                  <a:txBody>
                    <a:bodyPr/>
                    <a:lstStyle/>
                    <a:p>
                      <a:r>
                        <a:rPr lang="en-US" dirty="0"/>
                        <a:t>Vertex Pharmaceuticals</a:t>
                      </a:r>
                    </a:p>
                  </a:txBody>
                  <a:tcPr/>
                </a:tc>
                <a:tc>
                  <a:txBody>
                    <a:bodyPr/>
                    <a:lstStyle/>
                    <a:p>
                      <a:r>
                        <a:rPr lang="en-US" dirty="0"/>
                        <a:t>Patients 2+ years old with SCD, recurrent </a:t>
                      </a:r>
                      <a:r>
                        <a:rPr lang="en-US" dirty="0" err="1"/>
                        <a:t>vaso</a:t>
                      </a:r>
                      <a:r>
                        <a:rPr lang="en-US" dirty="0"/>
                        <a:t>-occlusive crises (VOCs) and transfusion-dependent ß-thalassemia (TDT)</a:t>
                      </a:r>
                    </a:p>
                  </a:txBody>
                  <a:tcPr/>
                </a:tc>
                <a:tc>
                  <a:txBody>
                    <a:bodyPr/>
                    <a:lstStyle/>
                    <a:p>
                      <a:r>
                        <a:rPr lang="en-US" dirty="0"/>
                        <a:t>Acts like a genetic stimulation (transcription factor) of fetal hemoglobin, which doesn’t sickle</a:t>
                      </a:r>
                    </a:p>
                  </a:txBody>
                  <a:tcPr/>
                </a:tc>
                <a:tc>
                  <a:txBody>
                    <a:bodyPr/>
                    <a:lstStyle/>
                    <a:p>
                      <a:r>
                        <a:rPr lang="en-US" b="1" dirty="0"/>
                        <a:t>$2.2 million</a:t>
                      </a:r>
                    </a:p>
                  </a:txBody>
                  <a:tcPr/>
                </a:tc>
                <a:extLst>
                  <a:ext uri="{0D108BD9-81ED-4DB2-BD59-A6C34878D82A}">
                    <a16:rowId xmlns:a16="http://schemas.microsoft.com/office/drawing/2014/main" val="3905569880"/>
                  </a:ext>
                </a:extLst>
              </a:tr>
            </a:tbl>
          </a:graphicData>
        </a:graphic>
      </p:graphicFrame>
    </p:spTree>
    <p:extLst>
      <p:ext uri="{BB962C8B-B14F-4D97-AF65-F5344CB8AC3E}">
        <p14:creationId xmlns:p14="http://schemas.microsoft.com/office/powerpoint/2010/main" val="2897363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14F14-8373-B854-543E-E93368ADD129}"/>
              </a:ext>
            </a:extLst>
          </p:cNvPr>
          <p:cNvSpPr>
            <a:spLocks noGrp="1"/>
          </p:cNvSpPr>
          <p:nvPr>
            <p:ph type="title"/>
          </p:nvPr>
        </p:nvSpPr>
        <p:spPr/>
        <p:txBody>
          <a:bodyPr/>
          <a:lstStyle/>
          <a:p>
            <a:r>
              <a:rPr lang="en-US" dirty="0"/>
              <a:t>How does gene therapy for SCD work?</a:t>
            </a:r>
          </a:p>
        </p:txBody>
      </p:sp>
      <p:sp>
        <p:nvSpPr>
          <p:cNvPr id="3" name="Content Placeholder 2">
            <a:extLst>
              <a:ext uri="{FF2B5EF4-FFF2-40B4-BE49-F238E27FC236}">
                <a16:creationId xmlns:a16="http://schemas.microsoft.com/office/drawing/2014/main" id="{54854E5B-7C8A-267E-3F54-24C2A5790548}"/>
              </a:ext>
            </a:extLst>
          </p:cNvPr>
          <p:cNvSpPr>
            <a:spLocks noGrp="1"/>
          </p:cNvSpPr>
          <p:nvPr>
            <p:ph idx="1"/>
          </p:nvPr>
        </p:nvSpPr>
        <p:spPr>
          <a:xfrm>
            <a:off x="6886378" y="1825625"/>
            <a:ext cx="4467422" cy="4351338"/>
          </a:xfrm>
        </p:spPr>
        <p:txBody>
          <a:bodyPr>
            <a:normAutofit fontScale="92500" lnSpcReduction="20000"/>
          </a:bodyPr>
          <a:lstStyle/>
          <a:p>
            <a:r>
              <a:rPr lang="en-US" dirty="0"/>
              <a:t>Patients own cells are collected, modified, and re-administered</a:t>
            </a:r>
          </a:p>
          <a:p>
            <a:r>
              <a:rPr lang="en-US" dirty="0"/>
              <a:t>Significant inpatient care and support services required</a:t>
            </a:r>
          </a:p>
          <a:p>
            <a:r>
              <a:rPr lang="en-US" dirty="0"/>
              <a:t>Chemotherapy regimen impacts patients’ fertility</a:t>
            </a:r>
          </a:p>
          <a:p>
            <a:endParaRPr lang="en-US" dirty="0"/>
          </a:p>
          <a:p>
            <a:r>
              <a:rPr lang="en-US" b="1" dirty="0"/>
              <a:t>Economics note</a:t>
            </a:r>
            <a:r>
              <a:rPr lang="en-US" dirty="0"/>
              <a:t>: Because patient’s own cells are modified, GTs have high marginal costs</a:t>
            </a:r>
          </a:p>
        </p:txBody>
      </p:sp>
      <p:pic>
        <p:nvPicPr>
          <p:cNvPr id="4" name="Picture 3">
            <a:extLst>
              <a:ext uri="{FF2B5EF4-FFF2-40B4-BE49-F238E27FC236}">
                <a16:creationId xmlns:a16="http://schemas.microsoft.com/office/drawing/2014/main" id="{91E0530A-6D28-6779-BFDD-DF34E5D58761}"/>
              </a:ext>
            </a:extLst>
          </p:cNvPr>
          <p:cNvPicPr>
            <a:picLocks noChangeAspect="1"/>
          </p:cNvPicPr>
          <p:nvPr/>
        </p:nvPicPr>
        <p:blipFill>
          <a:blip r:embed="rId3"/>
          <a:stretch>
            <a:fillRect/>
          </a:stretch>
        </p:blipFill>
        <p:spPr>
          <a:xfrm>
            <a:off x="838201" y="1399978"/>
            <a:ext cx="5257800" cy="5195549"/>
          </a:xfrm>
          <a:prstGeom prst="rect">
            <a:avLst/>
          </a:prstGeom>
        </p:spPr>
      </p:pic>
      <p:sp>
        <p:nvSpPr>
          <p:cNvPr id="5" name="TextBox 4">
            <a:extLst>
              <a:ext uri="{FF2B5EF4-FFF2-40B4-BE49-F238E27FC236}">
                <a16:creationId xmlns:a16="http://schemas.microsoft.com/office/drawing/2014/main" id="{C58CBB41-5E98-157F-194D-50C07BA48088}"/>
              </a:ext>
            </a:extLst>
          </p:cNvPr>
          <p:cNvSpPr txBox="1"/>
          <p:nvPr/>
        </p:nvSpPr>
        <p:spPr>
          <a:xfrm>
            <a:off x="56735" y="6595527"/>
            <a:ext cx="7176483" cy="230832"/>
          </a:xfrm>
          <a:prstGeom prst="rect">
            <a:avLst/>
          </a:prstGeom>
          <a:noFill/>
        </p:spPr>
        <p:txBody>
          <a:bodyPr wrap="square" rtlCol="0">
            <a:spAutoFit/>
          </a:bodyPr>
          <a:lstStyle/>
          <a:p>
            <a:r>
              <a:rPr lang="en-US" sz="900" dirty="0"/>
              <a:t>Source: (7) Sharma A. How I treat sickle cell disease with gene therapy. </a:t>
            </a:r>
            <a:r>
              <a:rPr lang="en-US" sz="900" i="1" dirty="0"/>
              <a:t>Blood</a:t>
            </a:r>
            <a:r>
              <a:rPr lang="en-US" sz="900" dirty="0"/>
              <a:t>. 2024;144(26):2693-2705. doi:</a:t>
            </a:r>
            <a:r>
              <a:rPr lang="en-US" sz="900" dirty="0">
                <a:hlinkClick r:id="rId4"/>
              </a:rPr>
              <a:t>10.1182/blood.2024024519</a:t>
            </a:r>
            <a:endParaRPr lang="en-US" sz="900" dirty="0"/>
          </a:p>
        </p:txBody>
      </p:sp>
    </p:spTree>
    <p:extLst>
      <p:ext uri="{BB962C8B-B14F-4D97-AF65-F5344CB8AC3E}">
        <p14:creationId xmlns:p14="http://schemas.microsoft.com/office/powerpoint/2010/main" val="2367682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BD7B7-B61A-7F75-055B-9B71BA7BF739}"/>
              </a:ext>
            </a:extLst>
          </p:cNvPr>
          <p:cNvSpPr>
            <a:spLocks noGrp="1"/>
          </p:cNvSpPr>
          <p:nvPr>
            <p:ph type="title"/>
          </p:nvPr>
        </p:nvSpPr>
        <p:spPr/>
        <p:txBody>
          <a:bodyPr/>
          <a:lstStyle/>
          <a:p>
            <a:r>
              <a:rPr lang="en-US" dirty="0"/>
              <a:t>Sickle cell costs in the US: current state</a:t>
            </a:r>
          </a:p>
        </p:txBody>
      </p:sp>
      <p:sp>
        <p:nvSpPr>
          <p:cNvPr id="3" name="Content Placeholder 2">
            <a:extLst>
              <a:ext uri="{FF2B5EF4-FFF2-40B4-BE49-F238E27FC236}">
                <a16:creationId xmlns:a16="http://schemas.microsoft.com/office/drawing/2014/main" id="{0E5EBB19-3E4C-3023-17C8-22C1433E60C5}"/>
              </a:ext>
            </a:extLst>
          </p:cNvPr>
          <p:cNvSpPr>
            <a:spLocks noGrp="1"/>
          </p:cNvSpPr>
          <p:nvPr>
            <p:ph idx="1"/>
          </p:nvPr>
        </p:nvSpPr>
        <p:spPr>
          <a:xfrm>
            <a:off x="838200" y="1825625"/>
            <a:ext cx="6680886" cy="4351338"/>
          </a:xfrm>
        </p:spPr>
        <p:txBody>
          <a:bodyPr>
            <a:normAutofit/>
          </a:bodyPr>
          <a:lstStyle/>
          <a:p>
            <a:r>
              <a:rPr lang="en-US" dirty="0"/>
              <a:t>Of the ~100,000 people with sickle cell in the US</a:t>
            </a:r>
          </a:p>
          <a:p>
            <a:pPr lvl="1"/>
            <a:r>
              <a:rPr lang="en-US" dirty="0"/>
              <a:t>Over 50% have health insurance coverage through Medicaid or CHIP (Children’s Health Insurance Program)</a:t>
            </a:r>
            <a:r>
              <a:rPr lang="en-US" baseline="30000" dirty="0"/>
              <a:t>8</a:t>
            </a:r>
          </a:p>
          <a:p>
            <a:pPr lvl="1"/>
            <a:r>
              <a:rPr lang="en-US" dirty="0"/>
              <a:t>1/3 have commercial insurance coverage</a:t>
            </a:r>
            <a:r>
              <a:rPr lang="en-US" baseline="30000" dirty="0"/>
              <a:t>10</a:t>
            </a:r>
          </a:p>
          <a:p>
            <a:pPr lvl="1"/>
            <a:endParaRPr lang="en-US" baseline="30000" dirty="0"/>
          </a:p>
          <a:p>
            <a:pPr marL="457200" lvl="1" indent="0">
              <a:buNone/>
            </a:pPr>
            <a:endParaRPr lang="en-US" baseline="30000" dirty="0"/>
          </a:p>
          <a:p>
            <a:r>
              <a:rPr lang="en-US" dirty="0"/>
              <a:t>Estimated lifetime costs for a person with sickle cell: </a:t>
            </a:r>
            <a:r>
              <a:rPr lang="en-US" b="1" dirty="0"/>
              <a:t>$1.7 million per person</a:t>
            </a:r>
            <a:r>
              <a:rPr lang="en-US" dirty="0"/>
              <a:t>, with $44k paid out of pocket</a:t>
            </a:r>
            <a:r>
              <a:rPr lang="en-US" baseline="30000" dirty="0"/>
              <a:t>9</a:t>
            </a:r>
            <a:endParaRPr lang="en-US" dirty="0"/>
          </a:p>
          <a:p>
            <a:endParaRPr lang="en-US" dirty="0"/>
          </a:p>
          <a:p>
            <a:endParaRPr lang="en-US" dirty="0"/>
          </a:p>
          <a:p>
            <a:endParaRPr lang="en-US" dirty="0"/>
          </a:p>
          <a:p>
            <a:endParaRPr lang="en-US" dirty="0"/>
          </a:p>
          <a:p>
            <a:endParaRPr lang="en-US" dirty="0"/>
          </a:p>
          <a:p>
            <a:endParaRPr lang="en-US" dirty="0"/>
          </a:p>
        </p:txBody>
      </p:sp>
      <p:graphicFrame>
        <p:nvGraphicFramePr>
          <p:cNvPr id="12" name="Chart 11">
            <a:extLst>
              <a:ext uri="{FF2B5EF4-FFF2-40B4-BE49-F238E27FC236}">
                <a16:creationId xmlns:a16="http://schemas.microsoft.com/office/drawing/2014/main" id="{D7D83963-F600-1CC7-1B54-D59D96693131}"/>
              </a:ext>
            </a:extLst>
          </p:cNvPr>
          <p:cNvGraphicFramePr/>
          <p:nvPr/>
        </p:nvGraphicFramePr>
        <p:xfrm>
          <a:off x="7315199" y="1341619"/>
          <a:ext cx="4654445" cy="2773085"/>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a:extLst>
              <a:ext uri="{FF2B5EF4-FFF2-40B4-BE49-F238E27FC236}">
                <a16:creationId xmlns:a16="http://schemas.microsoft.com/office/drawing/2014/main" id="{73FEDBCD-6953-0B9D-02E4-01A9AFB74688}"/>
              </a:ext>
            </a:extLst>
          </p:cNvPr>
          <p:cNvSpPr txBox="1"/>
          <p:nvPr/>
        </p:nvSpPr>
        <p:spPr>
          <a:xfrm>
            <a:off x="8751131" y="1881659"/>
            <a:ext cx="1782580" cy="1292662"/>
          </a:xfrm>
          <a:prstGeom prst="rect">
            <a:avLst/>
          </a:prstGeom>
          <a:noFill/>
        </p:spPr>
        <p:txBody>
          <a:bodyPr wrap="square" rtlCol="0">
            <a:spAutoFit/>
          </a:bodyPr>
          <a:lstStyle/>
          <a:p>
            <a:pPr algn="ctr"/>
            <a:r>
              <a:rPr lang="en-US" sz="2400" b="1" dirty="0"/>
              <a:t>&gt; 50% </a:t>
            </a:r>
            <a:r>
              <a:rPr lang="en-US" b="1" dirty="0"/>
              <a:t>Medicaid coverage </a:t>
            </a:r>
            <a:br>
              <a:rPr lang="en-US" b="1" dirty="0"/>
            </a:br>
            <a:r>
              <a:rPr lang="en-US" b="1" dirty="0"/>
              <a:t>(SCD)</a:t>
            </a:r>
          </a:p>
        </p:txBody>
      </p:sp>
      <p:graphicFrame>
        <p:nvGraphicFramePr>
          <p:cNvPr id="19" name="Chart 18">
            <a:extLst>
              <a:ext uri="{FF2B5EF4-FFF2-40B4-BE49-F238E27FC236}">
                <a16:creationId xmlns:a16="http://schemas.microsoft.com/office/drawing/2014/main" id="{A620930E-DD8B-CBB1-11F1-90EFBFCB5C82}"/>
              </a:ext>
            </a:extLst>
          </p:cNvPr>
          <p:cNvGraphicFramePr/>
          <p:nvPr/>
        </p:nvGraphicFramePr>
        <p:xfrm>
          <a:off x="7315199" y="4042901"/>
          <a:ext cx="4718570" cy="2773085"/>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a:extLst>
              <a:ext uri="{FF2B5EF4-FFF2-40B4-BE49-F238E27FC236}">
                <a16:creationId xmlns:a16="http://schemas.microsoft.com/office/drawing/2014/main" id="{0DD1650F-B975-B47C-F7A7-D79F78D2FC03}"/>
              </a:ext>
            </a:extLst>
          </p:cNvPr>
          <p:cNvSpPr txBox="1"/>
          <p:nvPr/>
        </p:nvSpPr>
        <p:spPr>
          <a:xfrm>
            <a:off x="8751131" y="4654744"/>
            <a:ext cx="1782580" cy="1292662"/>
          </a:xfrm>
          <a:prstGeom prst="rect">
            <a:avLst/>
          </a:prstGeom>
          <a:noFill/>
        </p:spPr>
        <p:txBody>
          <a:bodyPr wrap="square" rtlCol="0">
            <a:spAutoFit/>
          </a:bodyPr>
          <a:lstStyle/>
          <a:p>
            <a:pPr algn="ctr"/>
            <a:r>
              <a:rPr lang="en-US" sz="2400" b="1" dirty="0"/>
              <a:t>~ 19% </a:t>
            </a:r>
            <a:r>
              <a:rPr lang="en-US" b="1" dirty="0"/>
              <a:t>Medicaid coverage </a:t>
            </a:r>
            <a:br>
              <a:rPr lang="en-US" b="1" dirty="0"/>
            </a:br>
            <a:r>
              <a:rPr lang="en-US" b="1" dirty="0"/>
              <a:t>(US pop)</a:t>
            </a:r>
            <a:r>
              <a:rPr lang="en-US" b="1" baseline="30000" dirty="0"/>
              <a:t>11</a:t>
            </a:r>
            <a:endParaRPr lang="en-US" b="1" dirty="0"/>
          </a:p>
        </p:txBody>
      </p:sp>
    </p:spTree>
    <p:extLst>
      <p:ext uri="{BB962C8B-B14F-4D97-AF65-F5344CB8AC3E}">
        <p14:creationId xmlns:p14="http://schemas.microsoft.com/office/powerpoint/2010/main" val="2685884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7F73D-15DB-A670-CDA6-B1977654455B}"/>
              </a:ext>
            </a:extLst>
          </p:cNvPr>
          <p:cNvSpPr>
            <a:spLocks noGrp="1"/>
          </p:cNvSpPr>
          <p:nvPr>
            <p:ph type="title"/>
          </p:nvPr>
        </p:nvSpPr>
        <p:spPr/>
        <p:txBody>
          <a:bodyPr/>
          <a:lstStyle/>
          <a:p>
            <a:r>
              <a:rPr lang="en-US" dirty="0"/>
              <a:t>Medicaid provides health insurance for low-income Americans</a:t>
            </a:r>
          </a:p>
        </p:txBody>
      </p:sp>
      <p:pic>
        <p:nvPicPr>
          <p:cNvPr id="4" name="Picture 3">
            <a:extLst>
              <a:ext uri="{FF2B5EF4-FFF2-40B4-BE49-F238E27FC236}">
                <a16:creationId xmlns:a16="http://schemas.microsoft.com/office/drawing/2014/main" id="{4093ACAC-76B1-D6E5-E4DE-577B04025A41}"/>
              </a:ext>
            </a:extLst>
          </p:cNvPr>
          <p:cNvPicPr>
            <a:picLocks noChangeAspect="1"/>
          </p:cNvPicPr>
          <p:nvPr/>
        </p:nvPicPr>
        <p:blipFill>
          <a:blip r:embed="rId3"/>
          <a:stretch>
            <a:fillRect/>
          </a:stretch>
        </p:blipFill>
        <p:spPr>
          <a:xfrm>
            <a:off x="6850117" y="1671150"/>
            <a:ext cx="4835027" cy="5104520"/>
          </a:xfrm>
          <a:prstGeom prst="rect">
            <a:avLst/>
          </a:prstGeom>
        </p:spPr>
      </p:pic>
      <p:sp>
        <p:nvSpPr>
          <p:cNvPr id="7" name="TextBox 6">
            <a:extLst>
              <a:ext uri="{FF2B5EF4-FFF2-40B4-BE49-F238E27FC236}">
                <a16:creationId xmlns:a16="http://schemas.microsoft.com/office/drawing/2014/main" id="{F2203CF9-8E09-B46C-B955-ED097276C201}"/>
              </a:ext>
            </a:extLst>
          </p:cNvPr>
          <p:cNvSpPr txBox="1"/>
          <p:nvPr/>
        </p:nvSpPr>
        <p:spPr>
          <a:xfrm>
            <a:off x="100207" y="6607479"/>
            <a:ext cx="7922713" cy="230832"/>
          </a:xfrm>
          <a:prstGeom prst="rect">
            <a:avLst/>
          </a:prstGeom>
          <a:noFill/>
        </p:spPr>
        <p:txBody>
          <a:bodyPr wrap="square" rtlCol="0">
            <a:spAutoFit/>
          </a:bodyPr>
          <a:lstStyle/>
          <a:p>
            <a:r>
              <a:rPr lang="en-US" sz="900" dirty="0"/>
              <a:t>Source for images and content: https://www.kff.org/medicaid/health-policy-101-medicaid/?entry=table-of-contents-introduction</a:t>
            </a:r>
          </a:p>
        </p:txBody>
      </p:sp>
      <p:sp>
        <p:nvSpPr>
          <p:cNvPr id="5" name="Content Placeholder 2">
            <a:extLst>
              <a:ext uri="{FF2B5EF4-FFF2-40B4-BE49-F238E27FC236}">
                <a16:creationId xmlns:a16="http://schemas.microsoft.com/office/drawing/2014/main" id="{ADB615D8-F0AE-1D73-C40B-DEA912DCB5B3}"/>
              </a:ext>
            </a:extLst>
          </p:cNvPr>
          <p:cNvSpPr txBox="1">
            <a:spLocks/>
          </p:cNvSpPr>
          <p:nvPr/>
        </p:nvSpPr>
        <p:spPr>
          <a:xfrm>
            <a:off x="838200" y="1825625"/>
            <a:ext cx="5888277" cy="435133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Medicaid is a program that provides health insurance to low-income people in the US</a:t>
            </a:r>
          </a:p>
          <a:p>
            <a:r>
              <a:rPr lang="en-US" dirty="0"/>
              <a:t>Medicaid is funded by a combination of state and federal dollars</a:t>
            </a:r>
            <a:r>
              <a:rPr lang="en-US" baseline="30000" dirty="0"/>
              <a:t>10</a:t>
            </a:r>
            <a:endParaRPr lang="en-US" dirty="0"/>
          </a:p>
          <a:p>
            <a:r>
              <a:rPr lang="en-US" dirty="0"/>
              <a:t>States have a lot of flexibility in deciding who to cover and which services to provide</a:t>
            </a:r>
          </a:p>
          <a:p>
            <a:r>
              <a:rPr lang="en-US" dirty="0"/>
              <a:t>Individuals with SCD are disproportionately covered by Medicaid (~50%)</a:t>
            </a:r>
            <a:r>
              <a:rPr lang="en-US" baseline="30000" dirty="0"/>
              <a:t>8</a:t>
            </a:r>
            <a:endParaRPr lang="en-US" dirty="0"/>
          </a:p>
          <a:p>
            <a:endParaRPr lang="en-US" dirty="0"/>
          </a:p>
        </p:txBody>
      </p:sp>
    </p:spTree>
    <p:extLst>
      <p:ext uri="{BB962C8B-B14F-4D97-AF65-F5344CB8AC3E}">
        <p14:creationId xmlns:p14="http://schemas.microsoft.com/office/powerpoint/2010/main" val="4146029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F17A0-FFE7-C071-5C82-D197F8FC8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D8F14-56A2-3578-B435-C1668B750B0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E32F601-5D58-4E77-C3A8-43A70B3D1310}"/>
              </a:ext>
            </a:extLst>
          </p:cNvPr>
          <p:cNvSpPr>
            <a:spLocks noGrp="1"/>
          </p:cNvSpPr>
          <p:nvPr>
            <p:ph idx="1"/>
          </p:nvPr>
        </p:nvSpPr>
        <p:spPr/>
        <p:txBody>
          <a:bodyPr/>
          <a:lstStyle/>
          <a:p>
            <a:pPr marL="514350" indent="-514350">
              <a:buFont typeface="+mj-lt"/>
              <a:buAutoNum type="arabicPeriod"/>
            </a:pPr>
            <a:r>
              <a:rPr lang="en-US" dirty="0"/>
              <a:t>Intro: Sickle Cell Disease and Cell and Gene Therapies </a:t>
            </a:r>
          </a:p>
          <a:p>
            <a:pPr marL="514350" indent="-514350">
              <a:buFont typeface="+mj-lt"/>
              <a:buAutoNum type="arabicPeriod"/>
            </a:pPr>
            <a:r>
              <a:rPr lang="en-US" b="1" dirty="0"/>
              <a:t>Group Exercise: Decide how your state will allocate gene therapies for people with Medicaid </a:t>
            </a:r>
            <a:endParaRPr lang="en-US" b="1" i="1" dirty="0"/>
          </a:p>
          <a:p>
            <a:pPr marL="514350" indent="-514350">
              <a:buFont typeface="+mj-lt"/>
              <a:buAutoNum type="arabicPeriod"/>
            </a:pPr>
            <a:r>
              <a:rPr lang="en-US" dirty="0"/>
              <a:t>Presentations &amp; discussion</a:t>
            </a:r>
            <a:endParaRPr lang="en-US" i="1" dirty="0"/>
          </a:p>
          <a:p>
            <a:pPr marL="514350" indent="-514350">
              <a:buFont typeface="+mj-lt"/>
              <a:buAutoNum type="arabicPeriod"/>
            </a:pPr>
            <a:r>
              <a:rPr lang="en-US" dirty="0"/>
              <a:t>Access to therapies in low-resource settings / low and middle-income countries </a:t>
            </a:r>
            <a:endParaRPr lang="en-US" i="1" dirty="0"/>
          </a:p>
        </p:txBody>
      </p:sp>
    </p:spTree>
    <p:extLst>
      <p:ext uri="{BB962C8B-B14F-4D97-AF65-F5344CB8AC3E}">
        <p14:creationId xmlns:p14="http://schemas.microsoft.com/office/powerpoint/2010/main" val="3846128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4EA73-DEA2-D81B-F5F6-DC443A5E4576}"/>
              </a:ext>
            </a:extLst>
          </p:cNvPr>
          <p:cNvSpPr>
            <a:spLocks noGrp="1"/>
          </p:cNvSpPr>
          <p:nvPr>
            <p:ph type="title"/>
          </p:nvPr>
        </p:nvSpPr>
        <p:spPr/>
        <p:txBody>
          <a:bodyPr>
            <a:normAutofit fontScale="90000"/>
          </a:bodyPr>
          <a:lstStyle/>
          <a:p>
            <a:r>
              <a:rPr lang="en-US" dirty="0"/>
              <a:t>Economics is only one of many lenses needed to evaluate questions prompted by gene therapies</a:t>
            </a:r>
          </a:p>
        </p:txBody>
      </p:sp>
      <p:sp>
        <p:nvSpPr>
          <p:cNvPr id="5" name="Oval 4">
            <a:extLst>
              <a:ext uri="{FF2B5EF4-FFF2-40B4-BE49-F238E27FC236}">
                <a16:creationId xmlns:a16="http://schemas.microsoft.com/office/drawing/2014/main" id="{31D1FD36-8557-6B63-46E4-ECAEBC31B30B}"/>
              </a:ext>
            </a:extLst>
          </p:cNvPr>
          <p:cNvSpPr/>
          <p:nvPr/>
        </p:nvSpPr>
        <p:spPr>
          <a:xfrm>
            <a:off x="1959129" y="1954974"/>
            <a:ext cx="4945117" cy="3099422"/>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B1DDD79-15BE-385E-AD9A-97811BC18C71}"/>
              </a:ext>
            </a:extLst>
          </p:cNvPr>
          <p:cNvSpPr/>
          <p:nvPr/>
        </p:nvSpPr>
        <p:spPr>
          <a:xfrm>
            <a:off x="4141075" y="1919318"/>
            <a:ext cx="4945117" cy="3099422"/>
          </a:xfrm>
          <a:prstGeom prst="ellipse">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0BA0077-939E-7938-2CDD-77897951FDA8}"/>
              </a:ext>
            </a:extLst>
          </p:cNvPr>
          <p:cNvSpPr/>
          <p:nvPr/>
        </p:nvSpPr>
        <p:spPr>
          <a:xfrm>
            <a:off x="3403775" y="3222809"/>
            <a:ext cx="4237771" cy="3304037"/>
          </a:xfrm>
          <a:prstGeom prst="ellipse">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7FFDDBA-9F3E-791F-6FAF-AA6A805854B1}"/>
              </a:ext>
            </a:extLst>
          </p:cNvPr>
          <p:cNvSpPr txBox="1"/>
          <p:nvPr/>
        </p:nvSpPr>
        <p:spPr>
          <a:xfrm>
            <a:off x="1122503" y="2106883"/>
            <a:ext cx="1576551" cy="369332"/>
          </a:xfrm>
          <a:prstGeom prst="rect">
            <a:avLst/>
          </a:prstGeom>
          <a:noFill/>
        </p:spPr>
        <p:txBody>
          <a:bodyPr wrap="square" rtlCol="0">
            <a:spAutoFit/>
          </a:bodyPr>
          <a:lstStyle/>
          <a:p>
            <a:r>
              <a:rPr lang="en-US" i="1" dirty="0"/>
              <a:t>Economic</a:t>
            </a:r>
          </a:p>
        </p:txBody>
      </p:sp>
      <p:sp>
        <p:nvSpPr>
          <p:cNvPr id="10" name="TextBox 9">
            <a:extLst>
              <a:ext uri="{FF2B5EF4-FFF2-40B4-BE49-F238E27FC236}">
                <a16:creationId xmlns:a16="http://schemas.microsoft.com/office/drawing/2014/main" id="{AB822C03-589A-B757-5D4B-14EBFCC760A3}"/>
              </a:ext>
            </a:extLst>
          </p:cNvPr>
          <p:cNvSpPr txBox="1"/>
          <p:nvPr/>
        </p:nvSpPr>
        <p:spPr>
          <a:xfrm>
            <a:off x="8494460" y="2106883"/>
            <a:ext cx="2030598" cy="369332"/>
          </a:xfrm>
          <a:prstGeom prst="rect">
            <a:avLst/>
          </a:prstGeom>
          <a:noFill/>
        </p:spPr>
        <p:txBody>
          <a:bodyPr wrap="square" rtlCol="0">
            <a:spAutoFit/>
          </a:bodyPr>
          <a:lstStyle/>
          <a:p>
            <a:r>
              <a:rPr lang="en-US" i="1" dirty="0"/>
              <a:t>Clinical</a:t>
            </a:r>
          </a:p>
        </p:txBody>
      </p:sp>
      <p:sp>
        <p:nvSpPr>
          <p:cNvPr id="11" name="TextBox 10">
            <a:extLst>
              <a:ext uri="{FF2B5EF4-FFF2-40B4-BE49-F238E27FC236}">
                <a16:creationId xmlns:a16="http://schemas.microsoft.com/office/drawing/2014/main" id="{3DF74D09-1A4E-5615-E2C7-A421E2064016}"/>
              </a:ext>
            </a:extLst>
          </p:cNvPr>
          <p:cNvSpPr txBox="1"/>
          <p:nvPr/>
        </p:nvSpPr>
        <p:spPr>
          <a:xfrm>
            <a:off x="6844862" y="6228825"/>
            <a:ext cx="2030598" cy="369332"/>
          </a:xfrm>
          <a:prstGeom prst="rect">
            <a:avLst/>
          </a:prstGeom>
          <a:noFill/>
        </p:spPr>
        <p:txBody>
          <a:bodyPr wrap="square" rtlCol="0">
            <a:spAutoFit/>
          </a:bodyPr>
          <a:lstStyle/>
          <a:p>
            <a:r>
              <a:rPr lang="en-US" i="1" dirty="0"/>
              <a:t>Ethical</a:t>
            </a:r>
          </a:p>
        </p:txBody>
      </p:sp>
      <p:sp>
        <p:nvSpPr>
          <p:cNvPr id="12" name="TextBox 11">
            <a:extLst>
              <a:ext uri="{FF2B5EF4-FFF2-40B4-BE49-F238E27FC236}">
                <a16:creationId xmlns:a16="http://schemas.microsoft.com/office/drawing/2014/main" id="{319EAE06-384F-892B-9F39-EFC5CEA0E284}"/>
              </a:ext>
            </a:extLst>
          </p:cNvPr>
          <p:cNvSpPr txBox="1"/>
          <p:nvPr/>
        </p:nvSpPr>
        <p:spPr>
          <a:xfrm>
            <a:off x="6976894" y="2992327"/>
            <a:ext cx="2232397" cy="646331"/>
          </a:xfrm>
          <a:prstGeom prst="rect">
            <a:avLst/>
          </a:prstGeom>
          <a:noFill/>
        </p:spPr>
        <p:txBody>
          <a:bodyPr wrap="square" rtlCol="0">
            <a:spAutoFit/>
          </a:bodyPr>
          <a:lstStyle/>
          <a:p>
            <a:pPr marL="285750" indent="-285750">
              <a:buFont typeface="Arial" panose="020B0604020202020204" pitchFamily="34" charset="0"/>
              <a:buChar char="•"/>
            </a:pPr>
            <a:r>
              <a:rPr lang="en-US" dirty="0"/>
              <a:t>Is it safe?</a:t>
            </a:r>
          </a:p>
          <a:p>
            <a:pPr marL="285750" indent="-285750">
              <a:buFont typeface="Arial" panose="020B0604020202020204" pitchFamily="34" charset="0"/>
              <a:buChar char="•"/>
            </a:pPr>
            <a:r>
              <a:rPr lang="en-US" dirty="0"/>
              <a:t>Is it effective?</a:t>
            </a:r>
          </a:p>
        </p:txBody>
      </p:sp>
      <p:sp>
        <p:nvSpPr>
          <p:cNvPr id="13" name="TextBox 12">
            <a:extLst>
              <a:ext uri="{FF2B5EF4-FFF2-40B4-BE49-F238E27FC236}">
                <a16:creationId xmlns:a16="http://schemas.microsoft.com/office/drawing/2014/main" id="{D2A5C8EE-50F8-ACCA-8CD8-2034019D8877}"/>
              </a:ext>
            </a:extLst>
          </p:cNvPr>
          <p:cNvSpPr txBox="1"/>
          <p:nvPr/>
        </p:nvSpPr>
        <p:spPr>
          <a:xfrm>
            <a:off x="2190484" y="2783980"/>
            <a:ext cx="2253551" cy="923330"/>
          </a:xfrm>
          <a:prstGeom prst="rect">
            <a:avLst/>
          </a:prstGeom>
          <a:noFill/>
        </p:spPr>
        <p:txBody>
          <a:bodyPr wrap="square" rtlCol="0">
            <a:spAutoFit/>
          </a:bodyPr>
          <a:lstStyle/>
          <a:p>
            <a:pPr marL="285750" indent="-285750">
              <a:buFont typeface="Arial" panose="020B0604020202020204" pitchFamily="34" charset="0"/>
              <a:buChar char="•"/>
            </a:pPr>
            <a:r>
              <a:rPr lang="en-US" dirty="0"/>
              <a:t>What will it cost?</a:t>
            </a:r>
          </a:p>
          <a:p>
            <a:pPr marL="285750" indent="-285750">
              <a:buFont typeface="Arial" panose="020B0604020202020204" pitchFamily="34" charset="0"/>
              <a:buChar char="•"/>
            </a:pPr>
            <a:r>
              <a:rPr lang="en-US" dirty="0"/>
              <a:t>What are the tradeoffs?</a:t>
            </a:r>
          </a:p>
        </p:txBody>
      </p:sp>
      <p:sp>
        <p:nvSpPr>
          <p:cNvPr id="14" name="TextBox 13">
            <a:extLst>
              <a:ext uri="{FF2B5EF4-FFF2-40B4-BE49-F238E27FC236}">
                <a16:creationId xmlns:a16="http://schemas.microsoft.com/office/drawing/2014/main" id="{07658D6B-2763-FCF2-2AFE-982348B9039C}"/>
              </a:ext>
            </a:extLst>
          </p:cNvPr>
          <p:cNvSpPr txBox="1"/>
          <p:nvPr/>
        </p:nvSpPr>
        <p:spPr>
          <a:xfrm>
            <a:off x="4323350" y="5509192"/>
            <a:ext cx="2467828" cy="369332"/>
          </a:xfrm>
          <a:prstGeom prst="rect">
            <a:avLst/>
          </a:prstGeom>
          <a:noFill/>
        </p:spPr>
        <p:txBody>
          <a:bodyPr wrap="square" rtlCol="0">
            <a:spAutoFit/>
          </a:bodyPr>
          <a:lstStyle/>
          <a:p>
            <a:pPr marL="285750" indent="-285750">
              <a:buFont typeface="Arial" panose="020B0604020202020204" pitchFamily="34" charset="0"/>
              <a:buChar char="•"/>
            </a:pPr>
            <a:r>
              <a:rPr lang="en-US" dirty="0"/>
              <a:t>What is fair?</a:t>
            </a:r>
          </a:p>
        </p:txBody>
      </p:sp>
      <p:sp>
        <p:nvSpPr>
          <p:cNvPr id="3" name="TextBox 2">
            <a:extLst>
              <a:ext uri="{FF2B5EF4-FFF2-40B4-BE49-F238E27FC236}">
                <a16:creationId xmlns:a16="http://schemas.microsoft.com/office/drawing/2014/main" id="{87E5E070-3B8B-2C86-6373-722AAC40643F}"/>
              </a:ext>
            </a:extLst>
          </p:cNvPr>
          <p:cNvSpPr txBox="1"/>
          <p:nvPr/>
        </p:nvSpPr>
        <p:spPr>
          <a:xfrm>
            <a:off x="4460247" y="3790479"/>
            <a:ext cx="2194035" cy="369332"/>
          </a:xfrm>
          <a:prstGeom prst="rect">
            <a:avLst/>
          </a:prstGeom>
          <a:noFill/>
        </p:spPr>
        <p:txBody>
          <a:bodyPr wrap="square" rtlCol="0">
            <a:spAutoFit/>
          </a:bodyPr>
          <a:lstStyle/>
          <a:p>
            <a:pPr algn="ctr"/>
            <a:r>
              <a:rPr lang="en-US" b="1" dirty="0"/>
              <a:t>What do we do?</a:t>
            </a:r>
          </a:p>
        </p:txBody>
      </p:sp>
    </p:spTree>
    <p:extLst>
      <p:ext uri="{BB962C8B-B14F-4D97-AF65-F5344CB8AC3E}">
        <p14:creationId xmlns:p14="http://schemas.microsoft.com/office/powerpoint/2010/main" val="2537142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8A96E-8FF2-7ACF-3A0B-08F73AA81807}"/>
              </a:ext>
            </a:extLst>
          </p:cNvPr>
          <p:cNvSpPr>
            <a:spLocks noGrp="1"/>
          </p:cNvSpPr>
          <p:nvPr>
            <p:ph type="title"/>
          </p:nvPr>
        </p:nvSpPr>
        <p:spPr/>
        <p:txBody>
          <a:bodyPr>
            <a:normAutofit fontScale="90000"/>
          </a:bodyPr>
          <a:lstStyle/>
          <a:p>
            <a:r>
              <a:rPr lang="en-US" dirty="0"/>
              <a:t>Your task: Decide how gene therapies for SCD will be allocated to Medicaid enrollees in your state</a:t>
            </a:r>
          </a:p>
        </p:txBody>
      </p:sp>
      <p:sp>
        <p:nvSpPr>
          <p:cNvPr id="3" name="Content Placeholder 2">
            <a:extLst>
              <a:ext uri="{FF2B5EF4-FFF2-40B4-BE49-F238E27FC236}">
                <a16:creationId xmlns:a16="http://schemas.microsoft.com/office/drawing/2014/main" id="{746C5994-4CBA-CC38-1BAF-9B1060873BBD}"/>
              </a:ext>
            </a:extLst>
          </p:cNvPr>
          <p:cNvSpPr>
            <a:spLocks noGrp="1"/>
          </p:cNvSpPr>
          <p:nvPr>
            <p:ph idx="1"/>
          </p:nvPr>
        </p:nvSpPr>
        <p:spPr/>
        <p:txBody>
          <a:bodyPr>
            <a:normAutofit fontScale="92500" lnSpcReduction="10000"/>
          </a:bodyPr>
          <a:lstStyle/>
          <a:p>
            <a:r>
              <a:rPr lang="en-US" dirty="0"/>
              <a:t>Who will be eligible to receive SCD GT?</a:t>
            </a:r>
          </a:p>
          <a:p>
            <a:pPr lvl="1"/>
            <a:r>
              <a:rPr lang="en-US" dirty="0"/>
              <a:t>Most generous: Anyone who meets FDA approval criteria can receive</a:t>
            </a:r>
          </a:p>
          <a:p>
            <a:pPr lvl="1"/>
            <a:r>
              <a:rPr lang="en-US" dirty="0"/>
              <a:t>Least generous: No one gets access</a:t>
            </a:r>
          </a:p>
          <a:p>
            <a:pPr lvl="1"/>
            <a:r>
              <a:rPr lang="en-US" i="1" dirty="0"/>
              <a:t>Can pick any option along this spectrum</a:t>
            </a:r>
          </a:p>
          <a:p>
            <a:pPr lvl="1"/>
            <a:endParaRPr lang="en-US" dirty="0"/>
          </a:p>
          <a:p>
            <a:r>
              <a:rPr lang="en-US" dirty="0"/>
              <a:t>Who will be prioritized and why?</a:t>
            </a:r>
          </a:p>
          <a:p>
            <a:pPr lvl="1"/>
            <a:r>
              <a:rPr lang="en-US" dirty="0"/>
              <a:t>Each year, assume only 10 people max can access gene therapy for SCD in your state. How will you decide who gets priority?</a:t>
            </a:r>
          </a:p>
          <a:p>
            <a:pPr lvl="1"/>
            <a:r>
              <a:rPr lang="en-US" i="1" dirty="0"/>
              <a:t>Example allocation strategies (non-exhaustive):</a:t>
            </a:r>
          </a:p>
          <a:p>
            <a:pPr lvl="2"/>
            <a:r>
              <a:rPr lang="en-US" dirty="0"/>
              <a:t>First come, first served</a:t>
            </a:r>
          </a:p>
          <a:p>
            <a:pPr lvl="2"/>
            <a:r>
              <a:rPr lang="en-US" dirty="0"/>
              <a:t>Priority to sickest</a:t>
            </a:r>
          </a:p>
          <a:p>
            <a:pPr lvl="2"/>
            <a:r>
              <a:rPr lang="en-US" dirty="0"/>
              <a:t>Priority to youngest</a:t>
            </a:r>
          </a:p>
          <a:p>
            <a:pPr lvl="2"/>
            <a:r>
              <a:rPr lang="en-US" dirty="0"/>
              <a:t>Random lottery</a:t>
            </a:r>
          </a:p>
          <a:p>
            <a:pPr lvl="1"/>
            <a:endParaRPr lang="en-US" dirty="0"/>
          </a:p>
        </p:txBody>
      </p:sp>
      <p:sp>
        <p:nvSpPr>
          <p:cNvPr id="6" name="TextBox 5">
            <a:extLst>
              <a:ext uri="{FF2B5EF4-FFF2-40B4-BE49-F238E27FC236}">
                <a16:creationId xmlns:a16="http://schemas.microsoft.com/office/drawing/2014/main" id="{161F4B62-9DB7-0742-B8DA-BD93EE2826F4}"/>
              </a:ext>
            </a:extLst>
          </p:cNvPr>
          <p:cNvSpPr txBox="1"/>
          <p:nvPr/>
        </p:nvSpPr>
        <p:spPr>
          <a:xfrm>
            <a:off x="8201026" y="5020448"/>
            <a:ext cx="3152774" cy="1200329"/>
          </a:xfrm>
          <a:prstGeom prst="rect">
            <a:avLst/>
          </a:prstGeom>
          <a:solidFill>
            <a:schemeClr val="accent4">
              <a:lumMod val="20000"/>
              <a:lumOff val="80000"/>
            </a:schemeClr>
          </a:solidFill>
        </p:spPr>
        <p:txBody>
          <a:bodyPr wrap="square" rtlCol="0" anchor="ctr">
            <a:spAutoFit/>
          </a:bodyPr>
          <a:lstStyle/>
          <a:p>
            <a:pPr algn="ctr"/>
            <a:r>
              <a:rPr lang="en-US" dirty="0"/>
              <a:t>Everyone will have 10 minutes to deliberate, and 3-4 minutes to present it to the class and answer questions. </a:t>
            </a:r>
          </a:p>
        </p:txBody>
      </p:sp>
    </p:spTree>
    <p:extLst>
      <p:ext uri="{BB962C8B-B14F-4D97-AF65-F5344CB8AC3E}">
        <p14:creationId xmlns:p14="http://schemas.microsoft.com/office/powerpoint/2010/main" val="3611056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10B2C4-1881-E86D-A7AB-5C875C994932}"/>
              </a:ext>
            </a:extLst>
          </p:cNvPr>
          <p:cNvSpPr>
            <a:spLocks noGrp="1"/>
          </p:cNvSpPr>
          <p:nvPr>
            <p:ph type="title"/>
          </p:nvPr>
        </p:nvSpPr>
        <p:spPr/>
        <p:txBody>
          <a:bodyPr/>
          <a:lstStyle/>
          <a:p>
            <a:r>
              <a:rPr lang="en-US" dirty="0"/>
              <a:t>PLOT TWIST! </a:t>
            </a:r>
            <a:r>
              <a:rPr lang="en-US" sz="2000" i="1" dirty="0"/>
              <a:t>(+ you get 5 more minutes to deliberate)</a:t>
            </a:r>
            <a:endParaRPr lang="en-US" i="1" dirty="0"/>
          </a:p>
        </p:txBody>
      </p:sp>
      <p:graphicFrame>
        <p:nvGraphicFramePr>
          <p:cNvPr id="7" name="Table 6">
            <a:extLst>
              <a:ext uri="{FF2B5EF4-FFF2-40B4-BE49-F238E27FC236}">
                <a16:creationId xmlns:a16="http://schemas.microsoft.com/office/drawing/2014/main" id="{FFB1B293-1387-CEED-11E0-3CFA98522D6B}"/>
              </a:ext>
            </a:extLst>
          </p:cNvPr>
          <p:cNvGraphicFramePr>
            <a:graphicFrameLocks noGrp="1"/>
          </p:cNvGraphicFramePr>
          <p:nvPr>
            <p:extLst>
              <p:ext uri="{D42A27DB-BD31-4B8C-83A1-F6EECF244321}">
                <p14:modId xmlns:p14="http://schemas.microsoft.com/office/powerpoint/2010/main" val="3168675784"/>
              </p:ext>
            </p:extLst>
          </p:nvPr>
        </p:nvGraphicFramePr>
        <p:xfrm>
          <a:off x="742949" y="1962678"/>
          <a:ext cx="10706101" cy="3816984"/>
        </p:xfrm>
        <a:graphic>
          <a:graphicData uri="http://schemas.openxmlformats.org/drawingml/2006/table">
            <a:tbl>
              <a:tblPr firstRow="1" bandRow="1">
                <a:tableStyleId>{21E4AEA4-8DFA-4A89-87EB-49C32662AFE0}</a:tableStyleId>
              </a:tblPr>
              <a:tblGrid>
                <a:gridCol w="2457451">
                  <a:extLst>
                    <a:ext uri="{9D8B030D-6E8A-4147-A177-3AD203B41FA5}">
                      <a16:colId xmlns:a16="http://schemas.microsoft.com/office/drawing/2014/main" val="2699144883"/>
                    </a:ext>
                  </a:extLst>
                </a:gridCol>
                <a:gridCol w="8248650">
                  <a:extLst>
                    <a:ext uri="{9D8B030D-6E8A-4147-A177-3AD203B41FA5}">
                      <a16:colId xmlns:a16="http://schemas.microsoft.com/office/drawing/2014/main" val="1417687561"/>
                    </a:ext>
                  </a:extLst>
                </a:gridCol>
              </a:tblGrid>
              <a:tr h="636164">
                <a:tc>
                  <a:txBody>
                    <a:bodyPr/>
                    <a:lstStyle/>
                    <a:p>
                      <a:r>
                        <a:rPr lang="en-US" dirty="0"/>
                        <a:t>State</a:t>
                      </a:r>
                    </a:p>
                  </a:txBody>
                  <a:tcPr/>
                </a:tc>
                <a:tc>
                  <a:txBody>
                    <a:bodyPr/>
                    <a:lstStyle/>
                    <a:p>
                      <a:r>
                        <a:rPr lang="en-US" dirty="0"/>
                        <a:t>Plot Twist</a:t>
                      </a:r>
                    </a:p>
                  </a:txBody>
                  <a:tcPr/>
                </a:tc>
                <a:extLst>
                  <a:ext uri="{0D108BD9-81ED-4DB2-BD59-A6C34878D82A}">
                    <a16:rowId xmlns:a16="http://schemas.microsoft.com/office/drawing/2014/main" val="3755943873"/>
                  </a:ext>
                </a:extLst>
              </a:tr>
              <a:tr h="636164">
                <a:tc>
                  <a:txBody>
                    <a:bodyPr/>
                    <a:lstStyle/>
                    <a:p>
                      <a:r>
                        <a:rPr lang="en-US" b="1" dirty="0"/>
                        <a:t>Mississippi</a:t>
                      </a:r>
                    </a:p>
                  </a:txBody>
                  <a:tcPr/>
                </a:tc>
                <a:tc>
                  <a:txBody>
                    <a:bodyPr/>
                    <a:lstStyle/>
                    <a:p>
                      <a:r>
                        <a:rPr lang="en-US" b="1" dirty="0"/>
                        <a:t>Budget cut:</a:t>
                      </a:r>
                      <a:r>
                        <a:rPr lang="en-US" dirty="0"/>
                        <a:t> fund only 1, not 3</a:t>
                      </a:r>
                    </a:p>
                  </a:txBody>
                  <a:tcPr/>
                </a:tc>
                <a:extLst>
                  <a:ext uri="{0D108BD9-81ED-4DB2-BD59-A6C34878D82A}">
                    <a16:rowId xmlns:a16="http://schemas.microsoft.com/office/drawing/2014/main" val="3038416772"/>
                  </a:ext>
                </a:extLst>
              </a:tr>
              <a:tr h="636164">
                <a:tc>
                  <a:txBody>
                    <a:bodyPr/>
                    <a:lstStyle/>
                    <a:p>
                      <a:r>
                        <a:rPr lang="en-US" b="1" dirty="0"/>
                        <a:t>New York</a:t>
                      </a:r>
                    </a:p>
                  </a:txBody>
                  <a:tcPr/>
                </a:tc>
                <a:tc>
                  <a:txBody>
                    <a:bodyPr/>
                    <a:lstStyle/>
                    <a:p>
                      <a:r>
                        <a:rPr lang="en-US" b="1" dirty="0"/>
                        <a:t>Outcomes rebate:</a:t>
                      </a:r>
                      <a:r>
                        <a:rPr lang="en-US" dirty="0"/>
                        <a:t> the manufacturer refunds part of the cost if crises return</a:t>
                      </a:r>
                    </a:p>
                  </a:txBody>
                  <a:tcPr/>
                </a:tc>
                <a:extLst>
                  <a:ext uri="{0D108BD9-81ED-4DB2-BD59-A6C34878D82A}">
                    <a16:rowId xmlns:a16="http://schemas.microsoft.com/office/drawing/2014/main" val="4221311017"/>
                  </a:ext>
                </a:extLst>
              </a:tr>
              <a:tr h="636164">
                <a:tc>
                  <a:txBody>
                    <a:bodyPr/>
                    <a:lstStyle/>
                    <a:p>
                      <a:r>
                        <a:rPr lang="en-US" b="1" dirty="0"/>
                        <a:t>Texas</a:t>
                      </a:r>
                    </a:p>
                  </a:txBody>
                  <a:tcPr/>
                </a:tc>
                <a:tc>
                  <a:txBody>
                    <a:bodyPr/>
                    <a:lstStyle/>
                    <a:p>
                      <a:r>
                        <a:rPr lang="en-US" b="1" dirty="0"/>
                        <a:t>Equity complaint:</a:t>
                      </a:r>
                      <a:r>
                        <a:rPr lang="en-US" dirty="0"/>
                        <a:t> nobody from the rural half of the state got treated</a:t>
                      </a:r>
                    </a:p>
                  </a:txBody>
                  <a:tcPr/>
                </a:tc>
                <a:extLst>
                  <a:ext uri="{0D108BD9-81ED-4DB2-BD59-A6C34878D82A}">
                    <a16:rowId xmlns:a16="http://schemas.microsoft.com/office/drawing/2014/main" val="2922754150"/>
                  </a:ext>
                </a:extLst>
              </a:tr>
              <a:tr h="636164">
                <a:tc>
                  <a:txBody>
                    <a:bodyPr/>
                    <a:lstStyle/>
                    <a:p>
                      <a:r>
                        <a:rPr lang="en-US" b="1" dirty="0"/>
                        <a:t>Georgia</a:t>
                      </a:r>
                    </a:p>
                  </a:txBody>
                  <a:tcPr/>
                </a:tc>
                <a:tc>
                  <a:txBody>
                    <a:bodyPr/>
                    <a:lstStyle/>
                    <a:p>
                      <a:r>
                        <a:rPr lang="en-US" b="1" dirty="0"/>
                        <a:t>Health shock:</a:t>
                      </a:r>
                      <a:r>
                        <a:rPr lang="en-US" dirty="0"/>
                        <a:t> D has a stroke while waiting</a:t>
                      </a:r>
                    </a:p>
                  </a:txBody>
                  <a:tcPr/>
                </a:tc>
                <a:extLst>
                  <a:ext uri="{0D108BD9-81ED-4DB2-BD59-A6C34878D82A}">
                    <a16:rowId xmlns:a16="http://schemas.microsoft.com/office/drawing/2014/main" val="989290737"/>
                  </a:ext>
                </a:extLst>
              </a:tr>
              <a:tr h="636164">
                <a:tc>
                  <a:txBody>
                    <a:bodyPr/>
                    <a:lstStyle/>
                    <a:p>
                      <a:r>
                        <a:rPr lang="en-US" b="1" dirty="0"/>
                        <a:t>Massachusetts</a:t>
                      </a:r>
                    </a:p>
                  </a:txBody>
                  <a:tcPr/>
                </a:tc>
                <a:tc>
                  <a:txBody>
                    <a:bodyPr/>
                    <a:lstStyle/>
                    <a:p>
                      <a:r>
                        <a:rPr lang="en-US" b="1" dirty="0"/>
                        <a:t>Fertility:</a:t>
                      </a:r>
                      <a:r>
                        <a:rPr lang="en-US" dirty="0"/>
                        <a:t> A’s parents want A to wait until old enough to decide</a:t>
                      </a:r>
                    </a:p>
                  </a:txBody>
                  <a:tcPr/>
                </a:tc>
                <a:extLst>
                  <a:ext uri="{0D108BD9-81ED-4DB2-BD59-A6C34878D82A}">
                    <a16:rowId xmlns:a16="http://schemas.microsoft.com/office/drawing/2014/main" val="479718050"/>
                  </a:ext>
                </a:extLst>
              </a:tr>
            </a:tbl>
          </a:graphicData>
        </a:graphic>
      </p:graphicFrame>
    </p:spTree>
    <p:extLst>
      <p:ext uri="{BB962C8B-B14F-4D97-AF65-F5344CB8AC3E}">
        <p14:creationId xmlns:p14="http://schemas.microsoft.com/office/powerpoint/2010/main" val="3535598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E49D1F-2785-6151-7434-0477DD21B09F}"/>
              </a:ext>
            </a:extLst>
          </p:cNvPr>
          <p:cNvSpPr>
            <a:spLocks noGrp="1"/>
          </p:cNvSpPr>
          <p:nvPr>
            <p:ph type="title"/>
          </p:nvPr>
        </p:nvSpPr>
        <p:spPr/>
        <p:txBody>
          <a:bodyPr/>
          <a:lstStyle/>
          <a:p>
            <a:r>
              <a:rPr lang="en-US" dirty="0"/>
              <a:t>Each group gets 3 minutes to present + 3 minutes for Q&amp;A</a:t>
            </a:r>
          </a:p>
        </p:txBody>
      </p:sp>
    </p:spTree>
    <p:extLst>
      <p:ext uri="{BB962C8B-B14F-4D97-AF65-F5344CB8AC3E}">
        <p14:creationId xmlns:p14="http://schemas.microsoft.com/office/powerpoint/2010/main" val="2164348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0708A-35BE-8482-C69D-935768ECEC36}"/>
              </a:ext>
            </a:extLst>
          </p:cNvPr>
          <p:cNvSpPr>
            <a:spLocks noGrp="1"/>
          </p:cNvSpPr>
          <p:nvPr>
            <p:ph type="title"/>
          </p:nvPr>
        </p:nvSpPr>
        <p:spPr/>
        <p:txBody>
          <a:bodyPr/>
          <a:lstStyle/>
          <a:p>
            <a:r>
              <a:rPr lang="en-US" dirty="0"/>
              <a:t>Questions for discussion</a:t>
            </a:r>
          </a:p>
        </p:txBody>
      </p:sp>
      <p:sp>
        <p:nvSpPr>
          <p:cNvPr id="3" name="Content Placeholder 2">
            <a:extLst>
              <a:ext uri="{FF2B5EF4-FFF2-40B4-BE49-F238E27FC236}">
                <a16:creationId xmlns:a16="http://schemas.microsoft.com/office/drawing/2014/main" id="{A4E4B307-B56D-72A3-196A-167BD4BAAF36}"/>
              </a:ext>
            </a:extLst>
          </p:cNvPr>
          <p:cNvSpPr>
            <a:spLocks noGrp="1"/>
          </p:cNvSpPr>
          <p:nvPr>
            <p:ph idx="1"/>
          </p:nvPr>
        </p:nvSpPr>
        <p:spPr>
          <a:xfrm>
            <a:off x="614363" y="1690688"/>
            <a:ext cx="11115675" cy="4802187"/>
          </a:xfrm>
        </p:spPr>
        <p:txBody>
          <a:bodyPr>
            <a:normAutofit fontScale="92500"/>
          </a:bodyPr>
          <a:lstStyle/>
          <a:p>
            <a:pPr lvl="0">
              <a:lnSpc>
                <a:spcPct val="120000"/>
              </a:lnSpc>
            </a:pPr>
            <a:r>
              <a:rPr lang="en-US" sz="2000" dirty="0"/>
              <a:t>Which applicants did most groups treat, and which applicants did most leave waiting? Did hearing another group’s rule make you rethink yours?</a:t>
            </a:r>
          </a:p>
          <a:p>
            <a:pPr marL="0" lvl="0" indent="0">
              <a:lnSpc>
                <a:spcPct val="120000"/>
              </a:lnSpc>
              <a:buNone/>
            </a:pPr>
            <a:endParaRPr lang="en-US" sz="2000" dirty="0"/>
          </a:p>
          <a:p>
            <a:pPr lvl="0">
              <a:lnSpc>
                <a:spcPct val="120000"/>
              </a:lnSpc>
            </a:pPr>
            <a:r>
              <a:rPr lang="en-US" sz="2000" b="1" dirty="0"/>
              <a:t>Rule of Rescue: </a:t>
            </a:r>
            <a:r>
              <a:rPr lang="en-US" sz="2000" dirty="0"/>
              <a:t>In lecture, everyone agreed the child with SMA should get the cure. Today, would you have said yes to all 6 applicants if you could? Was it harder to say no once they had names and stories?</a:t>
            </a:r>
          </a:p>
          <a:p>
            <a:pPr marL="0" lvl="0" indent="0">
              <a:lnSpc>
                <a:spcPct val="120000"/>
              </a:lnSpc>
              <a:buNone/>
            </a:pPr>
            <a:endParaRPr lang="en-US" sz="2000" dirty="0"/>
          </a:p>
          <a:p>
            <a:pPr lvl="0">
              <a:lnSpc>
                <a:spcPct val="120000"/>
              </a:lnSpc>
            </a:pPr>
            <a:r>
              <a:rPr lang="en-US" sz="2000" b="1" dirty="0"/>
              <a:t>Efficiency vs fairness: </a:t>
            </a:r>
            <a:r>
              <a:rPr lang="en-US" sz="2000" dirty="0"/>
              <a:t>Were you trying to get the most health out of 3 slots, or give each person a fair shot? Did cost factor in? Can one rule do both? Did you consider cost-benefit / cost-effectiveness?</a:t>
            </a:r>
          </a:p>
          <a:p>
            <a:pPr marL="0" lvl="0" indent="0">
              <a:lnSpc>
                <a:spcPct val="120000"/>
              </a:lnSpc>
              <a:buNone/>
            </a:pPr>
            <a:endParaRPr lang="en-US" sz="2000" dirty="0"/>
          </a:p>
          <a:p>
            <a:pPr lvl="0">
              <a:lnSpc>
                <a:spcPct val="120000"/>
              </a:lnSpc>
            </a:pPr>
            <a:r>
              <a:rPr lang="en-US" sz="2000" b="1" dirty="0"/>
              <a:t>Hidden bias: </a:t>
            </a:r>
            <a:r>
              <a:rPr lang="en-US" sz="2000" dirty="0"/>
              <a:t>Did rules that seem neutral, like first-come first-serve or a lottery, end up favoring people with more resources (applicant E)?</a:t>
            </a:r>
          </a:p>
        </p:txBody>
      </p:sp>
    </p:spTree>
    <p:extLst>
      <p:ext uri="{BB962C8B-B14F-4D97-AF65-F5344CB8AC3E}">
        <p14:creationId xmlns:p14="http://schemas.microsoft.com/office/powerpoint/2010/main" val="3909722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F992A-2B23-9DB4-6A8D-F5585D34279C}"/>
              </a:ext>
            </a:extLst>
          </p:cNvPr>
          <p:cNvSpPr>
            <a:spLocks noGrp="1"/>
          </p:cNvSpPr>
          <p:nvPr>
            <p:ph type="title"/>
          </p:nvPr>
        </p:nvSpPr>
        <p:spPr/>
        <p:txBody>
          <a:bodyPr/>
          <a:lstStyle/>
          <a:p>
            <a:r>
              <a:rPr lang="en-US" dirty="0"/>
              <a:t>A note on health disparities: SCD and cystic fibrosis</a:t>
            </a:r>
            <a:r>
              <a:rPr lang="en-US" baseline="30000" dirty="0"/>
              <a:t>12</a:t>
            </a:r>
            <a:endParaRPr lang="en-US" dirty="0"/>
          </a:p>
        </p:txBody>
      </p:sp>
      <p:sp>
        <p:nvSpPr>
          <p:cNvPr id="6" name="Text Placeholder 2">
            <a:extLst>
              <a:ext uri="{FF2B5EF4-FFF2-40B4-BE49-F238E27FC236}">
                <a16:creationId xmlns:a16="http://schemas.microsoft.com/office/drawing/2014/main" id="{2CDD7E19-11FB-3821-B11A-465045FCD043}"/>
              </a:ext>
            </a:extLst>
          </p:cNvPr>
          <p:cNvSpPr txBox="1"/>
          <p:nvPr>
            <p:custDataLst>
              <p:tags r:id="rId1"/>
            </p:custDataLst>
          </p:nvPr>
        </p:nvSpPr>
        <p:spPr bwMode="auto">
          <a:xfrm>
            <a:off x="-50007" y="5949950"/>
            <a:ext cx="9144000" cy="508000"/>
          </a:xfrm>
          <a:prstGeom prst="rect">
            <a:avLst/>
          </a:prstGeom>
          <a:noFill/>
          <a:ln w="9525" cap="flat" cmpd="sng" algn="ctr">
            <a:noFill/>
            <a:prstDash val="solid"/>
            <a:miter lim="800000"/>
            <a:headEnd type="none" w="med" len="med"/>
            <a:tailEnd type="none" w="med" len="med"/>
          </a:ln>
        </p:spPr>
        <p:txBody>
          <a:bodyPr lIns="254000" tIns="63500" rIns="127000" bIns="0"/>
          <a:lstStyle/>
          <a:p>
            <a:pPr>
              <a:buSzTx/>
              <a:defRPr kumimoji="0" sz="1800" b="0" i="0" u="none" strike="noStrike" kern="1200" cap="none" spc="0" normalizeH="0" baseline="0" noProof="0">
                <a:ln w="9525" cap="flat" cmpd="sng" algn="ctr">
                  <a:noFill/>
                  <a:prstDash val="solid"/>
                  <a:round/>
                  <a:headEnd type="none" w="med" len="med"/>
                  <a:tailEnd type="none" w="med" len="med"/>
                </a:ln>
                <a:solidFill>
                  <a:srgbClr val="000000"/>
                </a:solidFill>
                <a:effectLst/>
                <a:uLnTx/>
                <a:uFillTx/>
                <a:latin typeface="Arial" pitchFamily="34" charset="0"/>
                <a:ea typeface="ＭＳ Ｐゴシック" pitchFamily="34" charset="-128"/>
                <a:cs typeface="Arial"/>
                <a:sym typeface="Wingdings" charset="2"/>
              </a:defRPr>
            </a:pPr>
            <a:r>
              <a:rPr lang="en-US" sz="1300">
                <a:ln w="9525" cap="flat" cmpd="sng" algn="ctr">
                  <a:noFill/>
                  <a:prstDash val="solid"/>
                  <a:round/>
                  <a:headEnd type="none" w="med" len="med"/>
                  <a:tailEnd type="none" w="med" len="med"/>
                </a:ln>
                <a:solidFill>
                  <a:srgbClr val="000000"/>
                </a:solidFill>
                <a:latin typeface="Helvetica" charset="0"/>
                <a:ea typeface="Arial"/>
                <a:cs typeface="Helvetica"/>
                <a:sym typeface="Wingdings"/>
              </a:rPr>
              <a:t>From: </a:t>
            </a:r>
            <a:r>
              <a:rPr lang="en-US" sz="1300" b="1">
                <a:ln w="9525" cap="flat" cmpd="sng" algn="ctr">
                  <a:noFill/>
                  <a:prstDash val="solid"/>
                  <a:round/>
                  <a:headEnd type="none" w="med" len="med"/>
                  <a:tailEnd type="none" w="med" len="med"/>
                </a:ln>
                <a:solidFill>
                  <a:srgbClr val="000000"/>
                </a:solidFill>
                <a:latin typeface="Helvetica" charset="0"/>
                <a:ea typeface="Arial"/>
                <a:cs typeface="Helvetica"/>
                <a:sym typeface="Wingdings"/>
              </a:rPr>
              <a:t>Comparison of US Federal and Foundation Funding of Research for Sickle Cell Disease and Cystic Fibrosis and Factors Associated With Research Productivity</a:t>
            </a:r>
          </a:p>
        </p:txBody>
      </p:sp>
      <p:sp>
        <p:nvSpPr>
          <p:cNvPr id="8" name="Text Placeholder 2">
            <a:extLst>
              <a:ext uri="{FF2B5EF4-FFF2-40B4-BE49-F238E27FC236}">
                <a16:creationId xmlns:a16="http://schemas.microsoft.com/office/drawing/2014/main" id="{8DEBC234-D7A2-1A98-9F6B-55168D759366}"/>
              </a:ext>
            </a:extLst>
          </p:cNvPr>
          <p:cNvSpPr txBox="1"/>
          <p:nvPr>
            <p:custDataLst>
              <p:tags r:id="rId2"/>
            </p:custDataLst>
          </p:nvPr>
        </p:nvSpPr>
        <p:spPr bwMode="auto">
          <a:xfrm>
            <a:off x="-50007" y="6540500"/>
            <a:ext cx="9144000" cy="317500"/>
          </a:xfrm>
          <a:prstGeom prst="rect">
            <a:avLst/>
          </a:prstGeom>
          <a:noFill/>
          <a:ln w="9525" cap="flat" cmpd="sng" algn="ctr">
            <a:noFill/>
            <a:prstDash val="solid"/>
            <a:miter lim="800000"/>
            <a:headEnd type="none" w="med" len="med"/>
            <a:tailEnd type="none" w="med" len="med"/>
          </a:ln>
        </p:spPr>
        <p:txBody>
          <a:bodyPr lIns="254000" tIns="0" rIns="127000" bIns="63500"/>
          <a:lstStyle/>
          <a:p>
            <a:pPr>
              <a:buSzTx/>
              <a:defRPr kumimoji="0" sz="1800" b="0" i="0" u="none" strike="noStrike" kern="1200" cap="none" spc="0" normalizeH="0" baseline="0" noProof="0">
                <a:ln w="9525" cap="flat" cmpd="sng" algn="ctr">
                  <a:noFill/>
                  <a:prstDash val="solid"/>
                  <a:round/>
                  <a:headEnd type="none" w="med" len="med"/>
                  <a:tailEnd type="none" w="med" len="med"/>
                </a:ln>
                <a:solidFill>
                  <a:srgbClr val="000000"/>
                </a:solidFill>
                <a:effectLst/>
                <a:uLnTx/>
                <a:uFillTx/>
                <a:latin typeface="Arial" pitchFamily="34" charset="0"/>
                <a:ea typeface="ＭＳ Ｐゴシック" pitchFamily="34" charset="-128"/>
                <a:cs typeface="Arial"/>
                <a:sym typeface="Wingdings" charset="2"/>
              </a:defRPr>
            </a:pPr>
            <a:r>
              <a:rPr lang="en-US" sz="1200">
                <a:ln w="9525" cap="flat" cmpd="sng" algn="ctr">
                  <a:noFill/>
                  <a:prstDash val="solid"/>
                  <a:round/>
                  <a:headEnd type="none" w="med" len="med"/>
                  <a:tailEnd type="none" w="med" len="med"/>
                </a:ln>
                <a:solidFill>
                  <a:srgbClr val="000000"/>
                </a:solidFill>
                <a:latin typeface="Helvetica" charset="0"/>
                <a:ea typeface="Arial"/>
                <a:cs typeface="Helvetica"/>
                <a:sym typeface="Wingdings"/>
              </a:rPr>
              <a:t>JAMA Netw Open. 2020;3(3):e201737. doi:10.1001/jamanetworkopen.2020.1737</a:t>
            </a:r>
          </a:p>
        </p:txBody>
      </p:sp>
      <p:pic>
        <p:nvPicPr>
          <p:cNvPr id="10" name="New picture">
            <a:extLst>
              <a:ext uri="{FF2B5EF4-FFF2-40B4-BE49-F238E27FC236}">
                <a16:creationId xmlns:a16="http://schemas.microsoft.com/office/drawing/2014/main" id="{778A38B2-65B9-B777-816F-CE898CF3908A}"/>
              </a:ext>
            </a:extLst>
          </p:cNvPr>
          <p:cNvPicPr>
            <a:picLocks noChangeAspect="1" noChangeArrowheads="1"/>
          </p:cNvPicPr>
          <p:nvPr>
            <p:custDataLst>
              <p:tags r:id="rId3"/>
            </p:custDataLst>
          </p:nvPr>
        </p:nvPicPr>
        <p:blipFill>
          <a:blip r:embed="rId6">
            <a:extLst>
              <a:ext uri="{28A0092B-C50C-407E-A947-70E740481C1C}">
                <a14:useLocalDpi xmlns:a14="http://schemas.microsoft.com/office/drawing/2010/main" val="0"/>
              </a:ext>
            </a:extLst>
          </a:blip>
          <a:srcRect/>
          <a:stretch>
            <a:fillRect/>
          </a:stretch>
        </p:blipFill>
        <p:spPr bwMode="auto">
          <a:xfrm>
            <a:off x="232627" y="1775137"/>
            <a:ext cx="7518342" cy="412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pic>
      <p:pic>
        <p:nvPicPr>
          <p:cNvPr id="4" name="Picture 3">
            <a:extLst>
              <a:ext uri="{FF2B5EF4-FFF2-40B4-BE49-F238E27FC236}">
                <a16:creationId xmlns:a16="http://schemas.microsoft.com/office/drawing/2014/main" id="{FED9F95A-23B6-94B3-657A-8C3B78EF854D}"/>
              </a:ext>
            </a:extLst>
          </p:cNvPr>
          <p:cNvPicPr>
            <a:picLocks noChangeAspect="1"/>
          </p:cNvPicPr>
          <p:nvPr/>
        </p:nvPicPr>
        <p:blipFill>
          <a:blip r:embed="rId7"/>
          <a:stretch>
            <a:fillRect/>
          </a:stretch>
        </p:blipFill>
        <p:spPr>
          <a:xfrm>
            <a:off x="5660494" y="2278649"/>
            <a:ext cx="5872010" cy="3096941"/>
          </a:xfrm>
          <a:prstGeom prst="rect">
            <a:avLst/>
          </a:prstGeom>
        </p:spPr>
      </p:pic>
      <p:sp>
        <p:nvSpPr>
          <p:cNvPr id="11" name="TextBox 10">
            <a:extLst>
              <a:ext uri="{FF2B5EF4-FFF2-40B4-BE49-F238E27FC236}">
                <a16:creationId xmlns:a16="http://schemas.microsoft.com/office/drawing/2014/main" id="{C217AC33-818D-3AAB-5F2B-52E87A1D7788}"/>
              </a:ext>
            </a:extLst>
          </p:cNvPr>
          <p:cNvSpPr txBox="1"/>
          <p:nvPr/>
        </p:nvSpPr>
        <p:spPr>
          <a:xfrm>
            <a:off x="5691685" y="1609425"/>
            <a:ext cx="5840819" cy="584775"/>
          </a:xfrm>
          <a:prstGeom prst="rect">
            <a:avLst/>
          </a:prstGeom>
          <a:noFill/>
        </p:spPr>
        <p:txBody>
          <a:bodyPr wrap="square" rtlCol="0">
            <a:spAutoFit/>
          </a:bodyPr>
          <a:lstStyle/>
          <a:p>
            <a:r>
              <a:rPr lang="en-US" sz="1600" dirty="0"/>
              <a:t>Figure 1.  Number of Disease-Specific PubMed Listings and US Food and Drug Administration Drug Approvals Over Time</a:t>
            </a:r>
          </a:p>
        </p:txBody>
      </p:sp>
    </p:spTree>
    <p:extLst>
      <p:ext uri="{BB962C8B-B14F-4D97-AF65-F5344CB8AC3E}">
        <p14:creationId xmlns:p14="http://schemas.microsoft.com/office/powerpoint/2010/main" val="2099563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82D65-81DE-2DB1-17E7-C5F81B32A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0267E-2794-5E9A-58B4-918E4A36168A}"/>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97756FF8-7417-18E8-7F34-1F66F6005EDB}"/>
              </a:ext>
            </a:extLst>
          </p:cNvPr>
          <p:cNvSpPr>
            <a:spLocks noGrp="1"/>
          </p:cNvSpPr>
          <p:nvPr>
            <p:ph idx="1"/>
          </p:nvPr>
        </p:nvSpPr>
        <p:spPr/>
        <p:txBody>
          <a:bodyPr/>
          <a:lstStyle/>
          <a:p>
            <a:pPr marL="514350" indent="-514350">
              <a:buFont typeface="+mj-lt"/>
              <a:buAutoNum type="arabicPeriod"/>
            </a:pPr>
            <a:r>
              <a:rPr lang="en-US" dirty="0"/>
              <a:t>Intro: Sickle Cell Disease and Cell and Gene Therapies </a:t>
            </a:r>
          </a:p>
          <a:p>
            <a:pPr marL="514350" indent="-514350">
              <a:buFont typeface="+mj-lt"/>
              <a:buAutoNum type="arabicPeriod"/>
            </a:pPr>
            <a:r>
              <a:rPr lang="en-US" dirty="0"/>
              <a:t>Group Exercise: Decide how your state will allocate gene therapies for people with Medicaid </a:t>
            </a:r>
            <a:endParaRPr lang="en-US" i="1" dirty="0"/>
          </a:p>
          <a:p>
            <a:pPr marL="514350" indent="-514350">
              <a:buFont typeface="+mj-lt"/>
              <a:buAutoNum type="arabicPeriod"/>
            </a:pPr>
            <a:r>
              <a:rPr lang="en-US" dirty="0"/>
              <a:t>Presentations &amp; discussion</a:t>
            </a:r>
            <a:endParaRPr lang="en-US" i="1" dirty="0"/>
          </a:p>
          <a:p>
            <a:pPr marL="514350" indent="-514350">
              <a:buFont typeface="+mj-lt"/>
              <a:buAutoNum type="arabicPeriod"/>
            </a:pPr>
            <a:r>
              <a:rPr lang="en-US" b="1"/>
              <a:t>Access </a:t>
            </a:r>
            <a:r>
              <a:rPr lang="en-US" b="1" dirty="0"/>
              <a:t>to therapies in low-resource settings / low and middle-income countries </a:t>
            </a:r>
            <a:endParaRPr lang="en-US" b="1" i="1" dirty="0"/>
          </a:p>
        </p:txBody>
      </p:sp>
    </p:spTree>
    <p:extLst>
      <p:ext uri="{BB962C8B-B14F-4D97-AF65-F5344CB8AC3E}">
        <p14:creationId xmlns:p14="http://schemas.microsoft.com/office/powerpoint/2010/main" val="3527278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25431-427D-E6D6-D6EF-9B47BC816E4C}"/>
              </a:ext>
            </a:extLst>
          </p:cNvPr>
          <p:cNvSpPr>
            <a:spLocks noGrp="1"/>
          </p:cNvSpPr>
          <p:nvPr>
            <p:ph type="title"/>
          </p:nvPr>
        </p:nvSpPr>
        <p:spPr/>
        <p:txBody>
          <a:bodyPr/>
          <a:lstStyle/>
          <a:p>
            <a:r>
              <a:rPr lang="en-US" dirty="0"/>
              <a:t>SCD affects people worldwide – can/should we expand gene therapy access worldwide?</a:t>
            </a:r>
          </a:p>
        </p:txBody>
      </p:sp>
      <p:pic>
        <p:nvPicPr>
          <p:cNvPr id="4" name="Picture 3">
            <a:extLst>
              <a:ext uri="{FF2B5EF4-FFF2-40B4-BE49-F238E27FC236}">
                <a16:creationId xmlns:a16="http://schemas.microsoft.com/office/drawing/2014/main" id="{08AA833E-150A-1E66-73C1-7A1789FDBF28}"/>
              </a:ext>
            </a:extLst>
          </p:cNvPr>
          <p:cNvPicPr>
            <a:picLocks noChangeAspect="1"/>
          </p:cNvPicPr>
          <p:nvPr/>
        </p:nvPicPr>
        <p:blipFill>
          <a:blip r:embed="rId3"/>
          <a:stretch>
            <a:fillRect/>
          </a:stretch>
        </p:blipFill>
        <p:spPr>
          <a:xfrm>
            <a:off x="726946" y="2135405"/>
            <a:ext cx="10515600" cy="4393450"/>
          </a:xfrm>
          <a:prstGeom prst="rect">
            <a:avLst/>
          </a:prstGeom>
        </p:spPr>
      </p:pic>
      <p:sp>
        <p:nvSpPr>
          <p:cNvPr id="5" name="TextBox 4">
            <a:extLst>
              <a:ext uri="{FF2B5EF4-FFF2-40B4-BE49-F238E27FC236}">
                <a16:creationId xmlns:a16="http://schemas.microsoft.com/office/drawing/2014/main" id="{BD872F9F-3DBF-361D-7ACA-4714854EBBA8}"/>
              </a:ext>
            </a:extLst>
          </p:cNvPr>
          <p:cNvSpPr txBox="1"/>
          <p:nvPr/>
        </p:nvSpPr>
        <p:spPr>
          <a:xfrm>
            <a:off x="219739" y="6492875"/>
            <a:ext cx="5066635" cy="369332"/>
          </a:xfrm>
          <a:prstGeom prst="rect">
            <a:avLst/>
          </a:prstGeom>
          <a:noFill/>
        </p:spPr>
        <p:txBody>
          <a:bodyPr wrap="square" rtlCol="0">
            <a:spAutoFit/>
          </a:bodyPr>
          <a:lstStyle/>
          <a:p>
            <a:r>
              <a:rPr lang="en-US" dirty="0"/>
              <a:t>Image source: (13) Piel et al. 2017, NEJM</a:t>
            </a:r>
          </a:p>
        </p:txBody>
      </p:sp>
      <p:sp>
        <p:nvSpPr>
          <p:cNvPr id="3" name="TextBox 2">
            <a:extLst>
              <a:ext uri="{FF2B5EF4-FFF2-40B4-BE49-F238E27FC236}">
                <a16:creationId xmlns:a16="http://schemas.microsoft.com/office/drawing/2014/main" id="{8E538A00-4EBA-62A1-DD21-0065F28D4C4C}"/>
              </a:ext>
            </a:extLst>
          </p:cNvPr>
          <p:cNvSpPr txBox="1"/>
          <p:nvPr/>
        </p:nvSpPr>
        <p:spPr>
          <a:xfrm>
            <a:off x="219740" y="1672698"/>
            <a:ext cx="6745416" cy="369332"/>
          </a:xfrm>
          <a:prstGeom prst="rect">
            <a:avLst/>
          </a:prstGeom>
          <a:noFill/>
        </p:spPr>
        <p:txBody>
          <a:bodyPr wrap="square" rtlCol="0">
            <a:spAutoFit/>
          </a:bodyPr>
          <a:lstStyle/>
          <a:p>
            <a:r>
              <a:rPr lang="en-US" i="1" dirty="0"/>
              <a:t>Global incidence of sickle cell anemia (severe sub-type of SCD)</a:t>
            </a:r>
          </a:p>
        </p:txBody>
      </p:sp>
    </p:spTree>
    <p:extLst>
      <p:ext uri="{BB962C8B-B14F-4D97-AF65-F5344CB8AC3E}">
        <p14:creationId xmlns:p14="http://schemas.microsoft.com/office/powerpoint/2010/main" val="3717739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6D4E3-3F0B-BED4-25F8-A4F017FDDF0E}"/>
              </a:ext>
            </a:extLst>
          </p:cNvPr>
          <p:cNvSpPr>
            <a:spLocks noGrp="1"/>
          </p:cNvSpPr>
          <p:nvPr>
            <p:ph type="title"/>
          </p:nvPr>
        </p:nvSpPr>
        <p:spPr/>
        <p:txBody>
          <a:bodyPr/>
          <a:lstStyle/>
          <a:p>
            <a:r>
              <a:rPr lang="en-US" dirty="0"/>
              <a:t>Could any of the strategies from Tuesday’s video help get SCD treatments to LMICs?</a:t>
            </a:r>
          </a:p>
        </p:txBody>
      </p:sp>
      <p:sp>
        <p:nvSpPr>
          <p:cNvPr id="3" name="Content Placeholder 2">
            <a:extLst>
              <a:ext uri="{FF2B5EF4-FFF2-40B4-BE49-F238E27FC236}">
                <a16:creationId xmlns:a16="http://schemas.microsoft.com/office/drawing/2014/main" id="{5A93F242-7715-16DD-07CE-0BA2AF65ED3D}"/>
              </a:ext>
            </a:extLst>
          </p:cNvPr>
          <p:cNvSpPr>
            <a:spLocks noGrp="1"/>
          </p:cNvSpPr>
          <p:nvPr>
            <p:ph idx="1"/>
          </p:nvPr>
        </p:nvSpPr>
        <p:spPr/>
        <p:txBody>
          <a:bodyPr>
            <a:normAutofit/>
          </a:bodyPr>
          <a:lstStyle/>
          <a:p>
            <a:pPr marL="514350" indent="-514350">
              <a:buFont typeface="+mj-lt"/>
              <a:buAutoNum type="arabicPeriod"/>
            </a:pPr>
            <a:r>
              <a:rPr lang="en-US" dirty="0"/>
              <a:t>Not-for-profit research</a:t>
            </a:r>
          </a:p>
          <a:p>
            <a:pPr marL="514350" indent="-514350">
              <a:buFont typeface="+mj-lt"/>
              <a:buAutoNum type="arabicPeriod"/>
            </a:pPr>
            <a:r>
              <a:rPr lang="en-US" dirty="0"/>
              <a:t>Advance market commitments</a:t>
            </a:r>
          </a:p>
          <a:p>
            <a:pPr marL="514350" indent="-514350">
              <a:buFont typeface="+mj-lt"/>
              <a:buAutoNum type="arabicPeriod"/>
            </a:pPr>
            <a:r>
              <a:rPr lang="en-US" dirty="0"/>
              <a:t>Patent buyout</a:t>
            </a:r>
          </a:p>
          <a:p>
            <a:pPr marL="514350" indent="-514350">
              <a:buFont typeface="+mj-lt"/>
              <a:buAutoNum type="arabicPeriod"/>
            </a:pPr>
            <a:r>
              <a:rPr lang="en-US" dirty="0"/>
              <a:t>Priority review vouchers</a:t>
            </a:r>
          </a:p>
        </p:txBody>
      </p:sp>
    </p:spTree>
    <p:extLst>
      <p:ext uri="{BB962C8B-B14F-4D97-AF65-F5344CB8AC3E}">
        <p14:creationId xmlns:p14="http://schemas.microsoft.com/office/powerpoint/2010/main" val="2740258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91961-8DE9-F0AC-5CB1-EE44E2C854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14C87-41F4-E40E-ED7E-DFE48D7EBDC0}"/>
              </a:ext>
            </a:extLst>
          </p:cNvPr>
          <p:cNvSpPr>
            <a:spLocks noGrp="1"/>
          </p:cNvSpPr>
          <p:nvPr>
            <p:ph type="title"/>
          </p:nvPr>
        </p:nvSpPr>
        <p:spPr/>
        <p:txBody>
          <a:bodyPr/>
          <a:lstStyle/>
          <a:p>
            <a:r>
              <a:rPr lang="en-US" dirty="0"/>
              <a:t>Could any of the strategies from Tuesday’s video help get SCD treatments to LMICs?</a:t>
            </a:r>
          </a:p>
        </p:txBody>
      </p:sp>
      <p:sp>
        <p:nvSpPr>
          <p:cNvPr id="3" name="Content Placeholder 2">
            <a:extLst>
              <a:ext uri="{FF2B5EF4-FFF2-40B4-BE49-F238E27FC236}">
                <a16:creationId xmlns:a16="http://schemas.microsoft.com/office/drawing/2014/main" id="{98D325D2-4210-640E-C82E-5C3113EBB90C}"/>
              </a:ext>
            </a:extLst>
          </p:cNvPr>
          <p:cNvSpPr>
            <a:spLocks noGrp="1"/>
          </p:cNvSpPr>
          <p:nvPr>
            <p:ph idx="1"/>
          </p:nvPr>
        </p:nvSpPr>
        <p:spPr/>
        <p:txBody>
          <a:bodyPr>
            <a:normAutofit/>
          </a:bodyPr>
          <a:lstStyle/>
          <a:p>
            <a:pPr marL="514350" indent="-514350">
              <a:buFont typeface="+mj-lt"/>
              <a:buAutoNum type="arabicPeriod"/>
            </a:pPr>
            <a:r>
              <a:rPr lang="en-US" dirty="0"/>
              <a:t>Not-for-profit research</a:t>
            </a:r>
          </a:p>
          <a:p>
            <a:pPr marL="514350" indent="-514350">
              <a:buFont typeface="+mj-lt"/>
              <a:buAutoNum type="arabicPeriod"/>
            </a:pPr>
            <a:r>
              <a:rPr lang="en-US" dirty="0"/>
              <a:t>Advance market commitments</a:t>
            </a:r>
          </a:p>
          <a:p>
            <a:pPr marL="514350" indent="-514350">
              <a:buFont typeface="+mj-lt"/>
              <a:buAutoNum type="arabicPeriod"/>
            </a:pPr>
            <a:r>
              <a:rPr lang="en-US" dirty="0"/>
              <a:t>Patent buyout</a:t>
            </a:r>
          </a:p>
          <a:p>
            <a:pPr marL="514350" indent="-514350">
              <a:buFont typeface="+mj-lt"/>
              <a:buAutoNum type="arabicPeriod"/>
            </a:pPr>
            <a:r>
              <a:rPr lang="en-US" dirty="0"/>
              <a:t>Priority review vouchers</a:t>
            </a:r>
          </a:p>
        </p:txBody>
      </p:sp>
      <p:sp>
        <p:nvSpPr>
          <p:cNvPr id="4" name="Right Brace 3">
            <a:extLst>
              <a:ext uri="{FF2B5EF4-FFF2-40B4-BE49-F238E27FC236}">
                <a16:creationId xmlns:a16="http://schemas.microsoft.com/office/drawing/2014/main" id="{7EFF6F83-5E89-7CA6-0FA8-29BDDAF92730}"/>
              </a:ext>
            </a:extLst>
          </p:cNvPr>
          <p:cNvSpPr/>
          <p:nvPr/>
        </p:nvSpPr>
        <p:spPr>
          <a:xfrm>
            <a:off x="6096000" y="1825625"/>
            <a:ext cx="673395" cy="214386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8185D643-B252-9977-0D47-EECF64ACC895}"/>
              </a:ext>
            </a:extLst>
          </p:cNvPr>
          <p:cNvSpPr txBox="1"/>
          <p:nvPr/>
        </p:nvSpPr>
        <p:spPr>
          <a:xfrm>
            <a:off x="6886825" y="1825625"/>
            <a:ext cx="4186237" cy="3293209"/>
          </a:xfrm>
          <a:prstGeom prst="rect">
            <a:avLst/>
          </a:prstGeom>
          <a:noFill/>
        </p:spPr>
        <p:txBody>
          <a:bodyPr wrap="square" rtlCol="0">
            <a:spAutoFit/>
          </a:bodyPr>
          <a:lstStyle/>
          <a:p>
            <a:pPr>
              <a:spcAft>
                <a:spcPts val="600"/>
              </a:spcAft>
            </a:pPr>
            <a:r>
              <a:rPr lang="en-US" dirty="0">
                <a:solidFill>
                  <a:schemeClr val="accent1"/>
                </a:solidFill>
              </a:rPr>
              <a:t>Maybe, but still need to consider:</a:t>
            </a:r>
          </a:p>
          <a:p>
            <a:pPr marL="285750" indent="-285750">
              <a:spcAft>
                <a:spcPts val="600"/>
              </a:spcAft>
              <a:buFont typeface="Arial" panose="020B0604020202020204" pitchFamily="34" charset="0"/>
              <a:buChar char="•"/>
            </a:pPr>
            <a:r>
              <a:rPr lang="en-US" dirty="0">
                <a:solidFill>
                  <a:schemeClr val="accent1"/>
                </a:solidFill>
              </a:rPr>
              <a:t>GTs have </a:t>
            </a:r>
            <a:r>
              <a:rPr lang="en-US" b="1" dirty="0">
                <a:solidFill>
                  <a:schemeClr val="accent1"/>
                </a:solidFill>
              </a:rPr>
              <a:t>high marginal costs</a:t>
            </a:r>
            <a:r>
              <a:rPr lang="en-US" dirty="0">
                <a:solidFill>
                  <a:schemeClr val="accent1"/>
                </a:solidFill>
              </a:rPr>
              <a:t>. Even if we get prices for LMICs down to MC, they may still be unaffordable.</a:t>
            </a:r>
          </a:p>
          <a:p>
            <a:pPr marL="285750" indent="-285750">
              <a:spcAft>
                <a:spcPts val="600"/>
              </a:spcAft>
              <a:buFont typeface="Arial" panose="020B0604020202020204" pitchFamily="34" charset="0"/>
              <a:buChar char="•"/>
            </a:pPr>
            <a:r>
              <a:rPr lang="en-US" dirty="0">
                <a:solidFill>
                  <a:schemeClr val="accent1"/>
                </a:solidFill>
              </a:rPr>
              <a:t>Lots of </a:t>
            </a:r>
            <a:r>
              <a:rPr lang="en-US" b="1" dirty="0">
                <a:solidFill>
                  <a:schemeClr val="accent1"/>
                </a:solidFill>
              </a:rPr>
              <a:t>high-intensity support services needed </a:t>
            </a:r>
            <a:r>
              <a:rPr lang="en-US" dirty="0">
                <a:solidFill>
                  <a:schemeClr val="accent1"/>
                </a:solidFill>
              </a:rPr>
              <a:t>for GT (chemo, hospital stay, SCD specialists, etc.). These would also need to be built up in LMICs (and in lower resourced areas of the US!) for people to have meaningful access to GTs. </a:t>
            </a:r>
          </a:p>
        </p:txBody>
      </p:sp>
    </p:spTree>
    <p:extLst>
      <p:ext uri="{BB962C8B-B14F-4D97-AF65-F5344CB8AC3E}">
        <p14:creationId xmlns:p14="http://schemas.microsoft.com/office/powerpoint/2010/main" val="1387273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CD5EF-974B-EAB4-230B-F2FC6B8F47DF}"/>
              </a:ext>
            </a:extLst>
          </p:cNvPr>
          <p:cNvSpPr>
            <a:spLocks noGrp="1"/>
          </p:cNvSpPr>
          <p:nvPr>
            <p:ph type="title"/>
          </p:nvPr>
        </p:nvSpPr>
        <p:spPr/>
        <p:txBody>
          <a:bodyPr/>
          <a:lstStyle/>
          <a:p>
            <a:r>
              <a:rPr lang="en-US" dirty="0"/>
              <a:t>Upcoming</a:t>
            </a:r>
          </a:p>
        </p:txBody>
      </p:sp>
      <p:sp>
        <p:nvSpPr>
          <p:cNvPr id="3" name="Content Placeholder 2">
            <a:extLst>
              <a:ext uri="{FF2B5EF4-FFF2-40B4-BE49-F238E27FC236}">
                <a16:creationId xmlns:a16="http://schemas.microsoft.com/office/drawing/2014/main" id="{0A325034-B8AA-EFD5-BF90-FEA9BF472B93}"/>
              </a:ext>
            </a:extLst>
          </p:cNvPr>
          <p:cNvSpPr>
            <a:spLocks noGrp="1"/>
          </p:cNvSpPr>
          <p:nvPr>
            <p:ph idx="1"/>
          </p:nvPr>
        </p:nvSpPr>
        <p:spPr/>
        <p:txBody>
          <a:bodyPr/>
          <a:lstStyle/>
          <a:p>
            <a:r>
              <a:rPr lang="en-US" dirty="0"/>
              <a:t>Thursday, Oct 15: meet with Unit 2 project team in lecture</a:t>
            </a:r>
          </a:p>
          <a:p>
            <a:endParaRPr lang="en-US" altLang="zh-CN" sz="2400" dirty="0">
              <a:latin typeface="Arial" panose="020B0604020202020204" pitchFamily="34" charset="0"/>
              <a:cs typeface="Arial" panose="020B0604020202020204" pitchFamily="34" charset="0"/>
            </a:endParaRPr>
          </a:p>
          <a:p>
            <a:r>
              <a:rPr lang="en-US" altLang="zh-CN" dirty="0"/>
              <a:t>Friday, October 23: Unit 2 assignment due</a:t>
            </a:r>
          </a:p>
          <a:p>
            <a:endParaRPr lang="en-US" dirty="0"/>
          </a:p>
          <a:p>
            <a:endParaRPr lang="en-US" dirty="0"/>
          </a:p>
        </p:txBody>
      </p:sp>
    </p:spTree>
    <p:extLst>
      <p:ext uri="{BB962C8B-B14F-4D97-AF65-F5344CB8AC3E}">
        <p14:creationId xmlns:p14="http://schemas.microsoft.com/office/powerpoint/2010/main" val="1787098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E17D7-0C4B-3FCB-7653-EDEDD43295D7}"/>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16F332D2-B21E-472A-EF00-91A15D2C1DA3}"/>
              </a:ext>
            </a:extLst>
          </p:cNvPr>
          <p:cNvSpPr>
            <a:spLocks noGrp="1"/>
          </p:cNvSpPr>
          <p:nvPr>
            <p:ph idx="1"/>
          </p:nvPr>
        </p:nvSpPr>
        <p:spPr/>
        <p:txBody>
          <a:bodyPr>
            <a:normAutofit fontScale="40000" lnSpcReduction="20000"/>
          </a:bodyPr>
          <a:lstStyle/>
          <a:p>
            <a:pPr marL="514350" indent="-514350">
              <a:buFont typeface="+mj-lt"/>
              <a:buAutoNum type="arabicPeriod"/>
            </a:pPr>
            <a:r>
              <a:rPr lang="en-US" dirty="0"/>
              <a:t>What Is Sickle Cell Disease? Cleveland Clinic. Accessed October 9, 2026. </a:t>
            </a:r>
            <a:r>
              <a:rPr lang="en-US" dirty="0">
                <a:hlinkClick r:id="rId2"/>
              </a:rPr>
              <a:t>https://my.clevelandclinic.org/health/diseases/12100-sickle-cell-disease</a:t>
            </a:r>
            <a:endParaRPr lang="en-US" dirty="0"/>
          </a:p>
          <a:p>
            <a:pPr marL="514350" indent="-514350">
              <a:buFont typeface="+mj-lt"/>
              <a:buAutoNum type="arabicPeriod"/>
            </a:pPr>
            <a:r>
              <a:rPr lang="en-US" dirty="0"/>
              <a:t>CDC. Data and Statistics on Sickle Cell Disease. Sickle Cell Disease (SCD). August 21, 2026. Accessed October 9, 2026. </a:t>
            </a:r>
            <a:r>
              <a:rPr lang="en-US" dirty="0">
                <a:hlinkClick r:id="rId3"/>
              </a:rPr>
              <a:t>https://www.cdc.gov/sickle-cell/data/index.html</a:t>
            </a:r>
            <a:endParaRPr lang="en-US" dirty="0"/>
          </a:p>
          <a:p>
            <a:pPr marL="514350" indent="-514350">
              <a:buFont typeface="+mj-lt"/>
              <a:buAutoNum type="arabicPeriod"/>
            </a:pPr>
            <a:r>
              <a:rPr lang="en-US" dirty="0">
                <a:effectLst/>
              </a:rPr>
              <a:t>Lee L, Smith-Whitley K, Banks S, </a:t>
            </a:r>
            <a:r>
              <a:rPr lang="en-US" dirty="0" err="1">
                <a:effectLst/>
              </a:rPr>
              <a:t>Puckrein</a:t>
            </a:r>
            <a:r>
              <a:rPr lang="en-US" dirty="0">
                <a:effectLst/>
              </a:rPr>
              <a:t> G. Reducing Health Care Disparities in Sickle Cell Disease: A Review. </a:t>
            </a:r>
            <a:r>
              <a:rPr lang="en-US" i="1" dirty="0">
                <a:effectLst/>
              </a:rPr>
              <a:t>Public Health Rep</a:t>
            </a:r>
            <a:r>
              <a:rPr lang="en-US" dirty="0">
                <a:effectLst/>
              </a:rPr>
              <a:t>. 2019;134(6):599-607. doi:</a:t>
            </a:r>
            <a:r>
              <a:rPr lang="en-US" dirty="0">
                <a:effectLst/>
                <a:hlinkClick r:id="rId4"/>
              </a:rPr>
              <a:t>10.1177/0033354919881438</a:t>
            </a:r>
            <a:endParaRPr lang="en-US" dirty="0">
              <a:effectLst/>
            </a:endParaRPr>
          </a:p>
          <a:p>
            <a:pPr marL="514350" indent="-514350">
              <a:buFont typeface="+mj-lt"/>
              <a:buAutoNum type="arabicPeriod"/>
            </a:pPr>
            <a:r>
              <a:rPr lang="en-US" dirty="0">
                <a:effectLst/>
              </a:rPr>
              <a:t>LYFGENIA. </a:t>
            </a:r>
            <a:r>
              <a:rPr lang="en-US" i="1" dirty="0">
                <a:effectLst/>
              </a:rPr>
              <a:t>FDA</a:t>
            </a:r>
            <a:r>
              <a:rPr lang="en-US" dirty="0">
                <a:effectLst/>
              </a:rPr>
              <a:t>. Published online July 10, 2024. Accessed October 9, 2026. </a:t>
            </a:r>
            <a:r>
              <a:rPr lang="en-US" dirty="0">
                <a:effectLst/>
                <a:hlinkClick r:id="rId5"/>
              </a:rPr>
              <a:t>https://www.fda.gov/vaccines-blood-biologics/lyfgenia</a:t>
            </a:r>
            <a:endParaRPr lang="en-US" dirty="0">
              <a:effectLst/>
            </a:endParaRPr>
          </a:p>
          <a:p>
            <a:pPr marL="514350" indent="-514350">
              <a:buFont typeface="+mj-lt"/>
              <a:buAutoNum type="arabicPeriod"/>
            </a:pPr>
            <a:r>
              <a:rPr lang="en-US" dirty="0">
                <a:effectLst/>
              </a:rPr>
              <a:t>CASGEVY. </a:t>
            </a:r>
            <a:r>
              <a:rPr lang="en-US" i="1" dirty="0">
                <a:effectLst/>
              </a:rPr>
              <a:t>FDA</a:t>
            </a:r>
            <a:r>
              <a:rPr lang="en-US" dirty="0">
                <a:effectLst/>
              </a:rPr>
              <a:t>. Published online July 8, 2026. Accessed October 9, 2026. </a:t>
            </a:r>
            <a:r>
              <a:rPr lang="en-US" dirty="0">
                <a:effectLst/>
                <a:hlinkClick r:id="rId6"/>
              </a:rPr>
              <a:t>https://www.fda.gov/vaccines-blood-biologics/casgevy</a:t>
            </a:r>
            <a:endParaRPr lang="en-US" dirty="0"/>
          </a:p>
          <a:p>
            <a:pPr marL="514350" indent="-514350">
              <a:buFont typeface="+mj-lt"/>
              <a:buAutoNum type="arabicPeriod"/>
            </a:pPr>
            <a:r>
              <a:rPr lang="en-US" dirty="0">
                <a:effectLst/>
              </a:rPr>
              <a:t>Pricey new gene therapies for sickle cell pose access test | BioPharma Dive. Accessed October 9, 2026. </a:t>
            </a:r>
            <a:r>
              <a:rPr lang="en-US" dirty="0">
                <a:effectLst/>
                <a:hlinkClick r:id="rId7"/>
              </a:rPr>
              <a:t>https://www.biopharmadive.com/news/crispr-sickle-cell-price-millions-gene-therapy-vertex-bluebird/702066/</a:t>
            </a:r>
            <a:endParaRPr lang="en-US" dirty="0"/>
          </a:p>
          <a:p>
            <a:pPr marL="514350" indent="-514350">
              <a:buFont typeface="+mj-lt"/>
              <a:buAutoNum type="arabicPeriod"/>
            </a:pPr>
            <a:r>
              <a:rPr lang="en-US" dirty="0">
                <a:effectLst/>
              </a:rPr>
              <a:t>Sharma A. How I treat sickle cell disease with gene therapy. </a:t>
            </a:r>
            <a:r>
              <a:rPr lang="en-US" i="1" dirty="0">
                <a:effectLst/>
              </a:rPr>
              <a:t>Blood</a:t>
            </a:r>
            <a:r>
              <a:rPr lang="en-US" dirty="0">
                <a:effectLst/>
              </a:rPr>
              <a:t>. 2024;144(26):2693-2705. doi:</a:t>
            </a:r>
            <a:r>
              <a:rPr lang="en-US" dirty="0">
                <a:effectLst/>
                <a:hlinkClick r:id="rId8"/>
              </a:rPr>
              <a:t>10.1182/blood.2024024519</a:t>
            </a:r>
            <a:endParaRPr lang="en-US" dirty="0">
              <a:effectLst/>
            </a:endParaRPr>
          </a:p>
          <a:p>
            <a:pPr marL="514350" indent="-514350">
              <a:buFont typeface="+mj-lt"/>
              <a:buAutoNum type="arabicPeriod"/>
            </a:pPr>
            <a:r>
              <a:rPr lang="en-US" dirty="0"/>
              <a:t>Improving Care for Sickle Cell Disease | Medicaid. Accessed August 27, 2024. </a:t>
            </a:r>
            <a:r>
              <a:rPr lang="en-US" dirty="0">
                <a:hlinkClick r:id="rId9"/>
              </a:rPr>
              <a:t>https://www.medicaid.gov/medicaid/quality-of-care/quality-improvement-initiatives/improving-care-for-sickle-cell-disease/index.html</a:t>
            </a:r>
            <a:endParaRPr lang="en-US" dirty="0"/>
          </a:p>
          <a:p>
            <a:pPr marL="514350" indent="-514350">
              <a:buFont typeface="+mj-lt"/>
              <a:buAutoNum type="arabicPeriod"/>
            </a:pPr>
            <a:r>
              <a:rPr lang="en-US" dirty="0"/>
              <a:t>Johnson KM, Jiao B, Ramsey SD, Bender MA, Devine B, Basu A. Lifetime medical costs attributable to sickle cell disease among nonelderly individuals with commercial insurance. </a:t>
            </a:r>
            <a:r>
              <a:rPr lang="en-US" i="1" dirty="0"/>
              <a:t>Blood Adv</a:t>
            </a:r>
            <a:r>
              <a:rPr lang="en-US" dirty="0"/>
              <a:t>. 2022;7(3):365-374. doi:</a:t>
            </a:r>
            <a:r>
              <a:rPr lang="en-US" dirty="0">
                <a:hlinkClick r:id="rId10"/>
              </a:rPr>
              <a:t>10.1182/bloodadvances.2021006281</a:t>
            </a:r>
            <a:endParaRPr lang="en-US" dirty="0"/>
          </a:p>
          <a:p>
            <a:pPr marL="514350" indent="-514350">
              <a:buFont typeface="+mj-lt"/>
              <a:buAutoNum type="arabicPeriod"/>
            </a:pPr>
            <a:r>
              <a:rPr lang="en-US" dirty="0"/>
              <a:t>Health Insurance Coverage in the United States: 2022. U.S. Census Bureau. </a:t>
            </a:r>
            <a:r>
              <a:rPr lang="en-US" dirty="0">
                <a:hlinkClick r:id="rId11"/>
              </a:rPr>
              <a:t>https://www.census.gov/library/publications/2023/demo/p60-281.html</a:t>
            </a:r>
            <a:endParaRPr lang="en-US" dirty="0"/>
          </a:p>
          <a:p>
            <a:pPr marL="514350" indent="-514350">
              <a:buFont typeface="+mj-lt"/>
              <a:buAutoNum type="arabicPeriod"/>
            </a:pPr>
            <a:r>
              <a:rPr lang="en-US" dirty="0">
                <a:effectLst/>
              </a:rPr>
              <a:t>How Has Medicaid Evolved Over Time? - Medicaid 101. KFF. October 3, 2025. Accessed October 9, 2026. </a:t>
            </a:r>
            <a:r>
              <a:rPr lang="en-US" dirty="0">
                <a:effectLst/>
                <a:hlinkClick r:id="rId12"/>
              </a:rPr>
              <a:t>https://www.kff.org/medicaid/health-policy-101-medicaid/?entry=table-of-contents-how-has-medicaid-evolved-over-time</a:t>
            </a:r>
            <a:endParaRPr lang="en-US" dirty="0">
              <a:effectLst/>
            </a:endParaRPr>
          </a:p>
          <a:p>
            <a:pPr marL="514350" indent="-514350">
              <a:buFont typeface="+mj-lt"/>
              <a:buAutoNum type="arabicPeriod"/>
            </a:pPr>
            <a:r>
              <a:rPr lang="en-US" dirty="0"/>
              <a:t>Farooq F, </a:t>
            </a:r>
            <a:r>
              <a:rPr lang="en-US" dirty="0" err="1"/>
              <a:t>Mogayzel</a:t>
            </a:r>
            <a:r>
              <a:rPr lang="en-US" dirty="0"/>
              <a:t> PJ, </a:t>
            </a:r>
            <a:r>
              <a:rPr lang="en-US" dirty="0" err="1"/>
              <a:t>Lanzkron</a:t>
            </a:r>
            <a:r>
              <a:rPr lang="en-US" dirty="0"/>
              <a:t> S, Haywood C, Strouse JJ. Comparison of US Federal and Foundation Funding of Research for Sickle Cell Disease and Cystic Fibrosis and Factors Associated With Research Productivity. </a:t>
            </a:r>
            <a:r>
              <a:rPr lang="en-US" i="1" dirty="0"/>
              <a:t>JAMA </a:t>
            </a:r>
            <a:r>
              <a:rPr lang="en-US" i="1" dirty="0" err="1"/>
              <a:t>Netw</a:t>
            </a:r>
            <a:r>
              <a:rPr lang="en-US" i="1" dirty="0"/>
              <a:t> Open.</a:t>
            </a:r>
            <a:r>
              <a:rPr lang="en-US" dirty="0"/>
              <a:t> 2020;3(3):e201737. doi:10.1001/jamanetworkopen.2020.1737</a:t>
            </a:r>
          </a:p>
          <a:p>
            <a:pPr marL="514350" indent="-514350">
              <a:buFont typeface="+mj-lt"/>
              <a:buAutoNum type="arabicPeriod"/>
            </a:pPr>
            <a:r>
              <a:rPr lang="en-US" dirty="0"/>
              <a:t>Piel FB, Steinberg MH, Rees DC. Sickle Cell Disease. </a:t>
            </a:r>
            <a:r>
              <a:rPr lang="en-US" i="1" dirty="0"/>
              <a:t>New England Journal of Medicine</a:t>
            </a:r>
            <a:r>
              <a:rPr lang="en-US" dirty="0"/>
              <a:t>. 2017;376(16):1561-1573. doi:</a:t>
            </a:r>
            <a:r>
              <a:rPr lang="en-US" dirty="0">
                <a:hlinkClick r:id="rId13"/>
              </a:rPr>
              <a:t>10.1056/NEJMra1510865</a:t>
            </a:r>
            <a:endParaRPr lang="en-US" dirty="0"/>
          </a:p>
          <a:p>
            <a:pPr marL="514350" indent="-514350">
              <a:buFont typeface="+mj-lt"/>
              <a:buAutoNum type="arabicPeriod"/>
            </a:pPr>
            <a:endParaRPr lang="en-US" dirty="0"/>
          </a:p>
          <a:p>
            <a:pPr marL="514350" indent="-514350">
              <a:buFont typeface="+mj-lt"/>
              <a:buAutoNum type="arabicPeriod"/>
            </a:pPr>
            <a:endParaRPr lang="en-US" dirty="0">
              <a:effectLst/>
            </a:endParaRPr>
          </a:p>
          <a:p>
            <a:pPr marL="514350" indent="-514350">
              <a:buFont typeface="+mj-lt"/>
              <a:buAutoNum type="arabicPeriod"/>
            </a:pPr>
            <a:endParaRPr lang="en-US" dirty="0">
              <a:effectLst/>
            </a:endParaRPr>
          </a:p>
          <a:p>
            <a:pPr marL="514350" indent="-514350">
              <a:buFont typeface="+mj-lt"/>
              <a:buAutoNum type="arabicPeriod"/>
            </a:pPr>
            <a:endParaRPr lang="en-US" dirty="0"/>
          </a:p>
        </p:txBody>
      </p:sp>
    </p:spTree>
    <p:extLst>
      <p:ext uri="{BB962C8B-B14F-4D97-AF65-F5344CB8AC3E}">
        <p14:creationId xmlns:p14="http://schemas.microsoft.com/office/powerpoint/2010/main" val="25969353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83"/>
</p:tagLst>
</file>

<file path=ppt/tags/tag2.xml><?xml version="1.0" encoding="utf-8"?>
<p:tagLst xmlns:a="http://schemas.openxmlformats.org/drawingml/2006/main" xmlns:r="http://schemas.openxmlformats.org/officeDocument/2006/relationships" xmlns:p="http://schemas.openxmlformats.org/presentationml/2006/main">
  <p:tag name="AS_UNIQUEID" val="85"/>
</p:tagLst>
</file>

<file path=ppt/tags/tag3.xml><?xml version="1.0" encoding="utf-8"?>
<p:tagLst xmlns:a="http://schemas.openxmlformats.org/drawingml/2006/main" xmlns:r="http://schemas.openxmlformats.org/officeDocument/2006/relationships" xmlns:p="http://schemas.openxmlformats.org/presentationml/2006/main">
  <p:tag name="AS_UNIQUEID" val="9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1837</TotalTime>
  <Words>3185</Words>
  <Application>Microsoft Macintosh PowerPoint</Application>
  <PresentationFormat>Widescreen</PresentationFormat>
  <Paragraphs>238</Paragraphs>
  <Slides>24</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Helvetica</vt:lpstr>
      <vt:lpstr>Wingdings</vt:lpstr>
      <vt:lpstr>Office Theme</vt:lpstr>
      <vt:lpstr>GENED 1079 Section 5</vt:lpstr>
      <vt:lpstr>PowerPoint Presentation</vt:lpstr>
      <vt:lpstr>PowerPoint Presentation</vt:lpstr>
      <vt:lpstr>Agenda</vt:lpstr>
      <vt:lpstr>Agenda</vt:lpstr>
      <vt:lpstr>What is sickle cell disease (SCD)?</vt:lpstr>
      <vt:lpstr>SCD prevalence in the US</vt:lpstr>
      <vt:lpstr>Two gene therapies (GT) for SCD have been approved in the US1</vt:lpstr>
      <vt:lpstr>How does gene therapy for SCD work?</vt:lpstr>
      <vt:lpstr>Sickle cell costs in the US: current state</vt:lpstr>
      <vt:lpstr>Medicaid provides health insurance for low-income Americans</vt:lpstr>
      <vt:lpstr>Agenda</vt:lpstr>
      <vt:lpstr>Economics is only one of many lenses needed to evaluate questions prompted by gene therapies</vt:lpstr>
      <vt:lpstr>Your task: Decide how gene therapies for SCD will be allocated to Medicaid enrollees in your state</vt:lpstr>
      <vt:lpstr>PLOT TWIST! (+ you get 5 more minutes to deliberate)</vt:lpstr>
      <vt:lpstr>Each group gets 3 minutes to present + 3 minutes for Q&amp;A</vt:lpstr>
      <vt:lpstr>Questions for discussion</vt:lpstr>
      <vt:lpstr>A note on health disparities: SCD and cystic fibrosis12</vt:lpstr>
      <vt:lpstr>Agenda</vt:lpstr>
      <vt:lpstr>SCD affects people worldwide – can/should we expand gene therapy access worldwide?</vt:lpstr>
      <vt:lpstr>Could any of the strategies from Tuesday’s video help get SCD treatments to LMICs?</vt:lpstr>
      <vt:lpstr>Could any of the strategies from Tuesday’s video help get SCD treatments to LMICs?</vt:lpstr>
      <vt:lpstr>Upcoming</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Jessica Preston</dc:creator>
  <cp:lastModifiedBy>Jhang, Janice</cp:lastModifiedBy>
  <cp:revision>11</cp:revision>
  <dcterms:created xsi:type="dcterms:W3CDTF">2026-10-09T13:48:06Z</dcterms:created>
  <dcterms:modified xsi:type="dcterms:W3CDTF">2026-10-14T19:24:18Z</dcterms:modified>
</cp:coreProperties>
</file>