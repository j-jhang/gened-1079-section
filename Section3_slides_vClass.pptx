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81" r:id="rId9"/>
    <p:sldId id="28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7" r:id="rId20"/>
    <p:sldId id="278" r:id="rId21"/>
    <p:sldId id="273" r:id="rId22"/>
    <p:sldId id="274" r:id="rId23"/>
    <p:sldId id="275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95"/>
    <p:restoredTop sz="93851"/>
  </p:normalViewPr>
  <p:slideViewPr>
    <p:cSldViewPr>
      <p:cViewPr>
        <p:scale>
          <a:sx n="116" d="100"/>
          <a:sy n="116" d="100"/>
        </p:scale>
        <p:origin x="-88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72C1F-6C3C-C74F-B70B-0EE17F8CC302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11D80-A48E-B842-A5FC-4C2CD2C430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158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974831" y="4560571"/>
            <a:ext cx="536554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1038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 A confidence interval gives us a </a:t>
            </a:r>
            <a:r>
              <a:rPr lang="en-US" altLang="zh-CN" i="0" dirty="0"/>
              <a:t>range</a:t>
            </a:r>
            <a:r>
              <a:rPr lang="en-US" altLang="zh-CN" dirty="0"/>
              <a:t> of plausible values for the true population parameter. It’s not saying there’s a 95% chance the parameter itself moves around; the parameter is fixed, but our interval from the sample varies.</a:t>
            </a:r>
          </a:p>
          <a:p>
            <a:r>
              <a:rPr lang="en-US" altLang="zh-CN" dirty="0"/>
              <a:t>- The </a:t>
            </a:r>
            <a:r>
              <a:rPr lang="en-US" altLang="zh-CN" b="0" dirty="0"/>
              <a:t>estimate: </a:t>
            </a:r>
            <a:r>
              <a:rPr lang="en-US" altLang="zh-CN" dirty="0"/>
              <a:t>mean, proportion, etc.</a:t>
            </a:r>
          </a:p>
          <a:p>
            <a:r>
              <a:rPr lang="en-US" altLang="zh-CN" dirty="0"/>
              <a:t>- The 95% comes from imagining that we repeated the sampling process many times. Each time, we would calculate a new confidence interval. About 95% of those intervals would contain the true population parameter.</a:t>
            </a:r>
          </a:p>
          <a:p>
            <a:endParaRPr lang="en-US" altLang="zh-CN" dirty="0"/>
          </a:p>
          <a:p>
            <a:pPr marL="171450" indent="-171450">
              <a:buFontTx/>
              <a:buChar char="-"/>
            </a:pPr>
            <a:r>
              <a:rPr lang="en-US" altLang="zh-CN" dirty="0"/>
              <a:t>Whiteboard example: average income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In reality, we usually only take one sample. So we only get one sample mean and one confidence interval. The “95%” describes how well our method would work if we could repeat the sampling process many times.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Increasing N makes the CI narrower</a:t>
            </a:r>
          </a:p>
          <a:p>
            <a:r>
              <a:rPr lang="en-US" altLang="zh-CN" dirty="0"/>
              <a:t>https://</a:t>
            </a:r>
            <a:r>
              <a:rPr lang="en-US" altLang="zh-CN" dirty="0" err="1"/>
              <a:t>www.youtube.com</a:t>
            </a:r>
            <a:r>
              <a:rPr lang="en-US" altLang="zh-CN" dirty="0"/>
              <a:t>/</a:t>
            </a:r>
            <a:r>
              <a:rPr lang="en-US" altLang="zh-CN" dirty="0" err="1"/>
              <a:t>watch?v</a:t>
            </a:r>
            <a:r>
              <a:rPr lang="en-US" altLang="zh-CN" dirty="0"/>
              <a:t>=ENnlSlvQHO0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6249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Intuition: CLT </a:t>
            </a:r>
            <a:r>
              <a:rPr lang="en-US" altLang="zh-CN" i="0" dirty="0"/>
              <a:t>connects sample data to population inference. It’s the bridge </a:t>
            </a:r>
            <a:r>
              <a:rPr lang="en-US" altLang="zh-CN" dirty="0"/>
              <a:t>that lets us do inference in practice.</a:t>
            </a:r>
          </a:p>
          <a:p>
            <a:r>
              <a:rPr lang="en-US" altLang="zh-CN" dirty="0"/>
              <a:t>- Normal distribution good for us because properties of the normal distribution are well-understood. We can use it to calculate probabilities, SEs, Cis, hypothesis tests, etc. </a:t>
            </a:r>
          </a:p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onlinestatbook.com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stat_sim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sampling_dist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index.html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6562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73FF-9126-2D8C-B8CD-3B169268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F5D00F-AA44-9D0C-DF95-DF1B4E58B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E1BADC-2A3A-2823-05BB-763957EE8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Confidence intervals account for random error but not for </a:t>
            </a:r>
            <a:r>
              <a:rPr lang="en-US" altLang="zh-CN" b="0" dirty="0"/>
              <a:t>systematic error</a:t>
            </a:r>
            <a:r>
              <a:rPr lang="en-US" altLang="zh-CN" dirty="0"/>
              <a:t> (bad sampling, biased methods).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2BC37-DE51-4A49-AD57-28D5F124B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4953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Confidence intervals account for random error but not for </a:t>
            </a:r>
            <a:r>
              <a:rPr lang="en-US" altLang="zh-CN" b="0" dirty="0"/>
              <a:t>systematic error</a:t>
            </a:r>
            <a:r>
              <a:rPr lang="en-US" altLang="zh-CN" dirty="0"/>
              <a:t> (bad sampling, biased methods).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1855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Example: </a:t>
            </a:r>
            <a:br>
              <a:rPr lang="en-US" altLang="zh-CN" dirty="0"/>
            </a:br>
            <a:r>
              <a:rPr lang="en-US" altLang="zh-CN" b="0" dirty="0"/>
              <a:t>Group A: Mean = 10, 95% CI = [8, 12]</a:t>
            </a:r>
          </a:p>
          <a:p>
            <a:r>
              <a:rPr lang="en-US" altLang="zh-CN" b="0" dirty="0"/>
              <a:t>Group B: Mean = 12, 95% CI = [10, 14]</a:t>
            </a:r>
          </a:p>
          <a:p>
            <a:r>
              <a:rPr lang="en-US" altLang="zh-CN" b="0" dirty="0"/>
              <a:t>These intervals overlap (10–12).</a:t>
            </a:r>
          </a:p>
          <a:p>
            <a:r>
              <a:rPr lang="en-US" altLang="zh-CN" b="0" dirty="0"/>
              <a:t>But if we compute the difference (A–B = –2), its 95% CI might be [–3.5, –0.5].</a:t>
            </a:r>
          </a:p>
          <a:p>
            <a:r>
              <a:rPr lang="en-US" altLang="zh-CN" b="0" dirty="0"/>
              <a:t>This CI does not include 0 </a:t>
            </a:r>
            <a:r>
              <a:rPr lang="en-US" altLang="zh-CN" b="0" dirty="0">
                <a:sym typeface="Wingdings" pitchFamily="2" charset="2"/>
              </a:rPr>
              <a:t></a:t>
            </a:r>
            <a:r>
              <a:rPr lang="en-US" altLang="zh-CN" b="0" dirty="0"/>
              <a:t> significant difference</a:t>
            </a:r>
          </a:p>
          <a:p>
            <a:r>
              <a:rPr lang="en-US" altLang="zh-CN" b="0" dirty="0"/>
              <a:t>So even though the original CIs overlap, the groups are still statistically different.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6317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Medical example: A drug reduces blood pressure by 1 mmHg with p &lt; 0.001 (statistically significant</a:t>
            </a:r>
            <a:r>
              <a:rPr lang="en-US" altLang="zh-CN" dirty="0"/>
              <a:t>). But in practice, that reduction is too small to improve patient health 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en-US" altLang="zh-CN" dirty="0"/>
              <a:t> not substantively significant.</a:t>
            </a:r>
            <a:endParaRPr lang="en-US" altLang="zh-CN" b="0" dirty="0"/>
          </a:p>
          <a:p>
            <a:r>
              <a:rPr lang="en-US" altLang="zh-CN" b="0" dirty="0"/>
              <a:t>Education example: A new teaching method raises test scores by 10 points on average, but the p-value = 0.12. Substantively, that effect could be meaningful for students, but the study didn’t have enough power.</a:t>
            </a: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2250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Break into groups in 3 or 4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5788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11D80-A48E-B842-A5FC-4C2CD2C4309D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7829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503" y="449664"/>
            <a:ext cx="10754994" cy="1158071"/>
          </a:xfrm>
        </p:spPr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503" y="345440"/>
            <a:ext cx="10754994" cy="1483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595" y="1981200"/>
            <a:ext cx="9782810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4715" y="6448256"/>
            <a:ext cx="2571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9437" y="1600200"/>
            <a:ext cx="8493125" cy="271426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6000" dirty="0">
                <a:solidFill>
                  <a:srgbClr val="005493"/>
                </a:solidFill>
              </a:rPr>
              <a:t>G</a:t>
            </a:r>
            <a:r>
              <a:rPr lang="en-US" altLang="zh-CN" sz="6000" dirty="0">
                <a:solidFill>
                  <a:schemeClr val="tx2"/>
                </a:solidFill>
              </a:rPr>
              <a:t>ENED </a:t>
            </a:r>
            <a:r>
              <a:rPr lang="en-US" altLang="zh-CN" sz="6000" dirty="0">
                <a:solidFill>
                  <a:srgbClr val="005493"/>
                </a:solidFill>
              </a:rPr>
              <a:t>1079 Section 3 </a:t>
            </a:r>
            <a:r>
              <a:rPr sz="6000" dirty="0">
                <a:solidFill>
                  <a:srgbClr val="005493"/>
                </a:solidFill>
              </a:rPr>
              <a:t>Confidence Intervals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5493"/>
                </a:solidFill>
              </a:rPr>
              <a:t>Upcoming / Reminders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DE234-F88C-27ED-56A1-A5B27A7F1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2000" dirty="0">
                <a:solidFill>
                  <a:schemeClr val="dk1"/>
                </a:solidFill>
                <a:latin typeface="Arial"/>
                <a:ea typeface="Century Gothic"/>
                <a:cs typeface="Arial"/>
                <a:sym typeface="Century Gothic"/>
              </a:rPr>
              <a:t>Janice’s office hour </a:t>
            </a:r>
            <a:r>
              <a:rPr lang="en-US" sz="2000" b="1">
                <a:solidFill>
                  <a:schemeClr val="dk1"/>
                </a:solidFill>
                <a:latin typeface="Arial"/>
                <a:ea typeface="Century Gothic"/>
                <a:cs typeface="Arial"/>
                <a:sym typeface="Century Gothic"/>
              </a:rPr>
              <a:t>TONIGHT</a:t>
            </a:r>
            <a:r>
              <a:rPr lang="en-US" sz="2000">
                <a:solidFill>
                  <a:schemeClr val="dk1"/>
                </a:solidFill>
                <a:latin typeface="Arial"/>
                <a:ea typeface="Century Gothic"/>
                <a:cs typeface="Arial"/>
                <a:sym typeface="Century Gothic"/>
              </a:rPr>
              <a:t> </a:t>
            </a:r>
            <a:r>
              <a:rPr lang="en-US" sz="2000" b="1">
                <a:solidFill>
                  <a:schemeClr val="dk1"/>
                </a:solidFill>
                <a:latin typeface="Arial"/>
                <a:ea typeface="Century Gothic"/>
                <a:cs typeface="Arial"/>
                <a:sym typeface="Century Gothic"/>
              </a:rPr>
              <a:t>6-7PM</a:t>
            </a:r>
            <a:endParaRPr lang="en-US" sz="2000" dirty="0">
              <a:solidFill>
                <a:schemeClr val="dk1"/>
              </a:solidFill>
              <a:latin typeface="Arial"/>
              <a:ea typeface="Century Gothic"/>
              <a:cs typeface="Arial"/>
              <a:sym typeface="Century Gothic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US" sz="2000" dirty="0">
                <a:solidFill>
                  <a:schemeClr val="dk1"/>
                </a:solidFill>
                <a:latin typeface="Arial"/>
                <a:ea typeface="Century Gothic"/>
                <a:cs typeface="Arial"/>
                <a:sym typeface="Century Gothic"/>
              </a:rPr>
              <a:t>Unit Assignment 1: due Sept 25 (Friday) at 5pm ET on Canvas </a:t>
            </a:r>
          </a:p>
        </p:txBody>
      </p:sp>
      <p:sp>
        <p:nvSpPr>
          <p:cNvPr id="218" name="Google Shape;218;p24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19" name="Google Shape;219;p24"/>
          <p:cNvSpPr txBox="1"/>
          <p:nvPr/>
        </p:nvSpPr>
        <p:spPr>
          <a:xfrm>
            <a:off x="9998676" y="1528120"/>
            <a:ext cx="18288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76200">
              <a:buClr>
                <a:schemeClr val="accent1"/>
              </a:buClr>
              <a:buSzPts val="2400"/>
            </a:pP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263105-6C38-1AA6-DAEB-106F955EEDC4}"/>
              </a:ext>
            </a:extLst>
          </p:cNvPr>
          <p:cNvSpPr txBox="1"/>
          <p:nvPr/>
        </p:nvSpPr>
        <p:spPr>
          <a:xfrm>
            <a:off x="9761838" y="38305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195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752600"/>
            <a:ext cx="7084061" cy="291438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>
              <a:lnSpc>
                <a:spcPct val="150000"/>
              </a:lnSpc>
              <a:spcBef>
                <a:spcPts val="700"/>
              </a:spcBef>
              <a:buChar char="•"/>
              <a:tabLst>
                <a:tab pos="240665" algn="l"/>
              </a:tabLst>
            </a:pPr>
            <a:r>
              <a:rPr sz="2400" dirty="0">
                <a:latin typeface="Arial"/>
                <a:cs typeface="Arial"/>
              </a:rPr>
              <a:t>Review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confidence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concepts</a:t>
            </a:r>
            <a:endParaRPr sz="2400" dirty="0">
              <a:latin typeface="Arial"/>
              <a:cs typeface="Arial"/>
            </a:endParaRPr>
          </a:p>
          <a:p>
            <a:pPr marL="240665" indent="-227965">
              <a:lnSpc>
                <a:spcPct val="150000"/>
              </a:lnSpc>
              <a:spcBef>
                <a:spcPts val="600"/>
              </a:spcBef>
              <a:buChar char="•"/>
              <a:tabLst>
                <a:tab pos="240665" algn="l"/>
              </a:tabLst>
            </a:pPr>
            <a:r>
              <a:rPr sz="2400" dirty="0">
                <a:latin typeface="Arial"/>
                <a:cs typeface="Arial"/>
              </a:rPr>
              <a:t>Confidence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interval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practice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questions</a:t>
            </a:r>
            <a:endParaRPr sz="2400" dirty="0">
              <a:latin typeface="Arial"/>
              <a:cs typeface="Arial"/>
            </a:endParaRPr>
          </a:p>
          <a:p>
            <a:pPr marL="697865" lvl="1" indent="-227965">
              <a:lnSpc>
                <a:spcPct val="150000"/>
              </a:lnSpc>
              <a:spcBef>
                <a:spcPts val="700"/>
              </a:spcBef>
              <a:buFont typeface="Calibri"/>
              <a:buChar char="-"/>
              <a:tabLst>
                <a:tab pos="697865" algn="l"/>
              </a:tabLst>
            </a:pPr>
            <a:r>
              <a:rPr sz="2000" dirty="0">
                <a:latin typeface="Arial"/>
                <a:cs typeface="Arial"/>
              </a:rPr>
              <a:t>Practice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Question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</a:t>
            </a:r>
          </a:p>
          <a:p>
            <a:pPr marL="697865" lvl="1" indent="-227965">
              <a:lnSpc>
                <a:spcPct val="150000"/>
              </a:lnSpc>
              <a:spcBef>
                <a:spcPts val="530"/>
              </a:spcBef>
              <a:buFont typeface="Calibri"/>
              <a:buChar char="-"/>
              <a:tabLst>
                <a:tab pos="697865" algn="l"/>
              </a:tabLst>
            </a:pPr>
            <a:r>
              <a:rPr sz="2000" dirty="0">
                <a:latin typeface="Arial"/>
                <a:cs typeface="Arial"/>
              </a:rPr>
              <a:t>Practice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Question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endParaRPr lang="en-US" sz="2000" dirty="0">
              <a:latin typeface="Arial"/>
              <a:cs typeface="Arial"/>
            </a:endParaRPr>
          </a:p>
          <a:p>
            <a:pPr marL="240665" indent="-227965">
              <a:lnSpc>
                <a:spcPct val="150000"/>
              </a:lnSpc>
              <a:spcBef>
                <a:spcPts val="640"/>
              </a:spcBef>
              <a:buChar char="•"/>
              <a:tabLst>
                <a:tab pos="240665" algn="l"/>
              </a:tabLst>
            </a:pPr>
            <a:r>
              <a:rPr lang="en-US" sz="2400" dirty="0">
                <a:latin typeface="Arial"/>
                <a:cs typeface="Arial"/>
              </a:rPr>
              <a:t>Group</a:t>
            </a:r>
            <a:r>
              <a:rPr lang="en-US" sz="2400" spc="-135" dirty="0">
                <a:latin typeface="Arial"/>
                <a:cs typeface="Arial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Activity</a:t>
            </a:r>
            <a:endParaRPr lang="en-US"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Confidence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Intervals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–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411"/>
            <a:ext cx="10147935" cy="4048672"/>
          </a:xfrm>
          <a:prstGeom prst="rect">
            <a:avLst/>
          </a:prstGeom>
        </p:spPr>
        <p:txBody>
          <a:bodyPr vert="horz" wrap="square" lIns="0" tIns="53975" rIns="0" bIns="0" rtlCol="0" anchor="t">
            <a:spAutoFit/>
          </a:bodyPr>
          <a:lstStyle/>
          <a:p>
            <a:pPr marL="240665" indent="-227965">
              <a:lnSpc>
                <a:spcPct val="120000"/>
              </a:lnSpc>
              <a:spcBef>
                <a:spcPts val="42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95%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is:</a:t>
            </a:r>
            <a:endParaRPr sz="2000" dirty="0">
              <a:latin typeface="Arial"/>
              <a:cs typeface="Arial"/>
            </a:endParaRPr>
          </a:p>
          <a:p>
            <a:pPr marL="698500" marR="93980" indent="-228600" algn="l">
              <a:lnSpc>
                <a:spcPct val="120000"/>
              </a:lnSpc>
              <a:spcBef>
                <a:spcPts val="580"/>
              </a:spcBef>
              <a:buFont typeface="Calibri"/>
              <a:buChar char="-"/>
              <a:tabLst>
                <a:tab pos="698500" algn="l"/>
              </a:tabLst>
            </a:pP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lang="en-US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range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values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95%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sure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some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true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population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parameter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lies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between,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B9BD5"/>
                </a:solidFill>
                <a:latin typeface="Arial"/>
                <a:cs typeface="Arial"/>
              </a:rPr>
              <a:t>given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our</a:t>
            </a:r>
            <a:r>
              <a:rPr lang="en-US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assumptions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about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data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observe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(e.g.,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it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was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randomly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5B9BD5"/>
                </a:solidFill>
                <a:latin typeface="Arial"/>
                <a:cs typeface="Arial"/>
              </a:rPr>
              <a:t>collected).</a:t>
            </a:r>
            <a:endParaRPr lang="en-US" dirty="0">
              <a:latin typeface="Arial"/>
              <a:cs typeface="Arial"/>
            </a:endParaRPr>
          </a:p>
          <a:p>
            <a:pPr marL="698500" marR="5080" lvl="1" indent="-228600">
              <a:lnSpc>
                <a:spcPct val="120000"/>
              </a:lnSpc>
              <a:spcBef>
                <a:spcPts val="515"/>
              </a:spcBef>
              <a:buFont typeface="Calibri"/>
              <a:buChar char="-"/>
              <a:tabLst>
                <a:tab pos="698500" algn="l"/>
              </a:tabLst>
            </a:pP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Or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:</a:t>
            </a:r>
            <a:r>
              <a:rPr lang="en-US" sz="1800" spc="-5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the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range</a:t>
            </a:r>
            <a:r>
              <a:rPr lang="en-US"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lang="en-US"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values</a:t>
            </a:r>
            <a:r>
              <a:rPr lang="en-US"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likely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include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parameter</a:t>
            </a:r>
            <a:r>
              <a:rPr lang="en-US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solidFill>
                  <a:srgbClr val="5B9BD5"/>
                </a:solidFill>
                <a:latin typeface="Arial"/>
                <a:cs typeface="Arial"/>
              </a:rPr>
              <a:t>are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trying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estimate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from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sample.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It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means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if the experiment or test were repeated 100 times, 95 of those CIs would contain the true population parameter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lang="en-US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lang="en-US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trying</a:t>
            </a:r>
            <a:r>
              <a:rPr lang="en-US"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lang="en-US"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5B9BD5"/>
                </a:solidFill>
                <a:latin typeface="Arial"/>
                <a:cs typeface="Arial"/>
              </a:rPr>
              <a:t>estimate.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spcBef>
                <a:spcPts val="153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It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based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10" dirty="0">
                <a:latin typeface="Arial"/>
                <a:cs typeface="Arial"/>
              </a:rPr>
              <a:t> elements: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295"/>
              </a:spcBef>
              <a:buFont typeface="Calibri"/>
              <a:buChar char="-"/>
              <a:tabLst>
                <a:tab pos="6978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(1)</a:t>
            </a:r>
            <a:r>
              <a:rPr sz="1800" spc="-6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estimate,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(2)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how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much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varies,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(3)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size.</a:t>
            </a:r>
            <a:endParaRPr sz="2200" dirty="0"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spcBef>
                <a:spcPts val="142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How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get a more accurate estimate of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interval:</a:t>
            </a:r>
            <a:endParaRPr sz="20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295"/>
              </a:spcBef>
              <a:buFont typeface="Calibri"/>
              <a:buChar char="-"/>
              <a:tabLst>
                <a:tab pos="6978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Increase</a:t>
            </a:r>
            <a:r>
              <a:rPr sz="18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size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Central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Limit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Theorem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– </a:t>
            </a:r>
            <a:r>
              <a:rPr spc="-10" dirty="0">
                <a:solidFill>
                  <a:schemeClr val="tx2"/>
                </a:solidFill>
              </a:rPr>
              <a:t>Review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9411"/>
            <a:ext cx="10283190" cy="31926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665" indent="-227965">
              <a:lnSpc>
                <a:spcPct val="120000"/>
              </a:lnSpc>
              <a:spcBef>
                <a:spcPts val="42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Central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Limit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Theorem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(CLT)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states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that…</a:t>
            </a:r>
            <a:endParaRPr sz="2000" dirty="0">
              <a:latin typeface="Arial"/>
              <a:cs typeface="Arial"/>
            </a:endParaRPr>
          </a:p>
          <a:p>
            <a:pPr marL="698500" marR="13335" lvl="1" indent="-228600">
              <a:lnSpc>
                <a:spcPct val="120000"/>
              </a:lnSpc>
              <a:spcBef>
                <a:spcPts val="580"/>
              </a:spcBef>
              <a:buFont typeface="Calibri"/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As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size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grows,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distribution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means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converges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normal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distribution.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This</a:t>
            </a:r>
            <a:r>
              <a:rPr sz="18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z="1800" spc="-35" dirty="0">
                <a:solidFill>
                  <a:srgbClr val="5B9BD5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what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typically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use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calculate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intervals.</a:t>
            </a:r>
            <a:endParaRPr sz="1800" dirty="0">
              <a:latin typeface="Arial"/>
              <a:cs typeface="Arial"/>
            </a:endParaRPr>
          </a:p>
          <a:p>
            <a:pPr lvl="1">
              <a:lnSpc>
                <a:spcPct val="120000"/>
              </a:lnSpc>
              <a:buClr>
                <a:srgbClr val="5B9BD5"/>
              </a:buClr>
              <a:buFont typeface="Calibri"/>
              <a:buChar char="-"/>
            </a:pP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spcBef>
                <a:spcPts val="162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</a:t>
            </a:r>
            <a:r>
              <a:rPr sz="2000" spc="-25" dirty="0">
                <a:latin typeface="Arial"/>
                <a:cs typeface="Arial"/>
              </a:rPr>
              <a:t> CLT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intervals</a:t>
            </a:r>
            <a:r>
              <a:rPr sz="2000" spc="-20" dirty="0">
                <a:latin typeface="Arial"/>
                <a:cs typeface="Arial"/>
              </a:rPr>
              <a:t> for?</a:t>
            </a:r>
            <a:endParaRPr sz="2000" dirty="0">
              <a:latin typeface="Arial"/>
              <a:cs typeface="Arial"/>
            </a:endParaRPr>
          </a:p>
          <a:p>
            <a:pPr marL="698500" marR="5080" lvl="1" indent="-228600">
              <a:lnSpc>
                <a:spcPct val="120000"/>
              </a:lnSpc>
              <a:spcBef>
                <a:spcPts val="580"/>
              </a:spcBef>
              <a:buFont typeface="Calibri"/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can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use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intervals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statistical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tests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(e.g.,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patients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taking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drug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X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more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likely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experience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viral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suppression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HIV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than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patients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taking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drug</a:t>
            </a:r>
            <a:r>
              <a:rPr sz="1800" spc="-5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Y?)</a:t>
            </a:r>
            <a:endParaRPr sz="18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310"/>
              </a:spcBef>
              <a:buFont typeface="Calibri"/>
              <a:buChar char="-"/>
              <a:tabLst>
                <a:tab pos="697865" algn="l"/>
              </a:tabLst>
            </a:pPr>
            <a:r>
              <a:rPr sz="1800" spc="-8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tell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how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“good”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an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estimate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spc="-175" dirty="0">
                <a:solidFill>
                  <a:srgbClr val="5B9BD5"/>
                </a:solidFill>
                <a:latin typeface="Wingdings"/>
                <a:cs typeface="Arial"/>
                <a:sym typeface="Wingdings" pitchFamily="2" charset="2"/>
              </a:rPr>
              <a:t></a:t>
            </a:r>
            <a:r>
              <a:rPr sz="1800" spc="45" dirty="0">
                <a:solidFill>
                  <a:srgbClr val="5B9BD5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larger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CI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means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more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caution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must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be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taken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Confidence</a:t>
            </a:r>
            <a:r>
              <a:rPr spc="-6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Intervals</a:t>
            </a:r>
            <a:r>
              <a:rPr spc="-6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and</a:t>
            </a:r>
            <a:r>
              <a:rPr spc="-65" dirty="0">
                <a:solidFill>
                  <a:schemeClr val="tx2"/>
                </a:solidFill>
              </a:rPr>
              <a:t> </a:t>
            </a:r>
            <a:r>
              <a:rPr spc="-20" dirty="0">
                <a:solidFill>
                  <a:schemeClr val="tx2"/>
                </a:solidFill>
              </a:rPr>
              <a:t>CLT</a:t>
            </a:r>
            <a:r>
              <a:rPr spc="-6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-</a:t>
            </a:r>
            <a:r>
              <a:rPr spc="-65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Review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50110" y="1500647"/>
            <a:ext cx="7891780" cy="4780280"/>
            <a:chOff x="745638" y="1447800"/>
            <a:chExt cx="7891780" cy="4780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0407" y="1689044"/>
              <a:ext cx="7684887" cy="4538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638" y="1447800"/>
              <a:ext cx="7891193" cy="47243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Practice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Question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332085" cy="18885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307975">
              <a:lnSpc>
                <a:spcPct val="120000"/>
              </a:lnSpc>
              <a:spcBef>
                <a:spcPts val="330"/>
              </a:spcBef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sample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college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students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surveyed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about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whether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ever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pulled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all- </a:t>
            </a:r>
            <a:r>
              <a:rPr sz="2000" dirty="0">
                <a:latin typeface="Arial"/>
                <a:cs typeface="Arial"/>
              </a:rPr>
              <a:t>nighter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finish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assignment.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95%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 for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proportion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 college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students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ever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pulled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all-nighter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computed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[0.512,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0.668].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How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would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you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interpret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this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confidence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interval?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3C376-B275-9425-AA30-893C44B9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E524383-B130-F74E-2B6F-85C9BBB0086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AFE3888-55C8-7999-B91A-F52750B306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Practice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Question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F4B8C0A-5C72-7A40-3150-AEBA20DA1E98}"/>
              </a:ext>
            </a:extLst>
          </p:cNvPr>
          <p:cNvSpPr txBox="1"/>
          <p:nvPr/>
        </p:nvSpPr>
        <p:spPr>
          <a:xfrm>
            <a:off x="916939" y="1821179"/>
            <a:ext cx="10332085" cy="3205108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307975">
              <a:lnSpc>
                <a:spcPct val="120000"/>
              </a:lnSpc>
              <a:spcBef>
                <a:spcPts val="330"/>
              </a:spcBef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sample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college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students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surveyed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about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whether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ever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pulled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all- </a:t>
            </a:r>
            <a:r>
              <a:rPr sz="2000" dirty="0">
                <a:latin typeface="Arial"/>
                <a:cs typeface="Arial"/>
              </a:rPr>
              <a:t>nighter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finish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0" dirty="0">
                <a:latin typeface="Arial"/>
                <a:cs typeface="Arial"/>
              </a:rPr>
              <a:t> assignment.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95%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 for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proportion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 college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students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have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ever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pulled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all-nighter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computed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be </a:t>
            </a:r>
            <a:r>
              <a:rPr sz="2000" dirty="0">
                <a:latin typeface="Arial"/>
                <a:cs typeface="Arial"/>
              </a:rPr>
              <a:t>[0.512,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0.668].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How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would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you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interpret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this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confidence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interval?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endParaRPr sz="2200" dirty="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1590"/>
              </a:spcBef>
            </a:pP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interpretation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this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interval</a:t>
            </a:r>
            <a:r>
              <a:rPr sz="2000" spc="-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we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95%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confident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proportion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all college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students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who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have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ever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pulled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an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all-nighter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population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between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20000"/>
              </a:lnSpc>
            </a:pP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0.512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and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0.668.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708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D6DD-8227-6DFB-8BA6-B56A5026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5F1DDA4-00FC-09F8-42D0-2FEE91B5945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0A85976-2461-A1B5-62FD-CDDBF04DC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Practice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Question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B1FC28-A007-9224-3913-A512E6DA0632}"/>
              </a:ext>
            </a:extLst>
          </p:cNvPr>
          <p:cNvSpPr txBox="1"/>
          <p:nvPr/>
        </p:nvSpPr>
        <p:spPr>
          <a:xfrm>
            <a:off x="916939" y="1821179"/>
            <a:ext cx="9756140" cy="157305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90805" algn="just">
              <a:lnSpc>
                <a:spcPct val="120000"/>
              </a:lnSpc>
              <a:spcBef>
                <a:spcPts val="350"/>
              </a:spcBef>
            </a:pPr>
            <a:r>
              <a:rPr sz="2000" dirty="0">
                <a:latin typeface="Arial"/>
                <a:cs typeface="Arial"/>
              </a:rPr>
              <a:t>In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2016,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pollsters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routinely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reported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support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Trump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ranging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40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percent.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Ignoring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electoral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college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issues,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might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explain</a:t>
            </a:r>
            <a:r>
              <a:rPr sz="2000" b="1" spc="-10" dirty="0">
                <a:latin typeface="Arial"/>
                <a:cs typeface="Arial"/>
              </a:rPr>
              <a:t> their </a:t>
            </a:r>
            <a:r>
              <a:rPr sz="2000" b="1" dirty="0">
                <a:latin typeface="Arial"/>
                <a:cs typeface="Arial"/>
              </a:rPr>
              <a:t>incorrect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predictions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election</a:t>
            </a:r>
            <a:r>
              <a:rPr sz="2000" b="1" spc="-10" dirty="0">
                <a:latin typeface="Arial"/>
                <a:cs typeface="Arial"/>
              </a:rPr>
              <a:t> outcome?</a:t>
            </a:r>
            <a:endParaRPr lang="en-US" sz="2200" b="1" spc="-10" dirty="0">
              <a:latin typeface="Arial"/>
              <a:cs typeface="Arial"/>
            </a:endParaRPr>
          </a:p>
          <a:p>
            <a:pPr marL="12700" marR="90805" algn="just">
              <a:lnSpc>
                <a:spcPct val="120000"/>
              </a:lnSpc>
              <a:spcBef>
                <a:spcPts val="350"/>
              </a:spcBef>
            </a:pPr>
            <a:endParaRPr lang="en-US" sz="2200" spc="-10" dirty="0">
              <a:solidFill>
                <a:srgbClr val="5B9BD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687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Practice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Question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9756140" cy="42284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90805" algn="just">
              <a:lnSpc>
                <a:spcPct val="120000"/>
              </a:lnSpc>
              <a:spcBef>
                <a:spcPts val="350"/>
              </a:spcBef>
            </a:pPr>
            <a:r>
              <a:rPr sz="2000" dirty="0">
                <a:latin typeface="Arial"/>
                <a:cs typeface="Arial"/>
              </a:rPr>
              <a:t>In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2016,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pollsters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routinely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reported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confidence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intervals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support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Trump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ranging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40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46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percent.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Ignoring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electoral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college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issues,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might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explain</a:t>
            </a:r>
            <a:r>
              <a:rPr sz="2000" b="1" spc="-10" dirty="0">
                <a:latin typeface="Arial"/>
                <a:cs typeface="Arial"/>
              </a:rPr>
              <a:t> their </a:t>
            </a:r>
            <a:r>
              <a:rPr sz="2000" b="1" dirty="0">
                <a:latin typeface="Arial"/>
                <a:cs typeface="Arial"/>
              </a:rPr>
              <a:t>incorrect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predictions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election</a:t>
            </a:r>
            <a:r>
              <a:rPr sz="2000" b="1" spc="-10" dirty="0">
                <a:latin typeface="Arial"/>
                <a:cs typeface="Arial"/>
              </a:rPr>
              <a:t> outcome?</a:t>
            </a:r>
            <a:endParaRPr lang="en-US" sz="2200" b="1" spc="-10" dirty="0">
              <a:latin typeface="Arial"/>
              <a:cs typeface="Arial"/>
            </a:endParaRPr>
          </a:p>
          <a:p>
            <a:pPr marL="12700" marR="90805" algn="just">
              <a:lnSpc>
                <a:spcPct val="120000"/>
              </a:lnSpc>
              <a:spcBef>
                <a:spcPts val="350"/>
              </a:spcBef>
            </a:pPr>
            <a:endParaRPr lang="en-US" sz="2200" spc="-10" dirty="0">
              <a:solidFill>
                <a:srgbClr val="5B9BD5"/>
              </a:solidFill>
              <a:latin typeface="Arial"/>
              <a:cs typeface="Arial"/>
            </a:endParaRPr>
          </a:p>
          <a:p>
            <a:pPr marL="12700" marR="90805" algn="just">
              <a:lnSpc>
                <a:spcPct val="120000"/>
              </a:lnSpc>
              <a:spcBef>
                <a:spcPts val="350"/>
              </a:spcBef>
            </a:pP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Possible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answers: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spcBef>
                <a:spcPts val="815"/>
              </a:spcBef>
              <a:buChar char="•"/>
              <a:tabLst>
                <a:tab pos="240665" algn="l"/>
              </a:tabLst>
            </a:pP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Systematic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bias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polling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(i.e.,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sampling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was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not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random)</a:t>
            </a:r>
            <a:endParaRPr sz="2000" dirty="0">
              <a:latin typeface="Arial"/>
              <a:cs typeface="Arial"/>
            </a:endParaRPr>
          </a:p>
          <a:p>
            <a:pPr marL="241300" marR="619125" indent="-228600">
              <a:lnSpc>
                <a:spcPct val="120000"/>
              </a:lnSpc>
              <a:spcBef>
                <a:spcPts val="110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Was</a:t>
            </a:r>
            <a:r>
              <a:rPr sz="20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population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correctly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defined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(i.e.,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did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pollsters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from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“voting” population?)</a:t>
            </a:r>
            <a:endParaRPr sz="2000" dirty="0">
              <a:latin typeface="Arial"/>
              <a:cs typeface="Arial"/>
            </a:endParaRPr>
          </a:p>
          <a:p>
            <a:pPr marL="241300" marR="5080" indent="-228600">
              <a:lnSpc>
                <a:spcPct val="120000"/>
              </a:lnSpc>
              <a:spcBef>
                <a:spcPts val="1100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Remember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even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if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you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95%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sure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something,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there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still</a:t>
            </a:r>
            <a:r>
              <a:rPr sz="2000" spc="-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5%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probability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of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experiencing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tail 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event.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988" y="533400"/>
            <a:ext cx="11374011" cy="848822"/>
          </a:xfrm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469265" marR="5080" algn="l">
              <a:lnSpc>
                <a:spcPts val="4680"/>
              </a:lnSpc>
              <a:spcBef>
                <a:spcPts val="755"/>
              </a:spcBef>
            </a:pPr>
            <a:r>
              <a:rPr sz="3600" dirty="0">
                <a:solidFill>
                  <a:schemeClr val="tx2"/>
                </a:solidFill>
              </a:rPr>
              <a:t>Confidence</a:t>
            </a:r>
            <a:r>
              <a:rPr sz="3600" spc="-20" dirty="0">
                <a:solidFill>
                  <a:schemeClr val="tx2"/>
                </a:solidFill>
              </a:rPr>
              <a:t> </a:t>
            </a:r>
            <a:r>
              <a:rPr sz="3600" dirty="0">
                <a:solidFill>
                  <a:schemeClr val="tx2"/>
                </a:solidFill>
              </a:rPr>
              <a:t>Intervals</a:t>
            </a:r>
            <a:r>
              <a:rPr sz="3600" spc="-10" dirty="0">
                <a:solidFill>
                  <a:schemeClr val="tx2"/>
                </a:solidFill>
              </a:rPr>
              <a:t> </a:t>
            </a:r>
            <a:r>
              <a:rPr sz="3600" dirty="0">
                <a:solidFill>
                  <a:schemeClr val="tx2"/>
                </a:solidFill>
              </a:rPr>
              <a:t>and</a:t>
            </a:r>
            <a:r>
              <a:rPr sz="3600" spc="-15" dirty="0">
                <a:solidFill>
                  <a:schemeClr val="tx2"/>
                </a:solidFill>
              </a:rPr>
              <a:t> </a:t>
            </a:r>
            <a:r>
              <a:rPr sz="3600" spc="-10" dirty="0">
                <a:solidFill>
                  <a:schemeClr val="tx2"/>
                </a:solidFill>
              </a:rPr>
              <a:t>Statistical Significance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1179"/>
            <a:ext cx="10052685" cy="393812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1300" marR="734060" indent="-228600" algn="just">
              <a:lnSpc>
                <a:spcPct val="120000"/>
              </a:lnSpc>
              <a:spcBef>
                <a:spcPts val="35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two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intervals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do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not</a:t>
            </a:r>
            <a:r>
              <a:rPr sz="2000" b="1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overlap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conclude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 </a:t>
            </a:r>
            <a:r>
              <a:rPr sz="2000" dirty="0">
                <a:latin typeface="Arial"/>
                <a:cs typeface="Arial"/>
              </a:rPr>
              <a:t>statistically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significant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difference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population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given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level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of </a:t>
            </a:r>
            <a:r>
              <a:rPr sz="2000" spc="-10" dirty="0">
                <a:latin typeface="Arial"/>
                <a:cs typeface="Arial"/>
              </a:rPr>
              <a:t>confidence</a:t>
            </a:r>
            <a:endParaRPr sz="2000" dirty="0">
              <a:latin typeface="Arial"/>
              <a:cs typeface="Arial"/>
            </a:endParaRPr>
          </a:p>
          <a:p>
            <a:pPr marL="698500" marR="302895" lvl="1" indent="-228600" algn="just">
              <a:lnSpc>
                <a:spcPct val="120000"/>
              </a:lnSpc>
              <a:spcBef>
                <a:spcPts val="505"/>
              </a:spcBef>
              <a:buFont typeface="Calibri"/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Note: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confidence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intervals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*do*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overlap,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does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cs typeface="Arial"/>
              </a:rPr>
              <a:t>prove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there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*not*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statistically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significant</a:t>
            </a:r>
            <a:r>
              <a:rPr sz="18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difference</a:t>
            </a:r>
            <a:endParaRPr sz="1800" dirty="0">
              <a:latin typeface="Arial"/>
              <a:cs typeface="Arial"/>
            </a:endParaRPr>
          </a:p>
          <a:p>
            <a:pPr marL="697865" lvl="1" indent="-227965" algn="just">
              <a:lnSpc>
                <a:spcPct val="120000"/>
              </a:lnSpc>
              <a:spcBef>
                <a:spcPts val="204"/>
              </a:spcBef>
              <a:buFont typeface="Calibri"/>
              <a:buChar char="-"/>
              <a:tabLst>
                <a:tab pos="697865" algn="l"/>
              </a:tabLst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overlapping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CI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“rule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thumb”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only</a:t>
            </a:r>
            <a:endParaRPr sz="1800" dirty="0">
              <a:latin typeface="Arial"/>
              <a:cs typeface="Arial"/>
            </a:endParaRPr>
          </a:p>
          <a:p>
            <a:pPr lvl="1">
              <a:lnSpc>
                <a:spcPct val="120000"/>
              </a:lnSpc>
              <a:buClr>
                <a:srgbClr val="FF0000"/>
              </a:buClr>
              <a:buFont typeface="Calibri"/>
              <a:buChar char="-"/>
            </a:pPr>
            <a:endParaRPr sz="2200" dirty="0">
              <a:latin typeface="Arial"/>
              <a:cs typeface="Arial"/>
            </a:endParaRPr>
          </a:p>
          <a:p>
            <a:pPr marL="241300" marR="5080" indent="-228600">
              <a:lnSpc>
                <a:spcPct val="120000"/>
              </a:lnSpc>
              <a:spcBef>
                <a:spcPts val="167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If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confidence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interval</a:t>
            </a:r>
            <a:r>
              <a:rPr sz="2000" b="1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for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b="1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B9BD5"/>
                </a:solidFill>
                <a:latin typeface="Arial"/>
                <a:cs typeface="Arial"/>
              </a:rPr>
              <a:t>difference</a:t>
            </a:r>
            <a:r>
              <a:rPr sz="2000" b="1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contain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zero,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conclude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there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statistically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significant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difference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population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given </a:t>
            </a:r>
            <a:r>
              <a:rPr sz="2000" dirty="0">
                <a:latin typeface="Arial"/>
                <a:cs typeface="Arial"/>
              </a:rPr>
              <a:t>level of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confidence.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609600"/>
            <a:ext cx="11811000" cy="848822"/>
          </a:xfrm>
          <a:prstGeom prst="rect">
            <a:avLst/>
          </a:prstGeom>
        </p:spPr>
        <p:txBody>
          <a:bodyPr vert="horz" wrap="square" lIns="0" tIns="288925" rIns="0" bIns="0" rtlCol="0">
            <a:spAutoFit/>
          </a:bodyPr>
          <a:lstStyle/>
          <a:p>
            <a:pPr marL="469265" marR="5080">
              <a:lnSpc>
                <a:spcPts val="4680"/>
              </a:lnSpc>
              <a:spcBef>
                <a:spcPts val="755"/>
              </a:spcBef>
            </a:pPr>
            <a:r>
              <a:rPr sz="3600" dirty="0">
                <a:solidFill>
                  <a:schemeClr val="tx2"/>
                </a:solidFill>
              </a:rPr>
              <a:t>Statistical</a:t>
            </a:r>
            <a:r>
              <a:rPr sz="3600" spc="-20" dirty="0">
                <a:solidFill>
                  <a:schemeClr val="tx2"/>
                </a:solidFill>
              </a:rPr>
              <a:t> </a:t>
            </a:r>
            <a:r>
              <a:rPr sz="3600" dirty="0">
                <a:solidFill>
                  <a:schemeClr val="tx2"/>
                </a:solidFill>
              </a:rPr>
              <a:t>Significance</a:t>
            </a:r>
            <a:r>
              <a:rPr sz="3600" spc="-5" dirty="0">
                <a:solidFill>
                  <a:schemeClr val="tx2"/>
                </a:solidFill>
              </a:rPr>
              <a:t> </a:t>
            </a:r>
            <a:r>
              <a:rPr sz="3600" dirty="0">
                <a:solidFill>
                  <a:schemeClr val="tx2"/>
                </a:solidFill>
              </a:rPr>
              <a:t>vs</a:t>
            </a:r>
            <a:r>
              <a:rPr sz="3600" spc="-5" dirty="0">
                <a:solidFill>
                  <a:schemeClr val="tx2"/>
                </a:solidFill>
              </a:rPr>
              <a:t> </a:t>
            </a:r>
            <a:r>
              <a:rPr sz="3600" spc="-10" dirty="0">
                <a:solidFill>
                  <a:schemeClr val="tx2"/>
                </a:solidFill>
              </a:rPr>
              <a:t>Substantive Significance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0595"/>
            <a:ext cx="10354945" cy="352057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 algn="just">
              <a:lnSpc>
                <a:spcPct val="120000"/>
              </a:lnSpc>
              <a:spcBef>
                <a:spcPts val="890"/>
              </a:spcBef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difference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statistical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substantive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significance?</a:t>
            </a:r>
            <a:endParaRPr sz="2000" dirty="0">
              <a:latin typeface="Arial"/>
              <a:cs typeface="Arial"/>
            </a:endParaRPr>
          </a:p>
          <a:p>
            <a:pPr marL="241300" marR="408305" indent="-228600" algn="just">
              <a:lnSpc>
                <a:spcPct val="120000"/>
              </a:lnSpc>
              <a:spcBef>
                <a:spcPts val="110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Statistical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significance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shows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sz="20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an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effect</a:t>
            </a:r>
            <a:r>
              <a:rPr sz="20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exists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study,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using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various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significance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levels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(=analytical</a:t>
            </a:r>
            <a:r>
              <a:rPr sz="2000" spc="-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decision,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sample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size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can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play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role)</a:t>
            </a:r>
            <a:endParaRPr sz="2000" dirty="0">
              <a:latin typeface="Arial"/>
              <a:cs typeface="Arial"/>
            </a:endParaRPr>
          </a:p>
          <a:p>
            <a:pPr marL="241300" marR="5080" indent="-228600" algn="just">
              <a:lnSpc>
                <a:spcPct val="120000"/>
              </a:lnSpc>
              <a:spcBef>
                <a:spcPts val="1025"/>
              </a:spcBef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Substantive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significance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(also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called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practical</a:t>
            </a:r>
            <a:r>
              <a:rPr sz="2000" spc="-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or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clinical</a:t>
            </a:r>
            <a:r>
              <a:rPr sz="2000" spc="-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significance)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shows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that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effect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large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enough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be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meaningful</a:t>
            </a:r>
            <a:r>
              <a:rPr sz="2000" spc="-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real</a:t>
            </a:r>
            <a:r>
              <a:rPr sz="2000" spc="-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world.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Statistical</a:t>
            </a:r>
            <a:r>
              <a:rPr sz="2000" spc="-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significance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denoted</a:t>
            </a:r>
            <a:r>
              <a:rPr sz="20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by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p-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values/confidence</a:t>
            </a:r>
            <a:r>
              <a:rPr sz="20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intervals,</a:t>
            </a:r>
            <a:r>
              <a:rPr sz="20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whereas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practical</a:t>
            </a:r>
            <a:r>
              <a:rPr sz="20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significance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represented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by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B9BD5"/>
                </a:solidFill>
                <a:latin typeface="Arial"/>
                <a:cs typeface="Arial"/>
              </a:rPr>
              <a:t>effect</a:t>
            </a:r>
            <a:r>
              <a:rPr sz="20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B9BD5"/>
                </a:solidFill>
                <a:latin typeface="Arial"/>
                <a:cs typeface="Arial"/>
              </a:rPr>
              <a:t>sizes.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20000"/>
              </a:lnSpc>
            </a:pPr>
            <a:endParaRPr sz="2200" dirty="0">
              <a:latin typeface="Arial"/>
              <a:cs typeface="Arial"/>
            </a:endParaRPr>
          </a:p>
          <a:p>
            <a:pPr marL="12700" algn="just">
              <a:lnSpc>
                <a:spcPct val="120000"/>
              </a:lnSpc>
              <a:spcBef>
                <a:spcPts val="1380"/>
              </a:spcBef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some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highlight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0" dirty="0">
                <a:latin typeface="Arial"/>
                <a:cs typeface="Arial"/>
              </a:rPr>
              <a:t> difference?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Confidence</a:t>
            </a:r>
            <a:r>
              <a:rPr spc="-2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Intervals:</a:t>
            </a:r>
            <a:r>
              <a:rPr spc="-15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Group</a:t>
            </a:r>
            <a:r>
              <a:rPr spc="-180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Activity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5564"/>
            <a:ext cx="10334625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abstracts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studies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social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media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mental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health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next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slides.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study,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answer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following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question: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primary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outcomes?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20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0" dirty="0">
                <a:latin typeface="Arial"/>
                <a:cs typeface="Arial"/>
              </a:rPr>
              <a:t> treatment?</a:t>
            </a:r>
            <a:endParaRPr sz="2000" dirty="0">
              <a:latin typeface="Arial"/>
              <a:cs typeface="Arial"/>
            </a:endParaRPr>
          </a:p>
          <a:p>
            <a:pPr marL="241300" marR="848360" indent="-228600">
              <a:lnSpc>
                <a:spcPct val="100000"/>
              </a:lnSpc>
              <a:spcBef>
                <a:spcPts val="12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treatment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effects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find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each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outcome?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Report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95%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0" dirty="0">
                <a:latin typeface="Arial"/>
                <a:cs typeface="Arial"/>
              </a:rPr>
              <a:t> each </a:t>
            </a:r>
            <a:r>
              <a:rPr sz="2000" spc="-10" dirty="0">
                <a:latin typeface="Arial"/>
                <a:cs typeface="Arial"/>
              </a:rPr>
              <a:t>outcome.</a:t>
            </a:r>
            <a:endParaRPr sz="2000" dirty="0">
              <a:latin typeface="Arial"/>
              <a:cs typeface="Arial"/>
            </a:endParaRPr>
          </a:p>
          <a:p>
            <a:pPr marL="241300" marR="287655" indent="-228600">
              <a:lnSpc>
                <a:spcPct val="100000"/>
              </a:lnSpc>
              <a:spcBef>
                <a:spcPts val="12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"/>
                <a:cs typeface="Arial"/>
              </a:rPr>
              <a:t>What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two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potential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explanations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explain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studies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arrived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different results?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220334"/>
          </a:xfrm>
          <a:prstGeom prst="rect">
            <a:avLst/>
          </a:prstGeom>
        </p:spPr>
        <p:txBody>
          <a:bodyPr vert="horz" wrap="square" lIns="0" tIns="537972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Study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552" y="1620922"/>
            <a:ext cx="4733917" cy="22993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7412" y="4317492"/>
            <a:ext cx="4307205" cy="8731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14"/>
              </a:spcBef>
            </a:pPr>
            <a:r>
              <a:rPr sz="1400" spc="-10" dirty="0">
                <a:solidFill>
                  <a:srgbClr val="222222"/>
                </a:solidFill>
                <a:latin typeface="Arial"/>
                <a:cs typeface="Arial"/>
              </a:rPr>
              <a:t>Barthorpe,</a:t>
            </a:r>
            <a:r>
              <a:rPr sz="1400" spc="-1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22222"/>
                </a:solidFill>
                <a:latin typeface="Arial"/>
                <a:cs typeface="Arial"/>
              </a:rPr>
              <a:t>Amber, </a:t>
            </a:r>
            <a:r>
              <a:rPr sz="1400" dirty="0">
                <a:solidFill>
                  <a:srgbClr val="222222"/>
                </a:solidFill>
                <a:latin typeface="Arial"/>
                <a:cs typeface="Arial"/>
              </a:rPr>
              <a:t>et</a:t>
            </a:r>
            <a:r>
              <a:rPr sz="1400" spc="-1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22222"/>
                </a:solidFill>
                <a:latin typeface="Arial"/>
                <a:cs typeface="Arial"/>
              </a:rPr>
              <a:t>al.</a:t>
            </a:r>
            <a:r>
              <a:rPr sz="14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"Is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social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media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 screen</a:t>
            </a:r>
            <a:r>
              <a:rPr sz="1400" b="1" spc="50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time</a:t>
            </a:r>
            <a:r>
              <a:rPr sz="1400" b="1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really</a:t>
            </a:r>
            <a:r>
              <a:rPr sz="1400" b="1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associated</a:t>
            </a:r>
            <a:r>
              <a:rPr sz="1400" b="1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with</a:t>
            </a:r>
            <a:r>
              <a:rPr sz="1400" b="1" spc="-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poor</a:t>
            </a:r>
            <a:r>
              <a:rPr sz="1400" b="1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adolescent</a:t>
            </a:r>
            <a:r>
              <a:rPr sz="1400" b="1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mental health?</a:t>
            </a:r>
            <a:r>
              <a:rPr sz="1400" b="1" spc="-8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400" b="1" spc="-7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time</a:t>
            </a:r>
            <a:r>
              <a:rPr sz="14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use</a:t>
            </a:r>
            <a:r>
              <a:rPr sz="14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rial"/>
                <a:cs typeface="Arial"/>
              </a:rPr>
              <a:t>diary</a:t>
            </a:r>
            <a:r>
              <a:rPr sz="14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22222"/>
                </a:solidFill>
                <a:latin typeface="Arial"/>
                <a:cs typeface="Arial"/>
              </a:rPr>
              <a:t>study."</a:t>
            </a:r>
            <a:r>
              <a:rPr sz="14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22222"/>
                </a:solidFill>
                <a:latin typeface="Arial"/>
                <a:cs typeface="Arial"/>
              </a:rPr>
              <a:t>Journal</a:t>
            </a:r>
            <a:r>
              <a:rPr sz="1400" i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22222"/>
                </a:solidFill>
                <a:latin typeface="Arial"/>
                <a:cs typeface="Arial"/>
              </a:rPr>
              <a:t>of</a:t>
            </a:r>
            <a:r>
              <a:rPr sz="1400" i="1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222222"/>
                </a:solidFill>
                <a:latin typeface="Arial"/>
                <a:cs typeface="Arial"/>
              </a:rPr>
              <a:t>affective </a:t>
            </a:r>
            <a:r>
              <a:rPr sz="1400" i="1" dirty="0">
                <a:solidFill>
                  <a:srgbClr val="222222"/>
                </a:solidFill>
                <a:latin typeface="Arial"/>
                <a:cs typeface="Arial"/>
              </a:rPr>
              <a:t>disorders</a:t>
            </a:r>
            <a:r>
              <a:rPr sz="1400" i="1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22222"/>
                </a:solidFill>
                <a:latin typeface="Arial"/>
                <a:cs typeface="Arial"/>
              </a:rPr>
              <a:t>274</a:t>
            </a:r>
            <a:r>
              <a:rPr sz="14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22222"/>
                </a:solidFill>
                <a:latin typeface="Arial"/>
                <a:cs typeface="Arial"/>
              </a:rPr>
              <a:t>(2020):</a:t>
            </a:r>
            <a:r>
              <a:rPr sz="1400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22222"/>
                </a:solidFill>
                <a:latin typeface="Arial"/>
                <a:cs typeface="Arial"/>
              </a:rPr>
              <a:t>864-</a:t>
            </a:r>
            <a:r>
              <a:rPr sz="1400" spc="-20" dirty="0">
                <a:solidFill>
                  <a:srgbClr val="222222"/>
                </a:solidFill>
                <a:latin typeface="Arial"/>
                <a:cs typeface="Arial"/>
              </a:rPr>
              <a:t>870.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4356" y="793584"/>
            <a:ext cx="6112484" cy="556438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1095" y="838200"/>
            <a:ext cx="9862704" cy="59027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Study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spc="-5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654" y="1724659"/>
            <a:ext cx="3086100" cy="1122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1285">
              <a:lnSpc>
                <a:spcPct val="99400"/>
              </a:lnSpc>
              <a:spcBef>
                <a:spcPts val="105"/>
              </a:spcBef>
            </a:pP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Lambert,</a:t>
            </a:r>
            <a:r>
              <a:rPr sz="1200" spc="-10" dirty="0">
                <a:solidFill>
                  <a:srgbClr val="222222"/>
                </a:solidFill>
                <a:latin typeface="Arial"/>
                <a:cs typeface="Arial"/>
              </a:rPr>
              <a:t> Jeffrey, </a:t>
            </a: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et</a:t>
            </a:r>
            <a:r>
              <a:rPr sz="1200" spc="-1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al.</a:t>
            </a:r>
            <a:r>
              <a:rPr sz="1200" spc="-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22222"/>
                </a:solidFill>
                <a:latin typeface="Arial"/>
                <a:cs typeface="Arial"/>
              </a:rPr>
              <a:t>"</a:t>
            </a:r>
            <a:r>
              <a:rPr sz="1200" b="1" spc="-10" dirty="0">
                <a:solidFill>
                  <a:srgbClr val="222222"/>
                </a:solidFill>
                <a:latin typeface="Arial"/>
                <a:cs typeface="Arial"/>
              </a:rPr>
              <a:t>Taking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a</a:t>
            </a:r>
            <a:r>
              <a:rPr sz="1200" b="1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22222"/>
                </a:solidFill>
                <a:latin typeface="Arial"/>
                <a:cs typeface="Arial"/>
              </a:rPr>
              <a:t>one-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week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break</a:t>
            </a:r>
            <a:r>
              <a:rPr sz="1200" b="1" spc="-3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from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social</a:t>
            </a:r>
            <a:r>
              <a:rPr sz="1200" b="1" spc="-1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media</a:t>
            </a:r>
            <a:r>
              <a:rPr sz="1200" b="1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improves</a:t>
            </a:r>
            <a:r>
              <a:rPr sz="1200" b="1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well-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being,</a:t>
            </a:r>
            <a:r>
              <a:rPr sz="1200" b="1" spc="-2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depression,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and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anxiety: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222222"/>
                </a:solidFill>
                <a:latin typeface="Arial"/>
                <a:cs typeface="Arial"/>
              </a:rPr>
              <a:t>a </a:t>
            </a: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randomized</a:t>
            </a:r>
            <a:r>
              <a:rPr sz="1200" b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22222"/>
                </a:solidFill>
                <a:latin typeface="Arial"/>
                <a:cs typeface="Arial"/>
              </a:rPr>
              <a:t>controlled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</a:pPr>
            <a:r>
              <a:rPr sz="1200" b="1" dirty="0">
                <a:solidFill>
                  <a:srgbClr val="222222"/>
                </a:solidFill>
                <a:latin typeface="Arial"/>
                <a:cs typeface="Arial"/>
              </a:rPr>
              <a:t>trial." </a:t>
            </a:r>
            <a:r>
              <a:rPr sz="1200" i="1" spc="-10" dirty="0">
                <a:solidFill>
                  <a:srgbClr val="222222"/>
                </a:solidFill>
                <a:latin typeface="Arial"/>
                <a:cs typeface="Arial"/>
              </a:rPr>
              <a:t>Cyberpsychology,</a:t>
            </a:r>
            <a:r>
              <a:rPr sz="1200" i="1" spc="-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222222"/>
                </a:solidFill>
                <a:latin typeface="Arial"/>
                <a:cs typeface="Arial"/>
              </a:rPr>
              <a:t>Behavior,</a:t>
            </a:r>
            <a:r>
              <a:rPr sz="1200" i="1" dirty="0">
                <a:solidFill>
                  <a:srgbClr val="222222"/>
                </a:solidFill>
                <a:latin typeface="Arial"/>
                <a:cs typeface="Arial"/>
              </a:rPr>
              <a:t> and</a:t>
            </a:r>
            <a:r>
              <a:rPr sz="1200" i="1" spc="-10" dirty="0">
                <a:solidFill>
                  <a:srgbClr val="222222"/>
                </a:solidFill>
                <a:latin typeface="Arial"/>
                <a:cs typeface="Arial"/>
              </a:rPr>
              <a:t> Social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i="1" dirty="0">
                <a:solidFill>
                  <a:srgbClr val="222222"/>
                </a:solidFill>
                <a:latin typeface="Arial"/>
                <a:cs typeface="Arial"/>
              </a:rPr>
              <a:t>Networking</a:t>
            </a:r>
            <a:r>
              <a:rPr sz="1200" i="1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25.5</a:t>
            </a:r>
            <a:r>
              <a:rPr sz="1200" spc="-2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22222"/>
                </a:solidFill>
                <a:latin typeface="Arial"/>
                <a:cs typeface="Arial"/>
              </a:rPr>
              <a:t>(2022):</a:t>
            </a:r>
            <a:r>
              <a:rPr sz="1200" spc="-10" dirty="0">
                <a:solidFill>
                  <a:srgbClr val="222222"/>
                </a:solidFill>
                <a:latin typeface="Arial"/>
                <a:cs typeface="Arial"/>
              </a:rPr>
              <a:t> 287-</a:t>
            </a:r>
            <a:r>
              <a:rPr sz="1200" spc="-25" dirty="0">
                <a:solidFill>
                  <a:srgbClr val="222222"/>
                </a:solidFill>
                <a:latin typeface="Arial"/>
                <a:cs typeface="Arial"/>
              </a:rPr>
              <a:t>293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7314" y="1128001"/>
            <a:ext cx="7461285" cy="50324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3318" y="762000"/>
            <a:ext cx="7455180" cy="5029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606588"/>
            <a:ext cx="7696200" cy="5194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5709A-0E55-CBB9-A860-2E7BEAB9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03" y="449664"/>
            <a:ext cx="10754994" cy="1415772"/>
          </a:xfrm>
        </p:spPr>
        <p:txBody>
          <a:bodyPr/>
          <a:lstStyle/>
          <a:p>
            <a:pPr marL="12700">
              <a:spcBef>
                <a:spcPts val="100"/>
              </a:spcBef>
            </a:pPr>
            <a:r>
              <a:rPr lang="en-US" altLang="zh-CN" dirty="0">
                <a:solidFill>
                  <a:schemeClr val="tx2"/>
                </a:solidFill>
              </a:rPr>
              <a:t>Study</a:t>
            </a:r>
            <a:r>
              <a:rPr lang="en-US" altLang="zh-CN" spc="-25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1</a:t>
            </a:r>
            <a:r>
              <a:rPr lang="en-US" altLang="zh-CN" spc="-160" dirty="0">
                <a:solidFill>
                  <a:schemeClr val="tx2"/>
                </a:solidFill>
              </a:rPr>
              <a:t> </a:t>
            </a:r>
            <a:r>
              <a:rPr lang="en-US" altLang="zh-CN" spc="-10" dirty="0">
                <a:solidFill>
                  <a:schemeClr val="tx2"/>
                </a:solidFill>
              </a:rPr>
              <a:t>Answers</a:t>
            </a:r>
            <a:br>
              <a:rPr lang="en-US" altLang="zh-CN" sz="4000" dirty="0">
                <a:solidFill>
                  <a:schemeClr val="tx2"/>
                </a:solidFill>
              </a:rPr>
            </a:br>
            <a:r>
              <a:rPr lang="en-US" altLang="zh-CN" sz="2400" dirty="0"/>
              <a:t>“</a:t>
            </a:r>
            <a:r>
              <a:rPr lang="en-US" altLang="zh-CN" sz="2400" dirty="0">
                <a:solidFill>
                  <a:srgbClr val="222222"/>
                </a:solidFill>
              </a:rPr>
              <a:t>Is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social media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screen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time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really associated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with</a:t>
            </a:r>
            <a:r>
              <a:rPr lang="en-US" altLang="zh-CN" sz="2400" spc="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poor</a:t>
            </a:r>
            <a:r>
              <a:rPr lang="en-US" altLang="zh-CN" sz="2400" spc="-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adolescent</a:t>
            </a:r>
            <a:r>
              <a:rPr lang="en-US" altLang="zh-CN" sz="2400" spc="10" dirty="0">
                <a:solidFill>
                  <a:srgbClr val="222222"/>
                </a:solidFill>
              </a:rPr>
              <a:t> </a:t>
            </a:r>
            <a:r>
              <a:rPr lang="en-US" altLang="zh-CN" sz="2400" spc="-10" dirty="0">
                <a:solidFill>
                  <a:srgbClr val="222222"/>
                </a:solidFill>
              </a:rPr>
              <a:t>mental </a:t>
            </a:r>
            <a:r>
              <a:rPr lang="en-US" altLang="zh-CN" sz="2400" dirty="0">
                <a:solidFill>
                  <a:srgbClr val="222222"/>
                </a:solidFill>
              </a:rPr>
              <a:t>health?</a:t>
            </a:r>
            <a:r>
              <a:rPr lang="en-US" altLang="zh-CN" sz="2400" spc="-7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</a:t>
            </a:r>
            <a:r>
              <a:rPr lang="en-US" altLang="zh-CN" sz="2400" spc="-8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time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use diary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spc="-10" dirty="0">
                <a:solidFill>
                  <a:srgbClr val="222222"/>
                </a:solidFill>
              </a:rPr>
              <a:t>study.”</a:t>
            </a:r>
            <a:endParaRPr kumimoji="1" lang="zh-CN" altLang="en-US" sz="24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3C440F-A50D-D139-6E33-A5F5FDB1F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4595" y="2133600"/>
            <a:ext cx="9782810" cy="3943515"/>
          </a:xfrm>
        </p:spPr>
        <p:txBody>
          <a:bodyPr/>
          <a:lstStyle/>
          <a:p>
            <a:pPr marL="298450" marR="442595" indent="-285750">
              <a:lnSpc>
                <a:spcPts val="2110"/>
              </a:lnSpc>
              <a:spcBef>
                <a:spcPts val="210"/>
              </a:spcBef>
              <a:buChar char="•"/>
              <a:tabLst>
                <a:tab pos="298450" algn="l"/>
              </a:tabLst>
            </a:pPr>
            <a:r>
              <a:rPr lang="en-US" altLang="zh-CN" sz="1800" dirty="0">
                <a:solidFill>
                  <a:srgbClr val="5B9BD5"/>
                </a:solidFill>
              </a:rPr>
              <a:t>The</a:t>
            </a:r>
            <a:r>
              <a:rPr lang="en-US" altLang="zh-CN" sz="1800" spc="-2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primary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outcomes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are:</a:t>
            </a:r>
            <a:r>
              <a:rPr lang="en-US" altLang="zh-CN" sz="1800" spc="-2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likelihood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of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self</a:t>
            </a:r>
            <a:r>
              <a:rPr lang="en-US" altLang="zh-CN" sz="1800" spc="-2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harm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in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the</a:t>
            </a:r>
            <a:r>
              <a:rPr lang="en-US" altLang="zh-CN" sz="1800" spc="-2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past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year,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depression</a:t>
            </a:r>
            <a:r>
              <a:rPr lang="en-US" altLang="zh-CN" sz="1800" spc="-2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(score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on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SMFQ</a:t>
            </a:r>
            <a:r>
              <a:rPr lang="en-US" altLang="zh-CN" sz="1800" spc="-2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),</a:t>
            </a:r>
            <a:r>
              <a:rPr lang="en-US" altLang="zh-CN" sz="1800" spc="465" dirty="0">
                <a:solidFill>
                  <a:srgbClr val="5B9BD5"/>
                </a:solidFill>
              </a:rPr>
              <a:t> </a:t>
            </a:r>
            <a:r>
              <a:rPr lang="en-US" altLang="zh-CN" sz="1800" spc="-20" dirty="0">
                <a:solidFill>
                  <a:srgbClr val="5B9BD5"/>
                </a:solidFill>
              </a:rPr>
              <a:t>self </a:t>
            </a:r>
            <a:r>
              <a:rPr lang="en-US" altLang="zh-CN" sz="1800" dirty="0">
                <a:solidFill>
                  <a:srgbClr val="5B9BD5"/>
                </a:solidFill>
              </a:rPr>
              <a:t>esteem</a:t>
            </a:r>
            <a:r>
              <a:rPr lang="en-US" altLang="zh-CN" sz="1800" spc="-4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levels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(shortened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Rosenberg</a:t>
            </a:r>
            <a:r>
              <a:rPr lang="en-US" altLang="zh-CN" sz="1800" spc="-25" dirty="0">
                <a:solidFill>
                  <a:srgbClr val="5B9BD5"/>
                </a:solidFill>
              </a:rPr>
              <a:t> </a:t>
            </a:r>
            <a:r>
              <a:rPr lang="en-US" altLang="zh-CN" sz="1800" spc="-10" dirty="0">
                <a:solidFill>
                  <a:srgbClr val="5B9BD5"/>
                </a:solidFill>
              </a:rPr>
              <a:t>scale)</a:t>
            </a:r>
            <a:endParaRPr lang="en-US" altLang="zh-CN" sz="1800" dirty="0"/>
          </a:p>
          <a:p>
            <a:pPr marL="297815" indent="-285115">
              <a:lnSpc>
                <a:spcPct val="100000"/>
              </a:lnSpc>
              <a:spcBef>
                <a:spcPts val="1165"/>
              </a:spcBef>
              <a:buChar char="•"/>
              <a:tabLst>
                <a:tab pos="297815" algn="l"/>
              </a:tabLst>
            </a:pPr>
            <a:r>
              <a:rPr lang="en-US" altLang="zh-CN" sz="1800" dirty="0">
                <a:solidFill>
                  <a:srgbClr val="5B9BD5"/>
                </a:solidFill>
              </a:rPr>
              <a:t>Treatment: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30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minute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increase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in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weekday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screen</a:t>
            </a:r>
            <a:r>
              <a:rPr lang="en-US" altLang="zh-CN" sz="1800" spc="-30" dirty="0">
                <a:solidFill>
                  <a:srgbClr val="5B9BD5"/>
                </a:solidFill>
              </a:rPr>
              <a:t> </a:t>
            </a:r>
            <a:r>
              <a:rPr lang="en-US" altLang="zh-CN" sz="1800" spc="-25" dirty="0">
                <a:solidFill>
                  <a:srgbClr val="5B9BD5"/>
                </a:solidFill>
              </a:rPr>
              <a:t>use</a:t>
            </a:r>
            <a:endParaRPr lang="en-US" altLang="zh-CN" sz="1800" dirty="0"/>
          </a:p>
          <a:p>
            <a:pPr marL="297815" indent="-285115">
              <a:lnSpc>
                <a:spcPct val="100000"/>
              </a:lnSpc>
              <a:spcBef>
                <a:spcPts val="1150"/>
              </a:spcBef>
              <a:buChar char="•"/>
              <a:tabLst>
                <a:tab pos="297815" algn="l"/>
              </a:tabLst>
            </a:pPr>
            <a:r>
              <a:rPr lang="en-US" altLang="zh-CN" sz="1800" dirty="0">
                <a:solidFill>
                  <a:srgbClr val="5B9BD5"/>
                </a:solidFill>
              </a:rPr>
              <a:t>Odds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spc="-10" dirty="0">
                <a:solidFill>
                  <a:srgbClr val="5B9BD5"/>
                </a:solidFill>
              </a:rPr>
              <a:t>ratios</a:t>
            </a:r>
            <a:endParaRPr lang="en-US" altLang="zh-CN" sz="1800" dirty="0"/>
          </a:p>
          <a:p>
            <a:pPr marL="755650" marR="423545" lvl="1" indent="-285750">
              <a:lnSpc>
                <a:spcPct val="102200"/>
              </a:lnSpc>
              <a:spcBef>
                <a:spcPts val="1180"/>
              </a:spcBef>
              <a:buChar char="•"/>
              <a:tabLst>
                <a:tab pos="755650" algn="l"/>
              </a:tabLst>
            </a:pP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Self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harm: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1.13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(CI: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1.06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–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1.21)</a:t>
            </a:r>
            <a:r>
              <a:rPr lang="en-US" altLang="zh-CN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30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minutes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extra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weekday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SM</a:t>
            </a:r>
            <a:r>
              <a:rPr lang="en-US" altLang="zh-CN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associated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with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13%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spc="-10" dirty="0">
                <a:solidFill>
                  <a:srgbClr val="5B9BD5"/>
                </a:solidFill>
                <a:latin typeface="Arial"/>
                <a:cs typeface="Arial"/>
              </a:rPr>
              <a:t>greater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likelihood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self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harm</a:t>
            </a:r>
            <a:endParaRPr lang="en-US" altLang="zh-CN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150"/>
              </a:spcBef>
              <a:buChar char="•"/>
              <a:tabLst>
                <a:tab pos="297815" algn="l"/>
              </a:tabLst>
            </a:pPr>
            <a:r>
              <a:rPr lang="en-US" altLang="zh-CN" sz="1800" spc="-10" dirty="0">
                <a:solidFill>
                  <a:srgbClr val="5B9BD5"/>
                </a:solidFill>
              </a:rPr>
              <a:t>Betas:</a:t>
            </a:r>
            <a:endParaRPr lang="en-US" altLang="zh-CN" sz="1800" dirty="0"/>
          </a:p>
          <a:p>
            <a:pPr marL="755650" marR="5080" lvl="1" indent="-285750">
              <a:lnSpc>
                <a:spcPts val="2110"/>
              </a:lnSpc>
              <a:spcBef>
                <a:spcPts val="1335"/>
              </a:spcBef>
              <a:buChar char="•"/>
              <a:tabLst>
                <a:tab pos="755650" algn="l"/>
              </a:tabLst>
            </a:pP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Depression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0.36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(CI: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0.22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-0.50)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30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minute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increase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weekday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SM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use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associated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with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0.36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spc="-10" dirty="0">
                <a:solidFill>
                  <a:srgbClr val="5B9BD5"/>
                </a:solidFill>
                <a:latin typeface="Arial"/>
                <a:cs typeface="Arial"/>
              </a:rPr>
              <a:t>point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(/26)</a:t>
            </a:r>
            <a:r>
              <a:rPr lang="en-US" altLang="zh-CN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increase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lang="en-US" altLang="zh-CN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SMFQ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score</a:t>
            </a:r>
            <a:endParaRPr lang="en-US" altLang="zh-CN" dirty="0">
              <a:latin typeface="Arial"/>
              <a:cs typeface="Arial"/>
            </a:endParaRPr>
          </a:p>
          <a:p>
            <a:pPr marL="755650" marR="93345" lvl="1" indent="-285750">
              <a:lnSpc>
                <a:spcPct val="102200"/>
              </a:lnSpc>
              <a:spcBef>
                <a:spcPts val="1115"/>
              </a:spcBef>
              <a:buChar char="•"/>
              <a:tabLst>
                <a:tab pos="755650" algn="l"/>
              </a:tabLst>
            </a:pP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Self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Esteem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-0.12</a:t>
            </a:r>
            <a:r>
              <a:rPr lang="en-US" altLang="zh-CN" spc="47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(CI: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-0.20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–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0.04)</a:t>
            </a:r>
            <a:r>
              <a:rPr lang="en-US" altLang="zh-CN" spc="48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spc="480" dirty="0">
                <a:solidFill>
                  <a:srgbClr val="5B9BD5"/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30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minute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increase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weekday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SM</a:t>
            </a:r>
            <a:r>
              <a:rPr lang="en-US" altLang="zh-CN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use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associated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with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0.12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(/15)</a:t>
            </a:r>
            <a:r>
              <a:rPr lang="en-US" altLang="zh-CN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reduction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self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esteem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on</a:t>
            </a:r>
            <a:r>
              <a:rPr lang="en-US" altLang="zh-CN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Rosenberg</a:t>
            </a:r>
            <a:r>
              <a:rPr lang="en-US" altLang="zh-CN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spc="-10" dirty="0">
                <a:solidFill>
                  <a:srgbClr val="5B9BD5"/>
                </a:solidFill>
                <a:latin typeface="Arial"/>
                <a:cs typeface="Arial"/>
              </a:rPr>
              <a:t>scale</a:t>
            </a:r>
            <a:endParaRPr lang="en-US" altLang="zh-C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6478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6B9CC-548B-F2AA-A59D-2FBFB82F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03" y="449664"/>
            <a:ext cx="10754994" cy="2092881"/>
          </a:xfrm>
        </p:spPr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</a:rPr>
              <a:t>Study</a:t>
            </a:r>
            <a:r>
              <a:rPr lang="en-US" altLang="zh-CN" spc="-25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en-US" altLang="zh-CN" spc="-165" dirty="0">
                <a:solidFill>
                  <a:schemeClr val="tx2"/>
                </a:solidFill>
              </a:rPr>
              <a:t> </a:t>
            </a:r>
            <a:r>
              <a:rPr lang="en-US" altLang="zh-CN" spc="-10" dirty="0">
                <a:solidFill>
                  <a:schemeClr val="tx2"/>
                </a:solidFill>
              </a:rPr>
              <a:t>Answers</a:t>
            </a:r>
            <a:br>
              <a:rPr lang="en-US" altLang="zh-CN" spc="-10" dirty="0">
                <a:solidFill>
                  <a:schemeClr val="tx2"/>
                </a:solidFill>
              </a:rPr>
            </a:br>
            <a:r>
              <a:rPr lang="en-US" altLang="zh-CN" sz="2400" spc="-10" dirty="0">
                <a:solidFill>
                  <a:srgbClr val="222222"/>
                </a:solidFill>
              </a:rPr>
              <a:t>"Taking </a:t>
            </a:r>
            <a:r>
              <a:rPr lang="en-US" altLang="zh-CN" sz="2400" dirty="0">
                <a:solidFill>
                  <a:srgbClr val="222222"/>
                </a:solidFill>
              </a:rPr>
              <a:t>a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one-week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break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from</a:t>
            </a:r>
            <a:r>
              <a:rPr lang="en-US" altLang="zh-CN" sz="2400" spc="-1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social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media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improves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well-</a:t>
            </a:r>
            <a:r>
              <a:rPr lang="en-US" altLang="zh-CN" sz="2400" spc="-10" dirty="0">
                <a:solidFill>
                  <a:srgbClr val="222222"/>
                </a:solidFill>
              </a:rPr>
              <a:t>being, </a:t>
            </a:r>
            <a:r>
              <a:rPr lang="en-US" altLang="zh-CN" sz="2400" dirty="0">
                <a:solidFill>
                  <a:srgbClr val="222222"/>
                </a:solidFill>
              </a:rPr>
              <a:t>depression,</a:t>
            </a:r>
            <a:r>
              <a:rPr lang="en-US" altLang="zh-CN" sz="2400" spc="-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and</a:t>
            </a:r>
            <a:r>
              <a:rPr lang="en-US" altLang="zh-CN" sz="2400" spc="10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anxiety: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a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randomized</a:t>
            </a:r>
            <a:r>
              <a:rPr lang="en-US" altLang="zh-CN" sz="2400" spc="5" dirty="0">
                <a:solidFill>
                  <a:srgbClr val="222222"/>
                </a:solidFill>
              </a:rPr>
              <a:t> </a:t>
            </a:r>
            <a:r>
              <a:rPr lang="en-US" altLang="zh-CN" sz="2400" dirty="0">
                <a:solidFill>
                  <a:srgbClr val="222222"/>
                </a:solidFill>
              </a:rPr>
              <a:t>controlled</a:t>
            </a:r>
            <a:r>
              <a:rPr lang="en-US" altLang="zh-CN" sz="2400" spc="10" dirty="0">
                <a:solidFill>
                  <a:srgbClr val="222222"/>
                </a:solidFill>
              </a:rPr>
              <a:t> </a:t>
            </a:r>
            <a:r>
              <a:rPr lang="en-US" altLang="zh-CN" sz="2400" spc="-10" dirty="0">
                <a:solidFill>
                  <a:srgbClr val="222222"/>
                </a:solidFill>
              </a:rPr>
              <a:t>trial."</a:t>
            </a:r>
            <a:br>
              <a:rPr lang="en-US" altLang="zh-CN" sz="2400" dirty="0"/>
            </a:b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CE89EC-E1C8-FB3E-D51F-FCDD55BCF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4595" y="2209800"/>
            <a:ext cx="9782810" cy="3503075"/>
          </a:xfrm>
        </p:spPr>
        <p:txBody>
          <a:bodyPr/>
          <a:lstStyle/>
          <a:p>
            <a:pPr marL="298450" marR="246379" indent="-285750">
              <a:lnSpc>
                <a:spcPts val="2110"/>
              </a:lnSpc>
              <a:spcBef>
                <a:spcPts val="1695"/>
              </a:spcBef>
              <a:buChar char="•"/>
              <a:tabLst>
                <a:tab pos="298450" algn="l"/>
              </a:tabLst>
            </a:pPr>
            <a:r>
              <a:rPr lang="en-US" altLang="zh-CN" sz="1800" dirty="0">
                <a:solidFill>
                  <a:srgbClr val="5B9BD5"/>
                </a:solidFill>
              </a:rPr>
              <a:t>The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primary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outcomes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are:</a:t>
            </a:r>
            <a:r>
              <a:rPr lang="en-US" altLang="zh-CN" sz="1800" spc="490" dirty="0">
                <a:solidFill>
                  <a:srgbClr val="5B9BD5"/>
                </a:solidFill>
              </a:rPr>
              <a:t> </a:t>
            </a:r>
            <a:r>
              <a:rPr lang="en-US" altLang="zh-CN" sz="1800" spc="-10" dirty="0">
                <a:solidFill>
                  <a:srgbClr val="5B9BD5"/>
                </a:solidFill>
              </a:rPr>
              <a:t>well-</a:t>
            </a:r>
            <a:r>
              <a:rPr lang="en-US" altLang="zh-CN" sz="1800" dirty="0">
                <a:solidFill>
                  <a:srgbClr val="5B9BD5"/>
                </a:solidFill>
              </a:rPr>
              <a:t>being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(WEMWBS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scale),</a:t>
            </a:r>
            <a:r>
              <a:rPr lang="en-US" altLang="zh-CN" sz="1800" spc="-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depression</a:t>
            </a:r>
            <a:r>
              <a:rPr lang="en-US" altLang="zh-CN" sz="1800" spc="-10" dirty="0">
                <a:solidFill>
                  <a:srgbClr val="5B9BD5"/>
                </a:solidFill>
              </a:rPr>
              <a:t> (PHQ-</a:t>
            </a:r>
            <a:r>
              <a:rPr lang="en-US" altLang="zh-CN" sz="1800" dirty="0">
                <a:solidFill>
                  <a:srgbClr val="5B9BD5"/>
                </a:solidFill>
              </a:rPr>
              <a:t>8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scale),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anxiety</a:t>
            </a:r>
            <a:r>
              <a:rPr lang="en-US" altLang="zh-CN" sz="1800" spc="-5" dirty="0">
                <a:solidFill>
                  <a:srgbClr val="5B9BD5"/>
                </a:solidFill>
              </a:rPr>
              <a:t> </a:t>
            </a:r>
            <a:r>
              <a:rPr lang="en-US" altLang="zh-CN" sz="1800" spc="-10" dirty="0">
                <a:solidFill>
                  <a:srgbClr val="5B9BD5"/>
                </a:solidFill>
              </a:rPr>
              <a:t>(GAD-</a:t>
            </a:r>
            <a:r>
              <a:rPr lang="en-US" altLang="zh-CN" sz="1800" spc="-50" dirty="0">
                <a:solidFill>
                  <a:srgbClr val="5B9BD5"/>
                </a:solidFill>
              </a:rPr>
              <a:t>7 </a:t>
            </a:r>
            <a:r>
              <a:rPr lang="en-US" altLang="zh-CN" sz="1800" spc="-10" dirty="0">
                <a:solidFill>
                  <a:srgbClr val="5B9BD5"/>
                </a:solidFill>
              </a:rPr>
              <a:t>scale)</a:t>
            </a:r>
            <a:endParaRPr lang="en-US" altLang="zh-CN" sz="1800" dirty="0"/>
          </a:p>
          <a:p>
            <a:pPr marL="297815" indent="-285115">
              <a:lnSpc>
                <a:spcPct val="100000"/>
              </a:lnSpc>
              <a:spcBef>
                <a:spcPts val="1165"/>
              </a:spcBef>
              <a:buChar char="•"/>
              <a:tabLst>
                <a:tab pos="297815" algn="l"/>
              </a:tabLst>
            </a:pPr>
            <a:r>
              <a:rPr lang="en-US" altLang="zh-CN" sz="1800" dirty="0">
                <a:solidFill>
                  <a:srgbClr val="5B9BD5"/>
                </a:solidFill>
              </a:rPr>
              <a:t>Treatment:</a:t>
            </a:r>
            <a:r>
              <a:rPr lang="en-US" altLang="zh-CN" sz="1800" spc="-5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1</a:t>
            </a:r>
            <a:r>
              <a:rPr lang="en-US" altLang="zh-CN" sz="1800" spc="-4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week</a:t>
            </a:r>
            <a:r>
              <a:rPr lang="en-US" altLang="zh-CN" sz="1800" spc="-4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SM</a:t>
            </a:r>
            <a:r>
              <a:rPr lang="en-US" altLang="zh-CN" sz="1800" spc="-3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(Facebook,</a:t>
            </a:r>
            <a:r>
              <a:rPr lang="en-US" altLang="zh-CN" sz="1800" spc="-65" dirty="0">
                <a:solidFill>
                  <a:srgbClr val="5B9BD5"/>
                </a:solidFill>
              </a:rPr>
              <a:t> </a:t>
            </a:r>
            <a:r>
              <a:rPr lang="en-US" altLang="zh-CN" sz="1800" spc="-20" dirty="0">
                <a:solidFill>
                  <a:srgbClr val="5B9BD5"/>
                </a:solidFill>
              </a:rPr>
              <a:t>Twitter,</a:t>
            </a:r>
            <a:r>
              <a:rPr lang="en-US" altLang="zh-CN" sz="1800" spc="-4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Instagram,</a:t>
            </a:r>
            <a:r>
              <a:rPr lang="en-US" altLang="zh-CN" sz="1800" spc="-4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and</a:t>
            </a:r>
            <a:r>
              <a:rPr lang="en-US" altLang="zh-CN" sz="1800" spc="-70" dirty="0">
                <a:solidFill>
                  <a:srgbClr val="5B9BD5"/>
                </a:solidFill>
              </a:rPr>
              <a:t> </a:t>
            </a:r>
            <a:r>
              <a:rPr lang="en-US" altLang="zh-CN" sz="1800" spc="-30" dirty="0">
                <a:solidFill>
                  <a:srgbClr val="5B9BD5"/>
                </a:solidFill>
              </a:rPr>
              <a:t>TikTok) </a:t>
            </a:r>
            <a:r>
              <a:rPr lang="en-US" altLang="zh-CN" sz="1800" spc="-10" dirty="0">
                <a:solidFill>
                  <a:srgbClr val="5B9BD5"/>
                </a:solidFill>
              </a:rPr>
              <a:t>break</a:t>
            </a:r>
            <a:endParaRPr lang="en-US" altLang="zh-CN" sz="1800" dirty="0"/>
          </a:p>
          <a:p>
            <a:pPr marL="755015" lvl="1" indent="-285115">
              <a:lnSpc>
                <a:spcPct val="100000"/>
              </a:lnSpc>
              <a:spcBef>
                <a:spcPts val="1150"/>
              </a:spcBef>
              <a:buChar char="•"/>
              <a:tabLst>
                <a:tab pos="755015" algn="l"/>
              </a:tabLst>
            </a:pP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comparison:</a:t>
            </a:r>
            <a:r>
              <a:rPr lang="en-US" altLang="zh-CN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5B9BD5"/>
                </a:solidFill>
                <a:latin typeface="Arial"/>
                <a:cs typeface="Arial"/>
              </a:rPr>
              <a:t>normal</a:t>
            </a:r>
            <a:r>
              <a:rPr lang="en-US" altLang="zh-CN" spc="-25" dirty="0">
                <a:solidFill>
                  <a:srgbClr val="5B9BD5"/>
                </a:solidFill>
                <a:latin typeface="Arial"/>
                <a:cs typeface="Arial"/>
              </a:rPr>
              <a:t> use</a:t>
            </a:r>
            <a:endParaRPr lang="en-US" altLang="zh-CN" dirty="0">
              <a:latin typeface="Arial"/>
              <a:cs typeface="Arial"/>
            </a:endParaRPr>
          </a:p>
          <a:p>
            <a:pPr marL="298450" marR="535940" indent="-285750">
              <a:lnSpc>
                <a:spcPct val="102200"/>
              </a:lnSpc>
              <a:spcBef>
                <a:spcPts val="1175"/>
              </a:spcBef>
              <a:buChar char="•"/>
              <a:tabLst>
                <a:tab pos="298450" algn="l"/>
              </a:tabLst>
            </a:pPr>
            <a:r>
              <a:rPr lang="en-US" altLang="zh-CN" sz="1800" spc="-10" dirty="0">
                <a:solidFill>
                  <a:srgbClr val="5B9BD5"/>
                </a:solidFill>
              </a:rPr>
              <a:t>Well-</a:t>
            </a:r>
            <a:r>
              <a:rPr lang="en-US" altLang="zh-CN" sz="1800" dirty="0">
                <a:solidFill>
                  <a:srgbClr val="5B9BD5"/>
                </a:solidFill>
              </a:rPr>
              <a:t>being: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4.9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(CI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: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3.0–6.8)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spc="-10" dirty="0">
                <a:solidFill>
                  <a:srgbClr val="5B9BD5"/>
                </a:solidFill>
                <a:sym typeface="Wingdings" pitchFamily="2" charset="2"/>
              </a:rPr>
              <a:t>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1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week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SM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break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associated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with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4.9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(/70)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increase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in</a:t>
            </a:r>
            <a:r>
              <a:rPr lang="en-US" altLang="zh-CN" sz="1800" spc="-10" dirty="0">
                <a:solidFill>
                  <a:srgbClr val="5B9BD5"/>
                </a:solidFill>
              </a:rPr>
              <a:t> well-being </a:t>
            </a:r>
            <a:r>
              <a:rPr lang="en-US" altLang="zh-CN" sz="1800" dirty="0">
                <a:solidFill>
                  <a:srgbClr val="5B9BD5"/>
                </a:solidFill>
              </a:rPr>
              <a:t>score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on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WEMWBS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spc="-20" dirty="0">
                <a:solidFill>
                  <a:srgbClr val="5B9BD5"/>
                </a:solidFill>
              </a:rPr>
              <a:t>scale</a:t>
            </a:r>
            <a:endParaRPr lang="en-US" altLang="zh-CN" sz="1800" dirty="0"/>
          </a:p>
          <a:p>
            <a:pPr marL="298450" marR="5080" indent="-285750">
              <a:lnSpc>
                <a:spcPct val="101099"/>
              </a:lnSpc>
              <a:spcBef>
                <a:spcPts val="1130"/>
              </a:spcBef>
              <a:buChar char="•"/>
              <a:tabLst>
                <a:tab pos="298450" algn="l"/>
              </a:tabLst>
            </a:pPr>
            <a:r>
              <a:rPr lang="en-US" altLang="zh-CN" sz="1800" dirty="0">
                <a:solidFill>
                  <a:srgbClr val="5B9BD5"/>
                </a:solidFill>
              </a:rPr>
              <a:t>Depression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−2.2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(CI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:−3.3-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−1.1)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spc="-15" dirty="0">
                <a:solidFill>
                  <a:srgbClr val="5B9BD5"/>
                </a:solidFill>
                <a:sym typeface="Wingdings" pitchFamily="2" charset="2"/>
              </a:rPr>
              <a:t>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1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week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SM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break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associated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with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2.2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(/24)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reduction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in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spc="-10" dirty="0">
                <a:solidFill>
                  <a:srgbClr val="5B9BD5"/>
                </a:solidFill>
              </a:rPr>
              <a:t>depression </a:t>
            </a:r>
            <a:r>
              <a:rPr lang="en-US" altLang="zh-CN" sz="1800" dirty="0">
                <a:solidFill>
                  <a:srgbClr val="5B9BD5"/>
                </a:solidFill>
              </a:rPr>
              <a:t>score on </a:t>
            </a:r>
            <a:r>
              <a:rPr lang="en-US" altLang="zh-CN" sz="1800" spc="-10" dirty="0">
                <a:solidFill>
                  <a:srgbClr val="5B9BD5"/>
                </a:solidFill>
              </a:rPr>
              <a:t>PHQ-</a:t>
            </a:r>
            <a:r>
              <a:rPr lang="en-US" altLang="zh-CN" sz="1800" dirty="0">
                <a:solidFill>
                  <a:srgbClr val="5B9BD5"/>
                </a:solidFill>
              </a:rPr>
              <a:t>8 </a:t>
            </a:r>
            <a:r>
              <a:rPr lang="en-US" altLang="zh-CN" sz="1800" spc="-20" dirty="0">
                <a:solidFill>
                  <a:srgbClr val="5B9BD5"/>
                </a:solidFill>
              </a:rPr>
              <a:t>scale</a:t>
            </a:r>
            <a:endParaRPr lang="en-US" altLang="zh-CN" sz="1800" dirty="0"/>
          </a:p>
          <a:p>
            <a:pPr marL="298450" marR="296545" indent="-285750">
              <a:lnSpc>
                <a:spcPct val="101099"/>
              </a:lnSpc>
              <a:spcBef>
                <a:spcPts val="1130"/>
              </a:spcBef>
              <a:buChar char="•"/>
              <a:tabLst>
                <a:tab pos="298450" algn="l"/>
              </a:tabLst>
            </a:pPr>
            <a:r>
              <a:rPr lang="en-US" altLang="zh-CN" sz="1800" dirty="0">
                <a:solidFill>
                  <a:srgbClr val="5B9BD5"/>
                </a:solidFill>
              </a:rPr>
              <a:t>Anxiety</a:t>
            </a:r>
            <a:r>
              <a:rPr lang="en-US" altLang="zh-CN" sz="1800" spc="47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−1.7</a:t>
            </a:r>
            <a:r>
              <a:rPr lang="en-US" altLang="zh-CN" sz="1800" spc="47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(CI: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−2.8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-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−0.6)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spc="-10" dirty="0">
                <a:solidFill>
                  <a:srgbClr val="5B9BD5"/>
                </a:solidFill>
                <a:sym typeface="Wingdings" pitchFamily="2" charset="2"/>
              </a:rPr>
              <a:t>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1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week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SM</a:t>
            </a:r>
            <a:r>
              <a:rPr lang="en-US" altLang="zh-CN" sz="1800" spc="-1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break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associated</a:t>
            </a:r>
            <a:r>
              <a:rPr lang="en-US" altLang="zh-CN" sz="1800" spc="-20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with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1.7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(/24)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reduction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in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dirty="0">
                <a:solidFill>
                  <a:srgbClr val="5B9BD5"/>
                </a:solidFill>
              </a:rPr>
              <a:t>anxiety</a:t>
            </a:r>
            <a:r>
              <a:rPr lang="en-US" altLang="zh-CN" sz="1800" spc="-15" dirty="0">
                <a:solidFill>
                  <a:srgbClr val="5B9BD5"/>
                </a:solidFill>
              </a:rPr>
              <a:t> </a:t>
            </a:r>
            <a:r>
              <a:rPr lang="en-US" altLang="zh-CN" sz="1800" spc="-25" dirty="0">
                <a:solidFill>
                  <a:srgbClr val="5B9BD5"/>
                </a:solidFill>
              </a:rPr>
              <a:t>on </a:t>
            </a:r>
            <a:r>
              <a:rPr lang="en-US" altLang="zh-CN" sz="1800" spc="-10" dirty="0">
                <a:solidFill>
                  <a:srgbClr val="5B9BD5"/>
                </a:solidFill>
              </a:rPr>
              <a:t>GAD-</a:t>
            </a:r>
            <a:r>
              <a:rPr lang="en-US" altLang="zh-CN" sz="1800" dirty="0">
                <a:solidFill>
                  <a:srgbClr val="5B9BD5"/>
                </a:solidFill>
              </a:rPr>
              <a:t>7</a:t>
            </a:r>
            <a:r>
              <a:rPr lang="en-US" altLang="zh-CN" sz="1800" spc="25" dirty="0">
                <a:solidFill>
                  <a:srgbClr val="5B9BD5"/>
                </a:solidFill>
              </a:rPr>
              <a:t> </a:t>
            </a:r>
            <a:r>
              <a:rPr lang="en-US" altLang="zh-CN" sz="1800" spc="-10" dirty="0">
                <a:solidFill>
                  <a:srgbClr val="5B9BD5"/>
                </a:solidFill>
              </a:rPr>
              <a:t>scale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354257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Why might</a:t>
            </a:r>
            <a:r>
              <a:rPr spc="-10" dirty="0">
                <a:solidFill>
                  <a:schemeClr val="tx2"/>
                </a:solidFill>
              </a:rPr>
              <a:t> </a:t>
            </a:r>
            <a:r>
              <a:rPr dirty="0">
                <a:solidFill>
                  <a:schemeClr val="tx2"/>
                </a:solidFill>
              </a:rPr>
              <a:t>the study results</a:t>
            </a:r>
            <a:r>
              <a:rPr spc="5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differ?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3427"/>
            <a:ext cx="10189845" cy="449116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40665" indent="-227965">
              <a:lnSpc>
                <a:spcPct val="120000"/>
              </a:lnSpc>
              <a:spcBef>
                <a:spcPts val="459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Studies</a:t>
            </a:r>
            <a:r>
              <a:rPr sz="1800" spc="-4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have</a:t>
            </a:r>
            <a:r>
              <a:rPr sz="1800" spc="-4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different</a:t>
            </a:r>
            <a:r>
              <a:rPr sz="1800" spc="-3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designs</a:t>
            </a:r>
            <a:endParaRPr sz="1800" dirty="0">
              <a:latin typeface="Arial"/>
              <a:cs typeface="Arial"/>
            </a:endParaRPr>
          </a:p>
          <a:p>
            <a:pPr marL="698500" marR="5080" lvl="1" indent="-228600">
              <a:lnSpc>
                <a:spcPct val="120000"/>
              </a:lnSpc>
              <a:spcBef>
                <a:spcPts val="640"/>
              </a:spcBef>
              <a:buFont typeface="Calibri"/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Different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outcomes: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some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differences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outcomes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(self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harm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self-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esteem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study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1,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well-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being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anxiety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study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2)</a:t>
            </a:r>
            <a:endParaRPr sz="18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310"/>
              </a:spcBef>
              <a:buFont typeface="Calibri"/>
              <a:buChar char="-"/>
              <a:tabLst>
                <a:tab pos="6978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Different</a:t>
            </a:r>
            <a:r>
              <a:rPr sz="1800" spc="-4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instruments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are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used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measure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common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outcomes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depression</a:t>
            </a:r>
            <a:endParaRPr sz="1800" dirty="0">
              <a:latin typeface="Arial"/>
              <a:cs typeface="Arial"/>
            </a:endParaRPr>
          </a:p>
          <a:p>
            <a:pPr marL="698500" marR="614045" lvl="1" indent="-228600">
              <a:lnSpc>
                <a:spcPct val="120000"/>
              </a:lnSpc>
              <a:spcBef>
                <a:spcPts val="450"/>
              </a:spcBef>
              <a:buFont typeface="Calibri"/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Different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methods: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study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1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prospective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observational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study,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study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2</a:t>
            </a:r>
            <a:r>
              <a:rPr sz="1800" spc="-3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randomized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controlled</a:t>
            </a:r>
            <a:r>
              <a:rPr sz="1800" spc="-4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trial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20000"/>
              </a:lnSpc>
              <a:buClr>
                <a:srgbClr val="5B9BD5"/>
              </a:buClr>
              <a:buFont typeface="Calibri"/>
              <a:buChar char="-"/>
            </a:pPr>
            <a:endParaRPr dirty="0"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Different</a:t>
            </a:r>
            <a:r>
              <a:rPr sz="1800" spc="-4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study</a:t>
            </a:r>
            <a:r>
              <a:rPr sz="1800" spc="-4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populations</a:t>
            </a:r>
            <a:endParaRPr sz="18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340"/>
              </a:spcBef>
              <a:buFont typeface="Calibri"/>
              <a:buChar char="-"/>
              <a:tabLst>
                <a:tab pos="6978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Different</a:t>
            </a:r>
            <a:r>
              <a:rPr sz="1800" spc="-7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ages:</a:t>
            </a:r>
            <a:endParaRPr sz="1800" dirty="0">
              <a:latin typeface="Arial"/>
              <a:cs typeface="Arial"/>
            </a:endParaRPr>
          </a:p>
          <a:p>
            <a:pPr marL="1155065" lvl="2" indent="-228600">
              <a:lnSpc>
                <a:spcPct val="120000"/>
              </a:lnSpc>
              <a:spcBef>
                <a:spcPts val="240"/>
              </a:spcBef>
              <a:buChar char="•"/>
              <a:tabLst>
                <a:tab pos="11550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Study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1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had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mean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age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14</a:t>
            </a:r>
            <a:endParaRPr sz="1800" dirty="0">
              <a:latin typeface="Arial"/>
              <a:cs typeface="Arial"/>
            </a:endParaRPr>
          </a:p>
          <a:p>
            <a:pPr marL="1155065" lvl="2" indent="-228600">
              <a:lnSpc>
                <a:spcPct val="120000"/>
              </a:lnSpc>
              <a:spcBef>
                <a:spcPts val="335"/>
              </a:spcBef>
              <a:buChar char="•"/>
              <a:tabLst>
                <a:tab pos="1155065" algn="l"/>
              </a:tabLst>
            </a:pP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Study</a:t>
            </a:r>
            <a:r>
              <a:rPr sz="1800" spc="-2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2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had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mean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age</a:t>
            </a:r>
            <a:r>
              <a:rPr sz="1800" spc="-15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B9BD5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B9BD5"/>
                </a:solidFill>
                <a:latin typeface="Arial"/>
                <a:cs typeface="Arial"/>
              </a:rPr>
              <a:t>29.6</a:t>
            </a:r>
            <a:endParaRPr sz="1800" dirty="0">
              <a:latin typeface="Arial"/>
              <a:cs typeface="Arial"/>
            </a:endParaRPr>
          </a:p>
          <a:p>
            <a:pPr marL="697865" lvl="1" indent="-227965">
              <a:lnSpc>
                <a:spcPct val="120000"/>
              </a:lnSpc>
              <a:spcBef>
                <a:spcPts val="240"/>
              </a:spcBef>
              <a:buFont typeface="Calibri"/>
              <a:buChar char="-"/>
              <a:tabLst>
                <a:tab pos="697865" algn="l"/>
              </a:tabLst>
            </a:pPr>
            <a:r>
              <a:rPr sz="1800" spc="-10" dirty="0">
                <a:solidFill>
                  <a:srgbClr val="5B9BD5"/>
                </a:solidFill>
                <a:latin typeface="Arial"/>
                <a:cs typeface="Arial"/>
              </a:rPr>
              <a:t>Others?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43763"/>
            <a:ext cx="10754994" cy="1189556"/>
          </a:xfrm>
          <a:prstGeom prst="rect">
            <a:avLst/>
          </a:prstGeom>
        </p:spPr>
        <p:txBody>
          <a:bodyPr vert="horz" wrap="square" lIns="0" tIns="507492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2"/>
                </a:solidFill>
              </a:rPr>
              <a:t>Final</a:t>
            </a:r>
            <a:r>
              <a:rPr spc="-5" dirty="0">
                <a:solidFill>
                  <a:schemeClr val="tx2"/>
                </a:solidFill>
              </a:rPr>
              <a:t> </a:t>
            </a:r>
            <a:r>
              <a:rPr spc="-10" dirty="0">
                <a:solidFill>
                  <a:schemeClr val="tx2"/>
                </a:solidFill>
              </a:rPr>
              <a:t>Questions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45832" y="1981200"/>
            <a:ext cx="978281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47955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these</a:t>
            </a:r>
            <a:r>
              <a:rPr spc="-20" dirty="0"/>
              <a:t> </a:t>
            </a:r>
            <a:r>
              <a:rPr dirty="0"/>
              <a:t>two</a:t>
            </a:r>
            <a:r>
              <a:rPr spc="-20" dirty="0"/>
              <a:t> </a:t>
            </a:r>
            <a:r>
              <a:rPr dirty="0"/>
              <a:t>studies,</a:t>
            </a:r>
            <a:r>
              <a:rPr spc="-25" dirty="0"/>
              <a:t> </a:t>
            </a:r>
            <a:r>
              <a:rPr dirty="0"/>
              <a:t>does</a:t>
            </a:r>
            <a:r>
              <a:rPr spc="-20" dirty="0"/>
              <a:t> </a:t>
            </a:r>
            <a:r>
              <a:rPr dirty="0"/>
              <a:t>social</a:t>
            </a:r>
            <a:r>
              <a:rPr spc="-10" dirty="0"/>
              <a:t> </a:t>
            </a:r>
            <a:r>
              <a:rPr dirty="0"/>
              <a:t>media</a:t>
            </a:r>
            <a:r>
              <a:rPr spc="-20" dirty="0"/>
              <a:t> </a:t>
            </a:r>
            <a:r>
              <a:rPr dirty="0"/>
              <a:t>use</a:t>
            </a:r>
            <a:r>
              <a:rPr spc="-20" dirty="0"/>
              <a:t> </a:t>
            </a:r>
            <a:r>
              <a:rPr dirty="0"/>
              <a:t>have</a:t>
            </a:r>
            <a:r>
              <a:rPr spc="-2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b="1" dirty="0">
                <a:latin typeface="Arial"/>
                <a:cs typeface="Arial"/>
              </a:rPr>
              <a:t>significant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effect</a:t>
            </a:r>
            <a:r>
              <a:rPr spc="-2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spc="-25" dirty="0"/>
              <a:t>the </a:t>
            </a:r>
            <a:r>
              <a:rPr dirty="0"/>
              <a:t>likelihood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depression,</a:t>
            </a:r>
            <a:r>
              <a:rPr spc="-25" dirty="0"/>
              <a:t> </a:t>
            </a:r>
            <a:r>
              <a:rPr spc="-10" dirty="0"/>
              <a:t>anxiety,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low-self</a:t>
            </a:r>
            <a:r>
              <a:rPr spc="-25" dirty="0"/>
              <a:t> </a:t>
            </a:r>
            <a:r>
              <a:rPr spc="-10" dirty="0"/>
              <a:t>esteem?</a:t>
            </a:r>
          </a:p>
          <a:p>
            <a:pPr marL="241300" marR="5080" indent="-228600">
              <a:lnSpc>
                <a:spcPct val="100000"/>
              </a:lnSpc>
              <a:spcBef>
                <a:spcPts val="1800"/>
              </a:spcBef>
              <a:buChar char="•"/>
              <a:tabLst>
                <a:tab pos="241300" algn="l"/>
              </a:tabLst>
            </a:pP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these</a:t>
            </a:r>
            <a:r>
              <a:rPr spc="-20" dirty="0"/>
              <a:t> </a:t>
            </a:r>
            <a:r>
              <a:rPr dirty="0"/>
              <a:t>two</a:t>
            </a:r>
            <a:r>
              <a:rPr spc="-15" dirty="0"/>
              <a:t> </a:t>
            </a:r>
            <a:r>
              <a:rPr dirty="0"/>
              <a:t>studies,</a:t>
            </a:r>
            <a:r>
              <a:rPr spc="-25" dirty="0"/>
              <a:t> </a:t>
            </a:r>
            <a:r>
              <a:rPr dirty="0"/>
              <a:t>does</a:t>
            </a:r>
            <a:r>
              <a:rPr spc="-20" dirty="0"/>
              <a:t> </a:t>
            </a:r>
            <a:r>
              <a:rPr dirty="0"/>
              <a:t>social</a:t>
            </a:r>
            <a:r>
              <a:rPr spc="-5" dirty="0"/>
              <a:t> </a:t>
            </a:r>
            <a:r>
              <a:rPr dirty="0"/>
              <a:t>media</a:t>
            </a:r>
            <a:r>
              <a:rPr spc="-20" dirty="0"/>
              <a:t> </a:t>
            </a:r>
            <a:r>
              <a:rPr dirty="0"/>
              <a:t>use</a:t>
            </a:r>
            <a:r>
              <a:rPr spc="-20" dirty="0"/>
              <a:t> </a:t>
            </a:r>
            <a:r>
              <a:rPr dirty="0"/>
              <a:t>have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b="1" dirty="0">
                <a:latin typeface="Arial"/>
                <a:cs typeface="Arial"/>
              </a:rPr>
              <a:t>substantive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effect</a:t>
            </a:r>
            <a:r>
              <a:rPr spc="-2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spc="-25" dirty="0"/>
              <a:t>the </a:t>
            </a:r>
            <a:r>
              <a:rPr dirty="0"/>
              <a:t>likelihood</a:t>
            </a:r>
            <a:r>
              <a:rPr spc="-3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depression,</a:t>
            </a:r>
            <a:r>
              <a:rPr spc="-25" dirty="0"/>
              <a:t> </a:t>
            </a:r>
            <a:r>
              <a:rPr spc="-10" dirty="0"/>
              <a:t>anxiety,</a:t>
            </a:r>
            <a:r>
              <a:rPr spc="-3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low-self</a:t>
            </a:r>
            <a:r>
              <a:rPr spc="-25" dirty="0"/>
              <a:t> </a:t>
            </a:r>
            <a:r>
              <a:rPr spc="-10" dirty="0"/>
              <a:t>esteem?</a:t>
            </a: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Char char="•"/>
              <a:tabLst>
                <a:tab pos="240665" algn="l"/>
              </a:tabLst>
            </a:pPr>
            <a:r>
              <a:rPr dirty="0"/>
              <a:t>Do</a:t>
            </a:r>
            <a:r>
              <a:rPr spc="-15" dirty="0"/>
              <a:t> </a:t>
            </a:r>
            <a:r>
              <a:rPr dirty="0"/>
              <a:t>you</a:t>
            </a:r>
            <a:r>
              <a:rPr spc="-10" dirty="0"/>
              <a:t> </a:t>
            </a:r>
            <a:r>
              <a:rPr dirty="0"/>
              <a:t>believe</a:t>
            </a:r>
            <a:r>
              <a:rPr spc="-15" dirty="0"/>
              <a:t> </a:t>
            </a:r>
            <a:r>
              <a:rPr dirty="0"/>
              <a:t>these</a:t>
            </a:r>
            <a:r>
              <a:rPr spc="-10" dirty="0"/>
              <a:t> findings?</a:t>
            </a: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Char char="•"/>
              <a:tabLst>
                <a:tab pos="240665" algn="l"/>
              </a:tabLst>
            </a:pPr>
            <a:r>
              <a:rPr dirty="0"/>
              <a:t>Which</a:t>
            </a:r>
            <a:r>
              <a:rPr spc="-15" dirty="0"/>
              <a:t> </a:t>
            </a:r>
            <a:r>
              <a:rPr dirty="0"/>
              <a:t>study</a:t>
            </a:r>
            <a:r>
              <a:rPr spc="-15" dirty="0"/>
              <a:t> </a:t>
            </a:r>
            <a:r>
              <a:rPr dirty="0"/>
              <a:t>do</a:t>
            </a:r>
            <a:r>
              <a:rPr spc="-10" dirty="0"/>
              <a:t> </a:t>
            </a:r>
            <a:r>
              <a:rPr dirty="0"/>
              <a:t>you</a:t>
            </a:r>
            <a:r>
              <a:rPr spc="-15" dirty="0"/>
              <a:t> </a:t>
            </a:r>
            <a:r>
              <a:rPr dirty="0"/>
              <a:t>think</a:t>
            </a:r>
            <a:r>
              <a:rPr spc="-15" dirty="0"/>
              <a:t> </a:t>
            </a:r>
            <a:r>
              <a:rPr dirty="0"/>
              <a:t>is</a:t>
            </a:r>
            <a:r>
              <a:rPr spc="-10" dirty="0"/>
              <a:t> better?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8556"/>
            <a:ext cx="25717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tx2"/>
                </a:solidFill>
              </a:rPr>
              <a:t>Solutions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502664"/>
            <a:ext cx="10363835" cy="5004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Yes,</a:t>
            </a:r>
            <a:r>
              <a:rPr sz="1100" spc="-4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treatment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effect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statistically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significant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for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all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outcomes</a:t>
            </a:r>
            <a:endParaRPr lang="en-US" sz="1100" spc="-1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697865" lvl="1" indent="-227965">
              <a:spcBef>
                <a:spcPts val="865"/>
              </a:spcBef>
              <a:buFont typeface="Calibri"/>
              <a:buChar char="-"/>
              <a:tabLst>
                <a:tab pos="697865" algn="l"/>
              </a:tabLst>
            </a:pP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Study</a:t>
            </a:r>
            <a:r>
              <a:rPr lang="en-US" altLang="zh-CN" sz="1100" spc="-3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1:</a:t>
            </a:r>
            <a:endParaRPr lang="en-US" altLang="zh-CN"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1212215" lvl="2" indent="-285750">
              <a:spcBef>
                <a:spcPts val="815"/>
              </a:spcBef>
              <a:buChar char="•"/>
              <a:tabLst>
                <a:tab pos="1212215" algn="l"/>
              </a:tabLst>
            </a:pP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Self</a:t>
            </a:r>
            <a:r>
              <a:rPr lang="en-US" altLang="zh-CN"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harm: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1.13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(CI: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1.06</a:t>
            </a:r>
            <a:r>
              <a:rPr lang="en-US" altLang="zh-CN"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–</a:t>
            </a:r>
            <a:r>
              <a:rPr lang="en-US" altLang="zh-CN"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1.21)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1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not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CI</a:t>
            </a:r>
            <a:endParaRPr lang="en-US" altLang="zh-CN"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1212215" lvl="2" indent="-285750">
              <a:spcBef>
                <a:spcPts val="765"/>
              </a:spcBef>
              <a:buChar char="•"/>
              <a:tabLst>
                <a:tab pos="1212215" algn="l"/>
              </a:tabLst>
            </a:pP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Depression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0.36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(CI: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0.22</a:t>
            </a:r>
            <a:r>
              <a:rPr lang="en-US" altLang="zh-CN"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-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0.50)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altLang="zh-CN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</a:t>
            </a:r>
            <a:r>
              <a:rPr lang="en-US" altLang="zh-CN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not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CI</a:t>
            </a:r>
            <a:endParaRPr lang="en-US" altLang="zh-CN"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1212215" lvl="2" indent="-285750">
              <a:spcBef>
                <a:spcPts val="795"/>
              </a:spcBef>
              <a:buChar char="•"/>
              <a:tabLst>
                <a:tab pos="1212215" algn="l"/>
              </a:tabLst>
            </a:pP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Self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Esteem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-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0.12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(CI:</a:t>
            </a:r>
            <a:r>
              <a:rPr lang="en-US" altLang="zh-CN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-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0.20</a:t>
            </a:r>
            <a:r>
              <a:rPr lang="en-US" altLang="zh-CN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–</a:t>
            </a:r>
            <a:r>
              <a:rPr lang="en-US" altLang="zh-CN"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0.04)</a:t>
            </a:r>
            <a:r>
              <a:rPr lang="en-US" altLang="zh-CN" sz="1100" spc="28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altLang="zh-CN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</a:t>
            </a:r>
            <a:r>
              <a:rPr lang="en-US" altLang="zh-CN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not</a:t>
            </a:r>
            <a:r>
              <a:rPr lang="en-US" altLang="zh-CN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CI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697865" lvl="1" indent="-227965">
              <a:spcBef>
                <a:spcPts val="865"/>
              </a:spcBef>
              <a:buFont typeface="Calibri"/>
              <a:buChar char="-"/>
              <a:tabLst>
                <a:tab pos="6978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Study</a:t>
            </a:r>
            <a:r>
              <a:rPr sz="1100" spc="-3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2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: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1212215" lvl="2" indent="-285750">
              <a:spcBef>
                <a:spcPts val="765"/>
              </a:spcBef>
              <a:buFontTx/>
              <a:buChar char="•"/>
              <a:tabLst>
                <a:tab pos="1212215" algn="l"/>
              </a:tabLst>
            </a:pP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Well-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being: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4.9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(CI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: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3.0–6.8)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altLang="zh-CN"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0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not</a:t>
            </a:r>
            <a:r>
              <a:rPr lang="en-US" altLang="zh-CN"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</a:t>
            </a:r>
            <a:r>
              <a:rPr lang="en-US" altLang="zh-CN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altLang="zh-CN"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CI</a:t>
            </a:r>
            <a:endParaRPr lang="en-US" altLang="zh-CN"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1212215" lvl="2" indent="-285750">
              <a:spcBef>
                <a:spcPts val="765"/>
              </a:spcBef>
              <a:buChar char="•"/>
              <a:tabLst>
                <a:tab pos="1212215" algn="l"/>
              </a:tabLst>
            </a:pP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Depression −2.2 (CI :−3.3- −1.1) 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0 not in CI</a:t>
            </a:r>
          </a:p>
          <a:p>
            <a:pPr marL="1212215" lvl="2" indent="-285750">
              <a:spcBef>
                <a:spcPts val="765"/>
              </a:spcBef>
              <a:spcAft>
                <a:spcPts val="600"/>
              </a:spcAft>
              <a:buChar char="•"/>
              <a:tabLst>
                <a:tab pos="1212215" algn="l"/>
              </a:tabLst>
            </a:pP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Anxiety −1.7 (CI: −2.8 - −0.6) 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  <a:sym typeface="Wingdings" pitchFamily="2" charset="2"/>
              </a:rPr>
              <a:t>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0 not in CI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240665" indent="-227965"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Would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like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to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know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baseline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means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order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to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determine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they’re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substantive.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Other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factors?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697865" lvl="1" indent="-227965">
              <a:spcBef>
                <a:spcPts val="770"/>
              </a:spcBef>
              <a:buFont typeface="Calibri"/>
              <a:buChar char="-"/>
              <a:tabLst>
                <a:tab pos="6978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First</a:t>
            </a:r>
            <a:r>
              <a:rPr sz="1100" spc="-4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study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results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seem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quite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small,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but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less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so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when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you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consider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they’re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for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30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mins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SM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time;</a:t>
            </a:r>
            <a:r>
              <a:rPr sz="1100" spc="229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second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study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effects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seem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larger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magnitude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240665" indent="-227965">
              <a:spcBef>
                <a:spcPts val="810"/>
              </a:spcBef>
              <a:buChar char="•"/>
              <a:tabLst>
                <a:tab pos="2406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Other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factors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consider: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697865" lvl="1" indent="-227965">
              <a:spcBef>
                <a:spcPts val="869"/>
              </a:spcBef>
              <a:buFont typeface="Calibri"/>
              <a:buChar char="-"/>
              <a:tabLst>
                <a:tab pos="6978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Sample</a:t>
            </a:r>
            <a:r>
              <a:rPr sz="1100" spc="-3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size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697865" lvl="1" indent="-227965">
              <a:spcBef>
                <a:spcPts val="790"/>
              </a:spcBef>
              <a:buFont typeface="Calibri"/>
              <a:buChar char="-"/>
              <a:tabLst>
                <a:tab pos="6978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RCT</a:t>
            </a:r>
            <a:r>
              <a:rPr sz="1100" spc="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vs</a:t>
            </a:r>
            <a:r>
              <a:rPr sz="1100" spc="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observation</a:t>
            </a:r>
            <a:r>
              <a:rPr sz="1100" spc="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study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697865" lvl="1" indent="-227965">
              <a:spcBef>
                <a:spcPts val="915"/>
              </a:spcBef>
              <a:buFont typeface="Calibri"/>
              <a:buChar char="-"/>
              <a:tabLst>
                <a:tab pos="6978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External</a:t>
            </a:r>
            <a:r>
              <a:rPr sz="1100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vs</a:t>
            </a:r>
            <a:r>
              <a:rPr sz="1100" spc="-3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internal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validity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697865" lvl="1" indent="-227965">
              <a:spcBef>
                <a:spcPts val="790"/>
              </a:spcBef>
              <a:buFont typeface="Calibri"/>
              <a:buChar char="-"/>
              <a:tabLst>
                <a:tab pos="6978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CI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range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240665" indent="-227965">
              <a:lnSpc>
                <a:spcPct val="120000"/>
              </a:lnSpc>
              <a:spcBef>
                <a:spcPts val="815"/>
              </a:spcBef>
              <a:buChar char="•"/>
              <a:tabLst>
                <a:tab pos="240665" algn="l"/>
              </a:tabLst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Convinced?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Would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want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to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know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what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hey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control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for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as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confounders.</a:t>
            </a:r>
            <a:r>
              <a:rPr sz="1100" spc="28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Might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worry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about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selection.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For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example,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social media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break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is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voluntary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it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might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be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the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241300" marR="73660">
              <a:lnSpc>
                <a:spcPct val="120000"/>
              </a:lnSpc>
              <a:spcBef>
                <a:spcPts val="240"/>
              </a:spcBef>
            </a:pP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case</a:t>
            </a:r>
            <a:r>
              <a:rPr sz="1100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that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people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who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are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able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to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give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up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social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media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more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easily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or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use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less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social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media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have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more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fulfilling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hobbies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outside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social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media.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We’ll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come</a:t>
            </a:r>
            <a:r>
              <a:rPr sz="11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back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to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these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topics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when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we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talk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about</a:t>
            </a:r>
            <a:r>
              <a:rPr sz="1100" spc="-15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causality.</a:t>
            </a:r>
            <a:endParaRPr sz="11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15960</TotalTime>
  <Words>2130</Words>
  <Application>Microsoft Macintosh PowerPoint</Application>
  <PresentationFormat>Widescreen</PresentationFormat>
  <Paragraphs>167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等线</vt:lpstr>
      <vt:lpstr>Arial</vt:lpstr>
      <vt:lpstr>Calibri</vt:lpstr>
      <vt:lpstr>Century Gothic</vt:lpstr>
      <vt:lpstr>Times New Roman</vt:lpstr>
      <vt:lpstr>Wingdings</vt:lpstr>
      <vt:lpstr>Office Theme</vt:lpstr>
      <vt:lpstr>GENED 1079 Section 3 Confidence Intervals</vt:lpstr>
      <vt:lpstr>Upcoming / Reminders</vt:lpstr>
      <vt:lpstr>Agenda</vt:lpstr>
      <vt:lpstr>Confidence Intervals – Review</vt:lpstr>
      <vt:lpstr>Central Limit Theorem – Review</vt:lpstr>
      <vt:lpstr>Confidence Intervals and CLT - Review</vt:lpstr>
      <vt:lpstr>Practice Question 1</vt:lpstr>
      <vt:lpstr>Practice Question 1</vt:lpstr>
      <vt:lpstr>Practice Question 2</vt:lpstr>
      <vt:lpstr>Practice Question 2</vt:lpstr>
      <vt:lpstr>Confidence Intervals and Statistical Significance</vt:lpstr>
      <vt:lpstr>Statistical Significance vs Substantive Significance</vt:lpstr>
      <vt:lpstr>Confidence Intervals: Group Activity</vt:lpstr>
      <vt:lpstr>Study 1</vt:lpstr>
      <vt:lpstr>PowerPoint Presentation</vt:lpstr>
      <vt:lpstr>Study 2</vt:lpstr>
      <vt:lpstr>PowerPoint Presentation</vt:lpstr>
      <vt:lpstr>PowerPoint Presentation</vt:lpstr>
      <vt:lpstr>Study 1 Answers “Is social media screen time really associated with poor adolescent mental health? A time use diary study.”</vt:lpstr>
      <vt:lpstr>Study 2 Answers "Taking a one-week break from social media improves well-being, depression, and anxiety: a randomized controlled trial." </vt:lpstr>
      <vt:lpstr>Why might the study results differ?</vt:lpstr>
      <vt:lpstr>Final Questions</vt:lpstr>
      <vt:lpstr>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GENED 1079 Section 5: Confidence Intervals</dc:title>
  <dc:creator>Sarthak Agarwal</dc:creator>
  <cp:lastModifiedBy>Jhang, Janice</cp:lastModifiedBy>
  <cp:revision>29</cp:revision>
  <dcterms:created xsi:type="dcterms:W3CDTF">2023-10-11T22:38:17Z</dcterms:created>
  <dcterms:modified xsi:type="dcterms:W3CDTF">2026-09-23T19:11:55Z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2023-10-10T00:00:00Z</vt:filetime>
  </property>
  <property fmtid="{D5CDD505-2E9C-101B-9397-08002B2CF9AE}" pid="3" name="LastSaved">
    <vt:filetime>2023-10-11T00:00:00Z</vt:filetime>
  </property>
  <property fmtid="{D5CDD505-2E9C-101B-9397-08002B2CF9AE}" pid="4" name="Producer">
    <vt:lpwstr>macOS Version 13.4 (Build 22F66) Quartz PDFContext</vt:lpwstr>
  </property>
</Properties>
</file>