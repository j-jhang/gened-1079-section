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4"/>
  </p:notesMasterIdLst>
  <p:sldIdLst>
    <p:sldId id="274" r:id="rId2"/>
    <p:sldId id="268" r:id="rId3"/>
    <p:sldId id="326" r:id="rId4"/>
    <p:sldId id="283" r:id="rId5"/>
    <p:sldId id="327" r:id="rId6"/>
    <p:sldId id="284" r:id="rId7"/>
    <p:sldId id="286" r:id="rId8"/>
    <p:sldId id="304" r:id="rId9"/>
    <p:sldId id="290" r:id="rId10"/>
    <p:sldId id="305" r:id="rId11"/>
    <p:sldId id="309" r:id="rId12"/>
    <p:sldId id="328" r:id="rId13"/>
    <p:sldId id="310" r:id="rId14"/>
    <p:sldId id="311" r:id="rId15"/>
    <p:sldId id="318" r:id="rId16"/>
    <p:sldId id="317" r:id="rId17"/>
    <p:sldId id="300" r:id="rId18"/>
    <p:sldId id="301" r:id="rId19"/>
    <p:sldId id="313" r:id="rId20"/>
    <p:sldId id="315" r:id="rId21"/>
    <p:sldId id="324" r:id="rId22"/>
    <p:sldId id="316" r:id="rId23"/>
  </p:sldIdLst>
  <p:sldSz cx="12192000" cy="6858000"/>
  <p:notesSz cx="7315200" cy="9601200"/>
  <p:embeddedFontLst>
    <p:embeddedFont>
      <p:font typeface="Century Gothic" panose="020B0502020202020204" pitchFamily="34" charset="0"/>
      <p:regular r:id="rId25"/>
      <p:bold r:id="rId26"/>
      <p:italic r:id="rId27"/>
      <p:boldItalic r:id="rId28"/>
    </p:embeddedFont>
    <p:embeddedFont>
      <p:font typeface="Open Sans" panose="020B0606030504020204" pitchFamily="34" charset="0"/>
      <p:regular r:id="rId29"/>
      <p:bold r:id="rId30"/>
      <p: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88995B-ED3F-8C45-B8B9-A5C6442C2F40}" v="1093" dt="2026-10-19T01:56:47.3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28"/>
    <p:restoredTop sz="77383"/>
  </p:normalViewPr>
  <p:slideViewPr>
    <p:cSldViewPr snapToGrid="0">
      <p:cViewPr varScale="1">
        <p:scale>
          <a:sx n="99" d="100"/>
          <a:sy n="99" d="100"/>
        </p:scale>
        <p:origin x="133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s Speyer, Jacob" userId="7c121692-33f9-4511-a834-20c41f1d3117" providerId="ADAL" clId="{59B4263D-577C-526B-A65F-34156EB68AF2}"/>
    <pc:docChg chg="undo custSel addSld delSld modSld sldOrd modMainMaster">
      <pc:chgData name="Sims Speyer, Jacob" userId="7c121692-33f9-4511-a834-20c41f1d3117" providerId="ADAL" clId="{59B4263D-577C-526B-A65F-34156EB68AF2}" dt="2026-10-19T01:56:47.315" v="3166" actId="20577"/>
      <pc:docMkLst>
        <pc:docMk/>
      </pc:docMkLst>
      <pc:sldChg chg="modSp mod">
        <pc:chgData name="Sims Speyer, Jacob" userId="7c121692-33f9-4511-a834-20c41f1d3117" providerId="ADAL" clId="{59B4263D-577C-526B-A65F-34156EB68AF2}" dt="2026-10-19T01:29:01.716" v="2870" actId="20577"/>
        <pc:sldMkLst>
          <pc:docMk/>
          <pc:sldMk cId="467270564" sldId="268"/>
        </pc:sldMkLst>
        <pc:spChg chg="mod">
          <ac:chgData name="Sims Speyer, Jacob" userId="7c121692-33f9-4511-a834-20c41f1d3117" providerId="ADAL" clId="{59B4263D-577C-526B-A65F-34156EB68AF2}" dt="2026-10-19T00:42:23.829" v="500" actId="20577"/>
          <ac:spMkLst>
            <pc:docMk/>
            <pc:sldMk cId="467270564" sldId="268"/>
            <ac:spMk id="4" creationId="{8622F638-DA27-1B40-950B-57FFF6215FFD}"/>
          </ac:spMkLst>
        </pc:spChg>
        <pc:spChg chg="mod">
          <ac:chgData name="Sims Speyer, Jacob" userId="7c121692-33f9-4511-a834-20c41f1d3117" providerId="ADAL" clId="{59B4263D-577C-526B-A65F-34156EB68AF2}" dt="2026-10-19T01:29:01.716" v="2870" actId="20577"/>
          <ac:spMkLst>
            <pc:docMk/>
            <pc:sldMk cId="467270564" sldId="268"/>
            <ac:spMk id="120" creationId="{00000000-0000-0000-0000-000000000000}"/>
          </ac:spMkLst>
        </pc:spChg>
      </pc:sldChg>
      <pc:sldChg chg="modSp mod">
        <pc:chgData name="Sims Speyer, Jacob" userId="7c121692-33f9-4511-a834-20c41f1d3117" providerId="ADAL" clId="{59B4263D-577C-526B-A65F-34156EB68AF2}" dt="2026-10-19T01:29:41.278" v="2874" actId="20577"/>
        <pc:sldMkLst>
          <pc:docMk/>
          <pc:sldMk cId="3269337960" sldId="274"/>
        </pc:sldMkLst>
        <pc:spChg chg="mod">
          <ac:chgData name="Sims Speyer, Jacob" userId="7c121692-33f9-4511-a834-20c41f1d3117" providerId="ADAL" clId="{59B4263D-577C-526B-A65F-34156EB68AF2}" dt="2026-10-19T01:29:41.278" v="2874" actId="20577"/>
          <ac:spMkLst>
            <pc:docMk/>
            <pc:sldMk cId="3269337960" sldId="274"/>
            <ac:spMk id="120" creationId="{00000000-0000-0000-0000-000000000000}"/>
          </ac:spMkLst>
        </pc:spChg>
      </pc:sldChg>
      <pc:sldChg chg="modSp mod modAnim modNotesTx">
        <pc:chgData name="Sims Speyer, Jacob" userId="7c121692-33f9-4511-a834-20c41f1d3117" providerId="ADAL" clId="{59B4263D-577C-526B-A65F-34156EB68AF2}" dt="2026-10-19T01:06:53.905" v="1374" actId="20577"/>
        <pc:sldMkLst>
          <pc:docMk/>
          <pc:sldMk cId="1719959009" sldId="283"/>
        </pc:sldMkLst>
        <pc:spChg chg="mod">
          <ac:chgData name="Sims Speyer, Jacob" userId="7c121692-33f9-4511-a834-20c41f1d3117" providerId="ADAL" clId="{59B4263D-577C-526B-A65F-34156EB68AF2}" dt="2026-10-18T16:55:51.478" v="22" actId="20577"/>
          <ac:spMkLst>
            <pc:docMk/>
            <pc:sldMk cId="1719959009" sldId="283"/>
            <ac:spMk id="6" creationId="{AB414D37-A73C-E64B-BEC1-7657BA93425F}"/>
          </ac:spMkLst>
        </pc:spChg>
      </pc:sldChg>
      <pc:sldChg chg="modSp">
        <pc:chgData name="Sims Speyer, Jacob" userId="7c121692-33f9-4511-a834-20c41f1d3117" providerId="ADAL" clId="{59B4263D-577C-526B-A65F-34156EB68AF2}" dt="2026-10-18T19:37:17.097" v="463"/>
        <pc:sldMkLst>
          <pc:docMk/>
          <pc:sldMk cId="830557310" sldId="284"/>
        </pc:sldMkLst>
        <pc:spChg chg="mod">
          <ac:chgData name="Sims Speyer, Jacob" userId="7c121692-33f9-4511-a834-20c41f1d3117" providerId="ADAL" clId="{59B4263D-577C-526B-A65F-34156EB68AF2}" dt="2026-10-18T19:37:17.097" v="463"/>
          <ac:spMkLst>
            <pc:docMk/>
            <pc:sldMk cId="830557310" sldId="284"/>
            <ac:spMk id="6" creationId="{AB414D37-A73C-E64B-BEC1-7657BA93425F}"/>
          </ac:spMkLst>
        </pc:spChg>
      </pc:sldChg>
      <pc:sldChg chg="modSp mod modAnim">
        <pc:chgData name="Sims Speyer, Jacob" userId="7c121692-33f9-4511-a834-20c41f1d3117" providerId="ADAL" clId="{59B4263D-577C-526B-A65F-34156EB68AF2}" dt="2026-10-19T01:31:56.240" v="3090" actId="20577"/>
        <pc:sldMkLst>
          <pc:docMk/>
          <pc:sldMk cId="2048280375" sldId="286"/>
        </pc:sldMkLst>
        <pc:spChg chg="mod">
          <ac:chgData name="Sims Speyer, Jacob" userId="7c121692-33f9-4511-a834-20c41f1d3117" providerId="ADAL" clId="{59B4263D-577C-526B-A65F-34156EB68AF2}" dt="2026-10-18T19:37:17.097" v="463"/>
          <ac:spMkLst>
            <pc:docMk/>
            <pc:sldMk cId="2048280375" sldId="286"/>
            <ac:spMk id="2" creationId="{AA22F2EE-4920-BA40-9D39-0028810DE5E2}"/>
          </ac:spMkLst>
        </pc:spChg>
        <pc:spChg chg="mod">
          <ac:chgData name="Sims Speyer, Jacob" userId="7c121692-33f9-4511-a834-20c41f1d3117" providerId="ADAL" clId="{59B4263D-577C-526B-A65F-34156EB68AF2}" dt="2026-10-19T01:31:56.240" v="3090" actId="20577"/>
          <ac:spMkLst>
            <pc:docMk/>
            <pc:sldMk cId="2048280375" sldId="286"/>
            <ac:spMk id="8" creationId="{666F9D12-68B5-FA49-AA4D-8872D3DD890F}"/>
          </ac:spMkLst>
        </pc:spChg>
      </pc:sldChg>
      <pc:sldChg chg="modSp">
        <pc:chgData name="Sims Speyer, Jacob" userId="7c121692-33f9-4511-a834-20c41f1d3117" providerId="ADAL" clId="{59B4263D-577C-526B-A65F-34156EB68AF2}" dt="2026-10-18T19:37:17.097" v="463"/>
        <pc:sldMkLst>
          <pc:docMk/>
          <pc:sldMk cId="3873969847" sldId="290"/>
        </pc:sldMkLst>
        <pc:spChg chg="mod">
          <ac:chgData name="Sims Speyer, Jacob" userId="7c121692-33f9-4511-a834-20c41f1d3117" providerId="ADAL" clId="{59B4263D-577C-526B-A65F-34156EB68AF2}" dt="2026-10-18T19:37:17.097" v="463"/>
          <ac:spMkLst>
            <pc:docMk/>
            <pc:sldMk cId="3873969847" sldId="290"/>
            <ac:spMk id="8" creationId="{666F9D12-68B5-FA49-AA4D-8872D3DD890F}"/>
          </ac:spMkLst>
        </pc:spChg>
      </pc:sldChg>
      <pc:sldChg chg="modNotesTx">
        <pc:chgData name="Sims Speyer, Jacob" userId="7c121692-33f9-4511-a834-20c41f1d3117" providerId="ADAL" clId="{59B4263D-577C-526B-A65F-34156EB68AF2}" dt="2026-10-19T01:01:10.303" v="936" actId="20577"/>
        <pc:sldMkLst>
          <pc:docMk/>
          <pc:sldMk cId="1890634302" sldId="300"/>
        </pc:sldMkLst>
      </pc:sldChg>
      <pc:sldChg chg="modNotesTx">
        <pc:chgData name="Sims Speyer, Jacob" userId="7c121692-33f9-4511-a834-20c41f1d3117" providerId="ADAL" clId="{59B4263D-577C-526B-A65F-34156EB68AF2}" dt="2026-10-19T01:35:11.827" v="3157" actId="20577"/>
        <pc:sldMkLst>
          <pc:docMk/>
          <pc:sldMk cId="1683710475" sldId="301"/>
        </pc:sldMkLst>
      </pc:sldChg>
      <pc:sldChg chg="modSp mod modAnim">
        <pc:chgData name="Sims Speyer, Jacob" userId="7c121692-33f9-4511-a834-20c41f1d3117" providerId="ADAL" clId="{59B4263D-577C-526B-A65F-34156EB68AF2}" dt="2026-10-19T01:27:38.992" v="2862" actId="20577"/>
        <pc:sldMkLst>
          <pc:docMk/>
          <pc:sldMk cId="2773859714" sldId="304"/>
        </pc:sldMkLst>
        <pc:spChg chg="mod">
          <ac:chgData name="Sims Speyer, Jacob" userId="7c121692-33f9-4511-a834-20c41f1d3117" providerId="ADAL" clId="{59B4263D-577C-526B-A65F-34156EB68AF2}" dt="2026-10-19T01:27:38.992" v="2862" actId="20577"/>
          <ac:spMkLst>
            <pc:docMk/>
            <pc:sldMk cId="2773859714" sldId="304"/>
            <ac:spMk id="8" creationId="{666F9D12-68B5-FA49-AA4D-8872D3DD890F}"/>
          </ac:spMkLst>
        </pc:spChg>
      </pc:sldChg>
      <pc:sldChg chg="modSp mod modAnim">
        <pc:chgData name="Sims Speyer, Jacob" userId="7c121692-33f9-4511-a834-20c41f1d3117" providerId="ADAL" clId="{59B4263D-577C-526B-A65F-34156EB68AF2}" dt="2026-10-19T01:56:47.315" v="3166" actId="20577"/>
        <pc:sldMkLst>
          <pc:docMk/>
          <pc:sldMk cId="1490615864" sldId="305"/>
        </pc:sldMkLst>
        <pc:spChg chg="mod">
          <ac:chgData name="Sims Speyer, Jacob" userId="7c121692-33f9-4511-a834-20c41f1d3117" providerId="ADAL" clId="{59B4263D-577C-526B-A65F-34156EB68AF2}" dt="2026-10-19T01:56:47.315" v="3166" actId="20577"/>
          <ac:spMkLst>
            <pc:docMk/>
            <pc:sldMk cId="1490615864" sldId="305"/>
            <ac:spMk id="8" creationId="{666F9D12-68B5-FA49-AA4D-8872D3DD890F}"/>
          </ac:spMkLst>
        </pc:spChg>
      </pc:sldChg>
      <pc:sldChg chg="del">
        <pc:chgData name="Sims Speyer, Jacob" userId="7c121692-33f9-4511-a834-20c41f1d3117" providerId="ADAL" clId="{59B4263D-577C-526B-A65F-34156EB68AF2}" dt="2026-10-18T16:59:16.320" v="24" actId="2696"/>
        <pc:sldMkLst>
          <pc:docMk/>
          <pc:sldMk cId="3936487961" sldId="306"/>
        </pc:sldMkLst>
      </pc:sldChg>
      <pc:sldChg chg="modSp mod modAnim">
        <pc:chgData name="Sims Speyer, Jacob" userId="7c121692-33f9-4511-a834-20c41f1d3117" providerId="ADAL" clId="{59B4263D-577C-526B-A65F-34156EB68AF2}" dt="2026-10-19T01:14:51.864" v="1782" actId="20577"/>
        <pc:sldMkLst>
          <pc:docMk/>
          <pc:sldMk cId="3618021724" sldId="309"/>
        </pc:sldMkLst>
        <pc:spChg chg="mod">
          <ac:chgData name="Sims Speyer, Jacob" userId="7c121692-33f9-4511-a834-20c41f1d3117" providerId="ADAL" clId="{59B4263D-577C-526B-A65F-34156EB68AF2}" dt="2026-10-19T01:14:51.864" v="1782" actId="20577"/>
          <ac:spMkLst>
            <pc:docMk/>
            <pc:sldMk cId="3618021724" sldId="309"/>
            <ac:spMk id="8" creationId="{666F9D12-68B5-FA49-AA4D-8872D3DD890F}"/>
          </ac:spMkLst>
        </pc:spChg>
      </pc:sldChg>
      <pc:sldChg chg="modSp">
        <pc:chgData name="Sims Speyer, Jacob" userId="7c121692-33f9-4511-a834-20c41f1d3117" providerId="ADAL" clId="{59B4263D-577C-526B-A65F-34156EB68AF2}" dt="2026-10-18T19:37:17.097" v="463"/>
        <pc:sldMkLst>
          <pc:docMk/>
          <pc:sldMk cId="1212535962" sldId="310"/>
        </pc:sldMkLst>
        <pc:spChg chg="mod">
          <ac:chgData name="Sims Speyer, Jacob" userId="7c121692-33f9-4511-a834-20c41f1d3117" providerId="ADAL" clId="{59B4263D-577C-526B-A65F-34156EB68AF2}" dt="2026-10-18T19:37:17.097" v="463"/>
          <ac:spMkLst>
            <pc:docMk/>
            <pc:sldMk cId="1212535962" sldId="310"/>
            <ac:spMk id="8" creationId="{666F9D12-68B5-FA49-AA4D-8872D3DD890F}"/>
          </ac:spMkLst>
        </pc:spChg>
      </pc:sldChg>
      <pc:sldChg chg="modSp mod modAnim">
        <pc:chgData name="Sims Speyer, Jacob" userId="7c121692-33f9-4511-a834-20c41f1d3117" providerId="ADAL" clId="{59B4263D-577C-526B-A65F-34156EB68AF2}" dt="2026-10-19T01:23:09.083" v="2828" actId="27636"/>
        <pc:sldMkLst>
          <pc:docMk/>
          <pc:sldMk cId="3703321188" sldId="311"/>
        </pc:sldMkLst>
        <pc:spChg chg="mod">
          <ac:chgData name="Sims Speyer, Jacob" userId="7c121692-33f9-4511-a834-20c41f1d3117" providerId="ADAL" clId="{59B4263D-577C-526B-A65F-34156EB68AF2}" dt="2026-10-19T01:23:09.083" v="2828" actId="27636"/>
          <ac:spMkLst>
            <pc:docMk/>
            <pc:sldMk cId="3703321188" sldId="311"/>
            <ac:spMk id="8" creationId="{666F9D12-68B5-FA49-AA4D-8872D3DD890F}"/>
          </ac:spMkLst>
        </pc:spChg>
      </pc:sldChg>
      <pc:sldChg chg="del">
        <pc:chgData name="Sims Speyer, Jacob" userId="7c121692-33f9-4511-a834-20c41f1d3117" providerId="ADAL" clId="{59B4263D-577C-526B-A65F-34156EB68AF2}" dt="2026-10-18T16:59:53.912" v="25" actId="2696"/>
        <pc:sldMkLst>
          <pc:docMk/>
          <pc:sldMk cId="2674493870" sldId="312"/>
        </pc:sldMkLst>
      </pc:sldChg>
      <pc:sldChg chg="modSp">
        <pc:chgData name="Sims Speyer, Jacob" userId="7c121692-33f9-4511-a834-20c41f1d3117" providerId="ADAL" clId="{59B4263D-577C-526B-A65F-34156EB68AF2}" dt="2026-10-18T19:37:17.097" v="463"/>
        <pc:sldMkLst>
          <pc:docMk/>
          <pc:sldMk cId="2988911358" sldId="313"/>
        </pc:sldMkLst>
        <pc:spChg chg="mod">
          <ac:chgData name="Sims Speyer, Jacob" userId="7c121692-33f9-4511-a834-20c41f1d3117" providerId="ADAL" clId="{59B4263D-577C-526B-A65F-34156EB68AF2}" dt="2026-10-18T19:37:17.097" v="463"/>
          <ac:spMkLst>
            <pc:docMk/>
            <pc:sldMk cId="2988911358" sldId="313"/>
            <ac:spMk id="3" creationId="{6C5995F7-F35D-BF43-AF97-CEE1AD554064}"/>
          </ac:spMkLst>
        </pc:spChg>
      </pc:sldChg>
      <pc:sldChg chg="modSp mod modNotesTx">
        <pc:chgData name="Sims Speyer, Jacob" userId="7c121692-33f9-4511-a834-20c41f1d3117" providerId="ADAL" clId="{59B4263D-577C-526B-A65F-34156EB68AF2}" dt="2026-10-19T01:35:28.820" v="3165" actId="20577"/>
        <pc:sldMkLst>
          <pc:docMk/>
          <pc:sldMk cId="3815572359" sldId="315"/>
        </pc:sldMkLst>
        <pc:spChg chg="mod">
          <ac:chgData name="Sims Speyer, Jacob" userId="7c121692-33f9-4511-a834-20c41f1d3117" providerId="ADAL" clId="{59B4263D-577C-526B-A65F-34156EB68AF2}" dt="2026-10-19T00:45:52.702" v="502" actId="20577"/>
          <ac:spMkLst>
            <pc:docMk/>
            <pc:sldMk cId="3815572359" sldId="315"/>
            <ac:spMk id="3" creationId="{6C5995F7-F35D-BF43-AF97-CEE1AD554064}"/>
          </ac:spMkLst>
        </pc:spChg>
      </pc:sldChg>
      <pc:sldChg chg="modSp mod">
        <pc:chgData name="Sims Speyer, Jacob" userId="7c121692-33f9-4511-a834-20c41f1d3117" providerId="ADAL" clId="{59B4263D-577C-526B-A65F-34156EB68AF2}" dt="2026-10-19T01:30:06.046" v="2875" actId="20577"/>
        <pc:sldMkLst>
          <pc:docMk/>
          <pc:sldMk cId="2514161439" sldId="318"/>
        </pc:sldMkLst>
        <pc:spChg chg="mod">
          <ac:chgData name="Sims Speyer, Jacob" userId="7c121692-33f9-4511-a834-20c41f1d3117" providerId="ADAL" clId="{59B4263D-577C-526B-A65F-34156EB68AF2}" dt="2026-10-19T00:48:00.570" v="518" actId="5793"/>
          <ac:spMkLst>
            <pc:docMk/>
            <pc:sldMk cId="2514161439" sldId="318"/>
            <ac:spMk id="4" creationId="{8622F638-DA27-1B40-950B-57FFF6215FFD}"/>
          </ac:spMkLst>
        </pc:spChg>
        <pc:spChg chg="mod">
          <ac:chgData name="Sims Speyer, Jacob" userId="7c121692-33f9-4511-a834-20c41f1d3117" providerId="ADAL" clId="{59B4263D-577C-526B-A65F-34156EB68AF2}" dt="2026-10-19T01:30:06.046" v="2875" actId="20577"/>
          <ac:spMkLst>
            <pc:docMk/>
            <pc:sldMk cId="2514161439" sldId="318"/>
            <ac:spMk id="120" creationId="{00000000-0000-0000-0000-000000000000}"/>
          </ac:spMkLst>
        </pc:spChg>
      </pc:sldChg>
      <pc:sldChg chg="del">
        <pc:chgData name="Sims Speyer, Jacob" userId="7c121692-33f9-4511-a834-20c41f1d3117" providerId="ADAL" clId="{59B4263D-577C-526B-A65F-34156EB68AF2}" dt="2026-10-18T16:59:53.912" v="25" actId="2696"/>
        <pc:sldMkLst>
          <pc:docMk/>
          <pc:sldMk cId="24730771" sldId="321"/>
        </pc:sldMkLst>
      </pc:sldChg>
      <pc:sldChg chg="del">
        <pc:chgData name="Sims Speyer, Jacob" userId="7c121692-33f9-4511-a834-20c41f1d3117" providerId="ADAL" clId="{59B4263D-577C-526B-A65F-34156EB68AF2}" dt="2026-10-18T16:59:53.912" v="25" actId="2696"/>
        <pc:sldMkLst>
          <pc:docMk/>
          <pc:sldMk cId="4048487402" sldId="322"/>
        </pc:sldMkLst>
      </pc:sldChg>
      <pc:sldChg chg="del">
        <pc:chgData name="Sims Speyer, Jacob" userId="7c121692-33f9-4511-a834-20c41f1d3117" providerId="ADAL" clId="{59B4263D-577C-526B-A65F-34156EB68AF2}" dt="2026-10-18T16:59:53.912" v="25" actId="2696"/>
        <pc:sldMkLst>
          <pc:docMk/>
          <pc:sldMk cId="1273217774" sldId="323"/>
        </pc:sldMkLst>
      </pc:sldChg>
      <pc:sldChg chg="modSp add del modAnim modNotesTx">
        <pc:chgData name="Sims Speyer, Jacob" userId="7c121692-33f9-4511-a834-20c41f1d3117" providerId="ADAL" clId="{59B4263D-577C-526B-A65F-34156EB68AF2}" dt="2026-10-19T01:24:00.651" v="2831"/>
        <pc:sldMkLst>
          <pc:docMk/>
          <pc:sldMk cId="475192465" sldId="324"/>
        </pc:sldMkLst>
        <pc:spChg chg="mod">
          <ac:chgData name="Sims Speyer, Jacob" userId="7c121692-33f9-4511-a834-20c41f1d3117" providerId="ADAL" clId="{59B4263D-577C-526B-A65F-34156EB68AF2}" dt="2026-10-18T19:37:26.737" v="466"/>
          <ac:spMkLst>
            <pc:docMk/>
            <pc:sldMk cId="475192465" sldId="324"/>
            <ac:spMk id="3" creationId="{6C5995F7-F35D-BF43-AF97-CEE1AD554064}"/>
          </ac:spMkLst>
        </pc:spChg>
      </pc:sldChg>
      <pc:sldChg chg="modSp del mod">
        <pc:chgData name="Sims Speyer, Jacob" userId="7c121692-33f9-4511-a834-20c41f1d3117" providerId="ADAL" clId="{59B4263D-577C-526B-A65F-34156EB68AF2}" dt="2026-10-19T01:30:12.824" v="2876" actId="2696"/>
        <pc:sldMkLst>
          <pc:docMk/>
          <pc:sldMk cId="2587517738" sldId="325"/>
        </pc:sldMkLst>
        <pc:spChg chg="mod">
          <ac:chgData name="Sims Speyer, Jacob" userId="7c121692-33f9-4511-a834-20c41f1d3117" providerId="ADAL" clId="{59B4263D-577C-526B-A65F-34156EB68AF2}" dt="2026-10-19T00:51:29.693" v="531" actId="5793"/>
          <ac:spMkLst>
            <pc:docMk/>
            <pc:sldMk cId="2587517738" sldId="325"/>
            <ac:spMk id="4" creationId="{8622F638-DA27-1B40-950B-57FFF6215FFD}"/>
          </ac:spMkLst>
        </pc:spChg>
      </pc:sldChg>
      <pc:sldChg chg="modSp mod">
        <pc:chgData name="Sims Speyer, Jacob" userId="7c121692-33f9-4511-a834-20c41f1d3117" providerId="ADAL" clId="{59B4263D-577C-526B-A65F-34156EB68AF2}" dt="2026-10-19T01:29:04.620" v="2871" actId="20577"/>
        <pc:sldMkLst>
          <pc:docMk/>
          <pc:sldMk cId="2058901006" sldId="326"/>
        </pc:sldMkLst>
        <pc:spChg chg="mod">
          <ac:chgData name="Sims Speyer, Jacob" userId="7c121692-33f9-4511-a834-20c41f1d3117" providerId="ADAL" clId="{59B4263D-577C-526B-A65F-34156EB68AF2}" dt="2026-10-19T00:42:26.591" v="501" actId="20577"/>
          <ac:spMkLst>
            <pc:docMk/>
            <pc:sldMk cId="2058901006" sldId="326"/>
            <ac:spMk id="4" creationId="{8622F638-DA27-1B40-950B-57FFF6215FFD}"/>
          </ac:spMkLst>
        </pc:spChg>
        <pc:spChg chg="mod">
          <ac:chgData name="Sims Speyer, Jacob" userId="7c121692-33f9-4511-a834-20c41f1d3117" providerId="ADAL" clId="{59B4263D-577C-526B-A65F-34156EB68AF2}" dt="2026-10-19T01:29:04.620" v="2871" actId="20577"/>
          <ac:spMkLst>
            <pc:docMk/>
            <pc:sldMk cId="2058901006" sldId="326"/>
            <ac:spMk id="120" creationId="{00000000-0000-0000-0000-000000000000}"/>
          </ac:spMkLst>
        </pc:spChg>
      </pc:sldChg>
      <pc:sldChg chg="modSp add modAnim modNotesTx">
        <pc:chgData name="Sims Speyer, Jacob" userId="7c121692-33f9-4511-a834-20c41f1d3117" providerId="ADAL" clId="{59B4263D-577C-526B-A65F-34156EB68AF2}" dt="2026-10-19T01:34:46.322" v="3155" actId="20577"/>
        <pc:sldMkLst>
          <pc:docMk/>
          <pc:sldMk cId="2951446955" sldId="327"/>
        </pc:sldMkLst>
        <pc:spChg chg="mod">
          <ac:chgData name="Sims Speyer, Jacob" userId="7c121692-33f9-4511-a834-20c41f1d3117" providerId="ADAL" clId="{59B4263D-577C-526B-A65F-34156EB68AF2}" dt="2026-10-18T19:37:17.097" v="463"/>
          <ac:spMkLst>
            <pc:docMk/>
            <pc:sldMk cId="2951446955" sldId="327"/>
            <ac:spMk id="6" creationId="{CBE38350-7C18-4888-7915-8BE6E5B56C24}"/>
          </ac:spMkLst>
        </pc:spChg>
      </pc:sldChg>
      <pc:sldChg chg="delSp add del mod ord">
        <pc:chgData name="Sims Speyer, Jacob" userId="7c121692-33f9-4511-a834-20c41f1d3117" providerId="ADAL" clId="{59B4263D-577C-526B-A65F-34156EB68AF2}" dt="2026-10-18T19:15:48.603" v="29" actId="2696"/>
        <pc:sldMkLst>
          <pc:docMk/>
          <pc:sldMk cId="962827192" sldId="328"/>
        </pc:sldMkLst>
        <pc:picChg chg="del">
          <ac:chgData name="Sims Speyer, Jacob" userId="7c121692-33f9-4511-a834-20c41f1d3117" providerId="ADAL" clId="{59B4263D-577C-526B-A65F-34156EB68AF2}" dt="2026-10-18T19:13:32.383" v="28" actId="478"/>
          <ac:picMkLst>
            <pc:docMk/>
            <pc:sldMk cId="962827192" sldId="328"/>
            <ac:picMk id="5" creationId="{E0507B2C-84E9-33B1-C5E8-368EC8E0A5A2}"/>
          </ac:picMkLst>
        </pc:picChg>
      </pc:sldChg>
      <pc:sldChg chg="addSp delSp modSp add del mod ord modNotesTx">
        <pc:chgData name="Sims Speyer, Jacob" userId="7c121692-33f9-4511-a834-20c41f1d3117" providerId="ADAL" clId="{59B4263D-577C-526B-A65F-34156EB68AF2}" dt="2026-10-19T01:03:19.965" v="982" actId="2696"/>
        <pc:sldMkLst>
          <pc:docMk/>
          <pc:sldMk cId="2428800590" sldId="328"/>
        </pc:sldMkLst>
        <pc:spChg chg="mod">
          <ac:chgData name="Sims Speyer, Jacob" userId="7c121692-33f9-4511-a834-20c41f1d3117" providerId="ADAL" clId="{59B4263D-577C-526B-A65F-34156EB68AF2}" dt="2026-10-18T19:23:02.572" v="300"/>
          <ac:spMkLst>
            <pc:docMk/>
            <pc:sldMk cId="2428800590" sldId="328"/>
            <ac:spMk id="2" creationId="{DA682BAE-0D09-4C37-8E59-EA947B1915D7}"/>
          </ac:spMkLst>
        </pc:spChg>
        <pc:spChg chg="add del mod">
          <ac:chgData name="Sims Speyer, Jacob" userId="7c121692-33f9-4511-a834-20c41f1d3117" providerId="ADAL" clId="{59B4263D-577C-526B-A65F-34156EB68AF2}" dt="2026-10-18T19:17:38.420" v="41" actId="478"/>
          <ac:spMkLst>
            <pc:docMk/>
            <pc:sldMk cId="2428800590" sldId="328"/>
            <ac:spMk id="4" creationId="{D3F04FF0-5B5B-EBD4-08B0-7727839F084D}"/>
          </ac:spMkLst>
        </pc:spChg>
        <pc:spChg chg="del">
          <ac:chgData name="Sims Speyer, Jacob" userId="7c121692-33f9-4511-a834-20c41f1d3117" providerId="ADAL" clId="{59B4263D-577C-526B-A65F-34156EB68AF2}" dt="2026-10-18T19:17:19.922" v="35" actId="478"/>
          <ac:spMkLst>
            <pc:docMk/>
            <pc:sldMk cId="2428800590" sldId="328"/>
            <ac:spMk id="6" creationId="{A0E7B921-90B4-D7ED-5BAF-1F1DD9160402}"/>
          </ac:spMkLst>
        </pc:spChg>
        <pc:spChg chg="add del mod">
          <ac:chgData name="Sims Speyer, Jacob" userId="7c121692-33f9-4511-a834-20c41f1d3117" providerId="ADAL" clId="{59B4263D-577C-526B-A65F-34156EB68AF2}" dt="2026-10-18T19:46:06.469" v="499" actId="113"/>
          <ac:spMkLst>
            <pc:docMk/>
            <pc:sldMk cId="2428800590" sldId="328"/>
            <ac:spMk id="9" creationId="{89D458BD-DF7C-9341-0083-87D9796D28FE}"/>
          </ac:spMkLst>
        </pc:spChg>
        <pc:picChg chg="mod">
          <ac:chgData name="Sims Speyer, Jacob" userId="7c121692-33f9-4511-a834-20c41f1d3117" providerId="ADAL" clId="{59B4263D-577C-526B-A65F-34156EB68AF2}" dt="2026-10-18T19:19:44.427" v="165" actId="14100"/>
          <ac:picMkLst>
            <pc:docMk/>
            <pc:sldMk cId="2428800590" sldId="328"/>
            <ac:picMk id="5" creationId="{EE14161C-52C7-7844-CE6F-8565DE5046D8}"/>
          </ac:picMkLst>
        </pc:picChg>
      </pc:sldChg>
      <pc:sldChg chg="delSp modSp add mod modAnim">
        <pc:chgData name="Sims Speyer, Jacob" userId="7c121692-33f9-4511-a834-20c41f1d3117" providerId="ADAL" clId="{59B4263D-577C-526B-A65F-34156EB68AF2}" dt="2026-10-19T01:34:24.814" v="3135" actId="20577"/>
        <pc:sldMkLst>
          <pc:docMk/>
          <pc:sldMk cId="3414800547" sldId="328"/>
        </pc:sldMkLst>
        <pc:spChg chg="mod">
          <ac:chgData name="Sims Speyer, Jacob" userId="7c121692-33f9-4511-a834-20c41f1d3117" providerId="ADAL" clId="{59B4263D-577C-526B-A65F-34156EB68AF2}" dt="2026-10-19T01:15:27.877" v="1822" actId="20577"/>
          <ac:spMkLst>
            <pc:docMk/>
            <pc:sldMk cId="3414800547" sldId="328"/>
            <ac:spMk id="2" creationId="{65696657-6725-55DC-7FF1-61CB68788B6F}"/>
          </ac:spMkLst>
        </pc:spChg>
        <pc:spChg chg="mod">
          <ac:chgData name="Sims Speyer, Jacob" userId="7c121692-33f9-4511-a834-20c41f1d3117" providerId="ADAL" clId="{59B4263D-577C-526B-A65F-34156EB68AF2}" dt="2026-10-19T01:34:24.814" v="3135" actId="20577"/>
          <ac:spMkLst>
            <pc:docMk/>
            <pc:sldMk cId="3414800547" sldId="328"/>
            <ac:spMk id="8" creationId="{2573BFD0-82EB-A01D-97EF-DBE03373A8CF}"/>
          </ac:spMkLst>
        </pc:spChg>
        <pc:picChg chg="del">
          <ac:chgData name="Sims Speyer, Jacob" userId="7c121692-33f9-4511-a834-20c41f1d3117" providerId="ADAL" clId="{59B4263D-577C-526B-A65F-34156EB68AF2}" dt="2026-10-19T01:15:29.654" v="1823" actId="478"/>
          <ac:picMkLst>
            <pc:docMk/>
            <pc:sldMk cId="3414800547" sldId="328"/>
            <ac:picMk id="4" creationId="{99AA43C0-05D7-D625-B1FD-2C38F257E679}"/>
          </ac:picMkLst>
        </pc:picChg>
      </pc:sldChg>
      <pc:sldMasterChg chg="modSp">
        <pc:chgData name="Sims Speyer, Jacob" userId="7c121692-33f9-4511-a834-20c41f1d3117" providerId="ADAL" clId="{59B4263D-577C-526B-A65F-34156EB68AF2}" dt="2026-10-18T19:37:17.097" v="463"/>
        <pc:sldMasterMkLst>
          <pc:docMk/>
          <pc:sldMasterMk cId="256830058" sldId="2147483660"/>
        </pc:sldMasterMkLst>
        <pc:spChg chg="mod">
          <ac:chgData name="Sims Speyer, Jacob" userId="7c121692-33f9-4511-a834-20c41f1d3117" providerId="ADAL" clId="{59B4263D-577C-526B-A65F-34156EB68AF2}" dt="2026-10-18T19:37:17.097" v="463"/>
          <ac:spMkLst>
            <pc:docMk/>
            <pc:sldMasterMk cId="256830058" sldId="2147483660"/>
            <ac:spMk id="2" creationId="{1121056C-CC4E-3B89-14D5-18221A641A63}"/>
          </ac:spMkLst>
        </pc:spChg>
        <pc:spChg chg="mod">
          <ac:chgData name="Sims Speyer, Jacob" userId="7c121692-33f9-4511-a834-20c41f1d3117" providerId="ADAL" clId="{59B4263D-577C-526B-A65F-34156EB68AF2}" dt="2026-10-18T19:37:17.097" v="463"/>
          <ac:spMkLst>
            <pc:docMk/>
            <pc:sldMasterMk cId="256830058" sldId="2147483660"/>
            <ac:spMk id="3" creationId="{3F17D0A3-9210-F41B-6A8A-1FFB4CD406BA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16939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145811" y="1"/>
            <a:ext cx="3169389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74831" y="4560571"/>
            <a:ext cx="536554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21141"/>
            <a:ext cx="3169390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45811" y="9121141"/>
            <a:ext cx="3169389" cy="48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74831" y="4560571"/>
            <a:ext cx="536554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45157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74831" y="4560571"/>
            <a:ext cx="536554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841647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74831" y="4560571"/>
            <a:ext cx="536554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4056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you have a dataset that has income and health</a:t>
            </a:r>
          </a:p>
          <a:p>
            <a:r>
              <a:rPr lang="en-US" dirty="0"/>
              <a:t>Plot each data point</a:t>
            </a:r>
          </a:p>
          <a:p>
            <a:r>
              <a:rPr lang="en-US" dirty="0"/>
              <a:t>Draw a line go through the data</a:t>
            </a:r>
          </a:p>
          <a:p>
            <a:r>
              <a:rPr lang="en-US" dirty="0"/>
              <a:t>The regression line is that line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79287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5FC44-14FB-F2A5-7B05-283CD3E9E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D317A-4442-1839-827D-CFC53EC69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BB150B-09AC-012B-2FF4-4115B9BBB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Imagine you have a dataset that has income and health</a:t>
            </a:r>
          </a:p>
          <a:p>
            <a:r>
              <a:rPr lang="en-US" dirty="0"/>
              <a:t>Plot each data point</a:t>
            </a:r>
          </a:p>
          <a:p>
            <a:r>
              <a:rPr lang="en-US" dirty="0"/>
              <a:t>Draw a line go through the data</a:t>
            </a:r>
          </a:p>
          <a:p>
            <a:r>
              <a:rPr lang="en-US" dirty="0"/>
              <a:t>The regression line is that line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04113-23F7-8068-8AD4-F5D24F6CE1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73115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create a formula for this line -&gt; if I make $60 what’s my expected level of health</a:t>
            </a:r>
          </a:p>
          <a:p>
            <a:r>
              <a:rPr lang="en-US" dirty="0"/>
              <a:t>-&gt; But actual dots don’t fall exactly on this line, so what else could explain the relationship?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32855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Bivariate means no controls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722356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670770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Explain: imagine we’re looking at two people where everything else is the same but they have different incomes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8636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31163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018649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4B530-3FD5-4C72-0599-CAC82FF12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86E962-89C9-133D-9770-7B32064A5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A5E7C3-097C-F8E0-1390-9431AB8B22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F75465-4679-804D-D0AF-E2FABB27994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fld>
            <a:endParaRPr lang="en-US"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90731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fld>
            <a:endParaRPr lang="en-US"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67226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fld>
            <a:endParaRPr lang="en-US"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265619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74831" y="4560571"/>
            <a:ext cx="536554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37547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</a:t>
            </a:fld>
            <a:endParaRPr lang="en-US"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169943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What’s a third factor that could be causing both chocolate consumption and </a:t>
            </a:r>
            <a:r>
              <a:rPr lang="en-US" dirty="0" err="1"/>
              <a:t>nobel</a:t>
            </a:r>
            <a:r>
              <a:rPr lang="en-US" dirty="0"/>
              <a:t> laureates per 10 mil? </a:t>
            </a:r>
          </a:p>
          <a:p>
            <a:r>
              <a:rPr lang="en-US" dirty="0"/>
              <a:t>Ex: </a:t>
            </a:r>
            <a:r>
              <a:rPr lang="en-US" dirty="0" err="1"/>
              <a:t>gdp</a:t>
            </a:r>
            <a:r>
              <a:rPr lang="en-US" dirty="0"/>
              <a:t> per capita/ wealth/ economic development </a:t>
            </a:r>
          </a:p>
          <a:p>
            <a:r>
              <a:rPr lang="en-US" dirty="0"/>
              <a:t>Highlight the P Value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</a:t>
            </a:fld>
            <a:endParaRPr lang="en-US"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737175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example of random coincidence or “spurious correlation”</a:t>
            </a:r>
          </a:p>
          <a:p>
            <a:r>
              <a:rPr lang="en-US" b="0" i="0" u="none" strike="noStrike" dirty="0">
                <a:solidFill>
                  <a:srgbClr val="000000"/>
                </a:solidFill>
                <a:effectLst/>
                <a:latin typeface="Open Sans"/>
                <a:cs typeface="Open Sans"/>
              </a:rPr>
              <a:t>Brainchild of Harvard Law School student Tyler Vigen, Spurious Correlations</a:t>
            </a:r>
            <a:endParaRPr lang="en-US" b="0" i="0" u="none" strike="noStrike" dirty="0">
              <a:solidFill>
                <a:srgbClr val="000000"/>
              </a:solidFill>
              <a:effectLst/>
            </a:endParaRPr>
          </a:p>
          <a:p>
            <a:endParaRPr lang="en-US" dirty="0">
              <a:latin typeface="Open Sans"/>
              <a:cs typeface="Open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18</a:t>
            </a:fld>
            <a:endParaRPr lang="en-US"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653906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19</a:t>
            </a:fld>
            <a:endParaRPr lang="en-US"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235027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Example answers: 1. No – could be reverse causality -&gt; people enroll in Medicaid because they are sick; could be confounders</a:t>
            </a:r>
          </a:p>
          <a:p>
            <a:r>
              <a:rPr lang="en-US" dirty="0"/>
              <a:t>2. Example of a confounder is level of education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fld>
            <a:endParaRPr lang="en-US"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9262951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rtl="0"/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Times New Roman"/>
                <a:ea typeface="Times New Roman"/>
                <a:cs typeface="Times New Roman"/>
                <a:sym typeface="Times New Roman"/>
              </a:rPr>
              <a:t>Socioeconomic Status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Times New Roman"/>
                <a:ea typeface="Times New Roman"/>
                <a:cs typeface="Times New Roman"/>
                <a:sym typeface="Times New Roman"/>
              </a:rPr>
              <a:t>: Individuals who qualify for Medicaid may have lower incomes and less access to resources, which can be associated with poorer health outcomes.</a:t>
            </a:r>
          </a:p>
          <a:p>
            <a:pPr lvl="0"/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Times New Roman"/>
                <a:ea typeface="Times New Roman"/>
                <a:cs typeface="Times New Roman"/>
                <a:sym typeface="Times New Roman"/>
              </a:rPr>
              <a:t>Educational attainment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Times New Roman"/>
                <a:ea typeface="Times New Roman"/>
                <a:cs typeface="Times New Roman"/>
                <a:sym typeface="Times New Roman"/>
              </a:rPr>
              <a:t>: Higher education levels are associated with better health outcomes, so differences in educational attainment can be a confounding factor.</a:t>
            </a:r>
          </a:p>
          <a:p>
            <a:pPr lvl="0"/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Times New Roman"/>
                <a:ea typeface="Times New Roman"/>
                <a:cs typeface="Times New Roman"/>
                <a:sym typeface="Times New Roman"/>
              </a:rPr>
              <a:t>Pre-existing Health Conditions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Times New Roman"/>
                <a:ea typeface="Times New Roman"/>
                <a:cs typeface="Times New Roman"/>
                <a:sym typeface="Times New Roman"/>
              </a:rPr>
              <a:t>: People who enroll in Medicaid may already have underlying health conditions that contribute to their poor health outcomes.</a:t>
            </a:r>
          </a:p>
          <a:p>
            <a:pPr lvl="0"/>
            <a:r>
              <a:rPr lang="en-US" sz="1200" b="1" i="0" u="none" strike="noStrike" cap="none" dirty="0">
                <a:solidFill>
                  <a:schemeClr val="dk1"/>
                </a:solidFill>
                <a:effectLst/>
                <a:latin typeface="Times New Roman"/>
                <a:ea typeface="Times New Roman"/>
                <a:cs typeface="Times New Roman"/>
                <a:sym typeface="Times New Roman"/>
              </a:rPr>
              <a:t>Health Behaviors</a:t>
            </a: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Times New Roman"/>
                <a:ea typeface="Times New Roman"/>
                <a:cs typeface="Times New Roman"/>
                <a:sym typeface="Times New Roman"/>
              </a:rPr>
              <a:t>: Differences in health-related behaviors such as diet, exercise, smoking, and alcohol consumption can impact health outcomes.</a:t>
            </a:r>
          </a:p>
          <a:p>
            <a:pPr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</a:t>
            </a:fld>
            <a:endParaRPr lang="en-US" sz="13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318511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>
            <a:spLocks noGrp="1"/>
          </p:cNvSpPr>
          <p:nvPr>
            <p:ph type="body" idx="1"/>
          </p:nvPr>
        </p:nvSpPr>
        <p:spPr>
          <a:xfrm>
            <a:off x="974831" y="4560571"/>
            <a:ext cx="5365540" cy="4320540"/>
          </a:xfrm>
          <a:prstGeom prst="rect">
            <a:avLst/>
          </a:prstGeom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235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1DB7-CD5F-D99A-BC83-EA7A096DD1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F3ECAE-A971-0736-5A50-141E9A361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D482F-0DD0-D3F7-D7D5-2853F0840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08587-02AC-F9F4-7B52-45D9DFD1E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88B35-631C-0389-FA2E-19FEAB2D0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86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1292B-8ED1-CAA8-3A86-955997349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85342-7A14-AB9A-FECE-B7CA512BD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CE034-6ECB-4287-D410-D4F4ED1DB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C52A4-8610-BDBE-C277-798FD991B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6E65AB-FFFF-F8BE-6540-CA11B2BA9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811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7ED7E-A744-C3AD-DD85-B3F566D8E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12CC7-84FB-77D0-1452-A6244B3395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38C81-6E2D-7162-B2CC-E909AC0E1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CCAA2-DBF7-4AE6-769E-0C05343F8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0B52F-57AA-786D-062A-CAA6E5905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64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F393C-D942-892D-66FD-A139FB16A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58728-550D-2605-4340-E88B3AAE2C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B865F6-A4C1-BB00-4EF2-CB71A00CAC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482867-ABDD-B37D-A247-4E25275DE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8843E-E317-EF2B-F5CE-AB4439C1F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92902-F551-7D5C-FC5E-6F52AF609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80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3E11E-E96E-B4F5-E247-3C51906CD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861D89-33D5-AA3A-3982-83A933120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5962D8-0445-EB2F-9DEC-8BF42D7D6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24F2EE-06FE-2995-04C7-023C8A3AAD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928F71-8C1D-ACEF-9709-B4679E38A6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60427E-EB6B-0BB2-E18E-C033ACFE9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CF2AB4-0A45-1B90-0122-18BAFBD81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238BD0-BF97-95B8-A72B-14410CC66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55307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0799A-95BC-313B-040A-72F313FB4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C27D1B-4AF0-3B50-743A-3ED0E1E2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CD8E05-EF36-DEF6-3446-9E13FF09E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2D5D8-E1AC-D8E3-7A2F-6CB4219EA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116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EA7F3F-987E-A409-477C-015EEA8E1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72209-382E-B71D-C7E6-414E99972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C40C61-E6A9-C50C-65E3-72151E833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636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E60CE-5F24-F681-9DB8-532A3932D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98DE3-4237-24AD-8B7E-34F91E418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DFFC74-40CE-58EF-8BC2-33E67014D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DE422-EABE-6E77-A962-D31A7B0F6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6A40C-7524-994E-D4F5-4110850D3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B80FBE-78E6-8AC0-4A60-EC0713812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377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E605E-D6F5-3EA3-6F31-75D854497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E0F578-709E-5E87-7014-9388FAF43D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F686F7-A7B8-4A10-FCF5-93317F0B9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6A9B7-7E07-64D3-1810-588E9A45A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C1447-5C20-82E9-C252-8C6389F3A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8E1430-0103-2E16-EA8E-BADDAFBA0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97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2C70C-CB98-98D5-E079-EB1016100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B6E7E7-8690-D266-7CA4-95064D9C8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D11AA-AD28-7C0C-8662-25C87562E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D1F72-8021-27CA-1CAD-CF07FF28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39443-98FA-3C74-6644-4ED90D53D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54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AC9C74-6745-3DD8-0374-78A1E05616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424F36-9F7C-53B7-BD66-A8EB007797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C187AC-8CAD-37AE-0636-682543B99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CA19A-2D59-06A3-F2FA-2314C200A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D2689-60A2-D25C-6B47-A15A38F32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64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21056C-CC4E-3B89-14D5-18221A641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17D0A3-9210-F41B-6A8A-1FFB4CD406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458F0-8531-38C3-5DFC-0C0BABBE19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0ACF2-DFA2-C160-B0EA-A0FE690F9B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2B1CC2-A4A7-547D-F4A8-ACDED8E956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3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>
            <a:spLocks noGrp="1"/>
          </p:cNvSpPr>
          <p:nvPr>
            <p:ph type="title"/>
          </p:nvPr>
        </p:nvSpPr>
        <p:spPr>
          <a:xfrm>
            <a:off x="1965664" y="2389573"/>
            <a:ext cx="8260672" cy="1039427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5000"/>
              <a:t>Section 7:</a:t>
            </a:r>
            <a:br>
              <a:rPr lang="en-US" sz="5000" dirty="0"/>
            </a:br>
            <a:r>
              <a:rPr lang="en-US" sz="5000" dirty="0"/>
              <a:t>Regression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sldNum" sz="quarter" idx="12"/>
          </p:nvPr>
        </p:nvSpPr>
        <p:spPr>
          <a:xfrm>
            <a:off x="9561756" y="6334835"/>
            <a:ext cx="2133600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fld id="{00000000-1234-1234-1234-123412341234}" type="slidenum">
              <a:rPr lang="en-US"/>
              <a:pPr lvl="0"/>
              <a:t>1</a:t>
            </a:fld>
            <a:endParaRPr lang="en-US"/>
          </a:p>
        </p:txBody>
      </p:sp>
      <p:sp>
        <p:nvSpPr>
          <p:cNvPr id="122" name="Google Shape;122;p13"/>
          <p:cNvSpPr txBox="1"/>
          <p:nvPr/>
        </p:nvSpPr>
        <p:spPr>
          <a:xfrm>
            <a:off x="7273963" y="1590340"/>
            <a:ext cx="1828800" cy="4373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76200">
              <a:buClr>
                <a:schemeClr val="accent1"/>
              </a:buClr>
              <a:buSzPts val="2400"/>
            </a:pPr>
            <a:endParaRPr sz="24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69337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>
            <a:spLocks noGrp="1"/>
          </p:cNvSpPr>
          <p:nvPr>
            <p:ph type="title"/>
          </p:nvPr>
        </p:nvSpPr>
        <p:spPr>
          <a:xfrm>
            <a:off x="648148" y="479295"/>
            <a:ext cx="8260672" cy="1039427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Section 7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2F638-DA27-1B40-950B-57FFF6215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148" y="182881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Regression equations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Arial"/>
                <a:cs typeface="Arial"/>
              </a:rPr>
              <a:t>Correlation vs. Causation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21" name="Google Shape;121;p13"/>
          <p:cNvSpPr txBox="1">
            <a:spLocks noGrp="1"/>
          </p:cNvSpPr>
          <p:nvPr>
            <p:ph type="sldNum" sz="quarter" idx="12"/>
          </p:nvPr>
        </p:nvSpPr>
        <p:spPr>
          <a:xfrm>
            <a:off x="9603059" y="6307681"/>
            <a:ext cx="2133600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fld id="{00000000-1234-1234-1234-123412341234}" type="slidenum">
              <a:rPr lang="en-US"/>
              <a:pPr lvl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70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>
            <a:spLocks noGrp="1"/>
          </p:cNvSpPr>
          <p:nvPr>
            <p:ph type="title"/>
          </p:nvPr>
        </p:nvSpPr>
        <p:spPr>
          <a:xfrm>
            <a:off x="648148" y="479295"/>
            <a:ext cx="8260672" cy="1039427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Section 7 </a:t>
            </a:r>
            <a:r>
              <a:rPr lang="en-US" dirty="0"/>
              <a:t>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2F638-DA27-1B40-950B-57FFF6215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148" y="182881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Arial"/>
                <a:cs typeface="Arial"/>
              </a:rPr>
              <a:t>Regression equations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Arial"/>
                <a:cs typeface="Arial"/>
              </a:rPr>
              <a:t>Correlation vs. Causation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21" name="Google Shape;121;p13"/>
          <p:cNvSpPr txBox="1">
            <a:spLocks noGrp="1"/>
          </p:cNvSpPr>
          <p:nvPr>
            <p:ph type="sldNum" sz="quarter" idx="12"/>
          </p:nvPr>
        </p:nvSpPr>
        <p:spPr>
          <a:xfrm>
            <a:off x="9603059" y="6307681"/>
            <a:ext cx="2133600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fld id="{00000000-1234-1234-1234-123412341234}" type="slidenum">
              <a:rPr lang="en-US"/>
              <a:pPr lvl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901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F2EE-4920-BA40-9D39-0028810D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414D37-A73C-E64B-BEC1-7657BA9342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What does a regression of one variable on another variable tell us?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 might we want to use regressions?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an example of when a regression might be useful?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do regressions not tell us?</a:t>
            </a:r>
          </a:p>
          <a:p>
            <a:pPr lvl="4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FB5B7-A683-DF43-AE01-19D6D170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59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1835B-15D2-D540-7D3F-B708B00AB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873BD-AF60-4E31-E03A-5211F5B35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E38350-7C18-4888-7915-8BE6E5B56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does a regression of one variable on another variable tell us?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The “best fit” line between the two variables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Why might we want to use regressions?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Determine whether there is an association between two variables. (When X moves, does Y also move in a consistent way?)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an example of when a regression might be useful?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Example: How is life expectancy related to income?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do regressions not tell us?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Whether the relationship is causal, explanations for the relationship, etc. </a:t>
            </a:r>
          </a:p>
          <a:p>
            <a:pPr lvl="5"/>
            <a:endParaRPr lang="en-US" dirty="0"/>
          </a:p>
          <a:p>
            <a:pPr lvl="4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7BA4D7-7DFA-9A55-E89C-90ABB8C4A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4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F2EE-4920-BA40-9D39-0028810D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and Income </a:t>
            </a:r>
            <a:endParaRPr lang="en-US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414D37-A73C-E64B-BEC1-7657BA9342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9814" y="1447800"/>
            <a:ext cx="8420986" cy="4373563"/>
          </a:xfr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657350" lvl="5" indent="-28575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4" indent="0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How are these variables related? How strong is the relationship?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FB5B7-A683-DF43-AE01-19D6D170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Google Shape;118;p4">
            <a:extLst>
              <a:ext uri="{FF2B5EF4-FFF2-40B4-BE49-F238E27FC236}">
                <a16:creationId xmlns:a16="http://schemas.microsoft.com/office/drawing/2014/main" id="{9A8F8C86-D245-5142-9FA4-B9E0EAF500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6615" y="2254250"/>
            <a:ext cx="6287385" cy="4603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0557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F2EE-4920-BA40-9D39-0028810D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/>
                <a:cs typeface="Arial"/>
              </a:rPr>
              <a:t>A Simple Linear (Bivariate) Regression</a:t>
            </a:r>
            <a:endParaRPr lang="en-US" b="1" dirty="0">
              <a:latin typeface="Arial"/>
              <a:cs typeface="Arial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6F9D12-68B5-FA49-AA4D-8872D3DD8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General form: Y = a + (b*X) + e </a:t>
            </a:r>
          </a:p>
          <a:p>
            <a:pPr lvl="1"/>
            <a:r>
              <a:rPr lang="en-US" dirty="0"/>
              <a:t>a: y-intercept</a:t>
            </a:r>
          </a:p>
          <a:p>
            <a:pPr lvl="1"/>
            <a:r>
              <a:rPr lang="en-US" dirty="0"/>
              <a:t>b: slope</a:t>
            </a:r>
          </a:p>
          <a:p>
            <a:pPr lvl="1"/>
            <a:r>
              <a:rPr lang="en-US" dirty="0"/>
              <a:t>e: error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b="1" dirty="0"/>
              <a:t>Why does this error term exist?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We start with our data, then create a line of best fit (Statistics classes will explain how). Unless there is a perfect linear relationship between the two variables, there will be an error term. The error term is the gap between the person’s actual health and the line’s prediction, capturing a litany of other factors.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In the health vs. income relationship, what are some factors that could be in the error term?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Anything that impacts health that isn’t perfectly explained by income: genetic conditions, differences in diet and exercise, etc. </a:t>
            </a:r>
          </a:p>
          <a:p>
            <a:pPr lvl="1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FB5B7-A683-DF43-AE01-19D6D170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280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F2EE-4920-BA40-9D39-0028810D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Bivariate Regression – Health vs. Income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6F9D12-68B5-FA49-AA4D-8872D3DD8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5102867" cy="50307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What is the equation of the regression line? 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Health = – 13.735 + 0.723*(Income in 1000s) 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How do we state the coefficient on income in words?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A 1k increase in income is associated with a 0.723 increase in health points. This is a </a:t>
            </a:r>
            <a:r>
              <a:rPr lang="en-US" sz="1600" b="1" dirty="0">
                <a:solidFill>
                  <a:srgbClr val="FF0000"/>
                </a:solidFill>
              </a:rPr>
              <a:t>linear</a:t>
            </a:r>
            <a:r>
              <a:rPr lang="en-US" sz="1600" dirty="0">
                <a:solidFill>
                  <a:srgbClr val="FF0000"/>
                </a:solidFill>
              </a:rPr>
              <a:t> relationship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How do we know whether the relationship is statistically significant?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Confidence intervals and p-values tells us whether slope is statistically significantly different from 0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If 0 is included in the confidence interval, we can’t rule out that there is no relationship</a:t>
            </a:r>
          </a:p>
          <a:p>
            <a:pPr lvl="1"/>
            <a:r>
              <a:rPr lang="en-US" sz="1600" b="1" dirty="0">
                <a:solidFill>
                  <a:srgbClr val="FF0000"/>
                </a:solidFill>
              </a:rPr>
              <a:t>How would we interpret the slope if the confidence interval was (-0.4, 1.8)?</a:t>
            </a:r>
          </a:p>
          <a:p>
            <a:pPr marL="0" indent="0">
              <a:buNone/>
            </a:pPr>
            <a:r>
              <a:rPr lang="en-US" sz="2000" dirty="0"/>
              <a:t>How could we predict the health of somebody of a given income? (e.g. $60K)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</a:rPr>
              <a:t>Plug this income into the equation for the regression line, (at 60K income: 29.6 “health points”)</a:t>
            </a:r>
          </a:p>
          <a:p>
            <a:endParaRPr lang="en-US" sz="20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FB5B7-A683-DF43-AE01-19D6D170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5" name="Google Shape;132;p6">
            <a:extLst>
              <a:ext uri="{FF2B5EF4-FFF2-40B4-BE49-F238E27FC236}">
                <a16:creationId xmlns:a16="http://schemas.microsoft.com/office/drawing/2014/main" id="{2241C7F1-C42A-1E4A-A59D-EA78EA5F8F73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74142" y="1376814"/>
            <a:ext cx="4979123" cy="25916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8B35A59D-6760-74D6-14F1-1D63D0A5A9EF}"/>
              </a:ext>
            </a:extLst>
          </p:cNvPr>
          <p:cNvGrpSpPr/>
          <p:nvPr/>
        </p:nvGrpSpPr>
        <p:grpSpPr>
          <a:xfrm>
            <a:off x="7106681" y="3917244"/>
            <a:ext cx="3714044" cy="2940756"/>
            <a:chOff x="7106681" y="3917244"/>
            <a:chExt cx="3714044" cy="2940756"/>
          </a:xfrm>
        </p:grpSpPr>
        <p:pic>
          <p:nvPicPr>
            <p:cNvPr id="3" name="Google Shape;118;p4">
              <a:extLst>
                <a:ext uri="{FF2B5EF4-FFF2-40B4-BE49-F238E27FC236}">
                  <a16:creationId xmlns:a16="http://schemas.microsoft.com/office/drawing/2014/main" id="{A43F95EC-E0CC-5C77-03BD-6E8FBC0126BE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106681" y="3917244"/>
              <a:ext cx="3714044" cy="294075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7D617A2-AFBA-8A02-0F1B-4EA8BAF7CDC4}"/>
                </a:ext>
              </a:extLst>
            </p:cNvPr>
            <p:cNvCxnSpPr/>
            <p:nvPr/>
          </p:nvCxnSpPr>
          <p:spPr>
            <a:xfrm flipV="1">
              <a:off x="8737600" y="5481186"/>
              <a:ext cx="0" cy="772858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71FC3FA-3620-10C4-09D9-CE6BC696057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86133" y="5515053"/>
              <a:ext cx="1035756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tailEnd type="triangle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3859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F2EE-4920-BA40-9D39-0028810D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Controls (Multivariable Regression)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6F9D12-68B5-FA49-AA4D-8872D3DD8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General form: Y = a + (b1*X1) + (b2*X2) + … +  e 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a: y-intercept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b1, b2, …: slopes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e: error</a:t>
            </a:r>
          </a:p>
          <a:p>
            <a:pPr lvl="1">
              <a:lnSpc>
                <a:spcPct val="110000"/>
              </a:lnSpc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Why would we want to include other control variables in the model of health vs. income?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Since there could be other variables that affect both income and health thus influence the relationship between the two</a:t>
            </a:r>
            <a:endParaRPr lang="en-US" dirty="0"/>
          </a:p>
          <a:p>
            <a:pPr>
              <a:lnSpc>
                <a:spcPct val="110000"/>
              </a:lnSpc>
            </a:pPr>
            <a:endParaRPr lang="en-US" b="1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What other control variables may we want to add? </a:t>
            </a:r>
          </a:p>
          <a:p>
            <a:pPr lvl="1">
              <a:lnSpc>
                <a:spcPct val="110000"/>
              </a:lnSpc>
            </a:pPr>
            <a:r>
              <a:rPr lang="en-US" sz="1900" dirty="0">
                <a:solidFill>
                  <a:srgbClr val="FF0000"/>
                </a:solidFill>
                <a:latin typeface="Arial"/>
                <a:cs typeface="Arial"/>
              </a:rPr>
              <a:t>Often called “confounders", </a:t>
            </a:r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Examples: parental income, age, place of residence, etc.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FB5B7-A683-DF43-AE01-19D6D170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96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F2EE-4920-BA40-9D39-0028810D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Multivariable Regression – Health vs. Income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6F9D12-68B5-FA49-AA4D-8872D3DD8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60581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dirty="0"/>
              <a:t>We now add “age” as an additional control :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Does the sign of the coefficient on “age” make sense?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Yes – as people age, their health declines</a:t>
            </a:r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How do we interpret the coefficient on income?</a:t>
            </a:r>
          </a:p>
          <a:p>
            <a:pPr lvl="1"/>
            <a:r>
              <a:rPr lang="en-US" sz="1500" dirty="0">
                <a:solidFill>
                  <a:srgbClr val="FF0000"/>
                </a:solidFill>
              </a:rPr>
              <a:t>Holding age constant, a 1k increase in income is associated with a 0.731 point higher health score</a:t>
            </a:r>
          </a:p>
          <a:p>
            <a:pPr lvl="1"/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Does the coefficient on income remain statistically significant?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Yes – see p-value (asterisks)</a:t>
            </a:r>
          </a:p>
          <a:p>
            <a:pPr lvl="1"/>
            <a:endParaRPr lang="en-US" sz="18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000" b="1" dirty="0"/>
              <a:t>Does the coefficient on income change? What does this mean?</a:t>
            </a:r>
          </a:p>
          <a:p>
            <a:pPr lvl="1"/>
            <a:r>
              <a:rPr lang="en-US" sz="1800" b="1" dirty="0">
                <a:solidFill>
                  <a:srgbClr val="FF0000"/>
                </a:solidFill>
              </a:rPr>
              <a:t>Not much, but you are the judge; this is not always objective</a:t>
            </a:r>
          </a:p>
          <a:p>
            <a:pPr lvl="1"/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FB5B7-A683-DF43-AE01-19D6D170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Google Shape;152;p9">
            <a:extLst>
              <a:ext uri="{FF2B5EF4-FFF2-40B4-BE49-F238E27FC236}">
                <a16:creationId xmlns:a16="http://schemas.microsoft.com/office/drawing/2014/main" id="{05503B13-AFAC-6145-91DD-07B3F95737C4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83829" y="2012270"/>
            <a:ext cx="5032829" cy="27800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0615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F2EE-4920-BA40-9D39-0028810D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Should we just control for everything?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6F9D12-68B5-FA49-AA4D-8872D3DD8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051" y="1825625"/>
            <a:ext cx="525095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/>
              <a:t>We now add “cats” as an additional control: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Does the size of the coefficient on “cats” make sense?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Yes, because it is extremely small and is not significant (which makes sense, because we wouldn’t expect a relationship there!)</a:t>
            </a:r>
            <a:endParaRPr lang="en-US" sz="18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Does the coefficient on income remain statistically significant?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Yes – see p-value (asterisks)</a:t>
            </a:r>
          </a:p>
          <a:p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You, the discerning consumer of research, should determine whether what you are reading makes sense, given the regression specification! There is not always a clear-cut answer.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FB5B7-A683-DF43-AE01-19D6D170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" name="Google Shape;173;p12">
            <a:extLst>
              <a:ext uri="{FF2B5EF4-FFF2-40B4-BE49-F238E27FC236}">
                <a16:creationId xmlns:a16="http://schemas.microsoft.com/office/drawing/2014/main" id="{7AA7972B-01D8-5A2C-EEB5-5E8954AA40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1439" y="1690688"/>
            <a:ext cx="5250950" cy="3364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8021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73E77-C229-E09A-B223-ECF2B6A63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6657-6725-55DC-7FF1-61CB68788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follow-up example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73BFD0-82EB-A01D-97EF-DBE03373A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5051" y="1825625"/>
            <a:ext cx="10271682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 new (hypothetical) paper regresses “survival rate of craniotomy” on “size of teaching hospitals,” and finds that the larger teaching hospitals have worse survival rates. What can we conclude?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We could conclude that larger hospitals are associated with worse outcomes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OR we could suspect that our regression specification is incomplete</a:t>
            </a:r>
            <a:endParaRPr lang="en-US" sz="1800" dirty="0"/>
          </a:p>
          <a:p>
            <a:pPr marL="457200" lvl="1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A reviewer tells the authors to control for underlying patient risk. The authors re-run the regression (with the new control), and find that larger teaching hospitals are now associated with better survival rates. What can we conclude?</a:t>
            </a:r>
          </a:p>
          <a:p>
            <a:pPr lvl="1"/>
            <a:r>
              <a:rPr lang="en-US" sz="1800" dirty="0">
                <a:solidFill>
                  <a:srgbClr val="FF0000"/>
                </a:solidFill>
              </a:rPr>
              <a:t>Sicker patients went to larger teaching hospitals in the first place. When controlling for disease state, the coefficient on hospital size </a:t>
            </a:r>
            <a:r>
              <a:rPr lang="en-US" sz="1800" b="1" dirty="0">
                <a:solidFill>
                  <a:srgbClr val="FF0000"/>
                </a:solidFill>
              </a:rPr>
              <a:t>flipped</a:t>
            </a:r>
            <a:endParaRPr lang="en-US" sz="1800" dirty="0">
              <a:solidFill>
                <a:srgbClr val="FF0000"/>
              </a:solidFill>
            </a:endParaRPr>
          </a:p>
          <a:p>
            <a:endParaRPr lang="en-US" sz="20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AEABC7-F38C-915F-7011-B4EBE37DC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0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F2EE-4920-BA40-9D39-0028810D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Moving Toward Causality</a:t>
            </a:r>
            <a:endParaRPr lang="en-US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6F9D12-68B5-FA49-AA4D-8872D3DD8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2008"/>
            <a:ext cx="10374086" cy="437356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/>
              <a:t>Have we established a causal relationship between income and health?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No!</a:t>
            </a:r>
            <a:endParaRPr lang="en-US" b="1" dirty="0">
              <a:solidFill>
                <a:srgbClr val="FF0000"/>
              </a:solidFill>
            </a:endParaRP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/>
              <a:t>What would we have to do to establish a causal relationship between income and health?</a:t>
            </a:r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Either (1) control for every variable that might influence both health and income [likely infeasible] </a:t>
            </a:r>
          </a:p>
          <a:p>
            <a:pPr lvl="2"/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In practice, no one will believe that you controlled for everything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(2) Use experiment or a natural experiment </a:t>
            </a:r>
            <a:endParaRPr lang="en-US" dirty="0">
              <a:solidFill>
                <a:srgbClr val="FF0000"/>
              </a:solidFill>
            </a:endParaRPr>
          </a:p>
          <a:p>
            <a:pPr lvl="2"/>
            <a:r>
              <a:rPr lang="en-US" dirty="0">
                <a:solidFill>
                  <a:srgbClr val="FF0000"/>
                </a:solidFill>
                <a:latin typeface="Arial"/>
                <a:cs typeface="Arial"/>
              </a:rPr>
              <a:t>Researcher recruits participants to assign treatment randomly</a:t>
            </a:r>
          </a:p>
          <a:p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FB5B7-A683-DF43-AE01-19D6D170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53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F2EE-4920-BA40-9D39-0028810D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Direction of Causality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66F9D12-68B5-FA49-AA4D-8872D3DD8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287000" cy="45577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if we were able to control for every variable that might influence both health and income? </a:t>
            </a:r>
            <a:endParaRPr lang="en-US" b="1" dirty="0"/>
          </a:p>
          <a:p>
            <a:pPr lvl="1"/>
            <a:r>
              <a:rPr lang="en-US" dirty="0"/>
              <a:t>Again, this is probably completely infeasible.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In that case, would we know for sure that income causes an increase in health?</a:t>
            </a:r>
          </a:p>
          <a:p>
            <a:pPr marL="0" indent="0">
              <a:buNone/>
            </a:pPr>
            <a:r>
              <a:rPr lang="en-US" b="1" dirty="0"/>
              <a:t>What if better health leads to higher income? Do our regression results tell us about which causes which?</a:t>
            </a:r>
          </a:p>
          <a:p>
            <a:pPr lvl="1"/>
            <a:r>
              <a:rPr lang="en-US" b="1" dirty="0"/>
              <a:t>Can you come up with an explanation for why the relationship might run in this direction (from health </a:t>
            </a:r>
            <a:r>
              <a:rPr lang="en-US" b="1" dirty="0">
                <a:sym typeface="Wingdings" panose="05000000000000000000" pitchFamily="2" charset="2"/>
              </a:rPr>
              <a:t> income)? 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Better health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FF0000"/>
                </a:solidFill>
              </a:rPr>
              <a:t> More schooling or ability to work better jobs  + Less time spent dealing with health issues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FF0000"/>
                </a:solidFill>
              </a:rPr>
              <a:t>Higher income </a:t>
            </a:r>
          </a:p>
          <a:p>
            <a:pPr marL="457200" lvl="1" indent="0">
              <a:buNone/>
            </a:pPr>
            <a:endParaRPr lang="en-US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FB5B7-A683-DF43-AE01-19D6D170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21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>
            <a:spLocks noGrp="1"/>
          </p:cNvSpPr>
          <p:nvPr>
            <p:ph type="title"/>
          </p:nvPr>
        </p:nvSpPr>
        <p:spPr>
          <a:xfrm>
            <a:off x="648148" y="479295"/>
            <a:ext cx="8260672" cy="1039427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dirty="0"/>
              <a:t>Section 7 Overview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2F638-DA27-1B40-950B-57FFF6215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148" y="182881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Regression equations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Arial"/>
                <a:cs typeface="Arial"/>
              </a:rPr>
              <a:t>Correlation vs. Causation</a:t>
            </a:r>
            <a:endParaRPr lang="en-US" b="1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121" name="Google Shape;121;p13"/>
          <p:cNvSpPr txBox="1">
            <a:spLocks noGrp="1"/>
          </p:cNvSpPr>
          <p:nvPr>
            <p:ph type="sldNum" sz="quarter" idx="12"/>
          </p:nvPr>
        </p:nvSpPr>
        <p:spPr>
          <a:xfrm>
            <a:off x="9603059" y="6307681"/>
            <a:ext cx="2133600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fld id="{00000000-1234-1234-1234-123412341234}" type="slidenum">
              <a:rPr lang="en-US"/>
              <a:pPr lvl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61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F2EE-4920-BA40-9D39-0028810D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vs. Causation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C9F9C5-5F06-5018-01CA-C11E59E4F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/>
              <a:t>Reasons we may see a correlation, but it may not be causation:</a:t>
            </a:r>
          </a:p>
          <a:p>
            <a:pPr marL="0" indent="0">
              <a:buNone/>
            </a:pPr>
            <a:endParaRPr lang="en-US" sz="2400" b="1" dirty="0"/>
          </a:p>
          <a:p>
            <a:pPr marL="800100" lvl="1" indent="-342900"/>
            <a:r>
              <a:rPr lang="en-US" dirty="0"/>
              <a:t>Third variable that explains/causes both (confounder)</a:t>
            </a:r>
          </a:p>
          <a:p>
            <a:pPr marL="800100" lvl="1" indent="-342900"/>
            <a:endParaRPr lang="en-US" dirty="0"/>
          </a:p>
          <a:p>
            <a:pPr marL="800100" lvl="1" indent="-342900"/>
            <a:r>
              <a:rPr lang="en-US" dirty="0"/>
              <a:t>Random coincidence</a:t>
            </a:r>
          </a:p>
          <a:p>
            <a:pPr marL="800100" lvl="1" indent="-342900"/>
            <a:endParaRPr lang="en-US" dirty="0"/>
          </a:p>
          <a:p>
            <a:pPr marL="800100" lvl="1" indent="-342900"/>
            <a:r>
              <a:rPr lang="en-US" dirty="0"/>
              <a:t>Reverse causality (causal relationship exists, but we got it backwards)</a:t>
            </a:r>
          </a:p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FB5B7-A683-DF43-AE01-19D6D170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38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F2EE-4920-BA40-9D39-0028810D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vs. Causation Examples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FB5B7-A683-DF43-AE01-19D6D170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9" name="Google Shape;179;p13">
            <a:extLst>
              <a:ext uri="{FF2B5EF4-FFF2-40B4-BE49-F238E27FC236}">
                <a16:creationId xmlns:a16="http://schemas.microsoft.com/office/drawing/2014/main" id="{A7807F85-7120-374C-8AB5-F3AFC5EAB0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8625" y="1715930"/>
            <a:ext cx="5863679" cy="47336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06343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F2EE-4920-BA40-9D39-0028810D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vs. Causation Examples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FB5B7-A683-DF43-AE01-19D6D170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5" name="Google Shape;185;p14">
            <a:extLst>
              <a:ext uri="{FF2B5EF4-FFF2-40B4-BE49-F238E27FC236}">
                <a16:creationId xmlns:a16="http://schemas.microsoft.com/office/drawing/2014/main" id="{1C312895-CCF3-FB41-B9FA-99DF8137D24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7828" y="1786646"/>
            <a:ext cx="6105273" cy="45697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3710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F2EE-4920-BA40-9D39-0028810D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vs. Causation Examples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FB5B7-A683-DF43-AE01-19D6D170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" name="Google Shape;204;p17">
            <a:extLst>
              <a:ext uri="{FF2B5EF4-FFF2-40B4-BE49-F238E27FC236}">
                <a16:creationId xmlns:a16="http://schemas.microsoft.com/office/drawing/2014/main" id="{77E59CC9-5E7B-4646-A487-5A672DB19F1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99" y="1404666"/>
            <a:ext cx="8449734" cy="103942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5995F7-F35D-BF43-AF97-CEE1AD554064}"/>
              </a:ext>
            </a:extLst>
          </p:cNvPr>
          <p:cNvSpPr txBox="1"/>
          <p:nvPr/>
        </p:nvSpPr>
        <p:spPr>
          <a:xfrm>
            <a:off x="935110" y="2628047"/>
            <a:ext cx="424294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Evaluate this claim from an Op-Ed in the Wall Street Journal.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Basic gist of the papers the Op-Ed author cites: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Patients w/ Medicaid were more likely to die / get sicker than privately insured (or uninsured in some cases)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Many studies controlled for socioeconomic status</a:t>
            </a:r>
          </a:p>
          <a:p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6BA476-BCA1-4DCD-79CB-0219AB106E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2044" y="2262397"/>
            <a:ext cx="5300134" cy="4303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911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F2EE-4920-BA40-9D39-0028810D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vs. Causation Examples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FB5B7-A683-DF43-AE01-19D6D170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6" name="Google Shape;204;p17">
            <a:extLst>
              <a:ext uri="{FF2B5EF4-FFF2-40B4-BE49-F238E27FC236}">
                <a16:creationId xmlns:a16="http://schemas.microsoft.com/office/drawing/2014/main" id="{77E59CC9-5E7B-4646-A487-5A672DB19F1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99" y="1404666"/>
            <a:ext cx="8449734" cy="103942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5995F7-F35D-BF43-AF97-CEE1AD554064}"/>
              </a:ext>
            </a:extLst>
          </p:cNvPr>
          <p:cNvSpPr txBox="1"/>
          <p:nvPr/>
        </p:nvSpPr>
        <p:spPr>
          <a:xfrm>
            <a:off x="914400" y="2629765"/>
            <a:ext cx="991164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you convinced that Medicaid causes poor health or bad outcomes?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are some factors (confounders) that might explain this relationship? </a:t>
            </a: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5572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2F2EE-4920-BA40-9D39-0028810DE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Correlation vs. Causation Examples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FFB5B7-A683-DF43-AE01-19D6D170D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6" name="Google Shape;204;p17">
            <a:extLst>
              <a:ext uri="{FF2B5EF4-FFF2-40B4-BE49-F238E27FC236}">
                <a16:creationId xmlns:a16="http://schemas.microsoft.com/office/drawing/2014/main" id="{77E59CC9-5E7B-4646-A487-5A672DB19F1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199" y="1404666"/>
            <a:ext cx="8449734" cy="103942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5995F7-F35D-BF43-AF97-CEE1AD554064}"/>
              </a:ext>
            </a:extLst>
          </p:cNvPr>
          <p:cNvSpPr txBox="1"/>
          <p:nvPr/>
        </p:nvSpPr>
        <p:spPr>
          <a:xfrm>
            <a:off x="914400" y="2629765"/>
            <a:ext cx="9911644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you convinced that Medicaid causes poor health or bad outcomes?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No, there could be reverse causality (people enroll in Medicaid because they are sick) and omitted variable bias</a:t>
            </a:r>
            <a:endParaRPr lang="en-US" sz="20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are some factors (confounders) that might explain this relationship?</a:t>
            </a:r>
          </a:p>
          <a:p>
            <a:pPr lvl="1"/>
            <a:r>
              <a:rPr lang="en-US" sz="2000" dirty="0">
                <a:solidFill>
                  <a:srgbClr val="FF0000"/>
                </a:solidFill>
                <a:latin typeface="Arial"/>
                <a:cs typeface="Arial"/>
              </a:rPr>
              <a:t>Socioeconomic status, educational attainment, pre-existing health conditions, health behaviors, cultural background, etc.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192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2F638-DA27-1B40-950B-57FFF6215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54377"/>
            <a:ext cx="10515600" cy="102727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000" dirty="0"/>
              <a:t>Questions?</a:t>
            </a:r>
          </a:p>
          <a:p>
            <a:pPr lvl="1"/>
            <a:endParaRPr lang="en-US" sz="5000" dirty="0"/>
          </a:p>
          <a:p>
            <a:endParaRPr lang="en-US" sz="5000" dirty="0"/>
          </a:p>
        </p:txBody>
      </p:sp>
      <p:sp>
        <p:nvSpPr>
          <p:cNvPr id="121" name="Google Shape;121;p13"/>
          <p:cNvSpPr txBox="1">
            <a:spLocks noGrp="1"/>
          </p:cNvSpPr>
          <p:nvPr>
            <p:ph type="sldNum" sz="quarter" idx="12"/>
          </p:nvPr>
        </p:nvSpPr>
        <p:spPr>
          <a:xfrm>
            <a:off x="9603059" y="6307681"/>
            <a:ext cx="2133600" cy="365125"/>
          </a:xfr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fld id="{00000000-1234-1234-1234-123412341234}" type="slidenum">
              <a:rPr lang="en-US"/>
              <a:pPr lvl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17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4641</TotalTime>
  <Words>1668</Words>
  <Application>Microsoft Macintosh PowerPoint</Application>
  <PresentationFormat>Widescreen</PresentationFormat>
  <Paragraphs>208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Times New Roman</vt:lpstr>
      <vt:lpstr>Open Sans</vt:lpstr>
      <vt:lpstr>Century Gothic</vt:lpstr>
      <vt:lpstr>Calibri</vt:lpstr>
      <vt:lpstr>Arial</vt:lpstr>
      <vt:lpstr>Wingdings</vt:lpstr>
      <vt:lpstr>Office Theme</vt:lpstr>
      <vt:lpstr>Section 7: Regression</vt:lpstr>
      <vt:lpstr>Section 7 Overview</vt:lpstr>
      <vt:lpstr>Section 7 Overview</vt:lpstr>
      <vt:lpstr>Regressions</vt:lpstr>
      <vt:lpstr>Regressions</vt:lpstr>
      <vt:lpstr>Health and Income </vt:lpstr>
      <vt:lpstr>A Simple Linear (Bivariate) Regression</vt:lpstr>
      <vt:lpstr>Bivariate Regression – Health vs. Income</vt:lpstr>
      <vt:lpstr>Adding Controls (Multivariable Regression)</vt:lpstr>
      <vt:lpstr>Multivariable Regression – Health vs. Income</vt:lpstr>
      <vt:lpstr>Should we just control for everything?</vt:lpstr>
      <vt:lpstr>A follow-up example</vt:lpstr>
      <vt:lpstr>Moving Toward Causality</vt:lpstr>
      <vt:lpstr>Direction of Causality</vt:lpstr>
      <vt:lpstr>Section 7 Overview</vt:lpstr>
      <vt:lpstr>Correlation vs. Causation</vt:lpstr>
      <vt:lpstr>Correlation vs. Causation Examples</vt:lpstr>
      <vt:lpstr>Correlation vs. Causation Examples</vt:lpstr>
      <vt:lpstr>Correlation vs. Causation Examples</vt:lpstr>
      <vt:lpstr>Correlation vs. Causation Examples</vt:lpstr>
      <vt:lpstr>Correlation vs. Causation Examples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1 Overview</dc:title>
  <dc:creator>Kacie Dragan</dc:creator>
  <cp:lastModifiedBy>Jhang, Janice</cp:lastModifiedBy>
  <cp:revision>240</cp:revision>
  <dcterms:modified xsi:type="dcterms:W3CDTF">2026-10-20T19:07:34Z</dcterms:modified>
</cp:coreProperties>
</file>