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3" r:id="rId1"/>
  </p:sldMasterIdLst>
  <p:notesMasterIdLst>
    <p:notesMasterId r:id="rId33"/>
  </p:notesMasterIdLst>
  <p:handoutMasterIdLst>
    <p:handoutMasterId r:id="rId34"/>
  </p:handoutMasterIdLst>
  <p:sldIdLst>
    <p:sldId id="550" r:id="rId2"/>
    <p:sldId id="543" r:id="rId3"/>
    <p:sldId id="573" r:id="rId4"/>
    <p:sldId id="570" r:id="rId5"/>
    <p:sldId id="564" r:id="rId6"/>
    <p:sldId id="549" r:id="rId7"/>
    <p:sldId id="565" r:id="rId8"/>
    <p:sldId id="566" r:id="rId9"/>
    <p:sldId id="575" r:id="rId10"/>
    <p:sldId id="554" r:id="rId11"/>
    <p:sldId id="576" r:id="rId12"/>
    <p:sldId id="539" r:id="rId13"/>
    <p:sldId id="540" r:id="rId14"/>
    <p:sldId id="556" r:id="rId15"/>
    <p:sldId id="557" r:id="rId16"/>
    <p:sldId id="577" r:id="rId17"/>
    <p:sldId id="541" r:id="rId18"/>
    <p:sldId id="558" r:id="rId19"/>
    <p:sldId id="578" r:id="rId20"/>
    <p:sldId id="559" r:id="rId21"/>
    <p:sldId id="579" r:id="rId22"/>
    <p:sldId id="560" r:id="rId23"/>
    <p:sldId id="542" r:id="rId24"/>
    <p:sldId id="561" r:id="rId25"/>
    <p:sldId id="562" r:id="rId26"/>
    <p:sldId id="563" r:id="rId27"/>
    <p:sldId id="580" r:id="rId28"/>
    <p:sldId id="531" r:id="rId29"/>
    <p:sldId id="572" r:id="rId30"/>
    <p:sldId id="552" r:id="rId31"/>
    <p:sldId id="555" r:id="rId32"/>
  </p:sldIdLst>
  <p:sldSz cx="12192000" cy="6858000"/>
  <p:notesSz cx="7102475" cy="938847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D7FC369E-7530-4CB2-8298-D84FD190DD57}">
          <p14:sldIdLst>
            <p14:sldId id="550"/>
            <p14:sldId id="543"/>
            <p14:sldId id="573"/>
            <p14:sldId id="570"/>
            <p14:sldId id="564"/>
            <p14:sldId id="549"/>
            <p14:sldId id="565"/>
            <p14:sldId id="566"/>
            <p14:sldId id="575"/>
            <p14:sldId id="554"/>
            <p14:sldId id="576"/>
            <p14:sldId id="539"/>
            <p14:sldId id="540"/>
            <p14:sldId id="556"/>
            <p14:sldId id="557"/>
            <p14:sldId id="577"/>
            <p14:sldId id="541"/>
            <p14:sldId id="558"/>
            <p14:sldId id="578"/>
            <p14:sldId id="559"/>
            <p14:sldId id="579"/>
            <p14:sldId id="560"/>
            <p14:sldId id="542"/>
            <p14:sldId id="561"/>
            <p14:sldId id="562"/>
            <p14:sldId id="563"/>
            <p14:sldId id="580"/>
            <p14:sldId id="531"/>
          </p14:sldIdLst>
        </p14:section>
        <p14:section name="Untitled Section" id="{968D8C67-5363-4E7C-8725-5157FECC8B80}">
          <p14:sldIdLst>
            <p14:sldId id="572"/>
            <p14:sldId id="552"/>
            <p14:sldId id="555"/>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957" userDrawn="1">
          <p15:clr>
            <a:srgbClr val="A4A3A4"/>
          </p15:clr>
        </p15:guide>
        <p15:guide id="2" pos="2237"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avid Cutler" initials="DC" lastIdx="1" clrIdx="0">
    <p:extLst>
      <p:ext uri="{19B8F6BF-5375-455C-9EA6-DF929625EA0E}">
        <p15:presenceInfo xmlns:p15="http://schemas.microsoft.com/office/powerpoint/2012/main" userId="f7817227c7a45f8d"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08001"/>
    <a:srgbClr val="002060"/>
    <a:srgbClr val="008000"/>
    <a:srgbClr val="DAFE04"/>
    <a:srgbClr val="DAFD0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3003" autoAdjust="0"/>
    <p:restoredTop sz="87114" autoAdjust="0"/>
  </p:normalViewPr>
  <p:slideViewPr>
    <p:cSldViewPr>
      <p:cViewPr>
        <p:scale>
          <a:sx n="113" d="100"/>
          <a:sy n="113" d="100"/>
        </p:scale>
        <p:origin x="192" y="160"/>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 d="1"/>
        <a:sy n="1" d="1"/>
      </p:scale>
      <p:origin x="0" y="-7280"/>
    </p:cViewPr>
  </p:sorterViewPr>
  <p:notesViewPr>
    <p:cSldViewPr>
      <p:cViewPr varScale="1">
        <p:scale>
          <a:sx n="60" d="100"/>
          <a:sy n="60" d="100"/>
        </p:scale>
        <p:origin x="2218" y="43"/>
      </p:cViewPr>
      <p:guideLst>
        <p:guide orient="horz" pos="2957"/>
        <p:guide pos="2237"/>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commentAuthors" Target="commentAuthors.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410" name="Rectangle 2"/>
          <p:cNvSpPr>
            <a:spLocks noGrp="1" noChangeArrowheads="1"/>
          </p:cNvSpPr>
          <p:nvPr>
            <p:ph type="hdr" sz="quarter"/>
          </p:nvPr>
        </p:nvSpPr>
        <p:spPr bwMode="auto">
          <a:xfrm>
            <a:off x="0" y="1"/>
            <a:ext cx="3077225" cy="469424"/>
          </a:xfrm>
          <a:prstGeom prst="rect">
            <a:avLst/>
          </a:prstGeom>
          <a:noFill/>
          <a:ln w="9525">
            <a:noFill/>
            <a:miter lim="800000"/>
            <a:headEnd/>
            <a:tailEnd/>
          </a:ln>
          <a:effectLst/>
        </p:spPr>
        <p:txBody>
          <a:bodyPr vert="horz" wrap="square" lIns="94224" tIns="47111" rIns="94224" bIns="47111" numCol="1" anchor="t" anchorCtr="0" compatLnSpc="1">
            <a:prstTxWarp prst="textNoShape">
              <a:avLst/>
            </a:prstTxWarp>
          </a:bodyPr>
          <a:lstStyle>
            <a:lvl1pPr defTabSz="942288">
              <a:defRPr sz="1300">
                <a:latin typeface="Times New Roman" pitchFamily="18" charset="0"/>
              </a:defRPr>
            </a:lvl1pPr>
          </a:lstStyle>
          <a:p>
            <a:r>
              <a:rPr lang="en-US" dirty="0" err="1"/>
              <a:t>GenEd</a:t>
            </a:r>
            <a:r>
              <a:rPr lang="en-US" dirty="0"/>
              <a:t> 1079</a:t>
            </a:r>
          </a:p>
        </p:txBody>
      </p:sp>
      <p:sp>
        <p:nvSpPr>
          <p:cNvPr id="17411" name="Rectangle 3"/>
          <p:cNvSpPr>
            <a:spLocks noGrp="1" noChangeArrowheads="1"/>
          </p:cNvSpPr>
          <p:nvPr>
            <p:ph type="dt" sz="quarter" idx="1"/>
          </p:nvPr>
        </p:nvSpPr>
        <p:spPr bwMode="auto">
          <a:xfrm>
            <a:off x="4025252" y="1"/>
            <a:ext cx="3077224" cy="469424"/>
          </a:xfrm>
          <a:prstGeom prst="rect">
            <a:avLst/>
          </a:prstGeom>
          <a:noFill/>
          <a:ln w="9525">
            <a:noFill/>
            <a:miter lim="800000"/>
            <a:headEnd/>
            <a:tailEnd/>
          </a:ln>
          <a:effectLst/>
        </p:spPr>
        <p:txBody>
          <a:bodyPr vert="horz" wrap="square" lIns="94224" tIns="47111" rIns="94224" bIns="47111" numCol="1" anchor="t" anchorCtr="0" compatLnSpc="1">
            <a:prstTxWarp prst="textNoShape">
              <a:avLst/>
            </a:prstTxWarp>
          </a:bodyPr>
          <a:lstStyle>
            <a:lvl1pPr algn="r" defTabSz="942288">
              <a:defRPr sz="1300">
                <a:latin typeface="Times New Roman" pitchFamily="18" charset="0"/>
              </a:defRPr>
            </a:lvl1pPr>
          </a:lstStyle>
          <a:p>
            <a:r>
              <a:rPr lang="en-US" dirty="0"/>
              <a:t>Session 1.2</a:t>
            </a:r>
          </a:p>
        </p:txBody>
      </p:sp>
      <p:sp>
        <p:nvSpPr>
          <p:cNvPr id="17412" name="Rectangle 4"/>
          <p:cNvSpPr>
            <a:spLocks noGrp="1" noChangeArrowheads="1"/>
          </p:cNvSpPr>
          <p:nvPr>
            <p:ph type="ftr" sz="quarter" idx="2"/>
          </p:nvPr>
        </p:nvSpPr>
        <p:spPr bwMode="auto">
          <a:xfrm>
            <a:off x="0" y="8919052"/>
            <a:ext cx="3077225" cy="469424"/>
          </a:xfrm>
          <a:prstGeom prst="rect">
            <a:avLst/>
          </a:prstGeom>
          <a:noFill/>
          <a:ln w="9525">
            <a:noFill/>
            <a:miter lim="800000"/>
            <a:headEnd/>
            <a:tailEnd/>
          </a:ln>
          <a:effectLst/>
        </p:spPr>
        <p:txBody>
          <a:bodyPr vert="horz" wrap="square" lIns="94224" tIns="47111" rIns="94224" bIns="47111" numCol="1" anchor="b" anchorCtr="0" compatLnSpc="1">
            <a:prstTxWarp prst="textNoShape">
              <a:avLst/>
            </a:prstTxWarp>
          </a:bodyPr>
          <a:lstStyle>
            <a:lvl1pPr defTabSz="942288">
              <a:defRPr sz="1300">
                <a:latin typeface="Times New Roman" pitchFamily="18" charset="0"/>
              </a:defRPr>
            </a:lvl1pPr>
          </a:lstStyle>
          <a:p>
            <a:endParaRPr lang="en-US"/>
          </a:p>
        </p:txBody>
      </p:sp>
      <p:sp>
        <p:nvSpPr>
          <p:cNvPr id="17413" name="Rectangle 5"/>
          <p:cNvSpPr>
            <a:spLocks noGrp="1" noChangeArrowheads="1"/>
          </p:cNvSpPr>
          <p:nvPr>
            <p:ph type="sldNum" sz="quarter" idx="3"/>
          </p:nvPr>
        </p:nvSpPr>
        <p:spPr bwMode="auto">
          <a:xfrm>
            <a:off x="4025252" y="8919052"/>
            <a:ext cx="3077224" cy="469424"/>
          </a:xfrm>
          <a:prstGeom prst="rect">
            <a:avLst/>
          </a:prstGeom>
          <a:noFill/>
          <a:ln w="9525">
            <a:noFill/>
            <a:miter lim="800000"/>
            <a:headEnd/>
            <a:tailEnd/>
          </a:ln>
          <a:effectLst/>
        </p:spPr>
        <p:txBody>
          <a:bodyPr vert="horz" wrap="square" lIns="94224" tIns="47111" rIns="94224" bIns="47111" numCol="1" anchor="b" anchorCtr="0" compatLnSpc="1">
            <a:prstTxWarp prst="textNoShape">
              <a:avLst/>
            </a:prstTxWarp>
          </a:bodyPr>
          <a:lstStyle>
            <a:lvl1pPr algn="r" defTabSz="942288">
              <a:defRPr sz="1300">
                <a:latin typeface="Times New Roman" pitchFamily="18" charset="0"/>
              </a:defRPr>
            </a:lvl1pPr>
          </a:lstStyle>
          <a:p>
            <a:fld id="{F63A1A5D-0E59-4256-9580-3E96B86FE8A8}" type="slidenum">
              <a:rPr lang="en-US"/>
              <a:pPr/>
              <a:t>‹#›</a:t>
            </a:fld>
            <a:endParaRPr lang="en-US"/>
          </a:p>
        </p:txBody>
      </p:sp>
    </p:spTree>
    <p:extLst>
      <p:ext uri="{BB962C8B-B14F-4D97-AF65-F5344CB8AC3E}">
        <p14:creationId xmlns:p14="http://schemas.microsoft.com/office/powerpoint/2010/main" val="219959476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hdr" sz="quarter"/>
          </p:nvPr>
        </p:nvSpPr>
        <p:spPr bwMode="auto">
          <a:xfrm>
            <a:off x="0" y="1"/>
            <a:ext cx="3077225" cy="469424"/>
          </a:xfrm>
          <a:prstGeom prst="rect">
            <a:avLst/>
          </a:prstGeom>
          <a:noFill/>
          <a:ln w="9525">
            <a:noFill/>
            <a:miter lim="800000"/>
            <a:headEnd/>
            <a:tailEnd/>
          </a:ln>
          <a:effectLst/>
        </p:spPr>
        <p:txBody>
          <a:bodyPr vert="horz" wrap="square" lIns="94224" tIns="47111" rIns="94224" bIns="47111" numCol="1" anchor="t" anchorCtr="0" compatLnSpc="1">
            <a:prstTxWarp prst="textNoShape">
              <a:avLst/>
            </a:prstTxWarp>
          </a:bodyPr>
          <a:lstStyle>
            <a:lvl1pPr defTabSz="942288">
              <a:defRPr sz="1300">
                <a:latin typeface="Times New Roman" pitchFamily="18" charset="0"/>
              </a:defRPr>
            </a:lvl1pPr>
          </a:lstStyle>
          <a:p>
            <a:r>
              <a:rPr lang="en-US"/>
              <a:t>QR24, Fall 2005, Lecture 2</a:t>
            </a:r>
          </a:p>
        </p:txBody>
      </p:sp>
      <p:sp>
        <p:nvSpPr>
          <p:cNvPr id="5123" name="Rectangle 3"/>
          <p:cNvSpPr>
            <a:spLocks noGrp="1" noChangeArrowheads="1"/>
          </p:cNvSpPr>
          <p:nvPr>
            <p:ph type="dt" idx="1"/>
          </p:nvPr>
        </p:nvSpPr>
        <p:spPr bwMode="auto">
          <a:xfrm>
            <a:off x="4025252" y="1"/>
            <a:ext cx="3077224" cy="469424"/>
          </a:xfrm>
          <a:prstGeom prst="rect">
            <a:avLst/>
          </a:prstGeom>
          <a:noFill/>
          <a:ln w="9525">
            <a:noFill/>
            <a:miter lim="800000"/>
            <a:headEnd/>
            <a:tailEnd/>
          </a:ln>
          <a:effectLst/>
        </p:spPr>
        <p:txBody>
          <a:bodyPr vert="horz" wrap="square" lIns="94224" tIns="47111" rIns="94224" bIns="47111" numCol="1" anchor="t" anchorCtr="0" compatLnSpc="1">
            <a:prstTxWarp prst="textNoShape">
              <a:avLst/>
            </a:prstTxWarp>
          </a:bodyPr>
          <a:lstStyle>
            <a:lvl1pPr algn="r" defTabSz="942288">
              <a:defRPr sz="1300">
                <a:latin typeface="Times New Roman" pitchFamily="18" charset="0"/>
              </a:defRPr>
            </a:lvl1pPr>
          </a:lstStyle>
          <a:p>
            <a:endParaRPr lang="en-US"/>
          </a:p>
        </p:txBody>
      </p:sp>
      <p:sp>
        <p:nvSpPr>
          <p:cNvPr id="5124" name="Rectangle 4"/>
          <p:cNvSpPr>
            <a:spLocks noGrp="1" noRot="1" noChangeAspect="1" noChangeArrowheads="1" noTextEdit="1"/>
          </p:cNvSpPr>
          <p:nvPr>
            <p:ph type="sldImg" idx="2"/>
          </p:nvPr>
        </p:nvSpPr>
        <p:spPr bwMode="auto">
          <a:xfrm>
            <a:off x="422275" y="704850"/>
            <a:ext cx="6257925" cy="3521075"/>
          </a:xfrm>
          <a:prstGeom prst="rect">
            <a:avLst/>
          </a:prstGeom>
          <a:noFill/>
          <a:ln w="9525">
            <a:solidFill>
              <a:srgbClr val="000000"/>
            </a:solidFill>
            <a:miter lim="800000"/>
            <a:headEnd/>
            <a:tailEnd/>
          </a:ln>
          <a:effectLst/>
        </p:spPr>
      </p:sp>
      <p:sp>
        <p:nvSpPr>
          <p:cNvPr id="5125" name="Rectangle 5"/>
          <p:cNvSpPr>
            <a:spLocks noGrp="1" noChangeArrowheads="1"/>
          </p:cNvSpPr>
          <p:nvPr>
            <p:ph type="body" sz="quarter" idx="3"/>
          </p:nvPr>
        </p:nvSpPr>
        <p:spPr bwMode="auto">
          <a:xfrm>
            <a:off x="946483" y="4459526"/>
            <a:ext cx="5209511" cy="4224814"/>
          </a:xfrm>
          <a:prstGeom prst="rect">
            <a:avLst/>
          </a:prstGeom>
          <a:noFill/>
          <a:ln w="9525">
            <a:noFill/>
            <a:miter lim="800000"/>
            <a:headEnd/>
            <a:tailEnd/>
          </a:ln>
          <a:effectLst/>
        </p:spPr>
        <p:txBody>
          <a:bodyPr vert="horz" wrap="square" lIns="94224" tIns="47111" rIns="94224" bIns="47111"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126" name="Rectangle 6"/>
          <p:cNvSpPr>
            <a:spLocks noGrp="1" noChangeArrowheads="1"/>
          </p:cNvSpPr>
          <p:nvPr>
            <p:ph type="ftr" sz="quarter" idx="4"/>
          </p:nvPr>
        </p:nvSpPr>
        <p:spPr bwMode="auto">
          <a:xfrm>
            <a:off x="0" y="8919052"/>
            <a:ext cx="3077225" cy="469424"/>
          </a:xfrm>
          <a:prstGeom prst="rect">
            <a:avLst/>
          </a:prstGeom>
          <a:noFill/>
          <a:ln w="9525">
            <a:noFill/>
            <a:miter lim="800000"/>
            <a:headEnd/>
            <a:tailEnd/>
          </a:ln>
          <a:effectLst/>
        </p:spPr>
        <p:txBody>
          <a:bodyPr vert="horz" wrap="square" lIns="94224" tIns="47111" rIns="94224" bIns="47111" numCol="1" anchor="b" anchorCtr="0" compatLnSpc="1">
            <a:prstTxWarp prst="textNoShape">
              <a:avLst/>
            </a:prstTxWarp>
          </a:bodyPr>
          <a:lstStyle>
            <a:lvl1pPr defTabSz="942288">
              <a:defRPr sz="1300">
                <a:latin typeface="Times New Roman" pitchFamily="18" charset="0"/>
              </a:defRPr>
            </a:lvl1pPr>
          </a:lstStyle>
          <a:p>
            <a:endParaRPr lang="en-US"/>
          </a:p>
        </p:txBody>
      </p:sp>
      <p:sp>
        <p:nvSpPr>
          <p:cNvPr id="5127" name="Rectangle 7"/>
          <p:cNvSpPr>
            <a:spLocks noGrp="1" noChangeArrowheads="1"/>
          </p:cNvSpPr>
          <p:nvPr>
            <p:ph type="sldNum" sz="quarter" idx="5"/>
          </p:nvPr>
        </p:nvSpPr>
        <p:spPr bwMode="auto">
          <a:xfrm>
            <a:off x="4025252" y="8919052"/>
            <a:ext cx="3077224" cy="469424"/>
          </a:xfrm>
          <a:prstGeom prst="rect">
            <a:avLst/>
          </a:prstGeom>
          <a:noFill/>
          <a:ln w="9525">
            <a:noFill/>
            <a:miter lim="800000"/>
            <a:headEnd/>
            <a:tailEnd/>
          </a:ln>
          <a:effectLst/>
        </p:spPr>
        <p:txBody>
          <a:bodyPr vert="horz" wrap="square" lIns="94224" tIns="47111" rIns="94224" bIns="47111" numCol="1" anchor="b" anchorCtr="0" compatLnSpc="1">
            <a:prstTxWarp prst="textNoShape">
              <a:avLst/>
            </a:prstTxWarp>
          </a:bodyPr>
          <a:lstStyle>
            <a:lvl1pPr algn="r" defTabSz="942288">
              <a:defRPr sz="1300">
                <a:latin typeface="Times New Roman" pitchFamily="18" charset="0"/>
              </a:defRPr>
            </a:lvl1pPr>
          </a:lstStyle>
          <a:p>
            <a:fld id="{510FF742-9BE3-414A-87AC-D68001451B72}" type="slidenum">
              <a:rPr lang="en-US"/>
              <a:pPr/>
              <a:t>‹#›</a:t>
            </a:fld>
            <a:endParaRPr lang="en-US"/>
          </a:p>
        </p:txBody>
      </p:sp>
    </p:spTree>
    <p:extLst>
      <p:ext uri="{BB962C8B-B14F-4D97-AF65-F5344CB8AC3E}">
        <p14:creationId xmlns:p14="http://schemas.microsoft.com/office/powerpoint/2010/main" val="1695932229"/>
      </p:ext>
    </p:extLst>
  </p:cSld>
  <p:clrMap bg1="lt1" tx1="dk1" bg2="lt2" tx2="dk2" accent1="accent1" accent2="accent2" accent3="accent3" accent4="accent4" accent5="accent5" accent6="accent6" hlink="hlink" folHlink="folHlink"/>
  <p:hf ftr="0" dt="0"/>
  <p:notesStyle>
    <a:lvl1pPr algn="l" rtl="0" fontAlgn="base">
      <a:spcBef>
        <a:spcPct val="30000"/>
      </a:spcBef>
      <a:spcAft>
        <a:spcPct val="0"/>
      </a:spcAft>
      <a:defRPr sz="1200" kern="1200">
        <a:solidFill>
          <a:schemeClr val="tx1"/>
        </a:solidFill>
        <a:latin typeface="Times New Roman" pitchFamily="18" charset="0"/>
        <a:ea typeface="+mn-ea"/>
        <a:cs typeface="+mn-cs"/>
      </a:defRPr>
    </a:lvl1pPr>
    <a:lvl2pPr marL="457200" algn="l" rtl="0" fontAlgn="base">
      <a:spcBef>
        <a:spcPct val="30000"/>
      </a:spcBef>
      <a:spcAft>
        <a:spcPct val="0"/>
      </a:spcAft>
      <a:defRPr sz="1200" kern="1200">
        <a:solidFill>
          <a:schemeClr val="tx1"/>
        </a:solidFill>
        <a:latin typeface="Times New Roman" pitchFamily="18" charset="0"/>
        <a:ea typeface="+mn-ea"/>
        <a:cs typeface="+mn-cs"/>
      </a:defRPr>
    </a:lvl2pPr>
    <a:lvl3pPr marL="914400" algn="l" rtl="0" fontAlgn="base">
      <a:spcBef>
        <a:spcPct val="30000"/>
      </a:spcBef>
      <a:spcAft>
        <a:spcPct val="0"/>
      </a:spcAft>
      <a:defRPr sz="1200" kern="1200">
        <a:solidFill>
          <a:schemeClr val="tx1"/>
        </a:solidFill>
        <a:latin typeface="Times New Roman" pitchFamily="18" charset="0"/>
        <a:ea typeface="+mn-ea"/>
        <a:cs typeface="+mn-cs"/>
      </a:defRPr>
    </a:lvl3pPr>
    <a:lvl4pPr marL="1371600" algn="l" rtl="0" fontAlgn="base">
      <a:spcBef>
        <a:spcPct val="30000"/>
      </a:spcBef>
      <a:spcAft>
        <a:spcPct val="0"/>
      </a:spcAft>
      <a:defRPr sz="1200" kern="1200">
        <a:solidFill>
          <a:schemeClr val="tx1"/>
        </a:solidFill>
        <a:latin typeface="Times New Roman" pitchFamily="18" charset="0"/>
        <a:ea typeface="+mn-ea"/>
        <a:cs typeface="+mn-cs"/>
      </a:defRPr>
    </a:lvl4pPr>
    <a:lvl5pPr marL="1828800" algn="l" rtl="0" fontAlgn="base">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r>
              <a:rPr lang="en-US" dirty="0"/>
              <a:t>QR24, Fall 2005, Lecture 2</a:t>
            </a:r>
          </a:p>
        </p:txBody>
      </p:sp>
      <p:sp>
        <p:nvSpPr>
          <p:cNvPr id="5" name="Slide Number Placeholder 4"/>
          <p:cNvSpPr>
            <a:spLocks noGrp="1"/>
          </p:cNvSpPr>
          <p:nvPr>
            <p:ph type="sldNum" sz="quarter" idx="5"/>
          </p:nvPr>
        </p:nvSpPr>
        <p:spPr/>
        <p:txBody>
          <a:bodyPr/>
          <a:lstStyle/>
          <a:p>
            <a:fld id="{510FF742-9BE3-414A-87AC-D68001451B72}" type="slidenum">
              <a:rPr lang="en-US" smtClean="0"/>
              <a:pPr/>
              <a:t>1</a:t>
            </a:fld>
            <a:endParaRPr lang="en-US" dirty="0"/>
          </a:p>
        </p:txBody>
      </p:sp>
    </p:spTree>
    <p:extLst>
      <p:ext uri="{BB962C8B-B14F-4D97-AF65-F5344CB8AC3E}">
        <p14:creationId xmlns:p14="http://schemas.microsoft.com/office/powerpoint/2010/main" val="42764657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r>
              <a:rPr lang="en-US" dirty="0"/>
              <a:t>QR24, Fall 2005, Lecture 2</a:t>
            </a:r>
          </a:p>
        </p:txBody>
      </p:sp>
      <p:sp>
        <p:nvSpPr>
          <p:cNvPr id="5" name="Slide Number Placeholder 4"/>
          <p:cNvSpPr>
            <a:spLocks noGrp="1"/>
          </p:cNvSpPr>
          <p:nvPr>
            <p:ph type="sldNum" sz="quarter" idx="5"/>
          </p:nvPr>
        </p:nvSpPr>
        <p:spPr/>
        <p:txBody>
          <a:bodyPr/>
          <a:lstStyle/>
          <a:p>
            <a:fld id="{510FF742-9BE3-414A-87AC-D68001451B72}" type="slidenum">
              <a:rPr lang="en-US" smtClean="0"/>
              <a:pPr/>
              <a:t>2</a:t>
            </a:fld>
            <a:endParaRPr lang="en-US" dirty="0"/>
          </a:p>
        </p:txBody>
      </p:sp>
    </p:spTree>
    <p:extLst>
      <p:ext uri="{BB962C8B-B14F-4D97-AF65-F5344CB8AC3E}">
        <p14:creationId xmlns:p14="http://schemas.microsoft.com/office/powerpoint/2010/main" val="31178874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TF</a:t>
            </a:r>
          </a:p>
        </p:txBody>
      </p:sp>
      <p:sp>
        <p:nvSpPr>
          <p:cNvPr id="4" name="Header Placeholder 3"/>
          <p:cNvSpPr>
            <a:spLocks noGrp="1"/>
          </p:cNvSpPr>
          <p:nvPr>
            <p:ph type="hdr" sz="quarter"/>
          </p:nvPr>
        </p:nvSpPr>
        <p:spPr/>
        <p:txBody>
          <a:bodyPr/>
          <a:lstStyle/>
          <a:p>
            <a:r>
              <a:rPr lang="en-US"/>
              <a:t>QR24, Fall 2005, Lecture 2</a:t>
            </a:r>
          </a:p>
        </p:txBody>
      </p:sp>
      <p:sp>
        <p:nvSpPr>
          <p:cNvPr id="5" name="Slide Number Placeholder 4"/>
          <p:cNvSpPr>
            <a:spLocks noGrp="1"/>
          </p:cNvSpPr>
          <p:nvPr>
            <p:ph type="sldNum" sz="quarter" idx="5"/>
          </p:nvPr>
        </p:nvSpPr>
        <p:spPr/>
        <p:txBody>
          <a:bodyPr/>
          <a:lstStyle/>
          <a:p>
            <a:fld id="{510FF742-9BE3-414A-87AC-D68001451B72}" type="slidenum">
              <a:rPr lang="en-US" smtClean="0"/>
              <a:pPr/>
              <a:t>3</a:t>
            </a:fld>
            <a:endParaRPr lang="en-US"/>
          </a:p>
        </p:txBody>
      </p:sp>
    </p:spTree>
    <p:extLst>
      <p:ext uri="{BB962C8B-B14F-4D97-AF65-F5344CB8AC3E}">
        <p14:creationId xmlns:p14="http://schemas.microsoft.com/office/powerpoint/2010/main" val="858816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22275" y="704850"/>
            <a:ext cx="6257925" cy="3521075"/>
          </a:xfrm>
        </p:spPr>
      </p:sp>
      <p:sp>
        <p:nvSpPr>
          <p:cNvPr id="3" name="Notes Placeholder 2"/>
          <p:cNvSpPr>
            <a:spLocks noGrp="1"/>
          </p:cNvSpPr>
          <p:nvPr>
            <p:ph type="body" idx="1"/>
          </p:nvPr>
        </p:nvSpPr>
        <p:spPr/>
        <p:txBody>
          <a:bodyPr/>
          <a:lstStyle/>
          <a:p>
            <a:pPr rtl="0"/>
            <a:r>
              <a:rPr lang="en-US" dirty="0"/>
              <a:t>Price is from the company's side: what it gets per unit. If you're insured, you don't pay that price directly. You pay a copay, and your insurer covers the difference. </a:t>
            </a:r>
          </a:p>
          <a:p>
            <a:pPr rtl="0"/>
            <a:endParaRPr lang="en-US" dirty="0"/>
          </a:p>
          <a:p>
            <a:pPr rtl="0"/>
            <a:r>
              <a:rPr lang="en-US" dirty="0"/>
              <a:t>Example: $500 price, $20 copay, insurer pays $480.</a:t>
            </a:r>
          </a:p>
          <a:p>
            <a:pPr rtl="0"/>
            <a:endParaRPr lang="en-US" dirty="0"/>
          </a:p>
          <a:p>
            <a:pPr rtl="0"/>
            <a:r>
              <a:rPr lang="en-US" dirty="0"/>
              <a:t>Willingness to pay is the key idea for today. It's the maximum someone would pay. If you'd buy at $50 but not at $51, your WTP is $50.</a:t>
            </a:r>
          </a:p>
          <a:p>
            <a:pPr rtl="0"/>
            <a:endParaRPr lang="en-US" dirty="0"/>
          </a:p>
          <a:p>
            <a:pPr rtl="0"/>
            <a:r>
              <a:rPr lang="en-US" dirty="0"/>
              <a:t>Two things drive it. </a:t>
            </a:r>
          </a:p>
          <a:p>
            <a:pPr rtl="0"/>
            <a:r>
              <a:rPr lang="en-US" dirty="0"/>
              <a:t>First, how much you value the drug: you won't pay more than it's worth to you. </a:t>
            </a:r>
          </a:p>
          <a:p>
            <a:pPr rtl="0"/>
            <a:r>
              <a:rPr lang="en-US" dirty="0"/>
              <a:t>Second, what you can afford. A patient may value a drug enormously but still not be able to pay $10,000 for it, because that money has to cover rent and food. So WTP isn't the same as need. We'll come back to that in the practice problem.</a:t>
            </a:r>
          </a:p>
          <a:p>
            <a:pPr rtl="0"/>
            <a:endParaRPr lang="en-US" dirty="0"/>
          </a:p>
          <a:p>
            <a:pPr rtl="0"/>
            <a:r>
              <a:rPr lang="en-US" dirty="0"/>
              <a:t>Insurance matters here too. Because the insured patient only pays the copay, they'll buy at prices well above what they could pay on their own. In effect, the insurer's willingness to pay gets added to theirs.</a:t>
            </a:r>
          </a:p>
          <a:p>
            <a:endParaRPr lang="en-US" dirty="0"/>
          </a:p>
        </p:txBody>
      </p:sp>
      <p:sp>
        <p:nvSpPr>
          <p:cNvPr id="4" name="Header Placeholder 3"/>
          <p:cNvSpPr>
            <a:spLocks noGrp="1"/>
          </p:cNvSpPr>
          <p:nvPr>
            <p:ph type="hdr" sz="quarter"/>
          </p:nvPr>
        </p:nvSpPr>
        <p:spPr/>
        <p:txBody>
          <a:bodyPr/>
          <a:lstStyle/>
          <a:p>
            <a:r>
              <a:rPr lang="en-US" dirty="0"/>
              <a:t>QR24, Fall 2005, Lecture 2</a:t>
            </a:r>
          </a:p>
        </p:txBody>
      </p:sp>
      <p:sp>
        <p:nvSpPr>
          <p:cNvPr id="5" name="Slide Number Placeholder 4"/>
          <p:cNvSpPr>
            <a:spLocks noGrp="1"/>
          </p:cNvSpPr>
          <p:nvPr>
            <p:ph type="sldNum" sz="quarter" idx="5"/>
          </p:nvPr>
        </p:nvSpPr>
        <p:spPr/>
        <p:txBody>
          <a:bodyPr/>
          <a:lstStyle/>
          <a:p>
            <a:fld id="{510FF742-9BE3-414A-87AC-D68001451B72}" type="slidenum">
              <a:rPr lang="en-US" smtClean="0"/>
              <a:pPr/>
              <a:t>4</a:t>
            </a:fld>
            <a:endParaRPr lang="en-US" dirty="0"/>
          </a:p>
        </p:txBody>
      </p:sp>
    </p:spTree>
    <p:extLst>
      <p:ext uri="{BB962C8B-B14F-4D97-AF65-F5344CB8AC3E}">
        <p14:creationId xmlns:p14="http://schemas.microsoft.com/office/powerpoint/2010/main" val="17157225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22275" y="704850"/>
            <a:ext cx="6257925" cy="3521075"/>
          </a:xfrm>
        </p:spPr>
      </p:sp>
      <p:sp>
        <p:nvSpPr>
          <p:cNvPr id="3" name="Notes Placeholder 2"/>
          <p:cNvSpPr>
            <a:spLocks noGrp="1"/>
          </p:cNvSpPr>
          <p:nvPr>
            <p:ph type="body" idx="1"/>
          </p:nvPr>
        </p:nvSpPr>
        <p:spPr/>
        <p:txBody>
          <a:bodyPr/>
          <a:lstStyle/>
          <a:p>
            <a:pPr lvl="0" rtl="0"/>
            <a:r>
              <a:rPr lang="en-US" b="1" dirty="0"/>
              <a:t>Demand</a:t>
            </a:r>
            <a:r>
              <a:rPr lang="en-US" dirty="0"/>
              <a:t> comes from willingness to pay: at each price, how many people would buy? Lower the price and more people buy.</a:t>
            </a:r>
          </a:p>
          <a:p>
            <a:pPr lvl="0" rtl="0"/>
            <a:r>
              <a:rPr lang="en-US" b="1" dirty="0"/>
              <a:t>Supply</a:t>
            </a:r>
            <a:r>
              <a:rPr lang="en-US" dirty="0"/>
              <a:t> is the company's side. In this class we keep it simple: the company will sell any number of units as long as the price covers MC. So on our graphs, supply is just a flat line at MC.</a:t>
            </a:r>
          </a:p>
          <a:p>
            <a:pPr lvl="0" rtl="0"/>
            <a:endParaRPr lang="en-US" dirty="0"/>
          </a:p>
          <a:p>
            <a:pPr rtl="0"/>
            <a:r>
              <a:rPr lang="en-US" dirty="0"/>
              <a:t>Read the profit formula from left to right:</a:t>
            </a:r>
          </a:p>
          <a:p>
            <a:pPr lvl="0" rtl="0"/>
            <a:r>
              <a:rPr lang="en-US" b="1" dirty="0"/>
              <a:t>Price − MC</a:t>
            </a:r>
            <a:r>
              <a:rPr lang="en-US" dirty="0"/>
              <a:t> is what the company makes on each pill after paying to produce it.</a:t>
            </a:r>
          </a:p>
          <a:p>
            <a:pPr lvl="0" rtl="0"/>
            <a:r>
              <a:rPr lang="en-US" dirty="0"/>
              <a:t>Multiply by </a:t>
            </a:r>
            <a:r>
              <a:rPr lang="en-US" b="1" dirty="0"/>
              <a:t>Quantity</a:t>
            </a:r>
            <a:r>
              <a:rPr lang="en-US" dirty="0"/>
              <a:t> to get total earnings from sales.</a:t>
            </a:r>
          </a:p>
          <a:p>
            <a:pPr lvl="0" rtl="0"/>
            <a:r>
              <a:rPr lang="en-US" dirty="0"/>
              <a:t>Subtract </a:t>
            </a:r>
            <a:r>
              <a:rPr lang="en-US" b="1" dirty="0"/>
              <a:t>Fixed cost</a:t>
            </a:r>
            <a:r>
              <a:rPr lang="en-US" dirty="0"/>
              <a:t>: R&amp;D and clinical trials, paid whether the company sells one pill or a million.</a:t>
            </a:r>
          </a:p>
          <a:p>
            <a:pPr lvl="0" rtl="0"/>
            <a:endParaRPr lang="en-US" dirty="0"/>
          </a:p>
          <a:p>
            <a:pPr rtl="0"/>
            <a:r>
              <a:rPr lang="en-US" dirty="0"/>
              <a:t>Quick example: price $100, MC $10, 1 million pills sold, $50M in R&amp;D. </a:t>
            </a:r>
            <a:br>
              <a:rPr lang="en-US" dirty="0"/>
            </a:br>
            <a:r>
              <a:rPr lang="en-US" dirty="0"/>
              <a:t>Profit = ($100 − $10) × 1M − $50M = </a:t>
            </a:r>
            <a:r>
              <a:rPr lang="en-US" b="1" dirty="0"/>
              <a:t>$40M</a:t>
            </a:r>
            <a:r>
              <a:rPr lang="en-US" dirty="0"/>
              <a:t>.</a:t>
            </a:r>
          </a:p>
          <a:p>
            <a:pPr rtl="0"/>
            <a:endParaRPr lang="en-US" dirty="0"/>
          </a:p>
          <a:p>
            <a:pPr rtl="0"/>
            <a:r>
              <a:rPr lang="en-US" dirty="0"/>
              <a:t>Lecture called price the "static" choice and fixed cost part of the "dynamic" choice. The next slide asks which costs matter for which decision.</a:t>
            </a:r>
          </a:p>
          <a:p>
            <a:pPr lvl="0" rtl="0"/>
            <a:endParaRPr lang="en-US" dirty="0"/>
          </a:p>
        </p:txBody>
      </p:sp>
      <p:sp>
        <p:nvSpPr>
          <p:cNvPr id="4" name="Header Placeholder 3"/>
          <p:cNvSpPr>
            <a:spLocks noGrp="1"/>
          </p:cNvSpPr>
          <p:nvPr>
            <p:ph type="hdr" sz="quarter"/>
          </p:nvPr>
        </p:nvSpPr>
        <p:spPr/>
        <p:txBody>
          <a:bodyPr/>
          <a:lstStyle/>
          <a:p>
            <a:r>
              <a:rPr lang="en-US" dirty="0"/>
              <a:t>QR24, Fall 2005, Lecture 2</a:t>
            </a:r>
          </a:p>
        </p:txBody>
      </p:sp>
      <p:sp>
        <p:nvSpPr>
          <p:cNvPr id="5" name="Slide Number Placeholder 4"/>
          <p:cNvSpPr>
            <a:spLocks noGrp="1"/>
          </p:cNvSpPr>
          <p:nvPr>
            <p:ph type="sldNum" sz="quarter" idx="5"/>
          </p:nvPr>
        </p:nvSpPr>
        <p:spPr/>
        <p:txBody>
          <a:bodyPr/>
          <a:lstStyle/>
          <a:p>
            <a:fld id="{510FF742-9BE3-414A-87AC-D68001451B72}" type="slidenum">
              <a:rPr lang="en-US" smtClean="0"/>
              <a:pPr/>
              <a:t>5</a:t>
            </a:fld>
            <a:endParaRPr lang="en-US" dirty="0"/>
          </a:p>
        </p:txBody>
      </p:sp>
    </p:spTree>
    <p:extLst>
      <p:ext uri="{BB962C8B-B14F-4D97-AF65-F5344CB8AC3E}">
        <p14:creationId xmlns:p14="http://schemas.microsoft.com/office/powerpoint/2010/main" val="40687365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dirty="0"/>
              <a:t>Give them 1–2 minutes with a partner, then take answers to each question before moving on.</a:t>
            </a:r>
          </a:p>
          <a:p>
            <a:pPr rtl="0"/>
            <a:endParaRPr lang="en-US" dirty="0"/>
          </a:p>
          <a:p>
            <a:pPr rtl="0"/>
            <a:r>
              <a:rPr lang="en-US" dirty="0"/>
              <a:t>If they're stuck on 1 and 2: a fixed cost is one you'd pay even if you sold zero pills. A marginal cost is the extra cost of making one more pill.</a:t>
            </a:r>
          </a:p>
          <a:p>
            <a:pPr rtl="0"/>
            <a:endParaRPr lang="en-US" dirty="0"/>
          </a:p>
          <a:p>
            <a:pPr rtl="0"/>
            <a:r>
              <a:rPr lang="en-US" dirty="0"/>
              <a:t>If they're stuck on 3 and 4, ask: "Is this decision made </a:t>
            </a:r>
            <a:r>
              <a:rPr lang="en-US" i="1" dirty="0"/>
              <a:t>before</a:t>
            </a:r>
            <a:r>
              <a:rPr lang="en-US" dirty="0"/>
              <a:t> or </a:t>
            </a:r>
            <a:r>
              <a:rPr lang="en-US" i="1" dirty="0"/>
              <a:t>after</a:t>
            </a:r>
            <a:r>
              <a:rPr lang="en-US" dirty="0"/>
              <a:t> the drug exists?"</a:t>
            </a:r>
          </a:p>
          <a:p>
            <a:endParaRPr lang="en-US" dirty="0"/>
          </a:p>
        </p:txBody>
      </p:sp>
      <p:sp>
        <p:nvSpPr>
          <p:cNvPr id="4" name="Header Placeholder 3"/>
          <p:cNvSpPr>
            <a:spLocks noGrp="1"/>
          </p:cNvSpPr>
          <p:nvPr>
            <p:ph type="hdr" sz="quarter"/>
          </p:nvPr>
        </p:nvSpPr>
        <p:spPr/>
        <p:txBody>
          <a:bodyPr/>
          <a:lstStyle/>
          <a:p>
            <a:r>
              <a:rPr lang="en-US" dirty="0"/>
              <a:t>QR24, Fall 2005, Lecture 2</a:t>
            </a:r>
          </a:p>
        </p:txBody>
      </p:sp>
      <p:sp>
        <p:nvSpPr>
          <p:cNvPr id="5" name="Slide Number Placeholder 4"/>
          <p:cNvSpPr>
            <a:spLocks noGrp="1"/>
          </p:cNvSpPr>
          <p:nvPr>
            <p:ph type="sldNum" sz="quarter" idx="5"/>
          </p:nvPr>
        </p:nvSpPr>
        <p:spPr/>
        <p:txBody>
          <a:bodyPr/>
          <a:lstStyle/>
          <a:p>
            <a:fld id="{510FF742-9BE3-414A-87AC-D68001451B72}" type="slidenum">
              <a:rPr lang="en-US" smtClean="0"/>
              <a:pPr/>
              <a:t>6</a:t>
            </a:fld>
            <a:endParaRPr lang="en-US" dirty="0"/>
          </a:p>
        </p:txBody>
      </p:sp>
    </p:spTree>
    <p:extLst>
      <p:ext uri="{BB962C8B-B14F-4D97-AF65-F5344CB8AC3E}">
        <p14:creationId xmlns:p14="http://schemas.microsoft.com/office/powerpoint/2010/main" val="347800632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dirty="0"/>
              <a:t>Pharma is unusual: fixed costs are huge and marginal costs are small. Developing one successful drug costs roughly $2.5 billion, partly because companies also pay for all the drugs that fail in trials. Once the drug exists, a pill might cost pennies to a few dollars to make.</a:t>
            </a:r>
          </a:p>
          <a:p>
            <a:pPr rtl="0"/>
            <a:endParaRPr lang="en-US" dirty="0"/>
          </a:p>
          <a:p>
            <a:pPr rtl="0"/>
            <a:r>
              <a:rPr lang="en-US" dirty="0"/>
              <a:t>Some drugs, called biologics, cost more to make per dose. Keytruda, from the upcoming practice problem, is one. Fixed costs still dominate even for those.</a:t>
            </a:r>
          </a:p>
          <a:p>
            <a:pPr rtl="0"/>
            <a:endParaRPr lang="en-US" dirty="0"/>
          </a:p>
          <a:p>
            <a:pPr rtl="0"/>
            <a:r>
              <a:rPr lang="en-US" dirty="0"/>
              <a:t>The key point is Q3 vs Q4, the static/dynamic distinction from lecture:</a:t>
            </a:r>
          </a:p>
          <a:p>
            <a:pPr marL="171450" lvl="0" indent="-171450" rtl="0">
              <a:buFontTx/>
              <a:buChar char="-"/>
            </a:pPr>
            <a:r>
              <a:rPr lang="en-US" b="1" dirty="0"/>
              <a:t>Before</a:t>
            </a:r>
            <a:r>
              <a:rPr lang="en-US" dirty="0"/>
              <a:t> the drug exists: "Will we earn enough, after production costs, to cover the R&amp;D bill?" </a:t>
            </a:r>
          </a:p>
          <a:p>
            <a:pPr marL="171450" lvl="0" indent="-171450" rtl="0">
              <a:buFontTx/>
              <a:buChar char="-"/>
            </a:pPr>
            <a:r>
              <a:rPr lang="en-US" b="1" dirty="0"/>
              <a:t>After</a:t>
            </a:r>
            <a:r>
              <a:rPr lang="en-US" dirty="0"/>
              <a:t> the drug exists: the R&amp;D money is gone whatever happens. Ask: "If you've already spent $2.5B, does charging $100 instead of $200 get any of it back?" No. So the price only depends on MC (never sell below it) and on what people are willing to pay.</a:t>
            </a:r>
          </a:p>
          <a:p>
            <a:pPr marL="171450" lvl="0" indent="-171450" rtl="0">
              <a:buFontTx/>
              <a:buChar char="-"/>
            </a:pPr>
            <a:endParaRPr lang="en-US" dirty="0"/>
          </a:p>
          <a:p>
            <a:pPr rtl="0"/>
            <a:r>
              <a:rPr lang="en-US" dirty="0"/>
              <a:t>Takeaway: "We spent a lot on R&amp;D" isn't the economic reason a drug's price is high. The price is high because people are willing to pay it. R&amp;D costs decide whether the drug gets made at all.</a:t>
            </a:r>
          </a:p>
          <a:p>
            <a:endParaRPr lang="en-US" dirty="0"/>
          </a:p>
        </p:txBody>
      </p:sp>
      <p:sp>
        <p:nvSpPr>
          <p:cNvPr id="4" name="Header Placeholder 3"/>
          <p:cNvSpPr>
            <a:spLocks noGrp="1"/>
          </p:cNvSpPr>
          <p:nvPr>
            <p:ph type="hdr" sz="quarter"/>
          </p:nvPr>
        </p:nvSpPr>
        <p:spPr/>
        <p:txBody>
          <a:bodyPr/>
          <a:lstStyle/>
          <a:p>
            <a:r>
              <a:rPr lang="en-US" dirty="0"/>
              <a:t>QR24, Fall 2005, Lecture 2</a:t>
            </a:r>
          </a:p>
        </p:txBody>
      </p:sp>
      <p:sp>
        <p:nvSpPr>
          <p:cNvPr id="5" name="Slide Number Placeholder 4"/>
          <p:cNvSpPr>
            <a:spLocks noGrp="1"/>
          </p:cNvSpPr>
          <p:nvPr>
            <p:ph type="sldNum" sz="quarter" idx="5"/>
          </p:nvPr>
        </p:nvSpPr>
        <p:spPr/>
        <p:txBody>
          <a:bodyPr/>
          <a:lstStyle/>
          <a:p>
            <a:fld id="{510FF742-9BE3-414A-87AC-D68001451B72}" type="slidenum">
              <a:rPr lang="en-US" smtClean="0"/>
              <a:pPr/>
              <a:t>7</a:t>
            </a:fld>
            <a:endParaRPr lang="en-US" dirty="0"/>
          </a:p>
        </p:txBody>
      </p:sp>
    </p:spTree>
    <p:extLst>
      <p:ext uri="{BB962C8B-B14F-4D97-AF65-F5344CB8AC3E}">
        <p14:creationId xmlns:p14="http://schemas.microsoft.com/office/powerpoint/2010/main" val="7036747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dirty="0"/>
              <a:t>The first 50 people would pay up to $3.50. The next 50 would pay up to $2.50, and so on down to the last 50, who would only pay $0.50.</a:t>
            </a:r>
          </a:p>
          <a:p>
            <a:pPr rtl="0"/>
            <a:endParaRPr lang="en-US" dirty="0"/>
          </a:p>
          <a:p>
            <a:pPr rtl="0"/>
            <a:r>
              <a:rPr lang="en-US" dirty="0"/>
              <a:t>Ask: </a:t>
            </a:r>
          </a:p>
          <a:p>
            <a:pPr marL="171450" indent="-171450" rtl="0">
              <a:buFont typeface="Arial" panose="020B0604020202020204" pitchFamily="34" charset="0"/>
              <a:buChar char="•"/>
            </a:pPr>
            <a:r>
              <a:rPr lang="en-US" dirty="0"/>
              <a:t>"If the price is $2, who buys?" The first 100 people, because their willingness to pay is at least $2. </a:t>
            </a:r>
          </a:p>
          <a:p>
            <a:pPr marL="171450" indent="-171450" rtl="0">
              <a:buFont typeface="Arial" panose="020B0604020202020204" pitchFamily="34" charset="0"/>
              <a:buChar char="•"/>
            </a:pPr>
            <a:r>
              <a:rPr lang="en-US" dirty="0"/>
              <a:t>"At $1?" 200 people. So </a:t>
            </a:r>
            <a:r>
              <a:rPr lang="en-US" b="1" dirty="0"/>
              <a:t>a lower price means more buyers</a:t>
            </a:r>
            <a:r>
              <a:rPr lang="en-US" dirty="0"/>
              <a:t>. That's all a demand curve is.</a:t>
            </a:r>
          </a:p>
          <a:p>
            <a:pPr marL="171450" indent="-171450" rtl="0">
              <a:buFont typeface="Arial" panose="020B0604020202020204" pitchFamily="34" charset="0"/>
              <a:buChar char="•"/>
            </a:pPr>
            <a:endParaRPr lang="en-US" dirty="0"/>
          </a:p>
          <a:p>
            <a:pPr rtl="0"/>
            <a:r>
              <a:rPr lang="en-US" dirty="0"/>
              <a:t>The red line is MC: what it costs the company to make one more unit. </a:t>
            </a:r>
          </a:p>
          <a:p>
            <a:pPr rtl="0"/>
            <a:r>
              <a:rPr lang="en-US" dirty="0"/>
              <a:t>Ask: </a:t>
            </a:r>
          </a:p>
          <a:p>
            <a:pPr marL="171450" indent="-171450" rtl="0">
              <a:buFont typeface="Arial" panose="020B0604020202020204" pitchFamily="34" charset="0"/>
              <a:buChar char="•"/>
            </a:pPr>
            <a:r>
              <a:rPr lang="en-US" dirty="0"/>
              <a:t>"Would the company ever sell to the last group?" No. They'd pay $0.50, and each unit costs $0.75 to make, so the company would lose money on every sale.</a:t>
            </a:r>
          </a:p>
          <a:p>
            <a:pPr marL="171450" indent="-171450" rtl="0">
              <a:buFont typeface="Arial" panose="020B0604020202020204" pitchFamily="34" charset="0"/>
              <a:buChar char="•"/>
            </a:pPr>
            <a:endParaRPr lang="en-US" dirty="0"/>
          </a:p>
          <a:p>
            <a:pPr rtl="0"/>
            <a:r>
              <a:rPr lang="en-US" dirty="0"/>
              <a:t>Remember from slide 4: willingness depends on ability. The people on the right aren't necessarily people who need the drug less. They may just be able to pay less.</a:t>
            </a:r>
          </a:p>
          <a:p>
            <a:endParaRPr lang="en-US" dirty="0"/>
          </a:p>
        </p:txBody>
      </p:sp>
      <p:sp>
        <p:nvSpPr>
          <p:cNvPr id="4" name="Header Placeholder 3"/>
          <p:cNvSpPr>
            <a:spLocks noGrp="1"/>
          </p:cNvSpPr>
          <p:nvPr>
            <p:ph type="hdr" sz="quarter"/>
          </p:nvPr>
        </p:nvSpPr>
        <p:spPr/>
        <p:txBody>
          <a:bodyPr/>
          <a:lstStyle/>
          <a:p>
            <a:r>
              <a:rPr lang="en-US"/>
              <a:t>QR24, Fall 2005, Lecture 2</a:t>
            </a:r>
          </a:p>
        </p:txBody>
      </p:sp>
      <p:sp>
        <p:nvSpPr>
          <p:cNvPr id="5" name="Slide Number Placeholder 4"/>
          <p:cNvSpPr>
            <a:spLocks noGrp="1"/>
          </p:cNvSpPr>
          <p:nvPr>
            <p:ph type="sldNum" sz="quarter" idx="5"/>
          </p:nvPr>
        </p:nvSpPr>
        <p:spPr/>
        <p:txBody>
          <a:bodyPr/>
          <a:lstStyle/>
          <a:p>
            <a:fld id="{510FF742-9BE3-414A-87AC-D68001451B72}" type="slidenum">
              <a:rPr lang="en-US" smtClean="0"/>
              <a:pPr/>
              <a:t>8</a:t>
            </a:fld>
            <a:endParaRPr lang="en-US"/>
          </a:p>
        </p:txBody>
      </p:sp>
    </p:spTree>
    <p:extLst>
      <p:ext uri="{BB962C8B-B14F-4D97-AF65-F5344CB8AC3E}">
        <p14:creationId xmlns:p14="http://schemas.microsoft.com/office/powerpoint/2010/main" val="265452627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2268C5-B18F-2FE6-A623-0811927EB5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9D5609-38F1-2D29-4839-5E950C8A299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99A877B-152F-E022-4914-1C0D12265421}"/>
              </a:ext>
            </a:extLst>
          </p:cNvPr>
          <p:cNvSpPr>
            <a:spLocks noGrp="1"/>
          </p:cNvSpPr>
          <p:nvPr>
            <p:ph type="body" idx="1"/>
          </p:nvPr>
        </p:nvSpPr>
        <p:spPr/>
        <p:txBody>
          <a:bodyPr/>
          <a:lstStyle/>
          <a:p>
            <a:pPr rtl="0"/>
            <a:r>
              <a:rPr lang="en-US" dirty="0"/>
              <a:t>Last slide we saw the demand curve. Now: if you're the company and you have to pick ONE price, which do you pick?</a:t>
            </a:r>
          </a:p>
          <a:p>
            <a:pPr rtl="0"/>
            <a:endParaRPr lang="en-US" dirty="0"/>
          </a:p>
          <a:p>
            <a:pPr rtl="0"/>
            <a:r>
              <a:rPr lang="en-US" dirty="0"/>
              <a:t>Only the step heights are worth considering. Pricing between steps just leaves money on the table. For example, at $2.00 you still only get the first 100 people, so you might as well charge $2.50.</a:t>
            </a:r>
          </a:p>
          <a:p>
            <a:pPr rtl="0"/>
            <a:endParaRPr lang="en-US" dirty="0"/>
          </a:p>
          <a:p>
            <a:pPr rtl="0"/>
            <a:r>
              <a:rPr lang="en-US" dirty="0"/>
              <a:t>Walk through the table, or have them call out answers:</a:t>
            </a:r>
          </a:p>
          <a:p>
            <a:pPr rtl="0"/>
            <a:r>
              <a:rPr lang="en-US" dirty="0"/>
              <a:t>- $3.50: only 50 buyers, but $2.75 profit on each = $137.50</a:t>
            </a:r>
          </a:p>
          <a:p>
            <a:pPr rtl="0"/>
            <a:r>
              <a:rPr lang="en-US" dirty="0"/>
              <a:t>- $2.50: 100 buyers × $1.75 = $175 ← best</a:t>
            </a:r>
          </a:p>
          <a:p>
            <a:pPr rtl="0"/>
            <a:r>
              <a:rPr lang="en-US" dirty="0"/>
              <a:t>- $1.50: 150 × $0.75 = $112.50</a:t>
            </a:r>
          </a:p>
          <a:p>
            <a:pPr rtl="0"/>
            <a:r>
              <a:rPr lang="en-US" dirty="0"/>
              <a:t>- $1.00: 200 × $0.25 = $50</a:t>
            </a:r>
          </a:p>
          <a:p>
            <a:pPr rtl="0"/>
            <a:r>
              <a:rPr lang="en-US" dirty="0"/>
              <a:t>- $0.50: everyone buys (all 250), but each sale loses $0.25 = −$62.50. The company would never price this low.</a:t>
            </a:r>
          </a:p>
          <a:p>
            <a:pPr rtl="0"/>
            <a:endParaRPr lang="en-US" dirty="0"/>
          </a:p>
          <a:p>
            <a:pPr rtl="0"/>
            <a:r>
              <a:rPr lang="en-US" dirty="0"/>
              <a:t>Point at the shaded box: profit is the rectangle. Height = Price − MC, width = number of buyers. Raising the price makes the box taller but narrower.</a:t>
            </a:r>
          </a:p>
          <a:p>
            <a:pPr rtl="0"/>
            <a:endParaRPr lang="en-US" dirty="0"/>
          </a:p>
          <a:p>
            <a:pPr rtl="0"/>
            <a:r>
              <a:rPr lang="en-US" dirty="0"/>
              <a:t>Key takeaway: selling to the most people doesn't mean making the most money. Here, the best price isn't the highest one either. In the practice problem (Part 1), you'll do the same comparison for Keytruda, and the answer comes out differently.</a:t>
            </a:r>
          </a:p>
          <a:p>
            <a:pPr rtl="0"/>
            <a:endParaRPr lang="en-US" dirty="0"/>
          </a:p>
          <a:p>
            <a:pPr rtl="0"/>
            <a:r>
              <a:rPr lang="en-US" dirty="0"/>
              <a:t>Notice who's left out: 150 people who would pay more than it costs to make the drug ($1.50 and $1.00 groups) don't get it. Keep that in mind for Part 2, when the company CAN charge different prices.</a:t>
            </a:r>
          </a:p>
          <a:p>
            <a:pPr rtl="0"/>
            <a:endParaRPr lang="en-US" dirty="0"/>
          </a:p>
          <a:p>
            <a:pPr rtl="0"/>
            <a:endParaRPr lang="en-US" dirty="0"/>
          </a:p>
          <a:p>
            <a:pPr rtl="0"/>
            <a:r>
              <a:rPr lang="en-US" dirty="0"/>
              <a:t>(Optional, if time allows: this is the static view. A high price today also funds R&amp;D for future drugs. That's the dynamic tradeoff from lecture.)</a:t>
            </a:r>
            <a:endParaRPr lang="en-US" dirty="0">
              <a:sym typeface="Wingdings" panose="05000000000000000000" pitchFamily="2" charset="2"/>
            </a:endParaRPr>
          </a:p>
        </p:txBody>
      </p:sp>
      <p:sp>
        <p:nvSpPr>
          <p:cNvPr id="4" name="Header Placeholder 3">
            <a:extLst>
              <a:ext uri="{FF2B5EF4-FFF2-40B4-BE49-F238E27FC236}">
                <a16:creationId xmlns:a16="http://schemas.microsoft.com/office/drawing/2014/main" id="{6B898803-935A-2B9B-BD3F-1F1889A216D7}"/>
              </a:ext>
            </a:extLst>
          </p:cNvPr>
          <p:cNvSpPr>
            <a:spLocks noGrp="1"/>
          </p:cNvSpPr>
          <p:nvPr>
            <p:ph type="hdr" sz="quarter"/>
          </p:nvPr>
        </p:nvSpPr>
        <p:spPr/>
        <p:txBody>
          <a:bodyPr/>
          <a:lstStyle/>
          <a:p>
            <a:r>
              <a:rPr lang="en-US"/>
              <a:t>QR24, Fall 2005, Lecture 2</a:t>
            </a:r>
          </a:p>
        </p:txBody>
      </p:sp>
      <p:sp>
        <p:nvSpPr>
          <p:cNvPr id="5" name="Slide Number Placeholder 4">
            <a:extLst>
              <a:ext uri="{FF2B5EF4-FFF2-40B4-BE49-F238E27FC236}">
                <a16:creationId xmlns:a16="http://schemas.microsoft.com/office/drawing/2014/main" id="{F04A8519-CB1F-ABA2-A1D3-0252C07CC6ED}"/>
              </a:ext>
            </a:extLst>
          </p:cNvPr>
          <p:cNvSpPr>
            <a:spLocks noGrp="1"/>
          </p:cNvSpPr>
          <p:nvPr>
            <p:ph type="sldNum" sz="quarter" idx="5"/>
          </p:nvPr>
        </p:nvSpPr>
        <p:spPr/>
        <p:txBody>
          <a:bodyPr/>
          <a:lstStyle/>
          <a:p>
            <a:fld id="{510FF742-9BE3-414A-87AC-D68001451B72}" type="slidenum">
              <a:rPr lang="en-US" smtClean="0"/>
              <a:pPr/>
              <a:t>9</a:t>
            </a:fld>
            <a:endParaRPr lang="en-US"/>
          </a:p>
        </p:txBody>
      </p:sp>
    </p:spTree>
    <p:extLst>
      <p:ext uri="{BB962C8B-B14F-4D97-AF65-F5344CB8AC3E}">
        <p14:creationId xmlns:p14="http://schemas.microsoft.com/office/powerpoint/2010/main" val="365836788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dirty="0"/>
              <a:t>Slide 9 assumed the company could pick any price it wanted. That's only true if no one else can sell the drug. This slide puts that in context using the three market rules from lecture.</a:t>
            </a:r>
          </a:p>
          <a:p>
            <a:pPr rtl="0"/>
            <a:endParaRPr lang="en-US" dirty="0"/>
          </a:p>
          <a:p>
            <a:pPr rtl="0"/>
            <a:r>
              <a:rPr lang="en-US" b="1" dirty="0"/>
              <a:t>Rule 1: Anyone can make it.</a:t>
            </a:r>
            <a:r>
              <a:rPr lang="en-US" dirty="0"/>
              <a:t> If I charge $2.50 and it only costs $0.75 to make, a competitor can charge $2.40 and take all my customers. Then I go to $2.30, and so on. Each firm figures some profit is better than none, so they keep undercutting until the price is close to MC. This is what happens when a drug goes generic.</a:t>
            </a:r>
          </a:p>
          <a:p>
            <a:pPr rtl="0"/>
            <a:endParaRPr lang="en-US" dirty="0"/>
          </a:p>
          <a:p>
            <a:pPr rtl="0"/>
            <a:r>
              <a:rPr lang="en-US" b="1" dirty="0"/>
              <a:t>Rule 2: Only the patent holder.</a:t>
            </a:r>
            <a:r>
              <a:rPr lang="en-US" dirty="0"/>
              <a:t> This is slide 9: the company picks the price that maximizes profit. Lecture added one nuance. If demand isn't responsive to price, the company charges close to the maximum willingness to pay. Lecture's example was antiretrovirals for rich patients, who need the drug and will pay almost anything. If demand is responsive, like antihypertensives, which have substitutes, the price ends up lower.</a:t>
            </a:r>
          </a:p>
          <a:p>
            <a:pPr rtl="0"/>
            <a:endParaRPr lang="en-US" dirty="0"/>
          </a:p>
          <a:p>
            <a:pPr rtl="0"/>
            <a:r>
              <a:rPr lang="en-US" b="1" dirty="0"/>
              <a:t>Rule 3: Patent + good insurance.</a:t>
            </a:r>
            <a:r>
              <a:rPr lang="en-US" dirty="0"/>
              <a:t> Remember from slide 4: an insured patient only pays the copay, so they'll accept almost any price. With nothing pulling the price down, it rises until the government or public outrage pushes back.</a:t>
            </a:r>
          </a:p>
          <a:p>
            <a:pPr rtl="0"/>
            <a:endParaRPr lang="en-US" dirty="0"/>
          </a:p>
          <a:p>
            <a:pPr rtl="0"/>
            <a:r>
              <a:rPr lang="en-US" dirty="0"/>
              <a:t>Last line: what if the company could charge everyone a </a:t>
            </a:r>
            <a:r>
              <a:rPr lang="en-US" i="1" dirty="0"/>
              <a:t>different</a:t>
            </a:r>
            <a:r>
              <a:rPr lang="en-US" dirty="0"/>
              <a:t> price? That's exactly what we'll explore in Part 2 of the practice problem.</a:t>
            </a:r>
          </a:p>
          <a:p>
            <a:pPr rtl="0"/>
            <a:endParaRPr lang="en-US" dirty="0"/>
          </a:p>
          <a:p>
            <a:pPr rtl="0"/>
            <a:r>
              <a:rPr lang="en-US" i="1" dirty="0"/>
              <a:t>(Optional, if a student asks: willingness to pay also depends on information. Patients who don't fully understand a drug's benefits may undervalue it. Even well-educated people make this kind of mistake. Studies of how employees choose insurance plans find they focus on upfront costs rather than total expected costs.)</a:t>
            </a:r>
            <a:endParaRPr lang="en-US" dirty="0"/>
          </a:p>
        </p:txBody>
      </p:sp>
      <p:sp>
        <p:nvSpPr>
          <p:cNvPr id="4" name="Header Placeholder 3"/>
          <p:cNvSpPr>
            <a:spLocks noGrp="1"/>
          </p:cNvSpPr>
          <p:nvPr>
            <p:ph type="hdr" sz="quarter"/>
          </p:nvPr>
        </p:nvSpPr>
        <p:spPr/>
        <p:txBody>
          <a:bodyPr/>
          <a:lstStyle/>
          <a:p>
            <a:r>
              <a:rPr lang="en-US"/>
              <a:t>QR24, Fall 2005, Lecture 2</a:t>
            </a:r>
          </a:p>
        </p:txBody>
      </p:sp>
      <p:sp>
        <p:nvSpPr>
          <p:cNvPr id="5" name="Slide Number Placeholder 4"/>
          <p:cNvSpPr>
            <a:spLocks noGrp="1"/>
          </p:cNvSpPr>
          <p:nvPr>
            <p:ph type="sldNum" sz="quarter" idx="5"/>
          </p:nvPr>
        </p:nvSpPr>
        <p:spPr/>
        <p:txBody>
          <a:bodyPr/>
          <a:lstStyle/>
          <a:p>
            <a:fld id="{510FF742-9BE3-414A-87AC-D68001451B72}" type="slidenum">
              <a:rPr lang="en-US" smtClean="0"/>
              <a:pPr/>
              <a:t>10</a:t>
            </a:fld>
            <a:endParaRPr lang="en-US"/>
          </a:p>
        </p:txBody>
      </p:sp>
    </p:spTree>
    <p:extLst>
      <p:ext uri="{BB962C8B-B14F-4D97-AF65-F5344CB8AC3E}">
        <p14:creationId xmlns:p14="http://schemas.microsoft.com/office/powerpoint/2010/main" val="125945471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29FAAC-86EC-3FDD-74A7-71DB65EA927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090068-A8C6-683D-9B6C-32A163A6E7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B99EE94-F066-A7ED-DA84-A6D5039E93FD}"/>
              </a:ext>
            </a:extLst>
          </p:cNvPr>
          <p:cNvSpPr>
            <a:spLocks noGrp="1"/>
          </p:cNvSpPr>
          <p:nvPr>
            <p:ph type="body" idx="1"/>
          </p:nvPr>
        </p:nvSpPr>
        <p:spPr/>
        <p:txBody>
          <a:bodyPr/>
          <a:lstStyle/>
          <a:p>
            <a:pPr rtl="0"/>
            <a:r>
              <a:rPr lang="en-US" dirty="0"/>
              <a:t>**important to note this is a very simplified intro to cost-effectiveness analysis…</a:t>
            </a:r>
          </a:p>
          <a:p>
            <a:pPr rtl="0"/>
            <a:endParaRPr lang="en-US" dirty="0"/>
          </a:p>
          <a:p>
            <a:pPr rtl="0"/>
            <a:r>
              <a:rPr lang="en-US" dirty="0"/>
              <a:t>First, where does $100K come from? </a:t>
            </a:r>
          </a:p>
          <a:p>
            <a:pPr rtl="0"/>
            <a:r>
              <a:rPr lang="en-US" dirty="0"/>
              <a:t>Ask students to explain it in plain English. </a:t>
            </a:r>
          </a:p>
          <a:p>
            <a:pPr rtl="0"/>
            <a:r>
              <a:rPr lang="en-US" dirty="0"/>
              <a:t>Answer: we look at how much people pay to lower their risk of dying a little, and scale it up. Lecture's airbag example: if you'd pay $3,000 for an airbag that has a 1-in-10,000 chance of saving your life, then across 10,000 people that's $30 million for one expected life saved. Spread over remaining years of life, researchers end up at roughly $100K per year in perfect health.</a:t>
            </a:r>
          </a:p>
          <a:p>
            <a:pPr rtl="0"/>
            <a:endParaRPr lang="en-US" dirty="0"/>
          </a:p>
          <a:p>
            <a:pPr rtl="0"/>
            <a:r>
              <a:rPr lang="en-US" dirty="0"/>
              <a:t>"Statistical" means it's not the value of saving </a:t>
            </a:r>
            <a:r>
              <a:rPr lang="en-US" i="1" dirty="0"/>
              <a:t>your</a:t>
            </a:r>
            <a:r>
              <a:rPr lang="en-US" dirty="0"/>
              <a:t> life for certain. Nobody would sell their life for $100K. It's the value of small reductions in risk spread across many people.</a:t>
            </a:r>
          </a:p>
          <a:p>
            <a:pPr rtl="0"/>
            <a:endParaRPr lang="en-US" dirty="0"/>
          </a:p>
          <a:p>
            <a:pPr rtl="0"/>
            <a:r>
              <a:rPr lang="en-US" dirty="0"/>
              <a:t>Then the two tests. They're the same comparison, just rearranged:</a:t>
            </a:r>
          </a:p>
          <a:p>
            <a:pPr lvl="0" rtl="0"/>
            <a:r>
              <a:rPr lang="en-US" dirty="0"/>
              <a:t>Benefit vs. price: Is (years gained × $100K) bigger than the price?</a:t>
            </a:r>
          </a:p>
          <a:p>
            <a:pPr lvl="0" rtl="0"/>
            <a:r>
              <a:rPr lang="en-US" dirty="0"/>
              <a:t>Cost per year: Is (price ÷ years gained) smaller than $100K?</a:t>
            </a:r>
          </a:p>
          <a:p>
            <a:pPr lvl="0" rtl="0"/>
            <a:endParaRPr lang="en-US" dirty="0"/>
          </a:p>
          <a:p>
            <a:pPr rtl="0"/>
            <a:r>
              <a:rPr lang="en-US" dirty="0"/>
              <a:t>If one says yes, the other does too. Walk through </a:t>
            </a:r>
            <a:r>
              <a:rPr lang="en-US" dirty="0" err="1"/>
              <a:t>Provenge</a:t>
            </a:r>
            <a:r>
              <a:rPr lang="en-US" dirty="0"/>
              <a:t> both ways to show they agree.</a:t>
            </a:r>
          </a:p>
          <a:p>
            <a:pPr rtl="0"/>
            <a:endParaRPr lang="en-US" dirty="0"/>
          </a:p>
          <a:p>
            <a:pPr rtl="0"/>
            <a:r>
              <a:rPr lang="en-US" dirty="0"/>
              <a:t>Common mistake to warn about: comparing the </a:t>
            </a:r>
            <a:r>
              <a:rPr lang="en-US" i="1" dirty="0"/>
              <a:t>benefit</a:t>
            </a:r>
            <a:r>
              <a:rPr lang="en-US" dirty="0"/>
              <a:t> to $100K. The benefit is already in dollars, so it gets compared to the </a:t>
            </a:r>
            <a:r>
              <a:rPr lang="en-US" i="1" dirty="0"/>
              <a:t>price</a:t>
            </a:r>
            <a:r>
              <a:rPr lang="en-US" dirty="0"/>
              <a:t>. Only cost per year gets compared to $100K.</a:t>
            </a:r>
          </a:p>
        </p:txBody>
      </p:sp>
      <p:sp>
        <p:nvSpPr>
          <p:cNvPr id="4" name="Header Placeholder 3">
            <a:extLst>
              <a:ext uri="{FF2B5EF4-FFF2-40B4-BE49-F238E27FC236}">
                <a16:creationId xmlns:a16="http://schemas.microsoft.com/office/drawing/2014/main" id="{B01CAC1B-30F4-F0B6-7A13-87257DF1B813}"/>
              </a:ext>
            </a:extLst>
          </p:cNvPr>
          <p:cNvSpPr>
            <a:spLocks noGrp="1"/>
          </p:cNvSpPr>
          <p:nvPr>
            <p:ph type="hdr" sz="quarter"/>
          </p:nvPr>
        </p:nvSpPr>
        <p:spPr/>
        <p:txBody>
          <a:bodyPr/>
          <a:lstStyle/>
          <a:p>
            <a:r>
              <a:rPr lang="en-US"/>
              <a:t>QR24, Fall 2005, Lecture 2</a:t>
            </a:r>
          </a:p>
        </p:txBody>
      </p:sp>
      <p:sp>
        <p:nvSpPr>
          <p:cNvPr id="5" name="Slide Number Placeholder 4">
            <a:extLst>
              <a:ext uri="{FF2B5EF4-FFF2-40B4-BE49-F238E27FC236}">
                <a16:creationId xmlns:a16="http://schemas.microsoft.com/office/drawing/2014/main" id="{DE068C40-1B87-EF2F-E843-5BBA35BAF929}"/>
              </a:ext>
            </a:extLst>
          </p:cNvPr>
          <p:cNvSpPr>
            <a:spLocks noGrp="1"/>
          </p:cNvSpPr>
          <p:nvPr>
            <p:ph type="sldNum" sz="quarter" idx="5"/>
          </p:nvPr>
        </p:nvSpPr>
        <p:spPr/>
        <p:txBody>
          <a:bodyPr/>
          <a:lstStyle/>
          <a:p>
            <a:fld id="{510FF742-9BE3-414A-87AC-D68001451B72}" type="slidenum">
              <a:rPr lang="en-US" smtClean="0"/>
              <a:pPr/>
              <a:t>11</a:t>
            </a:fld>
            <a:endParaRPr lang="en-US"/>
          </a:p>
        </p:txBody>
      </p:sp>
    </p:spTree>
    <p:extLst>
      <p:ext uri="{BB962C8B-B14F-4D97-AF65-F5344CB8AC3E}">
        <p14:creationId xmlns:p14="http://schemas.microsoft.com/office/powerpoint/2010/main" val="50666968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22275" y="704850"/>
            <a:ext cx="6257925" cy="3521075"/>
          </a:xfrm>
        </p:spPr>
      </p:sp>
      <p:sp>
        <p:nvSpPr>
          <p:cNvPr id="3" name="Notes Placeholder 2"/>
          <p:cNvSpPr>
            <a:spLocks noGrp="1"/>
          </p:cNvSpPr>
          <p:nvPr>
            <p:ph type="body" idx="1"/>
          </p:nvPr>
        </p:nvSpPr>
        <p:spPr/>
        <p:txBody>
          <a:bodyPr/>
          <a:lstStyle/>
          <a:p>
            <a:r>
              <a:rPr lang="en-US" dirty="0"/>
              <a:t>Send students handout before section. </a:t>
            </a:r>
          </a:p>
          <a:p>
            <a:endParaRPr lang="en-US" dirty="0"/>
          </a:p>
          <a:p>
            <a:r>
              <a:rPr lang="en-US" dirty="0"/>
              <a:t>Point out why WTP is higher for the sickest patients: they have no other options. This is the "demand not responsive to price" case from lecture (slide 10), and it's why the answer in Part 1 comes out differently from slide 9.</a:t>
            </a:r>
          </a:p>
        </p:txBody>
      </p:sp>
      <p:sp>
        <p:nvSpPr>
          <p:cNvPr id="4" name="Header Placeholder 3"/>
          <p:cNvSpPr>
            <a:spLocks noGrp="1"/>
          </p:cNvSpPr>
          <p:nvPr>
            <p:ph type="hdr" sz="quarter"/>
          </p:nvPr>
        </p:nvSpPr>
        <p:spPr/>
        <p:txBody>
          <a:bodyPr/>
          <a:lstStyle/>
          <a:p>
            <a:r>
              <a:rPr lang="en-US"/>
              <a:t>QR24, Fall 2005, Lecture 2</a:t>
            </a:r>
          </a:p>
        </p:txBody>
      </p:sp>
      <p:sp>
        <p:nvSpPr>
          <p:cNvPr id="5" name="Slide Number Placeholder 4"/>
          <p:cNvSpPr>
            <a:spLocks noGrp="1"/>
          </p:cNvSpPr>
          <p:nvPr>
            <p:ph type="sldNum" sz="quarter" idx="5"/>
          </p:nvPr>
        </p:nvSpPr>
        <p:spPr/>
        <p:txBody>
          <a:bodyPr/>
          <a:lstStyle/>
          <a:p>
            <a:fld id="{510FF742-9BE3-414A-87AC-D68001451B72}" type="slidenum">
              <a:rPr lang="en-US" smtClean="0"/>
              <a:pPr/>
              <a:t>12</a:t>
            </a:fld>
            <a:endParaRPr lang="en-US"/>
          </a:p>
        </p:txBody>
      </p:sp>
    </p:spTree>
    <p:extLst>
      <p:ext uri="{BB962C8B-B14F-4D97-AF65-F5344CB8AC3E}">
        <p14:creationId xmlns:p14="http://schemas.microsoft.com/office/powerpoint/2010/main" val="234504875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22275" y="704850"/>
            <a:ext cx="6257925" cy="3521075"/>
          </a:xfrm>
        </p:spPr>
      </p:sp>
      <p:sp>
        <p:nvSpPr>
          <p:cNvPr id="3" name="Notes Placeholder 2"/>
          <p:cNvSpPr>
            <a:spLocks noGrp="1"/>
          </p:cNvSpPr>
          <p:nvPr>
            <p:ph type="body" idx="1"/>
          </p:nvPr>
        </p:nvSpPr>
        <p:spPr/>
        <p:txBody>
          <a:bodyPr/>
          <a:lstStyle/>
          <a:p>
            <a:pPr rtl="0"/>
            <a:r>
              <a:rPr lang="en-US" dirty="0"/>
              <a:t>Give them about 5 minutes in groups.</a:t>
            </a:r>
          </a:p>
          <a:p>
            <a:pPr rtl="0"/>
            <a:endParaRPr lang="en-US" dirty="0"/>
          </a:p>
          <a:p>
            <a:pPr rtl="0"/>
            <a:r>
              <a:rPr lang="en-US" dirty="0"/>
              <a:t>Hints if they're stuck on the graph:</a:t>
            </a:r>
          </a:p>
          <a:p>
            <a:pPr lvl="0" rtl="0"/>
            <a:r>
              <a:rPr lang="en-US" dirty="0"/>
              <a:t>- Same step graph as slide 8. The tallest step goes on the left.</a:t>
            </a:r>
          </a:p>
          <a:p>
            <a:pPr lvl="0" rtl="0"/>
            <a:r>
              <a:rPr lang="en-US" dirty="0"/>
              <a:t>- The x-axis counts people </a:t>
            </a:r>
            <a:r>
              <a:rPr lang="en-US" b="1" dirty="0"/>
              <a:t>cumulatively</a:t>
            </a:r>
            <a:r>
              <a:rPr lang="en-US" dirty="0"/>
              <a:t>: the first step ends at 400, the next at 400 + 600 = 1,000, then 2,000, then 3,000.</a:t>
            </a:r>
          </a:p>
          <a:p>
            <a:pPr marL="171450" lvl="0" indent="-171450" rtl="0">
              <a:buFontTx/>
              <a:buChar char="-"/>
            </a:pPr>
            <a:r>
              <a:rPr lang="en-US" dirty="0"/>
              <a:t>Supply is a flat line at MC = $1,000.</a:t>
            </a:r>
          </a:p>
          <a:p>
            <a:pPr marL="171450" lvl="0" indent="-171450" rtl="0">
              <a:buFontTx/>
              <a:buChar char="-"/>
            </a:pPr>
            <a:endParaRPr lang="en-US" dirty="0"/>
          </a:p>
          <a:p>
            <a:pPr rtl="0"/>
            <a:r>
              <a:rPr lang="en-US" dirty="0"/>
              <a:t>Hint if they're stuck on the price: same method as slide 9. Try each step's price and compute (Price − MC) × number of buyers.</a:t>
            </a:r>
          </a:p>
          <a:p>
            <a:pPr rtl="0"/>
            <a:endParaRPr lang="en-US" dirty="0"/>
          </a:p>
          <a:p>
            <a:pPr rtl="0"/>
            <a:r>
              <a:rPr lang="en-US" dirty="0"/>
              <a:t>Something to point out afterward: the third group's willingness to pay is </a:t>
            </a:r>
            <a:r>
              <a:rPr lang="en-US" i="1" dirty="0"/>
              <a:t>exactly</a:t>
            </a:r>
            <a:r>
              <a:rPr lang="en-US" dirty="0"/>
              <a:t> MC, and the fourth group's is below it. </a:t>
            </a:r>
          </a:p>
        </p:txBody>
      </p:sp>
      <p:sp>
        <p:nvSpPr>
          <p:cNvPr id="4" name="Header Placeholder 3"/>
          <p:cNvSpPr>
            <a:spLocks noGrp="1"/>
          </p:cNvSpPr>
          <p:nvPr>
            <p:ph type="hdr" sz="quarter"/>
          </p:nvPr>
        </p:nvSpPr>
        <p:spPr/>
        <p:txBody>
          <a:bodyPr/>
          <a:lstStyle/>
          <a:p>
            <a:r>
              <a:rPr lang="en-US"/>
              <a:t>QR24, Fall 2005, Lecture 2</a:t>
            </a:r>
          </a:p>
        </p:txBody>
      </p:sp>
      <p:sp>
        <p:nvSpPr>
          <p:cNvPr id="5" name="Slide Number Placeholder 4"/>
          <p:cNvSpPr>
            <a:spLocks noGrp="1"/>
          </p:cNvSpPr>
          <p:nvPr>
            <p:ph type="sldNum" sz="quarter" idx="5"/>
          </p:nvPr>
        </p:nvSpPr>
        <p:spPr/>
        <p:txBody>
          <a:bodyPr/>
          <a:lstStyle/>
          <a:p>
            <a:fld id="{510FF742-9BE3-414A-87AC-D68001451B72}" type="slidenum">
              <a:rPr lang="en-US" smtClean="0"/>
              <a:pPr/>
              <a:t>13</a:t>
            </a:fld>
            <a:endParaRPr lang="en-US"/>
          </a:p>
        </p:txBody>
      </p:sp>
    </p:spTree>
    <p:extLst>
      <p:ext uri="{BB962C8B-B14F-4D97-AF65-F5344CB8AC3E}">
        <p14:creationId xmlns:p14="http://schemas.microsoft.com/office/powerpoint/2010/main" val="358320896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22275" y="704850"/>
            <a:ext cx="6257925" cy="3521075"/>
          </a:xfrm>
        </p:spPr>
      </p:sp>
      <p:sp>
        <p:nvSpPr>
          <p:cNvPr id="3" name="Notes Placeholder 2"/>
          <p:cNvSpPr>
            <a:spLocks noGrp="1"/>
          </p:cNvSpPr>
          <p:nvPr>
            <p:ph type="body" idx="1"/>
          </p:nvPr>
        </p:nvSpPr>
        <p:spPr/>
        <p:txBody>
          <a:bodyPr/>
          <a:lstStyle/>
          <a:p>
            <a:pPr rtl="0"/>
            <a:r>
              <a:rPr lang="en-US" dirty="0"/>
              <a:t>Walk through how to build the graph step by step:</a:t>
            </a:r>
          </a:p>
          <a:p>
            <a:pPr lvl="0" rtl="0"/>
            <a:r>
              <a:rPr lang="en-US" dirty="0"/>
              <a:t>- Put the group with the highest willingness to pay first: 400 people at $300,000.</a:t>
            </a:r>
          </a:p>
          <a:p>
            <a:pPr lvl="0" rtl="0"/>
            <a:r>
              <a:rPr lang="en-US" dirty="0"/>
              <a:t>- The x-axis is </a:t>
            </a:r>
            <a:r>
              <a:rPr lang="en-US" b="1" dirty="0"/>
              <a:t>cumulative</a:t>
            </a:r>
            <a:r>
              <a:rPr lang="en-US" dirty="0"/>
              <a:t>. The next group of 600 ends at 400 + 600 = 1,000. Then 2,000, then 3,000.</a:t>
            </a:r>
          </a:p>
          <a:p>
            <a:pPr lvl="0" rtl="0"/>
            <a:r>
              <a:rPr lang="en-US" dirty="0"/>
              <a:t>- The 7,000 people without melanoma are at $0, from 3,000 out to 10,000.</a:t>
            </a:r>
          </a:p>
          <a:p>
            <a:pPr marL="171450" lvl="0" indent="-171450" rtl="0">
              <a:buFontTx/>
              <a:buChar char="-"/>
            </a:pPr>
            <a:r>
              <a:rPr lang="en-US" dirty="0"/>
              <a:t>Supply is a flat line at MC = $1,000.</a:t>
            </a:r>
          </a:p>
          <a:p>
            <a:pPr marL="171450" lvl="0" indent="-171450" rtl="0">
              <a:buFontTx/>
              <a:buChar char="-"/>
            </a:pPr>
            <a:endParaRPr lang="en-US" dirty="0"/>
          </a:p>
          <a:p>
            <a:pPr rtl="0"/>
            <a:r>
              <a:rPr lang="en-US" dirty="0"/>
              <a:t>Common mistakes to check for:</a:t>
            </a:r>
          </a:p>
          <a:p>
            <a:pPr lvl="0" rtl="0"/>
            <a:r>
              <a:rPr lang="en-US" dirty="0"/>
              <a:t>- Putting 600 instead of 1,000 on the x-axis for the second step. The x-axis counts everyone so far, not just that group.</a:t>
            </a:r>
          </a:p>
          <a:p>
            <a:pPr marL="171450" lvl="0" indent="-171450" rtl="0">
              <a:buFontTx/>
              <a:buChar char="-"/>
            </a:pPr>
            <a:r>
              <a:rPr lang="en-US" dirty="0"/>
              <a:t>Forgetting to label the numbers on the axes. </a:t>
            </a:r>
          </a:p>
          <a:p>
            <a:pPr marL="171450" lvl="0" indent="-171450" rtl="0">
              <a:buFontTx/>
              <a:buChar char="-"/>
            </a:pPr>
            <a:r>
              <a:rPr lang="en-US" dirty="0"/>
              <a:t>Trying to draw it to scale. You don't need to. Just make sure the steps go in the right order.</a:t>
            </a:r>
          </a:p>
          <a:p>
            <a:pPr marL="171450" lvl="0" indent="-171450" rtl="0">
              <a:buFontTx/>
              <a:buChar char="-"/>
            </a:pPr>
            <a:endParaRPr lang="en-US" dirty="0"/>
          </a:p>
          <a:p>
            <a:pPr rtl="0"/>
            <a:r>
              <a:rPr lang="en-US" dirty="0"/>
              <a:t>Point out that the $1,000 group sits exactly on the MC line, and the $500 group is below it. </a:t>
            </a:r>
          </a:p>
          <a:p>
            <a:pPr rtl="0"/>
            <a:endParaRPr lang="en-US" dirty="0"/>
          </a:p>
          <a:p>
            <a:pPr rtl="0"/>
            <a:r>
              <a:rPr lang="en-US" dirty="0"/>
              <a:t>Ask: "Would Merck ever sell to the $500 group?" No, every sale would lose money.</a:t>
            </a:r>
          </a:p>
          <a:p>
            <a:endParaRPr lang="en-US" dirty="0"/>
          </a:p>
          <a:p>
            <a:endParaRPr lang="en-US" dirty="0"/>
          </a:p>
        </p:txBody>
      </p:sp>
      <p:sp>
        <p:nvSpPr>
          <p:cNvPr id="4" name="Header Placeholder 3"/>
          <p:cNvSpPr>
            <a:spLocks noGrp="1"/>
          </p:cNvSpPr>
          <p:nvPr>
            <p:ph type="hdr" sz="quarter"/>
          </p:nvPr>
        </p:nvSpPr>
        <p:spPr/>
        <p:txBody>
          <a:bodyPr/>
          <a:lstStyle/>
          <a:p>
            <a:r>
              <a:rPr lang="en-US"/>
              <a:t>QR24, Fall 2005, Lecture 2</a:t>
            </a:r>
          </a:p>
        </p:txBody>
      </p:sp>
      <p:sp>
        <p:nvSpPr>
          <p:cNvPr id="5" name="Slide Number Placeholder 4"/>
          <p:cNvSpPr>
            <a:spLocks noGrp="1"/>
          </p:cNvSpPr>
          <p:nvPr>
            <p:ph type="sldNum" sz="quarter" idx="5"/>
          </p:nvPr>
        </p:nvSpPr>
        <p:spPr/>
        <p:txBody>
          <a:bodyPr/>
          <a:lstStyle/>
          <a:p>
            <a:fld id="{510FF742-9BE3-414A-87AC-D68001451B72}" type="slidenum">
              <a:rPr lang="en-US" smtClean="0"/>
              <a:pPr/>
              <a:t>14</a:t>
            </a:fld>
            <a:endParaRPr lang="en-US"/>
          </a:p>
        </p:txBody>
      </p:sp>
    </p:spTree>
    <p:extLst>
      <p:ext uri="{BB962C8B-B14F-4D97-AF65-F5344CB8AC3E}">
        <p14:creationId xmlns:p14="http://schemas.microsoft.com/office/powerpoint/2010/main" val="251216594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22275" y="704850"/>
            <a:ext cx="6257925" cy="3521075"/>
          </a:xfrm>
        </p:spPr>
      </p:sp>
      <p:sp>
        <p:nvSpPr>
          <p:cNvPr id="3" name="Notes Placeholder 2"/>
          <p:cNvSpPr>
            <a:spLocks noGrp="1"/>
          </p:cNvSpPr>
          <p:nvPr>
            <p:ph type="body" idx="1"/>
          </p:nvPr>
        </p:nvSpPr>
        <p:spPr/>
        <p:txBody>
          <a:bodyPr/>
          <a:lstStyle/>
          <a:p>
            <a:pPr rtl="0"/>
            <a:r>
              <a:rPr lang="en-US" dirty="0"/>
              <a:t>Compare with slide 9, where the best price was </a:t>
            </a:r>
            <a:r>
              <a:rPr lang="en-US" i="1" dirty="0"/>
              <a:t>not</a:t>
            </a:r>
            <a:r>
              <a:rPr lang="en-US" dirty="0"/>
              <a:t> the highest one!</a:t>
            </a:r>
          </a:p>
          <a:p>
            <a:pPr rtl="0"/>
            <a:endParaRPr lang="en-US" dirty="0"/>
          </a:p>
          <a:p>
            <a:pPr rtl="0"/>
            <a:r>
              <a:rPr lang="en-US" dirty="0"/>
              <a:t>Ask: "Why is it different here?”</a:t>
            </a:r>
          </a:p>
          <a:p>
            <a:pPr marL="171450" lvl="0" indent="-171450" rtl="0">
              <a:buFontTx/>
              <a:buChar char="-"/>
            </a:pPr>
            <a:r>
              <a:rPr lang="en-US" dirty="0"/>
              <a:t>The sickest patients' willingness to pay is so much higher ($300K vs. $100K) that losing the other 600 buyers costs less than charging the top group less would. This is the "demand not responsive to price" case from lecture: very sick patients with no other options will pay almost anything.</a:t>
            </a:r>
          </a:p>
          <a:p>
            <a:endParaRPr lang="en-US" dirty="0"/>
          </a:p>
          <a:p>
            <a:pPr marL="0" marR="0" lvl="0" indent="0" algn="l" defTabSz="914400" rtl="0" eaLnBrk="1" fontAlgn="base" latinLnBrk="0" hangingPunct="1">
              <a:lnSpc>
                <a:spcPct val="100000"/>
              </a:lnSpc>
              <a:spcBef>
                <a:spcPct val="30000"/>
              </a:spcBef>
              <a:spcAft>
                <a:spcPct val="0"/>
              </a:spcAft>
              <a:buClrTx/>
              <a:buSzTx/>
              <a:buFontTx/>
              <a:buNone/>
              <a:tabLst/>
              <a:defRPr/>
            </a:pPr>
            <a:r>
              <a:rPr lang="en-US" i="1" dirty="0"/>
              <a:t>If a student asks about the $2.6B fixed cost: we're told to ignore it, because it doesn't change which price is best. Subtracting $2.6B from every row lowers every profit by the same amount, so $300K still wins.</a:t>
            </a:r>
            <a:endParaRPr lang="en-US" dirty="0"/>
          </a:p>
          <a:p>
            <a:endParaRPr lang="en-US" dirty="0"/>
          </a:p>
        </p:txBody>
      </p:sp>
      <p:sp>
        <p:nvSpPr>
          <p:cNvPr id="4" name="Header Placeholder 3"/>
          <p:cNvSpPr>
            <a:spLocks noGrp="1"/>
          </p:cNvSpPr>
          <p:nvPr>
            <p:ph type="hdr" sz="quarter"/>
          </p:nvPr>
        </p:nvSpPr>
        <p:spPr/>
        <p:txBody>
          <a:bodyPr/>
          <a:lstStyle/>
          <a:p>
            <a:r>
              <a:rPr lang="en-US"/>
              <a:t>QR24, Fall 2005, Lecture 2</a:t>
            </a:r>
          </a:p>
        </p:txBody>
      </p:sp>
      <p:sp>
        <p:nvSpPr>
          <p:cNvPr id="5" name="Slide Number Placeholder 4"/>
          <p:cNvSpPr>
            <a:spLocks noGrp="1"/>
          </p:cNvSpPr>
          <p:nvPr>
            <p:ph type="sldNum" sz="quarter" idx="5"/>
          </p:nvPr>
        </p:nvSpPr>
        <p:spPr/>
        <p:txBody>
          <a:bodyPr/>
          <a:lstStyle/>
          <a:p>
            <a:fld id="{510FF742-9BE3-414A-87AC-D68001451B72}" type="slidenum">
              <a:rPr lang="en-US" smtClean="0"/>
              <a:pPr/>
              <a:t>15</a:t>
            </a:fld>
            <a:endParaRPr lang="en-US"/>
          </a:p>
        </p:txBody>
      </p:sp>
    </p:spTree>
    <p:extLst>
      <p:ext uri="{BB962C8B-B14F-4D97-AF65-F5344CB8AC3E}">
        <p14:creationId xmlns:p14="http://schemas.microsoft.com/office/powerpoint/2010/main" val="199694844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287C87-1BE7-017A-B1BF-E607C51798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A3E091-7308-FCDF-0610-DE8B266688A8}"/>
              </a:ext>
            </a:extLst>
          </p:cNvPr>
          <p:cNvSpPr>
            <a:spLocks noGrp="1" noRot="1" noChangeAspect="1"/>
          </p:cNvSpPr>
          <p:nvPr>
            <p:ph type="sldImg"/>
          </p:nvPr>
        </p:nvSpPr>
        <p:spPr>
          <a:xfrm>
            <a:off x="422275" y="704850"/>
            <a:ext cx="6257925" cy="3521075"/>
          </a:xfrm>
        </p:spPr>
      </p:sp>
      <p:sp>
        <p:nvSpPr>
          <p:cNvPr id="3" name="Notes Placeholder 2">
            <a:extLst>
              <a:ext uri="{FF2B5EF4-FFF2-40B4-BE49-F238E27FC236}">
                <a16:creationId xmlns:a16="http://schemas.microsoft.com/office/drawing/2014/main" id="{74CA5F9D-6AF4-ECF9-1CD6-F56E9E8D0254}"/>
              </a:ext>
            </a:extLst>
          </p:cNvPr>
          <p:cNvSpPr>
            <a:spLocks noGrp="1"/>
          </p:cNvSpPr>
          <p:nvPr>
            <p:ph type="body" idx="1"/>
          </p:nvPr>
        </p:nvSpPr>
        <p:spPr/>
        <p:txBody>
          <a:bodyPr/>
          <a:lstStyle/>
          <a:p>
            <a:pPr marL="171450" indent="-171450" rtl="0">
              <a:buFontTx/>
              <a:buChar char="-"/>
            </a:pPr>
            <a:endParaRPr lang="en-US" dirty="0"/>
          </a:p>
          <a:p>
            <a:pPr rtl="0"/>
            <a:r>
              <a:rPr lang="en-US" dirty="0"/>
              <a:t>Q2 is the uncomfortable part. 600 people would pay $100,000 for a drug that costs $1,000 to make, and they still don't get it. Hold that thought for Part 2.</a:t>
            </a:r>
          </a:p>
          <a:p>
            <a:pPr rtl="0"/>
            <a:endParaRPr lang="en-US" dirty="0"/>
          </a:p>
          <a:p>
            <a:pPr rtl="0"/>
            <a:r>
              <a:rPr lang="en-US" i="1" dirty="0"/>
              <a:t>If a student asks about the $2.6B fixed cost: we're told to ignore it, because it doesn't change which price is best. Subtracting $2.6B from every row lowers every profit by the same amount, so $300K still wins.</a:t>
            </a:r>
            <a:endParaRPr lang="en-US" dirty="0"/>
          </a:p>
          <a:p>
            <a:endParaRPr lang="en-US" dirty="0"/>
          </a:p>
        </p:txBody>
      </p:sp>
      <p:sp>
        <p:nvSpPr>
          <p:cNvPr id="4" name="Header Placeholder 3">
            <a:extLst>
              <a:ext uri="{FF2B5EF4-FFF2-40B4-BE49-F238E27FC236}">
                <a16:creationId xmlns:a16="http://schemas.microsoft.com/office/drawing/2014/main" id="{843CFD2F-00AA-1527-DA7E-8127B3D488F8}"/>
              </a:ext>
            </a:extLst>
          </p:cNvPr>
          <p:cNvSpPr>
            <a:spLocks noGrp="1"/>
          </p:cNvSpPr>
          <p:nvPr>
            <p:ph type="hdr" sz="quarter"/>
          </p:nvPr>
        </p:nvSpPr>
        <p:spPr/>
        <p:txBody>
          <a:bodyPr/>
          <a:lstStyle/>
          <a:p>
            <a:r>
              <a:rPr lang="en-US"/>
              <a:t>QR24, Fall 2005, Lecture 2</a:t>
            </a:r>
          </a:p>
        </p:txBody>
      </p:sp>
      <p:sp>
        <p:nvSpPr>
          <p:cNvPr id="5" name="Slide Number Placeholder 4">
            <a:extLst>
              <a:ext uri="{FF2B5EF4-FFF2-40B4-BE49-F238E27FC236}">
                <a16:creationId xmlns:a16="http://schemas.microsoft.com/office/drawing/2014/main" id="{31F5C91D-0EE1-2FCD-5B78-188559E3A688}"/>
              </a:ext>
            </a:extLst>
          </p:cNvPr>
          <p:cNvSpPr>
            <a:spLocks noGrp="1"/>
          </p:cNvSpPr>
          <p:nvPr>
            <p:ph type="sldNum" sz="quarter" idx="5"/>
          </p:nvPr>
        </p:nvSpPr>
        <p:spPr/>
        <p:txBody>
          <a:bodyPr/>
          <a:lstStyle/>
          <a:p>
            <a:fld id="{510FF742-9BE3-414A-87AC-D68001451B72}" type="slidenum">
              <a:rPr lang="en-US" smtClean="0"/>
              <a:pPr/>
              <a:t>16</a:t>
            </a:fld>
            <a:endParaRPr lang="en-US"/>
          </a:p>
        </p:txBody>
      </p:sp>
    </p:spTree>
    <p:extLst>
      <p:ext uri="{BB962C8B-B14F-4D97-AF65-F5344CB8AC3E}">
        <p14:creationId xmlns:p14="http://schemas.microsoft.com/office/powerpoint/2010/main" val="2385743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22275" y="704850"/>
            <a:ext cx="6257925" cy="3521075"/>
          </a:xfrm>
        </p:spPr>
      </p:sp>
      <p:sp>
        <p:nvSpPr>
          <p:cNvPr id="3" name="Notes Placeholder 2"/>
          <p:cNvSpPr>
            <a:spLocks noGrp="1"/>
          </p:cNvSpPr>
          <p:nvPr>
            <p:ph type="body" idx="1"/>
          </p:nvPr>
        </p:nvSpPr>
        <p:spPr/>
        <p:txBody>
          <a:bodyPr/>
          <a:lstStyle/>
          <a:p>
            <a:pPr rtl="0"/>
            <a:r>
              <a:rPr lang="en-US" dirty="0"/>
              <a:t>Give them about 5 minutes in groups.</a:t>
            </a:r>
          </a:p>
          <a:p>
            <a:pPr rtl="0"/>
            <a:endParaRPr lang="en-US" dirty="0"/>
          </a:p>
          <a:p>
            <a:pPr rtl="0"/>
            <a:r>
              <a:rPr lang="en-US" dirty="0"/>
              <a:t>Hints if they're stuck on Q1:</a:t>
            </a:r>
          </a:p>
          <a:p>
            <a:pPr lvl="0" rtl="0"/>
            <a:r>
              <a:rPr lang="en-US" dirty="0"/>
              <a:t>- If Merck can charge anyone any price, what's the most it can get from each group? Their willingness to pay.</a:t>
            </a:r>
          </a:p>
          <a:p>
            <a:pPr marL="171450" lvl="0" indent="-171450" rtl="0">
              <a:buFontTx/>
              <a:buChar char="-"/>
            </a:pPr>
            <a:r>
              <a:rPr lang="en-US" dirty="0"/>
              <a:t>Should Merck sell to a group at all? Only if their willingness to pay is at least MC.</a:t>
            </a:r>
          </a:p>
          <a:p>
            <a:pPr marL="171450" lvl="0" indent="-171450" rtl="0">
              <a:buFontTx/>
              <a:buChar char="-"/>
            </a:pPr>
            <a:endParaRPr lang="en-US" dirty="0"/>
          </a:p>
          <a:p>
            <a:pPr rtl="0"/>
            <a:r>
              <a:rPr lang="en-US" dirty="0"/>
              <a:t>Watch for the $1,000 group. Their willingness to pay equals MC exactly, so Merck makes $0 on them whether it sells or not. Either answer gets the same total profit. The convention is that Merck sells when price ≥ MC.</a:t>
            </a:r>
          </a:p>
          <a:p>
            <a:pPr rtl="0"/>
            <a:endParaRPr lang="en-US" dirty="0"/>
          </a:p>
          <a:p>
            <a:pPr rtl="0"/>
            <a:r>
              <a:rPr lang="en-US" dirty="0"/>
              <a:t>For Q3, suggest a 2×2 grid (Merck / patients × pro / con). </a:t>
            </a:r>
          </a:p>
        </p:txBody>
      </p:sp>
      <p:sp>
        <p:nvSpPr>
          <p:cNvPr id="4" name="Header Placeholder 3"/>
          <p:cNvSpPr>
            <a:spLocks noGrp="1"/>
          </p:cNvSpPr>
          <p:nvPr>
            <p:ph type="hdr" sz="quarter"/>
          </p:nvPr>
        </p:nvSpPr>
        <p:spPr/>
        <p:txBody>
          <a:bodyPr/>
          <a:lstStyle/>
          <a:p>
            <a:r>
              <a:rPr lang="en-US"/>
              <a:t>QR24, Fall 2005, Lecture 2</a:t>
            </a:r>
          </a:p>
        </p:txBody>
      </p:sp>
      <p:sp>
        <p:nvSpPr>
          <p:cNvPr id="5" name="Slide Number Placeholder 4"/>
          <p:cNvSpPr>
            <a:spLocks noGrp="1"/>
          </p:cNvSpPr>
          <p:nvPr>
            <p:ph type="sldNum" sz="quarter" idx="5"/>
          </p:nvPr>
        </p:nvSpPr>
        <p:spPr/>
        <p:txBody>
          <a:bodyPr/>
          <a:lstStyle/>
          <a:p>
            <a:fld id="{510FF742-9BE3-414A-87AC-D68001451B72}" type="slidenum">
              <a:rPr lang="en-US" smtClean="0"/>
              <a:pPr/>
              <a:t>17</a:t>
            </a:fld>
            <a:endParaRPr lang="en-US"/>
          </a:p>
        </p:txBody>
      </p:sp>
    </p:spTree>
    <p:extLst>
      <p:ext uri="{BB962C8B-B14F-4D97-AF65-F5344CB8AC3E}">
        <p14:creationId xmlns:p14="http://schemas.microsoft.com/office/powerpoint/2010/main" val="11258453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22275" y="704850"/>
            <a:ext cx="6257925" cy="3521075"/>
          </a:xfrm>
        </p:spPr>
      </p:sp>
      <p:sp>
        <p:nvSpPr>
          <p:cNvPr id="3" name="Notes Placeholder 2"/>
          <p:cNvSpPr>
            <a:spLocks noGrp="1"/>
          </p:cNvSpPr>
          <p:nvPr>
            <p:ph type="body" idx="1"/>
          </p:nvPr>
        </p:nvSpPr>
        <p:spPr/>
        <p:txBody>
          <a:bodyPr/>
          <a:lstStyle/>
          <a:p>
            <a:pPr defTabSz="891357">
              <a:defRPr/>
            </a:pPr>
            <a:r>
              <a:rPr lang="en-US" dirty="0"/>
              <a:t>The logic: if Merck can charge each person whatever it wants, it charges each group the most they'll pay, which is their WTP. It sells to a group as long as that price is at least MC.</a:t>
            </a:r>
          </a:p>
          <a:p>
            <a:pPr defTabSz="891357">
              <a:defRPr/>
            </a:pPr>
            <a:endParaRPr lang="en-US" dirty="0"/>
          </a:p>
          <a:p>
            <a:pPr defTabSz="891357">
              <a:defRPr/>
            </a:pPr>
            <a:r>
              <a:rPr lang="en-US" dirty="0"/>
              <a:t>Go through the groups:</a:t>
            </a:r>
          </a:p>
          <a:p>
            <a:pPr defTabSz="891357">
              <a:defRPr/>
            </a:pPr>
            <a:r>
              <a:rPr lang="en-US" dirty="0"/>
              <a:t>- The top two groups produce all the profit: $119.6M + $59.4M = $179M.</a:t>
            </a:r>
          </a:p>
          <a:p>
            <a:pPr defTabSz="891357">
              <a:defRPr/>
            </a:pPr>
            <a:r>
              <a:rPr lang="en-US" dirty="0"/>
              <a:t>- The $1,000 group pays exactly MC, so Merck makes nothing on them. Selling or not selling gives the same profit. By convention, they get the drug "at cost."</a:t>
            </a:r>
          </a:p>
          <a:p>
            <a:pPr defTabSz="891357">
              <a:defRPr/>
            </a:pPr>
            <a:r>
              <a:rPr lang="en-US" dirty="0"/>
              <a:t>- The $500 group still doesn't get it. Merck would lose money on every sale.</a:t>
            </a:r>
          </a:p>
          <a:p>
            <a:pPr defTabSz="891357">
              <a:defRPr/>
            </a:pPr>
            <a:endParaRPr lang="en-US" dirty="0"/>
          </a:p>
          <a:p>
            <a:pPr defTabSz="891357">
              <a:defRPr/>
            </a:pPr>
            <a:r>
              <a:rPr lang="en-US" dirty="0"/>
              <a:t>Point at the graph: in Part 1 there was one profit box. Now the second group adds a box of its own. That second box is the extra profit Merck gains from charging different prices.</a:t>
            </a:r>
          </a:p>
        </p:txBody>
      </p:sp>
      <p:sp>
        <p:nvSpPr>
          <p:cNvPr id="4" name="Header Placeholder 3"/>
          <p:cNvSpPr>
            <a:spLocks noGrp="1"/>
          </p:cNvSpPr>
          <p:nvPr>
            <p:ph type="hdr" sz="quarter"/>
          </p:nvPr>
        </p:nvSpPr>
        <p:spPr/>
        <p:txBody>
          <a:bodyPr/>
          <a:lstStyle/>
          <a:p>
            <a:r>
              <a:rPr lang="en-US"/>
              <a:t>QR24, Fall 2005, Lecture 2</a:t>
            </a:r>
          </a:p>
        </p:txBody>
      </p:sp>
      <p:sp>
        <p:nvSpPr>
          <p:cNvPr id="5" name="Slide Number Placeholder 4"/>
          <p:cNvSpPr>
            <a:spLocks noGrp="1"/>
          </p:cNvSpPr>
          <p:nvPr>
            <p:ph type="sldNum" sz="quarter" idx="5"/>
          </p:nvPr>
        </p:nvSpPr>
        <p:spPr/>
        <p:txBody>
          <a:bodyPr/>
          <a:lstStyle/>
          <a:p>
            <a:fld id="{510FF742-9BE3-414A-87AC-D68001451B72}" type="slidenum">
              <a:rPr lang="en-US" smtClean="0"/>
              <a:pPr/>
              <a:t>18</a:t>
            </a:fld>
            <a:endParaRPr lang="en-US"/>
          </a:p>
        </p:txBody>
      </p:sp>
    </p:spTree>
    <p:extLst>
      <p:ext uri="{BB962C8B-B14F-4D97-AF65-F5344CB8AC3E}">
        <p14:creationId xmlns:p14="http://schemas.microsoft.com/office/powerpoint/2010/main" val="405790098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B9469F-A19C-1C9A-4A68-042CE2A499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DEE023D-E914-7FCA-B659-55DD0E7BBC55}"/>
              </a:ext>
            </a:extLst>
          </p:cNvPr>
          <p:cNvSpPr>
            <a:spLocks noGrp="1" noRot="1" noChangeAspect="1"/>
          </p:cNvSpPr>
          <p:nvPr>
            <p:ph type="sldImg"/>
          </p:nvPr>
        </p:nvSpPr>
        <p:spPr>
          <a:xfrm>
            <a:off x="422275" y="704850"/>
            <a:ext cx="6257925" cy="3521075"/>
          </a:xfrm>
        </p:spPr>
      </p:sp>
      <p:sp>
        <p:nvSpPr>
          <p:cNvPr id="3" name="Notes Placeholder 2">
            <a:extLst>
              <a:ext uri="{FF2B5EF4-FFF2-40B4-BE49-F238E27FC236}">
                <a16:creationId xmlns:a16="http://schemas.microsoft.com/office/drawing/2014/main" id="{897E39F5-3637-405D-CAB4-915896F94147}"/>
              </a:ext>
            </a:extLst>
          </p:cNvPr>
          <p:cNvSpPr>
            <a:spLocks noGrp="1"/>
          </p:cNvSpPr>
          <p:nvPr>
            <p:ph type="body" idx="1"/>
          </p:nvPr>
        </p:nvSpPr>
        <p:spPr/>
        <p:txBody>
          <a:bodyPr/>
          <a:lstStyle/>
          <a:p>
            <a:pPr rtl="0"/>
            <a:r>
              <a:rPr lang="en-US" dirty="0"/>
              <a:t>2,000 people now get Keytruda, up from 400 in Part 1. The $1,000 group gets it at cost, and only the $500 group is still left out.</a:t>
            </a:r>
          </a:p>
          <a:p>
            <a:pPr rtl="0"/>
            <a:endParaRPr lang="en-US" dirty="0"/>
          </a:p>
          <a:p>
            <a:pPr rtl="0"/>
            <a:r>
              <a:rPr lang="en-US" dirty="0"/>
              <a:t>Hold onto this for Q3: more profit AND more patients treated. Is that good for everyone?</a:t>
            </a:r>
          </a:p>
        </p:txBody>
      </p:sp>
      <p:sp>
        <p:nvSpPr>
          <p:cNvPr id="4" name="Header Placeholder 3">
            <a:extLst>
              <a:ext uri="{FF2B5EF4-FFF2-40B4-BE49-F238E27FC236}">
                <a16:creationId xmlns:a16="http://schemas.microsoft.com/office/drawing/2014/main" id="{B1F6D6E0-1231-1BB3-09E1-6E4DD79C0897}"/>
              </a:ext>
            </a:extLst>
          </p:cNvPr>
          <p:cNvSpPr>
            <a:spLocks noGrp="1"/>
          </p:cNvSpPr>
          <p:nvPr>
            <p:ph type="hdr" sz="quarter"/>
          </p:nvPr>
        </p:nvSpPr>
        <p:spPr/>
        <p:txBody>
          <a:bodyPr/>
          <a:lstStyle/>
          <a:p>
            <a:r>
              <a:rPr lang="en-US"/>
              <a:t>QR24, Fall 2005, Lecture 2</a:t>
            </a:r>
          </a:p>
        </p:txBody>
      </p:sp>
      <p:sp>
        <p:nvSpPr>
          <p:cNvPr id="5" name="Slide Number Placeholder 4">
            <a:extLst>
              <a:ext uri="{FF2B5EF4-FFF2-40B4-BE49-F238E27FC236}">
                <a16:creationId xmlns:a16="http://schemas.microsoft.com/office/drawing/2014/main" id="{5ABB17A5-F7D5-8A54-8269-CCB8B3007273}"/>
              </a:ext>
            </a:extLst>
          </p:cNvPr>
          <p:cNvSpPr>
            <a:spLocks noGrp="1"/>
          </p:cNvSpPr>
          <p:nvPr>
            <p:ph type="sldNum" sz="quarter" idx="5"/>
          </p:nvPr>
        </p:nvSpPr>
        <p:spPr/>
        <p:txBody>
          <a:bodyPr/>
          <a:lstStyle/>
          <a:p>
            <a:fld id="{510FF742-9BE3-414A-87AC-D68001451B72}" type="slidenum">
              <a:rPr lang="en-US" smtClean="0"/>
              <a:pPr/>
              <a:t>19</a:t>
            </a:fld>
            <a:endParaRPr lang="en-US"/>
          </a:p>
        </p:txBody>
      </p:sp>
    </p:spTree>
    <p:extLst>
      <p:ext uri="{BB962C8B-B14F-4D97-AF65-F5344CB8AC3E}">
        <p14:creationId xmlns:p14="http://schemas.microsoft.com/office/powerpoint/2010/main" val="418819429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22275" y="704850"/>
            <a:ext cx="6257925" cy="3521075"/>
          </a:xfrm>
        </p:spPr>
      </p:sp>
      <p:sp>
        <p:nvSpPr>
          <p:cNvPr id="3" name="Notes Placeholder 2"/>
          <p:cNvSpPr>
            <a:spLocks noGrp="1"/>
          </p:cNvSpPr>
          <p:nvPr>
            <p:ph type="body" idx="1"/>
          </p:nvPr>
        </p:nvSpPr>
        <p:spPr/>
        <p:txBody>
          <a:bodyPr/>
          <a:lstStyle/>
          <a:p>
            <a:pPr rtl="0"/>
            <a:r>
              <a:rPr lang="en-US" dirty="0"/>
              <a:t>Put the two graphs next to each other. The only difference is the second profit box, $59.4M from the 600 insured patients with less advanced cancer. That box is the whole gain.</a:t>
            </a:r>
          </a:p>
          <a:p>
            <a:pPr rtl="0"/>
            <a:endParaRPr lang="en-US" dirty="0"/>
          </a:p>
          <a:p>
            <a:pPr rtl="0"/>
            <a:r>
              <a:rPr lang="en-US" dirty="0"/>
              <a:t>Ask: "Could differentiated pricing ever give Merck </a:t>
            </a:r>
            <a:r>
              <a:rPr lang="en-US" i="1" dirty="0"/>
              <a:t>less</a:t>
            </a:r>
            <a:r>
              <a:rPr lang="en-US" dirty="0"/>
              <a:t> profit than one price?" </a:t>
            </a:r>
          </a:p>
          <a:p>
            <a:pPr rtl="0"/>
            <a:r>
              <a:rPr lang="en-US" dirty="0"/>
              <a:t>No. Merck could always just charge everyone $300,000 and get back to Part 1. Being able to charge different prices only adds options.</a:t>
            </a:r>
          </a:p>
          <a:p>
            <a:pPr rtl="0"/>
            <a:endParaRPr lang="en-US" dirty="0"/>
          </a:p>
          <a:p>
            <a:pPr rtl="0"/>
            <a:r>
              <a:rPr lang="en-US" dirty="0"/>
              <a:t>Link back to slide 9 the price–quantity tradeoff was the reason the company had to leave buyers out. Differentiated pricing removes that tradeoff.</a:t>
            </a:r>
          </a:p>
          <a:p>
            <a:pPr rtl="0"/>
            <a:endParaRPr lang="en-US" dirty="0"/>
          </a:p>
          <a:p>
            <a:pPr rtl="0"/>
            <a:r>
              <a:rPr lang="en-US" dirty="0"/>
              <a:t>Also point out that access improved too: 2,000 patients get the drug instead of 400. That sets up Q3. More profit </a:t>
            </a:r>
            <a:r>
              <a:rPr lang="en-US" i="1" dirty="0"/>
              <a:t>and</a:t>
            </a:r>
            <a:r>
              <a:rPr lang="en-US" dirty="0"/>
              <a:t> more patients treated sounds like it's good for everyone. Is it?</a:t>
            </a:r>
          </a:p>
          <a:p>
            <a:endParaRPr lang="en-US" dirty="0"/>
          </a:p>
        </p:txBody>
      </p:sp>
      <p:sp>
        <p:nvSpPr>
          <p:cNvPr id="4" name="Header Placeholder 3"/>
          <p:cNvSpPr>
            <a:spLocks noGrp="1"/>
          </p:cNvSpPr>
          <p:nvPr>
            <p:ph type="hdr" sz="quarter"/>
          </p:nvPr>
        </p:nvSpPr>
        <p:spPr/>
        <p:txBody>
          <a:bodyPr/>
          <a:lstStyle/>
          <a:p>
            <a:r>
              <a:rPr lang="en-US"/>
              <a:t>QR24, Fall 2005, Lecture 2</a:t>
            </a:r>
          </a:p>
        </p:txBody>
      </p:sp>
      <p:sp>
        <p:nvSpPr>
          <p:cNvPr id="5" name="Slide Number Placeholder 4"/>
          <p:cNvSpPr>
            <a:spLocks noGrp="1"/>
          </p:cNvSpPr>
          <p:nvPr>
            <p:ph type="sldNum" sz="quarter" idx="5"/>
          </p:nvPr>
        </p:nvSpPr>
        <p:spPr/>
        <p:txBody>
          <a:bodyPr/>
          <a:lstStyle/>
          <a:p>
            <a:fld id="{510FF742-9BE3-414A-87AC-D68001451B72}" type="slidenum">
              <a:rPr lang="en-US" smtClean="0"/>
              <a:pPr/>
              <a:t>20</a:t>
            </a:fld>
            <a:endParaRPr lang="en-US"/>
          </a:p>
        </p:txBody>
      </p:sp>
    </p:spTree>
    <p:extLst>
      <p:ext uri="{BB962C8B-B14F-4D97-AF65-F5344CB8AC3E}">
        <p14:creationId xmlns:p14="http://schemas.microsoft.com/office/powerpoint/2010/main" val="98122411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1CC522-4EA5-5C5D-EF21-3DB20526F1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62D4D5-6E62-228C-FD64-2564221CB450}"/>
              </a:ext>
            </a:extLst>
          </p:cNvPr>
          <p:cNvSpPr>
            <a:spLocks noGrp="1" noRot="1" noChangeAspect="1"/>
          </p:cNvSpPr>
          <p:nvPr>
            <p:ph type="sldImg"/>
          </p:nvPr>
        </p:nvSpPr>
        <p:spPr>
          <a:xfrm>
            <a:off x="422275" y="704850"/>
            <a:ext cx="6257925" cy="3521075"/>
          </a:xfrm>
        </p:spPr>
      </p:sp>
      <p:sp>
        <p:nvSpPr>
          <p:cNvPr id="3" name="Notes Placeholder 2">
            <a:extLst>
              <a:ext uri="{FF2B5EF4-FFF2-40B4-BE49-F238E27FC236}">
                <a16:creationId xmlns:a16="http://schemas.microsoft.com/office/drawing/2014/main" id="{8516668F-6CC1-5E3B-50C8-FDE702250A48}"/>
              </a:ext>
            </a:extLst>
          </p:cNvPr>
          <p:cNvSpPr>
            <a:spLocks noGrp="1"/>
          </p:cNvSpPr>
          <p:nvPr>
            <p:ph type="body" idx="1"/>
          </p:nvPr>
        </p:nvSpPr>
        <p:spPr/>
        <p:txBody>
          <a:bodyPr/>
          <a:lstStyle/>
          <a:p>
            <a:r>
              <a:rPr lang="en-US" dirty="0"/>
              <a:t>Give groups a couple of minutes to fill in the 2×2 grid (Merck / patients × pro / con), then take answers before revealing the next slide. </a:t>
            </a:r>
          </a:p>
          <a:p>
            <a:endParaRPr lang="en-US" dirty="0"/>
          </a:p>
          <a:p>
            <a:r>
              <a:rPr lang="en-US" dirty="0"/>
              <a:t>If stuck, ask: "What could go wrong for Merck if the uninsured group pays $1,000 and the sickest group pays $300,000?"</a:t>
            </a:r>
          </a:p>
        </p:txBody>
      </p:sp>
      <p:sp>
        <p:nvSpPr>
          <p:cNvPr id="4" name="Header Placeholder 3">
            <a:extLst>
              <a:ext uri="{FF2B5EF4-FFF2-40B4-BE49-F238E27FC236}">
                <a16:creationId xmlns:a16="http://schemas.microsoft.com/office/drawing/2014/main" id="{7DF7C351-65F5-B9CE-08F9-823DC10F33C2}"/>
              </a:ext>
            </a:extLst>
          </p:cNvPr>
          <p:cNvSpPr>
            <a:spLocks noGrp="1"/>
          </p:cNvSpPr>
          <p:nvPr>
            <p:ph type="hdr" sz="quarter"/>
          </p:nvPr>
        </p:nvSpPr>
        <p:spPr/>
        <p:txBody>
          <a:bodyPr/>
          <a:lstStyle/>
          <a:p>
            <a:r>
              <a:rPr lang="en-US"/>
              <a:t>QR24, Fall 2005, Lecture 2</a:t>
            </a:r>
          </a:p>
        </p:txBody>
      </p:sp>
      <p:sp>
        <p:nvSpPr>
          <p:cNvPr id="5" name="Slide Number Placeholder 4">
            <a:extLst>
              <a:ext uri="{FF2B5EF4-FFF2-40B4-BE49-F238E27FC236}">
                <a16:creationId xmlns:a16="http://schemas.microsoft.com/office/drawing/2014/main" id="{3CEF4534-B86D-3BD1-2B69-F684FFC89058}"/>
              </a:ext>
            </a:extLst>
          </p:cNvPr>
          <p:cNvSpPr>
            <a:spLocks noGrp="1"/>
          </p:cNvSpPr>
          <p:nvPr>
            <p:ph type="sldNum" sz="quarter" idx="5"/>
          </p:nvPr>
        </p:nvSpPr>
        <p:spPr/>
        <p:txBody>
          <a:bodyPr/>
          <a:lstStyle/>
          <a:p>
            <a:fld id="{510FF742-9BE3-414A-87AC-D68001451B72}" type="slidenum">
              <a:rPr lang="en-US" smtClean="0"/>
              <a:pPr/>
              <a:t>21</a:t>
            </a:fld>
            <a:endParaRPr lang="en-US"/>
          </a:p>
        </p:txBody>
      </p:sp>
    </p:spTree>
    <p:extLst>
      <p:ext uri="{BB962C8B-B14F-4D97-AF65-F5344CB8AC3E}">
        <p14:creationId xmlns:p14="http://schemas.microsoft.com/office/powerpoint/2010/main" val="222694810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22275" y="704850"/>
            <a:ext cx="6257925" cy="3521075"/>
          </a:xfrm>
        </p:spPr>
      </p:sp>
      <p:sp>
        <p:nvSpPr>
          <p:cNvPr id="3" name="Notes Placeholder 2"/>
          <p:cNvSpPr>
            <a:spLocks noGrp="1"/>
          </p:cNvSpPr>
          <p:nvPr>
            <p:ph type="body" idx="1"/>
          </p:nvPr>
        </p:nvSpPr>
        <p:spPr/>
        <p:txBody>
          <a:bodyPr/>
          <a:lstStyle/>
          <a:p>
            <a:endParaRPr lang="en-US" dirty="0"/>
          </a:p>
          <a:p>
            <a:pPr rtl="0"/>
            <a:r>
              <a:rPr lang="en-US" dirty="0"/>
              <a:t>Get answers from the groups first, then reveal the grid.</a:t>
            </a:r>
          </a:p>
          <a:p>
            <a:pPr rtl="0"/>
            <a:endParaRPr lang="en-US" dirty="0"/>
          </a:p>
          <a:p>
            <a:pPr rtl="0"/>
            <a:r>
              <a:rPr lang="en-US" dirty="0"/>
              <a:t>Merck's con, explained concretely: if the uninsured group pays $1,000, what stops them from reselling to an insured patient for $50,000? Differentiated pricing only works if Merck can block that kind of resale. That's why lecture said "</a:t>
            </a:r>
            <a:r>
              <a:rPr lang="en-US" i="1" dirty="0"/>
              <a:t>if</a:t>
            </a:r>
            <a:r>
              <a:rPr lang="en-US" dirty="0"/>
              <a:t> it can prevent resale.”</a:t>
            </a:r>
          </a:p>
          <a:p>
            <a:pPr rtl="0"/>
            <a:endParaRPr lang="en-US" dirty="0"/>
          </a:p>
          <a:p>
            <a:pPr rtl="0"/>
            <a:r>
              <a:rPr lang="en-US" dirty="0"/>
              <a:t>On patients, push a little:</a:t>
            </a:r>
          </a:p>
          <a:p>
            <a:pPr marL="171450" lvl="0" indent="-171450" rtl="0">
              <a:buFontTx/>
              <a:buChar char="-"/>
            </a:pPr>
            <a:r>
              <a:rPr lang="en-US" dirty="0"/>
              <a:t>Is any patient worse off than in Part 1? No. The sickest group pays $300K either way, and everyone else gets the drug at a price they're willing to pay.</a:t>
            </a:r>
          </a:p>
          <a:p>
            <a:pPr marL="171450" lvl="0" indent="-171450" rtl="0">
              <a:buFontTx/>
              <a:buChar char="-"/>
            </a:pPr>
            <a:r>
              <a:rPr lang="en-US" dirty="0"/>
              <a:t>Is anyone </a:t>
            </a:r>
            <a:r>
              <a:rPr lang="en-US" i="1" dirty="0"/>
              <a:t>better</a:t>
            </a:r>
            <a:r>
              <a:rPr lang="en-US" dirty="0"/>
              <a:t> off on price? Not really. Every group pays its maximum, so Merck keeps all the extra value. The gain for patients is access, not a lower price.</a:t>
            </a:r>
          </a:p>
          <a:p>
            <a:pPr marL="171450" lvl="0" indent="-171450" rtl="0">
              <a:buFontTx/>
              <a:buChar char="-"/>
            </a:pPr>
            <a:endParaRPr lang="en-US" dirty="0"/>
          </a:p>
          <a:p>
            <a:pPr rtl="0"/>
            <a:r>
              <a:rPr lang="en-US" dirty="0"/>
              <a:t>Real-world connection: drug companies do versions of this. They charge different prices in different countries and run patient assistance programs for people who can't pay.</a:t>
            </a:r>
          </a:p>
          <a:p>
            <a:endParaRPr lang="en-US" dirty="0"/>
          </a:p>
        </p:txBody>
      </p:sp>
      <p:sp>
        <p:nvSpPr>
          <p:cNvPr id="4" name="Header Placeholder 3"/>
          <p:cNvSpPr>
            <a:spLocks noGrp="1"/>
          </p:cNvSpPr>
          <p:nvPr>
            <p:ph type="hdr" sz="quarter"/>
          </p:nvPr>
        </p:nvSpPr>
        <p:spPr/>
        <p:txBody>
          <a:bodyPr/>
          <a:lstStyle/>
          <a:p>
            <a:r>
              <a:rPr lang="en-US"/>
              <a:t>QR24, Fall 2005, Lecture 2</a:t>
            </a:r>
          </a:p>
        </p:txBody>
      </p:sp>
      <p:sp>
        <p:nvSpPr>
          <p:cNvPr id="5" name="Slide Number Placeholder 4"/>
          <p:cNvSpPr>
            <a:spLocks noGrp="1"/>
          </p:cNvSpPr>
          <p:nvPr>
            <p:ph type="sldNum" sz="quarter" idx="5"/>
          </p:nvPr>
        </p:nvSpPr>
        <p:spPr/>
        <p:txBody>
          <a:bodyPr/>
          <a:lstStyle/>
          <a:p>
            <a:fld id="{510FF742-9BE3-414A-87AC-D68001451B72}" type="slidenum">
              <a:rPr lang="en-US" smtClean="0"/>
              <a:pPr/>
              <a:t>22</a:t>
            </a:fld>
            <a:endParaRPr lang="en-US"/>
          </a:p>
        </p:txBody>
      </p:sp>
    </p:spTree>
    <p:extLst>
      <p:ext uri="{BB962C8B-B14F-4D97-AF65-F5344CB8AC3E}">
        <p14:creationId xmlns:p14="http://schemas.microsoft.com/office/powerpoint/2010/main" val="2512907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22275" y="704850"/>
            <a:ext cx="6257925" cy="3521075"/>
          </a:xfrm>
        </p:spPr>
      </p:sp>
      <p:sp>
        <p:nvSpPr>
          <p:cNvPr id="3" name="Notes Placeholder 2"/>
          <p:cNvSpPr>
            <a:spLocks noGrp="1"/>
          </p:cNvSpPr>
          <p:nvPr>
            <p:ph type="body" idx="1"/>
          </p:nvPr>
        </p:nvSpPr>
        <p:spPr/>
        <p:txBody>
          <a:bodyPr/>
          <a:lstStyle/>
          <a:p>
            <a:pPr rtl="0"/>
            <a:r>
              <a:rPr lang="en-US" dirty="0"/>
              <a:t>Give them about 5 minutes. Q1 and Q2 should be quick; save most of the time for Q3.</a:t>
            </a:r>
          </a:p>
          <a:p>
            <a:pPr rtl="0"/>
            <a:endParaRPr lang="en-US" dirty="0"/>
          </a:p>
          <a:p>
            <a:pPr rtl="0"/>
            <a:r>
              <a:rPr lang="en-US" dirty="0"/>
              <a:t>Common mistakes to watch for on Q1:</a:t>
            </a:r>
          </a:p>
          <a:p>
            <a:pPr marL="171450" lvl="0" indent="-171450" rtl="0">
              <a:buFontTx/>
              <a:buChar char="-"/>
            </a:pPr>
            <a:r>
              <a:rPr lang="en-US" b="1" dirty="0"/>
              <a:t>Dividing by 3</a:t>
            </a:r>
            <a:r>
              <a:rPr lang="en-US" dirty="0"/>
              <a:t> (life expectancy with the drug) instead of </a:t>
            </a:r>
            <a:r>
              <a:rPr lang="en-US" b="1" dirty="0"/>
              <a:t>2</a:t>
            </a:r>
            <a:r>
              <a:rPr lang="en-US" dirty="0"/>
              <a:t> (years </a:t>
            </a:r>
            <a:r>
              <a:rPr lang="en-US" i="1" dirty="0"/>
              <a:t>gained</a:t>
            </a:r>
            <a:r>
              <a:rPr lang="en-US" dirty="0"/>
              <a:t>). Ask: "How much longer does the drug make people live?”</a:t>
            </a:r>
          </a:p>
          <a:p>
            <a:pPr marL="171450" lvl="0" indent="-171450" rtl="0">
              <a:buFontTx/>
              <a:buChar char="-"/>
            </a:pPr>
            <a:r>
              <a:rPr lang="en-US" dirty="0"/>
              <a:t>Using a price from Part 2. Part 3 uses the single price from Part 1.</a:t>
            </a:r>
          </a:p>
          <a:p>
            <a:pPr marL="171450" lvl="0" indent="-171450" rtl="0">
              <a:buFontTx/>
              <a:buChar char="-"/>
            </a:pPr>
            <a:endParaRPr lang="en-US" dirty="0"/>
          </a:p>
          <a:p>
            <a:pPr rtl="0"/>
            <a:r>
              <a:rPr lang="en-US" dirty="0"/>
              <a:t>For Q3, if they're stuck, ask: "Who wins and who loses if the insurer says no?"</a:t>
            </a:r>
          </a:p>
          <a:p>
            <a:endParaRPr lang="en-US" dirty="0"/>
          </a:p>
        </p:txBody>
      </p:sp>
      <p:sp>
        <p:nvSpPr>
          <p:cNvPr id="4" name="Header Placeholder 3"/>
          <p:cNvSpPr>
            <a:spLocks noGrp="1"/>
          </p:cNvSpPr>
          <p:nvPr>
            <p:ph type="hdr" sz="quarter"/>
          </p:nvPr>
        </p:nvSpPr>
        <p:spPr/>
        <p:txBody>
          <a:bodyPr/>
          <a:lstStyle/>
          <a:p>
            <a:r>
              <a:rPr lang="en-US"/>
              <a:t>QR24, Fall 2005, Lecture 2</a:t>
            </a:r>
          </a:p>
        </p:txBody>
      </p:sp>
      <p:sp>
        <p:nvSpPr>
          <p:cNvPr id="5" name="Slide Number Placeholder 4"/>
          <p:cNvSpPr>
            <a:spLocks noGrp="1"/>
          </p:cNvSpPr>
          <p:nvPr>
            <p:ph type="sldNum" sz="quarter" idx="5"/>
          </p:nvPr>
        </p:nvSpPr>
        <p:spPr/>
        <p:txBody>
          <a:bodyPr/>
          <a:lstStyle/>
          <a:p>
            <a:fld id="{510FF742-9BE3-414A-87AC-D68001451B72}" type="slidenum">
              <a:rPr lang="en-US" smtClean="0"/>
              <a:pPr/>
              <a:t>23</a:t>
            </a:fld>
            <a:endParaRPr lang="en-US"/>
          </a:p>
        </p:txBody>
      </p:sp>
    </p:spTree>
    <p:extLst>
      <p:ext uri="{BB962C8B-B14F-4D97-AF65-F5344CB8AC3E}">
        <p14:creationId xmlns:p14="http://schemas.microsoft.com/office/powerpoint/2010/main" val="215228242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22275" y="704850"/>
            <a:ext cx="6257925" cy="3521075"/>
          </a:xfrm>
        </p:spPr>
      </p:sp>
      <p:sp>
        <p:nvSpPr>
          <p:cNvPr id="3" name="Notes Placeholder 2"/>
          <p:cNvSpPr>
            <a:spLocks noGrp="1"/>
          </p:cNvSpPr>
          <p:nvPr>
            <p:ph type="body" idx="1"/>
          </p:nvPr>
        </p:nvSpPr>
        <p:spPr/>
        <p:txBody>
          <a:bodyPr/>
          <a:lstStyle/>
          <a:p>
            <a:pPr rtl="0"/>
            <a:r>
              <a:rPr lang="en-US" dirty="0"/>
              <a:t>Step 1 is where people slip: the drug </a:t>
            </a:r>
            <a:r>
              <a:rPr lang="en-US" i="1" dirty="0"/>
              <a:t>adds</a:t>
            </a:r>
            <a:r>
              <a:rPr lang="en-US" dirty="0"/>
              <a:t> 2 years, because patients go from living 1 year to living 3. We divide by the years the drug </a:t>
            </a:r>
            <a:r>
              <a:rPr lang="en-US" i="1" dirty="0"/>
              <a:t>adds</a:t>
            </a:r>
            <a:r>
              <a:rPr lang="en-US" dirty="0"/>
              <a:t>, not by total life expectancy.</a:t>
            </a:r>
          </a:p>
          <a:p>
            <a:pPr rtl="0"/>
            <a:endParaRPr lang="en-US" dirty="0"/>
          </a:p>
          <a:p>
            <a:pPr rtl="0"/>
            <a:r>
              <a:rPr lang="en-US" dirty="0"/>
              <a:t>Say the units out loud: "$150,000 </a:t>
            </a:r>
            <a:r>
              <a:rPr lang="en-US" b="1" dirty="0"/>
              <a:t>per year of life gained</a:t>
            </a:r>
            <a:r>
              <a:rPr lang="en-US" dirty="0"/>
              <a:t>." A bare "$150,000" is easy to confuse with the price.</a:t>
            </a:r>
          </a:p>
          <a:p>
            <a:pPr rtl="0"/>
            <a:endParaRPr lang="en-US" dirty="0"/>
          </a:p>
          <a:p>
            <a:pPr rtl="0"/>
            <a:r>
              <a:rPr lang="en-US" dirty="0"/>
              <a:t>Remind students this is an </a:t>
            </a:r>
            <a:r>
              <a:rPr lang="en-US" b="1" dirty="0"/>
              <a:t>average</a:t>
            </a:r>
            <a:r>
              <a:rPr lang="en-US" dirty="0"/>
              <a:t>. Some patients are completely cured, and some gain very little. Cost-effectiveness analysis works with averages.</a:t>
            </a:r>
          </a:p>
          <a:p>
            <a:pPr rtl="0"/>
            <a:endParaRPr lang="en-US" dirty="0"/>
          </a:p>
          <a:p>
            <a:pPr rtl="0"/>
            <a:r>
              <a:rPr lang="en-US" dirty="0"/>
              <a:t>The check line is optional, but it's a good moment to show that slide 11's two methods give the same answer: the benefit ($200K) is less than the price ($300K), and the cost per year ($150K) is more than $100K. Either way, the answer is "not worth it at this price."</a:t>
            </a:r>
          </a:p>
          <a:p>
            <a:endParaRPr lang="en-US" dirty="0"/>
          </a:p>
        </p:txBody>
      </p:sp>
      <p:sp>
        <p:nvSpPr>
          <p:cNvPr id="4" name="Header Placeholder 3"/>
          <p:cNvSpPr>
            <a:spLocks noGrp="1"/>
          </p:cNvSpPr>
          <p:nvPr>
            <p:ph type="hdr" sz="quarter"/>
          </p:nvPr>
        </p:nvSpPr>
        <p:spPr/>
        <p:txBody>
          <a:bodyPr/>
          <a:lstStyle/>
          <a:p>
            <a:r>
              <a:rPr lang="en-US"/>
              <a:t>QR24, Fall 2005, Lecture 2</a:t>
            </a:r>
          </a:p>
        </p:txBody>
      </p:sp>
      <p:sp>
        <p:nvSpPr>
          <p:cNvPr id="5" name="Slide Number Placeholder 4"/>
          <p:cNvSpPr>
            <a:spLocks noGrp="1"/>
          </p:cNvSpPr>
          <p:nvPr>
            <p:ph type="sldNum" sz="quarter" idx="5"/>
          </p:nvPr>
        </p:nvSpPr>
        <p:spPr/>
        <p:txBody>
          <a:bodyPr/>
          <a:lstStyle/>
          <a:p>
            <a:fld id="{510FF742-9BE3-414A-87AC-D68001451B72}" type="slidenum">
              <a:rPr lang="en-US" smtClean="0"/>
              <a:pPr/>
              <a:t>24</a:t>
            </a:fld>
            <a:endParaRPr lang="en-US"/>
          </a:p>
        </p:txBody>
      </p:sp>
    </p:spTree>
    <p:extLst>
      <p:ext uri="{BB962C8B-B14F-4D97-AF65-F5344CB8AC3E}">
        <p14:creationId xmlns:p14="http://schemas.microsoft.com/office/powerpoint/2010/main" val="38391240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22275" y="704850"/>
            <a:ext cx="6257925" cy="3521075"/>
          </a:xfrm>
        </p:spPr>
      </p:sp>
      <p:sp>
        <p:nvSpPr>
          <p:cNvPr id="3" name="Notes Placeholder 2"/>
          <p:cNvSpPr>
            <a:spLocks noGrp="1"/>
          </p:cNvSpPr>
          <p:nvPr>
            <p:ph type="body" idx="1"/>
          </p:nvPr>
        </p:nvSpPr>
        <p:spPr/>
        <p:txBody>
          <a:bodyPr/>
          <a:lstStyle/>
          <a:p>
            <a:pPr defTabSz="891357">
              <a:defRPr/>
            </a:pPr>
            <a:endParaRPr lang="en-US" dirty="0"/>
          </a:p>
          <a:p>
            <a:pPr rtl="0"/>
            <a:r>
              <a:rPr lang="en-US" dirty="0"/>
              <a:t>Emphasize "at this price." The drug clearly works: it gives people 2 extra years. What fails the test is the $300K price. Ask: "What price would make it pass?" → $200K. Anything at or below that works.</a:t>
            </a:r>
          </a:p>
          <a:p>
            <a:pPr rtl="0"/>
            <a:endParaRPr lang="en-US" dirty="0"/>
          </a:p>
          <a:p>
            <a:pPr rtl="0"/>
            <a:r>
              <a:rPr lang="en-US" dirty="0"/>
              <a:t>If time allows, two points from lecture:</a:t>
            </a:r>
          </a:p>
          <a:p>
            <a:pPr lvl="0" rtl="0"/>
            <a:r>
              <a:rPr lang="en-US" dirty="0"/>
              <a:t>- $100K is a rule of thumb. Lecture gave a range of about $75K–$200K. Ask: "If we used $200K, would Keytruda pass?" Yes, because $150K &lt; $200K. So the conclusion depends on the threshold we pick.</a:t>
            </a:r>
          </a:p>
          <a:p>
            <a:pPr marL="171450" lvl="0" indent="-171450" rtl="0">
              <a:buFontTx/>
              <a:buChar char="-"/>
            </a:pPr>
            <a:r>
              <a:rPr lang="en-US" dirty="0"/>
              <a:t>Other countries pick lower thresholds. The UK uses about $60K per year, so Keytruda would fail by even more there.</a:t>
            </a:r>
          </a:p>
          <a:p>
            <a:pPr marL="171450" lvl="0" indent="-171450" rtl="0">
              <a:buFontTx/>
              <a:buChar char="-"/>
            </a:pPr>
            <a:endParaRPr lang="en-US" dirty="0"/>
          </a:p>
          <a:p>
            <a:pPr rtl="0"/>
            <a:r>
              <a:rPr lang="en-US" dirty="0"/>
              <a:t>This leads into Q3: if an insurer refused to pay more than $200K, what would Merck do?</a:t>
            </a:r>
          </a:p>
          <a:p>
            <a:endParaRPr lang="en-US" dirty="0"/>
          </a:p>
        </p:txBody>
      </p:sp>
      <p:sp>
        <p:nvSpPr>
          <p:cNvPr id="4" name="Header Placeholder 3"/>
          <p:cNvSpPr>
            <a:spLocks noGrp="1"/>
          </p:cNvSpPr>
          <p:nvPr>
            <p:ph type="hdr" sz="quarter"/>
          </p:nvPr>
        </p:nvSpPr>
        <p:spPr/>
        <p:txBody>
          <a:bodyPr/>
          <a:lstStyle/>
          <a:p>
            <a:r>
              <a:rPr lang="en-US"/>
              <a:t>QR24, Fall 2005, Lecture 2</a:t>
            </a:r>
          </a:p>
        </p:txBody>
      </p:sp>
      <p:sp>
        <p:nvSpPr>
          <p:cNvPr id="5" name="Slide Number Placeholder 4"/>
          <p:cNvSpPr>
            <a:spLocks noGrp="1"/>
          </p:cNvSpPr>
          <p:nvPr>
            <p:ph type="sldNum" sz="quarter" idx="5"/>
          </p:nvPr>
        </p:nvSpPr>
        <p:spPr/>
        <p:txBody>
          <a:bodyPr/>
          <a:lstStyle/>
          <a:p>
            <a:fld id="{510FF742-9BE3-414A-87AC-D68001451B72}" type="slidenum">
              <a:rPr lang="en-US" smtClean="0"/>
              <a:pPr/>
              <a:t>25</a:t>
            </a:fld>
            <a:endParaRPr lang="en-US"/>
          </a:p>
        </p:txBody>
      </p:sp>
    </p:spTree>
    <p:extLst>
      <p:ext uri="{BB962C8B-B14F-4D97-AF65-F5344CB8AC3E}">
        <p14:creationId xmlns:p14="http://schemas.microsoft.com/office/powerpoint/2010/main" val="71790747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22275" y="704850"/>
            <a:ext cx="6257925" cy="3521075"/>
          </a:xfrm>
        </p:spPr>
      </p:sp>
      <p:sp>
        <p:nvSpPr>
          <p:cNvPr id="3" name="Notes Placeholder 2"/>
          <p:cNvSpPr>
            <a:spLocks noGrp="1"/>
          </p:cNvSpPr>
          <p:nvPr>
            <p:ph type="body" idx="1"/>
          </p:nvPr>
        </p:nvSpPr>
        <p:spPr/>
        <p:txBody>
          <a:bodyPr/>
          <a:lstStyle/>
          <a:p>
            <a:r>
              <a:rPr lang="en-US" dirty="0"/>
              <a:t>Ask the groups for answers before revealing anything. If they're stuck: "Who wins and who loses if the insurer says no to Keytruda?"</a:t>
            </a:r>
          </a:p>
        </p:txBody>
      </p:sp>
      <p:sp>
        <p:nvSpPr>
          <p:cNvPr id="4" name="Header Placeholder 3"/>
          <p:cNvSpPr>
            <a:spLocks noGrp="1"/>
          </p:cNvSpPr>
          <p:nvPr>
            <p:ph type="hdr" sz="quarter"/>
          </p:nvPr>
        </p:nvSpPr>
        <p:spPr/>
        <p:txBody>
          <a:bodyPr/>
          <a:lstStyle/>
          <a:p>
            <a:r>
              <a:rPr lang="en-US"/>
              <a:t>QR24, Fall 2005, Lecture 2</a:t>
            </a:r>
          </a:p>
        </p:txBody>
      </p:sp>
      <p:sp>
        <p:nvSpPr>
          <p:cNvPr id="5" name="Slide Number Placeholder 4"/>
          <p:cNvSpPr>
            <a:spLocks noGrp="1"/>
          </p:cNvSpPr>
          <p:nvPr>
            <p:ph type="sldNum" sz="quarter" idx="5"/>
          </p:nvPr>
        </p:nvSpPr>
        <p:spPr/>
        <p:txBody>
          <a:bodyPr/>
          <a:lstStyle/>
          <a:p>
            <a:fld id="{510FF742-9BE3-414A-87AC-D68001451B72}" type="slidenum">
              <a:rPr lang="en-US" smtClean="0"/>
              <a:pPr/>
              <a:t>26</a:t>
            </a:fld>
            <a:endParaRPr lang="en-US"/>
          </a:p>
        </p:txBody>
      </p:sp>
    </p:spTree>
    <p:extLst>
      <p:ext uri="{BB962C8B-B14F-4D97-AF65-F5344CB8AC3E}">
        <p14:creationId xmlns:p14="http://schemas.microsoft.com/office/powerpoint/2010/main" val="347660836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02BF96-AB79-BDC2-4CF5-FFAA9D7466A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F26229-274F-449C-8BC9-536D8EFE5FBC}"/>
              </a:ext>
            </a:extLst>
          </p:cNvPr>
          <p:cNvSpPr>
            <a:spLocks noGrp="1" noRot="1" noChangeAspect="1"/>
          </p:cNvSpPr>
          <p:nvPr>
            <p:ph type="sldImg"/>
          </p:nvPr>
        </p:nvSpPr>
        <p:spPr>
          <a:xfrm>
            <a:off x="422275" y="704850"/>
            <a:ext cx="6257925" cy="3521075"/>
          </a:xfrm>
        </p:spPr>
      </p:sp>
      <p:sp>
        <p:nvSpPr>
          <p:cNvPr id="3" name="Notes Placeholder 2">
            <a:extLst>
              <a:ext uri="{FF2B5EF4-FFF2-40B4-BE49-F238E27FC236}">
                <a16:creationId xmlns:a16="http://schemas.microsoft.com/office/drawing/2014/main" id="{5FD93A7D-04A1-3FF6-A7A3-CE656E1EF04E}"/>
              </a:ext>
            </a:extLst>
          </p:cNvPr>
          <p:cNvSpPr>
            <a:spLocks noGrp="1"/>
          </p:cNvSpPr>
          <p:nvPr>
            <p:ph type="body" idx="1"/>
          </p:nvPr>
        </p:nvSpPr>
        <p:spPr/>
        <p:txBody>
          <a:bodyPr/>
          <a:lstStyle/>
          <a:p>
            <a:r>
              <a:rPr lang="en-US" dirty="0"/>
              <a:t>Things to draw out:</a:t>
            </a:r>
          </a:p>
          <a:p>
            <a:r>
              <a:rPr lang="en-US" dirty="0"/>
              <a:t>- "Better spent elsewhere" is the key idea behind cost-effectiveness. An insurer has a fixed budget, so $300K on one Keytruda patient is $300K not spent on, say, blood pressure drugs for many people.</a:t>
            </a:r>
          </a:p>
          <a:p>
            <a:r>
              <a:rPr lang="en-US" dirty="0"/>
              <a:t>- Pressure on price: if insurers won't pay more than $200K, Merck faces a choice between lowering its price and losing those sales. This is roughly how countries like the UK negotiate drug prices.</a:t>
            </a:r>
          </a:p>
          <a:p>
            <a:r>
              <a:rPr lang="en-US" dirty="0"/>
              <a:t>- The innovation con ties back to slide 7. Lower prices today mean lower expected profits, and that affects the "whether to develop" decision for future drugs. Today's patients vs. future patients is the static vs. dynamic tradeoff from lecture.</a:t>
            </a:r>
          </a:p>
          <a:p>
            <a:endParaRPr lang="en-US" dirty="0"/>
          </a:p>
        </p:txBody>
      </p:sp>
      <p:sp>
        <p:nvSpPr>
          <p:cNvPr id="4" name="Header Placeholder 3">
            <a:extLst>
              <a:ext uri="{FF2B5EF4-FFF2-40B4-BE49-F238E27FC236}">
                <a16:creationId xmlns:a16="http://schemas.microsoft.com/office/drawing/2014/main" id="{57EF9CF7-6CD0-95EB-8B83-876DEF8BB49A}"/>
              </a:ext>
            </a:extLst>
          </p:cNvPr>
          <p:cNvSpPr>
            <a:spLocks noGrp="1"/>
          </p:cNvSpPr>
          <p:nvPr>
            <p:ph type="hdr" sz="quarter"/>
          </p:nvPr>
        </p:nvSpPr>
        <p:spPr/>
        <p:txBody>
          <a:bodyPr/>
          <a:lstStyle/>
          <a:p>
            <a:r>
              <a:rPr lang="en-US"/>
              <a:t>QR24, Fall 2005, Lecture 2</a:t>
            </a:r>
          </a:p>
        </p:txBody>
      </p:sp>
      <p:sp>
        <p:nvSpPr>
          <p:cNvPr id="5" name="Slide Number Placeholder 4">
            <a:extLst>
              <a:ext uri="{FF2B5EF4-FFF2-40B4-BE49-F238E27FC236}">
                <a16:creationId xmlns:a16="http://schemas.microsoft.com/office/drawing/2014/main" id="{2D96E81F-2B3B-6A93-61BE-DFC6F0330B24}"/>
              </a:ext>
            </a:extLst>
          </p:cNvPr>
          <p:cNvSpPr>
            <a:spLocks noGrp="1"/>
          </p:cNvSpPr>
          <p:nvPr>
            <p:ph type="sldNum" sz="quarter" idx="5"/>
          </p:nvPr>
        </p:nvSpPr>
        <p:spPr/>
        <p:txBody>
          <a:bodyPr/>
          <a:lstStyle/>
          <a:p>
            <a:fld id="{510FF742-9BE3-414A-87AC-D68001451B72}" type="slidenum">
              <a:rPr lang="en-US" smtClean="0"/>
              <a:pPr/>
              <a:t>27</a:t>
            </a:fld>
            <a:endParaRPr lang="en-US"/>
          </a:p>
        </p:txBody>
      </p:sp>
    </p:spTree>
    <p:extLst>
      <p:ext uri="{BB962C8B-B14F-4D97-AF65-F5344CB8AC3E}">
        <p14:creationId xmlns:p14="http://schemas.microsoft.com/office/powerpoint/2010/main" val="41884559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r>
              <a:rPr lang="en-US"/>
              <a:t>QR24, Fall 2005, Lecture 2</a:t>
            </a:r>
          </a:p>
        </p:txBody>
      </p:sp>
      <p:sp>
        <p:nvSpPr>
          <p:cNvPr id="5" name="Slide Number Placeholder 4"/>
          <p:cNvSpPr>
            <a:spLocks noGrp="1"/>
          </p:cNvSpPr>
          <p:nvPr>
            <p:ph type="sldNum" sz="quarter" idx="5"/>
          </p:nvPr>
        </p:nvSpPr>
        <p:spPr/>
        <p:txBody>
          <a:bodyPr/>
          <a:lstStyle/>
          <a:p>
            <a:fld id="{510FF742-9BE3-414A-87AC-D68001451B72}" type="slidenum">
              <a:rPr lang="en-US" smtClean="0"/>
              <a:pPr/>
              <a:t>28</a:t>
            </a:fld>
            <a:endParaRPr lang="en-US"/>
          </a:p>
        </p:txBody>
      </p:sp>
    </p:spTree>
    <p:extLst>
      <p:ext uri="{BB962C8B-B14F-4D97-AF65-F5344CB8AC3E}">
        <p14:creationId xmlns:p14="http://schemas.microsoft.com/office/powerpoint/2010/main" val="64123002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r>
              <a:rPr lang="en-US"/>
              <a:t>QR24, Fall 2005, Lecture 2</a:t>
            </a:r>
          </a:p>
        </p:txBody>
      </p:sp>
      <p:sp>
        <p:nvSpPr>
          <p:cNvPr id="5" name="Slide Number Placeholder 4"/>
          <p:cNvSpPr>
            <a:spLocks noGrp="1"/>
          </p:cNvSpPr>
          <p:nvPr>
            <p:ph type="sldNum" sz="quarter" idx="5"/>
          </p:nvPr>
        </p:nvSpPr>
        <p:spPr/>
        <p:txBody>
          <a:bodyPr/>
          <a:lstStyle/>
          <a:p>
            <a:fld id="{510FF742-9BE3-414A-87AC-D68001451B72}" type="slidenum">
              <a:rPr lang="en-US" smtClean="0"/>
              <a:pPr/>
              <a:t>29</a:t>
            </a:fld>
            <a:endParaRPr lang="en-US"/>
          </a:p>
        </p:txBody>
      </p:sp>
    </p:spTree>
    <p:extLst>
      <p:ext uri="{BB962C8B-B14F-4D97-AF65-F5344CB8AC3E}">
        <p14:creationId xmlns:p14="http://schemas.microsoft.com/office/powerpoint/2010/main" val="257753154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r>
              <a:rPr lang="en-US"/>
              <a:t>QR24, Fall 2005, Lecture 2</a:t>
            </a:r>
          </a:p>
        </p:txBody>
      </p:sp>
      <p:sp>
        <p:nvSpPr>
          <p:cNvPr id="5" name="Slide Number Placeholder 4"/>
          <p:cNvSpPr>
            <a:spLocks noGrp="1"/>
          </p:cNvSpPr>
          <p:nvPr>
            <p:ph type="sldNum" sz="quarter" idx="5"/>
          </p:nvPr>
        </p:nvSpPr>
        <p:spPr/>
        <p:txBody>
          <a:bodyPr/>
          <a:lstStyle/>
          <a:p>
            <a:fld id="{510FF742-9BE3-414A-87AC-D68001451B72}" type="slidenum">
              <a:rPr lang="en-US" smtClean="0"/>
              <a:pPr/>
              <a:t>30</a:t>
            </a:fld>
            <a:endParaRPr lang="en-US"/>
          </a:p>
        </p:txBody>
      </p:sp>
    </p:spTree>
    <p:extLst>
      <p:ext uri="{BB962C8B-B14F-4D97-AF65-F5344CB8AC3E}">
        <p14:creationId xmlns:p14="http://schemas.microsoft.com/office/powerpoint/2010/main" val="255009806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r>
              <a:rPr lang="en-US"/>
              <a:t>QR24, Fall 2005, Lecture 2</a:t>
            </a:r>
          </a:p>
        </p:txBody>
      </p:sp>
      <p:sp>
        <p:nvSpPr>
          <p:cNvPr id="5" name="Slide Number Placeholder 4"/>
          <p:cNvSpPr>
            <a:spLocks noGrp="1"/>
          </p:cNvSpPr>
          <p:nvPr>
            <p:ph type="sldNum" sz="quarter" idx="5"/>
          </p:nvPr>
        </p:nvSpPr>
        <p:spPr/>
        <p:txBody>
          <a:bodyPr/>
          <a:lstStyle/>
          <a:p>
            <a:fld id="{510FF742-9BE3-414A-87AC-D68001451B72}" type="slidenum">
              <a:rPr lang="en-US" smtClean="0"/>
              <a:pPr/>
              <a:t>31</a:t>
            </a:fld>
            <a:endParaRPr lang="en-US"/>
          </a:p>
        </p:txBody>
      </p:sp>
    </p:spTree>
    <p:extLst>
      <p:ext uri="{BB962C8B-B14F-4D97-AF65-F5344CB8AC3E}">
        <p14:creationId xmlns:p14="http://schemas.microsoft.com/office/powerpoint/2010/main" val="38437196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AF12E4-82B1-4C9E-866C-F4BA7850BBC2}"/>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p>
        </p:txBody>
      </p:sp>
      <p:sp>
        <p:nvSpPr>
          <p:cNvPr id="3" name="Subtitle 2">
            <a:extLst>
              <a:ext uri="{FF2B5EF4-FFF2-40B4-BE49-F238E27FC236}">
                <a16:creationId xmlns:a16="http://schemas.microsoft.com/office/drawing/2014/main" id="{378BC9AF-055C-9EB7-ABAB-FC2DB452CF5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08D7B09-47B5-7ACC-C572-1398E825D403}"/>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F9299F1E-3479-193D-F076-FDE1165E120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1C1F55C-B7F5-7315-EA45-537043E704C1}"/>
              </a:ext>
            </a:extLst>
          </p:cNvPr>
          <p:cNvSpPr>
            <a:spLocks noGrp="1"/>
          </p:cNvSpPr>
          <p:nvPr>
            <p:ph type="sldNum" sz="quarter" idx="12"/>
          </p:nvPr>
        </p:nvSpPr>
        <p:spPr/>
        <p:txBody>
          <a:bodyPr/>
          <a:lstStyle/>
          <a:p>
            <a:fld id="{AD9E4465-94D5-4431-84CA-14A88314D356}" type="slidenum">
              <a:rPr lang="en-US" smtClean="0"/>
              <a:pPr/>
              <a:t>‹#›</a:t>
            </a:fld>
            <a:endParaRPr lang="en-US"/>
          </a:p>
        </p:txBody>
      </p:sp>
    </p:spTree>
    <p:extLst>
      <p:ext uri="{BB962C8B-B14F-4D97-AF65-F5344CB8AC3E}">
        <p14:creationId xmlns:p14="http://schemas.microsoft.com/office/powerpoint/2010/main" val="4039514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607B52-1ADD-226F-270A-3765E77C4F4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40146AC-9892-F789-B95B-E27653D1B6C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B3BEC06-E14C-F54F-1328-B6BD9679F2FD}"/>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1D3A37B7-7633-EB34-DFDA-E7E3E0DEED9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81C8A42-8F99-23D0-29D6-C3F0DA7D5588}"/>
              </a:ext>
            </a:extLst>
          </p:cNvPr>
          <p:cNvSpPr>
            <a:spLocks noGrp="1"/>
          </p:cNvSpPr>
          <p:nvPr>
            <p:ph type="sldNum" sz="quarter" idx="12"/>
          </p:nvPr>
        </p:nvSpPr>
        <p:spPr/>
        <p:txBody>
          <a:bodyPr/>
          <a:lstStyle/>
          <a:p>
            <a:fld id="{171A6C5B-A11A-470F-8319-62E6F3F410BC}" type="slidenum">
              <a:rPr lang="en-US" smtClean="0"/>
              <a:pPr/>
              <a:t>‹#›</a:t>
            </a:fld>
            <a:endParaRPr lang="en-US"/>
          </a:p>
        </p:txBody>
      </p:sp>
    </p:spTree>
    <p:extLst>
      <p:ext uri="{BB962C8B-B14F-4D97-AF65-F5344CB8AC3E}">
        <p14:creationId xmlns:p14="http://schemas.microsoft.com/office/powerpoint/2010/main" val="32788223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10B6E0-68CE-9625-3357-053AD16E093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EE948C4-CE32-CEF6-98B8-3E2BE4C5116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50EB9F4-5836-AEF1-35FE-1ED83020ADC9}"/>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ED6433FD-0579-B417-2C65-7308287C26A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13BC3B8-F32E-22AC-CFC6-C9677B24898E}"/>
              </a:ext>
            </a:extLst>
          </p:cNvPr>
          <p:cNvSpPr>
            <a:spLocks noGrp="1"/>
          </p:cNvSpPr>
          <p:nvPr>
            <p:ph type="sldNum" sz="quarter" idx="12"/>
          </p:nvPr>
        </p:nvSpPr>
        <p:spPr/>
        <p:txBody>
          <a:bodyPr/>
          <a:lstStyle/>
          <a:p>
            <a:fld id="{5BA7088D-159D-45B9-837C-DC989E28F571}" type="slidenum">
              <a:rPr lang="en-US" smtClean="0"/>
              <a:pPr/>
              <a:t>‹#›</a:t>
            </a:fld>
            <a:endParaRPr lang="en-US"/>
          </a:p>
        </p:txBody>
      </p:sp>
    </p:spTree>
    <p:extLst>
      <p:ext uri="{BB962C8B-B14F-4D97-AF65-F5344CB8AC3E}">
        <p14:creationId xmlns:p14="http://schemas.microsoft.com/office/powerpoint/2010/main" val="19606336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D666CD-E55C-87C0-2EB5-0F0D9CFAE46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4478E27-FB8F-E836-6FCC-021284B4A60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3D767D8-4B4A-F805-C81A-08EA06DB96B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3023D79-99F4-F913-0E17-8BABCB155E8D}"/>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95D687DB-A7D9-E4AF-3276-92587FC71C9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32060AD-92FF-53B8-E910-3C929AC9DC73}"/>
              </a:ext>
            </a:extLst>
          </p:cNvPr>
          <p:cNvSpPr>
            <a:spLocks noGrp="1"/>
          </p:cNvSpPr>
          <p:nvPr>
            <p:ph type="sldNum" sz="quarter" idx="12"/>
          </p:nvPr>
        </p:nvSpPr>
        <p:spPr/>
        <p:txBody>
          <a:bodyPr/>
          <a:lstStyle/>
          <a:p>
            <a:fld id="{91099942-4C55-43D4-88D5-9841C8810E16}" type="slidenum">
              <a:rPr lang="en-US" smtClean="0"/>
              <a:pPr/>
              <a:t>‹#›</a:t>
            </a:fld>
            <a:endParaRPr lang="en-US"/>
          </a:p>
        </p:txBody>
      </p:sp>
    </p:spTree>
    <p:extLst>
      <p:ext uri="{BB962C8B-B14F-4D97-AF65-F5344CB8AC3E}">
        <p14:creationId xmlns:p14="http://schemas.microsoft.com/office/powerpoint/2010/main" val="22314927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032E56-2FB1-E986-5224-A6475043712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C7C990D-5782-4EC7-7EF1-64D05DCA7D4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C192039-8459-1B5E-0E45-09ED9FD3465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3D4A4E0-A0D3-AA4B-2DC1-02B0A10137B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D0D83D4-699A-4524-F440-7FBBF287A43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01C6000-55DE-5786-80C4-F338B9FB92A0}"/>
              </a:ext>
            </a:extLst>
          </p:cNvPr>
          <p:cNvSpPr>
            <a:spLocks noGrp="1"/>
          </p:cNvSpPr>
          <p:nvPr>
            <p:ph type="dt" sz="half" idx="10"/>
          </p:nvPr>
        </p:nvSpPr>
        <p:spPr/>
        <p:txBody>
          <a:bodyPr/>
          <a:lstStyle/>
          <a:p>
            <a:endParaRPr lang="en-US"/>
          </a:p>
        </p:txBody>
      </p:sp>
      <p:sp>
        <p:nvSpPr>
          <p:cNvPr id="8" name="Footer Placeholder 7">
            <a:extLst>
              <a:ext uri="{FF2B5EF4-FFF2-40B4-BE49-F238E27FC236}">
                <a16:creationId xmlns:a16="http://schemas.microsoft.com/office/drawing/2014/main" id="{66F1D108-6401-075E-29A9-E95219D2E40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F6686A1-EF96-BEE6-6022-E61520F6FFE5}"/>
              </a:ext>
            </a:extLst>
          </p:cNvPr>
          <p:cNvSpPr>
            <a:spLocks noGrp="1"/>
          </p:cNvSpPr>
          <p:nvPr>
            <p:ph type="sldNum" sz="quarter" idx="12"/>
          </p:nvPr>
        </p:nvSpPr>
        <p:spPr/>
        <p:txBody>
          <a:bodyPr/>
          <a:lstStyle/>
          <a:p>
            <a:fld id="{4C7E9727-91FB-4A9E-8138-5CF2914F2F17}" type="slidenum">
              <a:rPr lang="en-US" smtClean="0"/>
              <a:pPr/>
              <a:t>‹#›</a:t>
            </a:fld>
            <a:endParaRPr lang="en-US"/>
          </a:p>
        </p:txBody>
      </p:sp>
    </p:spTree>
    <p:extLst>
      <p:ext uri="{BB962C8B-B14F-4D97-AF65-F5344CB8AC3E}">
        <p14:creationId xmlns:p14="http://schemas.microsoft.com/office/powerpoint/2010/main" val="2880964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C4601F-877C-CA3A-3837-F01A600D401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7E89CCD-2143-2BA4-17C9-0AFFA121CE18}"/>
              </a:ext>
            </a:extLst>
          </p:cNvPr>
          <p:cNvSpPr>
            <a:spLocks noGrp="1"/>
          </p:cNvSpPr>
          <p:nvPr>
            <p:ph type="dt" sz="half" idx="10"/>
          </p:nvPr>
        </p:nvSpPr>
        <p:spPr/>
        <p:txBody>
          <a:bodyPr/>
          <a:lstStyle/>
          <a:p>
            <a:endParaRPr lang="en-US"/>
          </a:p>
        </p:txBody>
      </p:sp>
      <p:sp>
        <p:nvSpPr>
          <p:cNvPr id="4" name="Footer Placeholder 3">
            <a:extLst>
              <a:ext uri="{FF2B5EF4-FFF2-40B4-BE49-F238E27FC236}">
                <a16:creationId xmlns:a16="http://schemas.microsoft.com/office/drawing/2014/main" id="{870E82C6-A6E9-07AA-F4D0-FF288C27B75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C8045CE-88CB-7BBB-F99C-BF5410B1117B}"/>
              </a:ext>
            </a:extLst>
          </p:cNvPr>
          <p:cNvSpPr>
            <a:spLocks noGrp="1"/>
          </p:cNvSpPr>
          <p:nvPr>
            <p:ph type="sldNum" sz="quarter" idx="12"/>
          </p:nvPr>
        </p:nvSpPr>
        <p:spPr/>
        <p:txBody>
          <a:bodyPr/>
          <a:lstStyle/>
          <a:p>
            <a:fld id="{C4E5501E-8159-4510-A10A-BA57CB33C493}" type="slidenum">
              <a:rPr lang="en-US" smtClean="0"/>
              <a:pPr/>
              <a:t>‹#›</a:t>
            </a:fld>
            <a:endParaRPr lang="en-US"/>
          </a:p>
        </p:txBody>
      </p:sp>
    </p:spTree>
    <p:extLst>
      <p:ext uri="{BB962C8B-B14F-4D97-AF65-F5344CB8AC3E}">
        <p14:creationId xmlns:p14="http://schemas.microsoft.com/office/powerpoint/2010/main" val="40499981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E24E501-EFD8-2147-604C-3786ED15E789}"/>
              </a:ext>
            </a:extLst>
          </p:cNvPr>
          <p:cNvSpPr>
            <a:spLocks noGrp="1"/>
          </p:cNvSpPr>
          <p:nvPr>
            <p:ph type="dt" sz="half" idx="10"/>
          </p:nvPr>
        </p:nvSpPr>
        <p:spPr/>
        <p:txBody>
          <a:bodyPr/>
          <a:lstStyle/>
          <a:p>
            <a:endParaRPr lang="en-US"/>
          </a:p>
        </p:txBody>
      </p:sp>
      <p:sp>
        <p:nvSpPr>
          <p:cNvPr id="3" name="Footer Placeholder 2">
            <a:extLst>
              <a:ext uri="{FF2B5EF4-FFF2-40B4-BE49-F238E27FC236}">
                <a16:creationId xmlns:a16="http://schemas.microsoft.com/office/drawing/2014/main" id="{E8642B46-EADB-F75C-32CA-5BE7DFC718D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CE43F21-C79E-533A-BD55-79BFF15DCC88}"/>
              </a:ext>
            </a:extLst>
          </p:cNvPr>
          <p:cNvSpPr>
            <a:spLocks noGrp="1"/>
          </p:cNvSpPr>
          <p:nvPr>
            <p:ph type="sldNum" sz="quarter" idx="12"/>
          </p:nvPr>
        </p:nvSpPr>
        <p:spPr/>
        <p:txBody>
          <a:bodyPr/>
          <a:lstStyle/>
          <a:p>
            <a:fld id="{AC0FA5F5-E8F6-4452-92CE-D3E7786ECDA7}" type="slidenum">
              <a:rPr lang="en-US" smtClean="0"/>
              <a:pPr/>
              <a:t>‹#›</a:t>
            </a:fld>
            <a:endParaRPr lang="en-US"/>
          </a:p>
        </p:txBody>
      </p:sp>
    </p:spTree>
    <p:extLst>
      <p:ext uri="{BB962C8B-B14F-4D97-AF65-F5344CB8AC3E}">
        <p14:creationId xmlns:p14="http://schemas.microsoft.com/office/powerpoint/2010/main" val="33198592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42E483-2C26-4EB6-165E-165C7572EFC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2673595-BAA3-B21A-E2AF-61AE7D7FFC1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DD6460D-0E43-EC56-E2AA-DEFD798D126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3CE19B8-241C-B174-DA3F-DE000C7BC7ED}"/>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190D43DD-9387-62F8-7520-BEBA273D0EC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39EE768-B9F6-A607-B3ED-9695B4650562}"/>
              </a:ext>
            </a:extLst>
          </p:cNvPr>
          <p:cNvSpPr>
            <a:spLocks noGrp="1"/>
          </p:cNvSpPr>
          <p:nvPr>
            <p:ph type="sldNum" sz="quarter" idx="12"/>
          </p:nvPr>
        </p:nvSpPr>
        <p:spPr/>
        <p:txBody>
          <a:bodyPr/>
          <a:lstStyle/>
          <a:p>
            <a:fld id="{5E4D0D55-E9CB-48F4-8233-40C895D00295}" type="slidenum">
              <a:rPr lang="en-US" smtClean="0"/>
              <a:pPr/>
              <a:t>‹#›</a:t>
            </a:fld>
            <a:endParaRPr lang="en-US"/>
          </a:p>
        </p:txBody>
      </p:sp>
    </p:spTree>
    <p:extLst>
      <p:ext uri="{BB962C8B-B14F-4D97-AF65-F5344CB8AC3E}">
        <p14:creationId xmlns:p14="http://schemas.microsoft.com/office/powerpoint/2010/main" val="30985249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04CB07-9899-1A99-4A23-6F040E47E68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A1C9849-3F51-E083-5170-D7C639E0853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0417053-8BC8-EB50-FC97-34A59DCA899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533A30E-B9DA-73C1-8425-DEFCE026FB55}"/>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793E05CF-EF0E-98C5-CC9E-FA6170ADF4B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B9D70A4-0CC1-6CC2-2BC3-CBA0DCD4CA23}"/>
              </a:ext>
            </a:extLst>
          </p:cNvPr>
          <p:cNvSpPr>
            <a:spLocks noGrp="1"/>
          </p:cNvSpPr>
          <p:nvPr>
            <p:ph type="sldNum" sz="quarter" idx="12"/>
          </p:nvPr>
        </p:nvSpPr>
        <p:spPr/>
        <p:txBody>
          <a:bodyPr/>
          <a:lstStyle/>
          <a:p>
            <a:fld id="{83DE2C7B-AAC9-47EF-99E5-B567BA2FF760}" type="slidenum">
              <a:rPr lang="en-US" smtClean="0"/>
              <a:pPr/>
              <a:t>‹#›</a:t>
            </a:fld>
            <a:endParaRPr lang="en-US"/>
          </a:p>
        </p:txBody>
      </p:sp>
    </p:spTree>
    <p:extLst>
      <p:ext uri="{BB962C8B-B14F-4D97-AF65-F5344CB8AC3E}">
        <p14:creationId xmlns:p14="http://schemas.microsoft.com/office/powerpoint/2010/main" val="7206041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9D2A68-0CA8-571E-D753-D813976182F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4D5CF6B-9F30-B346-6A62-DF54EA41A4B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F4CBDA3-2123-1AE5-BC40-93DB1B707571}"/>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DFF72053-7461-5A4D-D7FE-BE19FB9053E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5493174-545B-CD51-3127-4A8622608FAC}"/>
              </a:ext>
            </a:extLst>
          </p:cNvPr>
          <p:cNvSpPr>
            <a:spLocks noGrp="1"/>
          </p:cNvSpPr>
          <p:nvPr>
            <p:ph type="sldNum" sz="quarter" idx="12"/>
          </p:nvPr>
        </p:nvSpPr>
        <p:spPr/>
        <p:txBody>
          <a:bodyPr/>
          <a:lstStyle/>
          <a:p>
            <a:fld id="{CC69673D-AD18-4A6A-9E1A-B90E573BC376}" type="slidenum">
              <a:rPr lang="en-US" smtClean="0"/>
              <a:pPr/>
              <a:t>‹#›</a:t>
            </a:fld>
            <a:endParaRPr lang="en-US"/>
          </a:p>
        </p:txBody>
      </p:sp>
    </p:spTree>
    <p:extLst>
      <p:ext uri="{BB962C8B-B14F-4D97-AF65-F5344CB8AC3E}">
        <p14:creationId xmlns:p14="http://schemas.microsoft.com/office/powerpoint/2010/main" val="34018055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5EA6B01-E481-37FA-09CF-FD5B33B3F6A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7B4BDB0-8391-3C65-6432-8B0F5813255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897CEA4-1CE5-27ED-1CD1-FED32D6D06D2}"/>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42AD1F9C-71B4-DF75-5409-5CEF56875CD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A37FF8B-B861-BE71-94DF-6176F0AD2771}"/>
              </a:ext>
            </a:extLst>
          </p:cNvPr>
          <p:cNvSpPr>
            <a:spLocks noGrp="1"/>
          </p:cNvSpPr>
          <p:nvPr>
            <p:ph type="sldNum" sz="quarter" idx="12"/>
          </p:nvPr>
        </p:nvSpPr>
        <p:spPr/>
        <p:txBody>
          <a:bodyPr/>
          <a:lstStyle/>
          <a:p>
            <a:fld id="{8CFDD8C9-508E-40AA-9518-E128BF01C191}" type="slidenum">
              <a:rPr lang="en-US" smtClean="0"/>
              <a:pPr/>
              <a:t>‹#›</a:t>
            </a:fld>
            <a:endParaRPr lang="en-US"/>
          </a:p>
        </p:txBody>
      </p:sp>
    </p:spTree>
    <p:extLst>
      <p:ext uri="{BB962C8B-B14F-4D97-AF65-F5344CB8AC3E}">
        <p14:creationId xmlns:p14="http://schemas.microsoft.com/office/powerpoint/2010/main" val="34926938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CBA0992-1854-3AC6-ECC8-9E4B0AECCA4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7D9F2338-D7A9-860B-0EEC-2AB8F85ABE3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54F8F604-1AEA-393A-ECEF-E58080BF09F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a:extLst>
              <a:ext uri="{FF2B5EF4-FFF2-40B4-BE49-F238E27FC236}">
                <a16:creationId xmlns:a16="http://schemas.microsoft.com/office/drawing/2014/main" id="{0BEB19D4-36F2-7AB9-C458-1600D2703A2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B1EDB6F5-8D1A-458A-25E5-8FCBCC79272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01C4B5A-0C5A-4FE8-B95C-2F3DC08F7AE8}" type="slidenum">
              <a:rPr lang="en-US" smtClean="0"/>
              <a:pPr/>
              <a:t>‹#›</a:t>
            </a:fld>
            <a:endParaRPr lang="en-US"/>
          </a:p>
        </p:txBody>
      </p:sp>
    </p:spTree>
    <p:extLst>
      <p:ext uri="{BB962C8B-B14F-4D97-AF65-F5344CB8AC3E}">
        <p14:creationId xmlns:p14="http://schemas.microsoft.com/office/powerpoint/2010/main" val="2063611182"/>
      </p:ext>
    </p:extLst>
  </p:cSld>
  <p:clrMap bg1="lt1" tx1="dk1" bg2="lt2" tx2="dk2" accent1="accent1" accent2="accent2" accent3="accent3" accent4="accent4" accent5="accent5" accent6="accent6" hlink="hlink" folHlink="folHlink"/>
  <p:sldLayoutIdLst>
    <p:sldLayoutId id="2147483704" r:id="rId1"/>
    <p:sldLayoutId id="2147483705" r:id="rId2"/>
    <p:sldLayoutId id="2147483706" r:id="rId3"/>
    <p:sldLayoutId id="2147483707" r:id="rId4"/>
    <p:sldLayoutId id="2147483708" r:id="rId5"/>
    <p:sldLayoutId id="2147483709" r:id="rId6"/>
    <p:sldLayoutId id="2147483710" r:id="rId7"/>
    <p:sldLayoutId id="2147483711" r:id="rId8"/>
    <p:sldLayoutId id="2147483712" r:id="rId9"/>
    <p:sldLayoutId id="2147483713" r:id="rId10"/>
    <p:sldLayoutId id="2147483714" r:id="rId11"/>
  </p:sldLayoutIdLst>
  <p:hf hdr="0" ftr="0" dt="0"/>
  <p:txStyles>
    <p:titleStyle>
      <a:lvl1pPr algn="l" defTabSz="914400" rtl="0" eaLnBrk="1" latinLnBrk="0" hangingPunct="1">
        <a:lnSpc>
          <a:spcPct val="90000"/>
        </a:lnSpc>
        <a:spcBef>
          <a:spcPct val="0"/>
        </a:spcBef>
        <a:buNone/>
        <a:defRPr sz="4400" b="1" kern="1200">
          <a:solidFill>
            <a:schemeClr val="accent1">
              <a:lumMod val="75000"/>
            </a:schemeClr>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15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5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15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E083FEE-962A-CCEC-A380-14926E4750D7}"/>
              </a:ext>
            </a:extLst>
          </p:cNvPr>
          <p:cNvSpPr>
            <a:spLocks noGrp="1"/>
          </p:cNvSpPr>
          <p:nvPr>
            <p:ph type="ctrTitle"/>
          </p:nvPr>
        </p:nvSpPr>
        <p:spPr/>
        <p:txBody>
          <a:bodyPr/>
          <a:lstStyle/>
          <a:p>
            <a:r>
              <a:rPr lang="en-US" altLang="zh-CN" b="1" dirty="0">
                <a:latin typeface="Arial" panose="020B0604020202020204" pitchFamily="34" charset="0"/>
                <a:cs typeface="Arial" panose="020B0604020202020204" pitchFamily="34" charset="0"/>
              </a:rPr>
              <a:t>GENED 1079 Section 4</a:t>
            </a:r>
            <a:endParaRPr lang="en-US" b="1" dirty="0">
              <a:latin typeface="Arial" panose="020B0604020202020204" pitchFamily="34" charset="0"/>
              <a:cs typeface="Arial" panose="020B0604020202020204" pitchFamily="34" charset="0"/>
            </a:endParaRPr>
          </a:p>
        </p:txBody>
      </p:sp>
      <p:sp>
        <p:nvSpPr>
          <p:cNvPr id="6" name="Subtitle 5">
            <a:extLst>
              <a:ext uri="{FF2B5EF4-FFF2-40B4-BE49-F238E27FC236}">
                <a16:creationId xmlns:a16="http://schemas.microsoft.com/office/drawing/2014/main" id="{314593E9-0543-80DE-8502-56C498BCA50F}"/>
              </a:ext>
            </a:extLst>
          </p:cNvPr>
          <p:cNvSpPr>
            <a:spLocks noGrp="1"/>
          </p:cNvSpPr>
          <p:nvPr>
            <p:ph type="subTitle" idx="1"/>
          </p:nvPr>
        </p:nvSpPr>
        <p:spPr/>
        <p:txBody>
          <a:bodyPr/>
          <a:lstStyle/>
          <a:p>
            <a:endParaRPr lang="en-US" dirty="0"/>
          </a:p>
        </p:txBody>
      </p:sp>
      <p:sp>
        <p:nvSpPr>
          <p:cNvPr id="4" name="Slide Number Placeholder 3">
            <a:extLst>
              <a:ext uri="{FF2B5EF4-FFF2-40B4-BE49-F238E27FC236}">
                <a16:creationId xmlns:a16="http://schemas.microsoft.com/office/drawing/2014/main" id="{A2398404-5AAA-BD53-C255-BC2720C68720}"/>
              </a:ext>
            </a:extLst>
          </p:cNvPr>
          <p:cNvSpPr>
            <a:spLocks noGrp="1"/>
          </p:cNvSpPr>
          <p:nvPr>
            <p:ph type="sldNum" sz="quarter" idx="12"/>
          </p:nvPr>
        </p:nvSpPr>
        <p:spPr/>
        <p:txBody>
          <a:bodyPr/>
          <a:lstStyle/>
          <a:p>
            <a:fld id="{171A6C5B-A11A-470F-8319-62E6F3F410BC}" type="slidenum">
              <a:rPr lang="en-US" smtClean="0"/>
              <a:pPr/>
              <a:t>1</a:t>
            </a:fld>
            <a:endParaRPr lang="en-US" dirty="0"/>
          </a:p>
        </p:txBody>
      </p:sp>
    </p:spTree>
    <p:extLst>
      <p:ext uri="{BB962C8B-B14F-4D97-AF65-F5344CB8AC3E}">
        <p14:creationId xmlns:p14="http://schemas.microsoft.com/office/powerpoint/2010/main" val="19312917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826044-4AC9-5448-8F93-265D370FC7A1}"/>
              </a:ext>
            </a:extLst>
          </p:cNvPr>
          <p:cNvSpPr>
            <a:spLocks noGrp="1"/>
          </p:cNvSpPr>
          <p:nvPr>
            <p:ph type="title"/>
          </p:nvPr>
        </p:nvSpPr>
        <p:spPr/>
        <p:txBody>
          <a:bodyPr/>
          <a:lstStyle/>
          <a:p>
            <a:r>
              <a:rPr lang="en-US" b="1" dirty="0">
                <a:solidFill>
                  <a:schemeClr val="accent1">
                    <a:lumMod val="75000"/>
                  </a:schemeClr>
                </a:solidFill>
                <a:latin typeface="Arial" panose="020B0604020202020204" pitchFamily="34" charset="0"/>
                <a:cs typeface="Arial" panose="020B0604020202020204" pitchFamily="34" charset="0"/>
              </a:rPr>
              <a:t>Agenda</a:t>
            </a:r>
          </a:p>
        </p:txBody>
      </p:sp>
      <p:sp>
        <p:nvSpPr>
          <p:cNvPr id="3" name="Content Placeholder 2">
            <a:extLst>
              <a:ext uri="{FF2B5EF4-FFF2-40B4-BE49-F238E27FC236}">
                <a16:creationId xmlns:a16="http://schemas.microsoft.com/office/drawing/2014/main" id="{6AE92F2E-CFA7-BD47-9434-12405C99F1BE}"/>
              </a:ext>
            </a:extLst>
          </p:cNvPr>
          <p:cNvSpPr>
            <a:spLocks noGrp="1"/>
          </p:cNvSpPr>
          <p:nvPr>
            <p:ph idx="1"/>
          </p:nvPr>
        </p:nvSpPr>
        <p:spPr/>
        <p:txBody>
          <a:bodyPr>
            <a:normAutofit/>
          </a:bodyPr>
          <a:lstStyle/>
          <a:p>
            <a:pPr fontAlgn="base">
              <a:lnSpc>
                <a:spcPct val="200000"/>
              </a:lnSpc>
              <a:spcBef>
                <a:spcPct val="0"/>
              </a:spcBef>
              <a:spcAft>
                <a:spcPct val="0"/>
              </a:spcAft>
            </a:pPr>
            <a:r>
              <a:rPr lang="en-US" sz="2400" dirty="0">
                <a:solidFill>
                  <a:schemeClr val="tx1"/>
                </a:solidFill>
                <a:latin typeface="Arial" panose="020B0604020202020204" pitchFamily="34" charset="0"/>
                <a:cs typeface="Arial" panose="020B0604020202020204" pitchFamily="34" charset="0"/>
              </a:rPr>
              <a:t>Review of economics of pharmaceuticals </a:t>
            </a:r>
            <a:r>
              <a:rPr lang="en-US" sz="2400" dirty="0">
                <a:latin typeface="Arial" panose="020B0604020202020204" pitchFamily="34" charset="0"/>
                <a:cs typeface="Arial" panose="020B0604020202020204" pitchFamily="34" charset="0"/>
              </a:rPr>
              <a:t>(~30</a:t>
            </a:r>
            <a:r>
              <a:rPr lang="en-US" sz="2400" dirty="0">
                <a:solidFill>
                  <a:schemeClr val="tx1"/>
                </a:solidFill>
                <a:latin typeface="Arial" panose="020B0604020202020204" pitchFamily="34" charset="0"/>
                <a:cs typeface="Arial" panose="020B0604020202020204" pitchFamily="34" charset="0"/>
              </a:rPr>
              <a:t> min)</a:t>
            </a:r>
          </a:p>
          <a:p>
            <a:pPr fontAlgn="base">
              <a:lnSpc>
                <a:spcPct val="200000"/>
              </a:lnSpc>
              <a:spcBef>
                <a:spcPct val="0"/>
              </a:spcBef>
              <a:spcAft>
                <a:spcPct val="0"/>
              </a:spcAft>
            </a:pPr>
            <a:r>
              <a:rPr lang="en-US" sz="2400" dirty="0">
                <a:solidFill>
                  <a:schemeClr val="tx1"/>
                </a:solidFill>
                <a:latin typeface="Arial" panose="020B0604020202020204" pitchFamily="34" charset="0"/>
                <a:cs typeface="Arial" panose="020B0604020202020204" pitchFamily="34" charset="0"/>
              </a:rPr>
              <a:t>Practice problem </a:t>
            </a:r>
            <a:r>
              <a:rPr lang="en-US" sz="2400" dirty="0">
                <a:latin typeface="Arial" panose="020B0604020202020204" pitchFamily="34" charset="0"/>
                <a:cs typeface="Arial" panose="020B0604020202020204" pitchFamily="34" charset="0"/>
              </a:rPr>
              <a:t>(~45</a:t>
            </a:r>
            <a:r>
              <a:rPr lang="en-US" sz="2400" dirty="0">
                <a:solidFill>
                  <a:schemeClr val="tx1"/>
                </a:solidFill>
                <a:latin typeface="Arial" panose="020B0604020202020204" pitchFamily="34" charset="0"/>
                <a:cs typeface="Arial" panose="020B0604020202020204" pitchFamily="34" charset="0"/>
              </a:rPr>
              <a:t> min)</a:t>
            </a:r>
          </a:p>
          <a:p>
            <a:pPr marL="114300" indent="0" fontAlgn="base">
              <a:lnSpc>
                <a:spcPct val="200000"/>
              </a:lnSpc>
              <a:spcBef>
                <a:spcPct val="0"/>
              </a:spcBef>
              <a:spcAft>
                <a:spcPct val="0"/>
              </a:spcAft>
              <a:buNone/>
            </a:pPr>
            <a:endParaRPr lang="en-US" sz="2400" dirty="0">
              <a:solidFill>
                <a:schemeClr val="tx1"/>
              </a:solidFill>
              <a:latin typeface="Arial" panose="020B0604020202020204" pitchFamily="34" charset="0"/>
              <a:cs typeface="Arial" panose="020B0604020202020204" pitchFamily="34" charset="0"/>
            </a:endParaRPr>
          </a:p>
          <a:p>
            <a:pPr marL="0" indent="0" fontAlgn="base">
              <a:lnSpc>
                <a:spcPct val="200000"/>
              </a:lnSpc>
              <a:spcBef>
                <a:spcPct val="0"/>
              </a:spcBef>
              <a:spcAft>
                <a:spcPct val="0"/>
              </a:spcAft>
              <a:buNone/>
            </a:pPr>
            <a:endParaRPr lang="en-US" sz="2400" dirty="0">
              <a:solidFill>
                <a:schemeClr val="tx1"/>
              </a:solidFill>
              <a:latin typeface="Arial" panose="020B0604020202020204" pitchFamily="34" charset="0"/>
              <a:cs typeface="Arial" panose="020B0604020202020204" pitchFamily="34" charset="0"/>
            </a:endParaRPr>
          </a:p>
          <a:p>
            <a:pPr fontAlgn="base">
              <a:lnSpc>
                <a:spcPct val="200000"/>
              </a:lnSpc>
              <a:spcBef>
                <a:spcPct val="0"/>
              </a:spcBef>
              <a:spcAft>
                <a:spcPct val="0"/>
              </a:spcAft>
            </a:pPr>
            <a:endParaRPr lang="en-US" sz="2400" dirty="0">
              <a:solidFill>
                <a:schemeClr val="tx1"/>
              </a:solidFill>
              <a:latin typeface="Arial" panose="020B0604020202020204" pitchFamily="34" charset="0"/>
              <a:cs typeface="Arial" panose="020B0604020202020204" pitchFamily="34" charset="0"/>
            </a:endParaRPr>
          </a:p>
          <a:p>
            <a:pPr marL="114300" indent="0">
              <a:lnSpc>
                <a:spcPct val="200000"/>
              </a:lnSpc>
              <a:buNone/>
            </a:pPr>
            <a:endParaRPr lang="en-US" sz="2400" dirty="0">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6A5AB1ED-6C96-0F46-A4C5-63830FE0456A}"/>
              </a:ext>
            </a:extLst>
          </p:cNvPr>
          <p:cNvSpPr>
            <a:spLocks noGrp="1"/>
          </p:cNvSpPr>
          <p:nvPr>
            <p:ph type="sldNum" sz="quarter" idx="12"/>
          </p:nvPr>
        </p:nvSpPr>
        <p:spPr/>
        <p:txBody>
          <a:bodyPr/>
          <a:lstStyle/>
          <a:p>
            <a:fld id="{171A6C5B-A11A-470F-8319-62E6F3F410BC}" type="slidenum">
              <a:rPr lang="en-US" smtClean="0"/>
              <a:pPr/>
              <a:t>2</a:t>
            </a:fld>
            <a:endParaRPr lang="en-US" dirty="0"/>
          </a:p>
        </p:txBody>
      </p:sp>
    </p:spTree>
    <p:extLst>
      <p:ext uri="{BB962C8B-B14F-4D97-AF65-F5344CB8AC3E}">
        <p14:creationId xmlns:p14="http://schemas.microsoft.com/office/powerpoint/2010/main" val="3835181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8692646-8D34-BBB6-CB40-11F1B2AE453E}"/>
              </a:ext>
            </a:extLst>
          </p:cNvPr>
          <p:cNvSpPr>
            <a:spLocks noGrp="1"/>
          </p:cNvSpPr>
          <p:nvPr>
            <p:ph type="title"/>
          </p:nvPr>
        </p:nvSpPr>
        <p:spPr/>
        <p:txBody>
          <a:bodyPr/>
          <a:lstStyle/>
          <a:p>
            <a:pPr algn="ctr"/>
            <a:r>
              <a:rPr lang="en-US" dirty="0"/>
              <a:t>Quick pulse check – who has taken Ec10?</a:t>
            </a:r>
          </a:p>
        </p:txBody>
      </p:sp>
      <p:sp>
        <p:nvSpPr>
          <p:cNvPr id="4" name="Slide Number Placeholder 3">
            <a:extLst>
              <a:ext uri="{FF2B5EF4-FFF2-40B4-BE49-F238E27FC236}">
                <a16:creationId xmlns:a16="http://schemas.microsoft.com/office/drawing/2014/main" id="{61D41018-ED0B-E869-358B-9A41E6F53C6C}"/>
              </a:ext>
            </a:extLst>
          </p:cNvPr>
          <p:cNvSpPr>
            <a:spLocks noGrp="1"/>
          </p:cNvSpPr>
          <p:nvPr>
            <p:ph type="sldNum" sz="quarter" idx="12"/>
          </p:nvPr>
        </p:nvSpPr>
        <p:spPr/>
        <p:txBody>
          <a:bodyPr/>
          <a:lstStyle/>
          <a:p>
            <a:fld id="{171A6C5B-A11A-470F-8319-62E6F3F410BC}" type="slidenum">
              <a:rPr lang="en-US" smtClean="0"/>
              <a:pPr/>
              <a:t>3</a:t>
            </a:fld>
            <a:endParaRPr lang="en-US"/>
          </a:p>
        </p:txBody>
      </p:sp>
    </p:spTree>
    <p:extLst>
      <p:ext uri="{BB962C8B-B14F-4D97-AF65-F5344CB8AC3E}">
        <p14:creationId xmlns:p14="http://schemas.microsoft.com/office/powerpoint/2010/main" val="37197203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584E4F-5CD4-4248-9E4F-F3E4AFC84F98}"/>
              </a:ext>
            </a:extLst>
          </p:cNvPr>
          <p:cNvSpPr>
            <a:spLocks noGrp="1"/>
          </p:cNvSpPr>
          <p:nvPr>
            <p:ph type="title"/>
          </p:nvPr>
        </p:nvSpPr>
        <p:spPr/>
        <p:txBody>
          <a:bodyPr>
            <a:normAutofit/>
          </a:bodyPr>
          <a:lstStyle/>
          <a:p>
            <a:r>
              <a:rPr lang="en-US" altLang="zh-CN" sz="4000" dirty="0"/>
              <a:t>Economics of pharmaceuticals: Basics</a:t>
            </a:r>
            <a:endParaRPr lang="en-US" sz="4000" dirty="0"/>
          </a:p>
        </p:txBody>
      </p:sp>
      <p:sp>
        <p:nvSpPr>
          <p:cNvPr id="3" name="Content Placeholder 2">
            <a:extLst>
              <a:ext uri="{FF2B5EF4-FFF2-40B4-BE49-F238E27FC236}">
                <a16:creationId xmlns:a16="http://schemas.microsoft.com/office/drawing/2014/main" id="{D14E22EA-2745-1A42-A075-B07479D65C2B}"/>
              </a:ext>
            </a:extLst>
          </p:cNvPr>
          <p:cNvSpPr>
            <a:spLocks noGrp="1"/>
          </p:cNvSpPr>
          <p:nvPr>
            <p:ph idx="1"/>
          </p:nvPr>
        </p:nvSpPr>
        <p:spPr>
          <a:xfrm>
            <a:off x="838200" y="1825625"/>
            <a:ext cx="10515600" cy="4895850"/>
          </a:xfrm>
        </p:spPr>
        <p:txBody>
          <a:bodyPr>
            <a:noAutofit/>
          </a:bodyPr>
          <a:lstStyle/>
          <a:p>
            <a:pPr fontAlgn="base">
              <a:lnSpc>
                <a:spcPct val="170000"/>
              </a:lnSpc>
              <a:spcBef>
                <a:spcPct val="0"/>
              </a:spcBef>
              <a:spcAft>
                <a:spcPct val="0"/>
              </a:spcAft>
            </a:pPr>
            <a:r>
              <a:rPr lang="en-US" sz="2000" b="1" dirty="0"/>
              <a:t>Price</a:t>
            </a:r>
            <a:r>
              <a:rPr lang="en-US" sz="2000" dirty="0"/>
              <a:t> – what the drug company receives for each unit sold. </a:t>
            </a:r>
          </a:p>
          <a:p>
            <a:pPr fontAlgn="base">
              <a:lnSpc>
                <a:spcPct val="170000"/>
              </a:lnSpc>
              <a:spcBef>
                <a:spcPct val="0"/>
              </a:spcBef>
              <a:spcAft>
                <a:spcPct val="0"/>
              </a:spcAft>
            </a:pPr>
            <a:r>
              <a:rPr lang="en-US" sz="2000" b="1" dirty="0"/>
              <a:t>Copay</a:t>
            </a:r>
            <a:r>
              <a:rPr lang="en-US" sz="2000" dirty="0"/>
              <a:t> – what an insured patient pays out of pocket for each unit sold. The insurer pays the rest (price – copay). </a:t>
            </a:r>
          </a:p>
          <a:p>
            <a:pPr fontAlgn="base">
              <a:lnSpc>
                <a:spcPct val="170000"/>
              </a:lnSpc>
              <a:spcBef>
                <a:spcPct val="0"/>
              </a:spcBef>
              <a:spcAft>
                <a:spcPct val="0"/>
              </a:spcAft>
            </a:pPr>
            <a:r>
              <a:rPr lang="en-US" sz="2000" b="1" dirty="0"/>
              <a:t>Willingness to pay </a:t>
            </a:r>
            <a:r>
              <a:rPr lang="en-US" sz="2000" dirty="0"/>
              <a:t>– the most a person would be willing to pay for that drug. Above that price, they won’t buy. </a:t>
            </a:r>
          </a:p>
          <a:p>
            <a:pPr lvl="1" fontAlgn="base">
              <a:lnSpc>
                <a:spcPct val="170000"/>
              </a:lnSpc>
              <a:spcBef>
                <a:spcPct val="0"/>
              </a:spcBef>
              <a:spcAft>
                <a:spcPct val="0"/>
              </a:spcAft>
            </a:pPr>
            <a:r>
              <a:rPr lang="en-US" sz="2000" dirty="0"/>
              <a:t>Depends on how much they </a:t>
            </a:r>
            <a:r>
              <a:rPr lang="en-US" sz="2000" b="1" dirty="0"/>
              <a:t>value</a:t>
            </a:r>
            <a:r>
              <a:rPr lang="en-US" sz="2000" dirty="0"/>
              <a:t> the drug</a:t>
            </a:r>
          </a:p>
          <a:p>
            <a:pPr lvl="1" fontAlgn="base">
              <a:lnSpc>
                <a:spcPct val="170000"/>
              </a:lnSpc>
              <a:spcBef>
                <a:spcPct val="0"/>
              </a:spcBef>
              <a:spcAft>
                <a:spcPct val="0"/>
              </a:spcAft>
            </a:pPr>
            <a:r>
              <a:rPr lang="en-US" sz="2000" dirty="0"/>
              <a:t>… and on what they can </a:t>
            </a:r>
            <a:r>
              <a:rPr lang="en-US" sz="2000" b="1" dirty="0"/>
              <a:t>afford</a:t>
            </a:r>
            <a:r>
              <a:rPr lang="en-US" sz="2000" dirty="0"/>
              <a:t>: money spent on a drug can’t go towards rent or food (opportunity cost)</a:t>
            </a:r>
          </a:p>
          <a:p>
            <a:pPr lvl="1" fontAlgn="base">
              <a:lnSpc>
                <a:spcPct val="170000"/>
              </a:lnSpc>
              <a:spcBef>
                <a:spcPct val="0"/>
              </a:spcBef>
              <a:spcAft>
                <a:spcPct val="0"/>
              </a:spcAft>
            </a:pPr>
            <a:r>
              <a:rPr lang="en-US" sz="2000" dirty="0"/>
              <a:t>Also includes willingness to let others (i.e. insurance) pay</a:t>
            </a:r>
            <a:endParaRPr lang="en-US" sz="1800" dirty="0"/>
          </a:p>
        </p:txBody>
      </p:sp>
      <p:sp>
        <p:nvSpPr>
          <p:cNvPr id="4" name="Slide Number Placeholder 3">
            <a:extLst>
              <a:ext uri="{FF2B5EF4-FFF2-40B4-BE49-F238E27FC236}">
                <a16:creationId xmlns:a16="http://schemas.microsoft.com/office/drawing/2014/main" id="{A8436E99-BD49-E44D-9298-780F83828CF8}"/>
              </a:ext>
            </a:extLst>
          </p:cNvPr>
          <p:cNvSpPr>
            <a:spLocks noGrp="1"/>
          </p:cNvSpPr>
          <p:nvPr>
            <p:ph type="sldNum" sz="quarter" idx="12"/>
          </p:nvPr>
        </p:nvSpPr>
        <p:spPr/>
        <p:txBody>
          <a:bodyPr/>
          <a:lstStyle/>
          <a:p>
            <a:fld id="{171A6C5B-A11A-470F-8319-62E6F3F410BC}" type="slidenum">
              <a:rPr lang="en-US" smtClean="0"/>
              <a:pPr/>
              <a:t>4</a:t>
            </a:fld>
            <a:endParaRPr lang="en-US" dirty="0"/>
          </a:p>
        </p:txBody>
      </p:sp>
    </p:spTree>
    <p:extLst>
      <p:ext uri="{BB962C8B-B14F-4D97-AF65-F5344CB8AC3E}">
        <p14:creationId xmlns:p14="http://schemas.microsoft.com/office/powerpoint/2010/main" val="507942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584E4F-5CD4-4248-9E4F-F3E4AFC84F98}"/>
              </a:ext>
            </a:extLst>
          </p:cNvPr>
          <p:cNvSpPr>
            <a:spLocks noGrp="1"/>
          </p:cNvSpPr>
          <p:nvPr>
            <p:ph type="title"/>
          </p:nvPr>
        </p:nvSpPr>
        <p:spPr/>
        <p:txBody>
          <a:bodyPr>
            <a:normAutofit/>
          </a:bodyPr>
          <a:lstStyle/>
          <a:p>
            <a:r>
              <a:rPr lang="en-US" sz="4000" dirty="0"/>
              <a:t>Economics of pharmaceuticals: Basics</a:t>
            </a:r>
          </a:p>
        </p:txBody>
      </p:sp>
      <p:sp>
        <p:nvSpPr>
          <p:cNvPr id="3" name="Content Placeholder 2">
            <a:extLst>
              <a:ext uri="{FF2B5EF4-FFF2-40B4-BE49-F238E27FC236}">
                <a16:creationId xmlns:a16="http://schemas.microsoft.com/office/drawing/2014/main" id="{D14E22EA-2745-1A42-A075-B07479D65C2B}"/>
              </a:ext>
            </a:extLst>
          </p:cNvPr>
          <p:cNvSpPr>
            <a:spLocks noGrp="1"/>
          </p:cNvSpPr>
          <p:nvPr>
            <p:ph idx="1"/>
          </p:nvPr>
        </p:nvSpPr>
        <p:spPr>
          <a:xfrm>
            <a:off x="838200" y="1825625"/>
            <a:ext cx="10515600" cy="4667250"/>
          </a:xfrm>
        </p:spPr>
        <p:txBody>
          <a:bodyPr>
            <a:normAutofit fontScale="92500" lnSpcReduction="10000"/>
          </a:bodyPr>
          <a:lstStyle/>
          <a:p>
            <a:pPr lvl="0" fontAlgn="base">
              <a:spcBef>
                <a:spcPct val="0"/>
              </a:spcBef>
              <a:spcAft>
                <a:spcPct val="0"/>
              </a:spcAft>
            </a:pPr>
            <a:r>
              <a:rPr lang="en-US" sz="2000" b="1" u="sng" dirty="0"/>
              <a:t>Demand:</a:t>
            </a:r>
            <a:r>
              <a:rPr lang="en-US" sz="2000" b="1" dirty="0"/>
              <a:t> </a:t>
            </a:r>
            <a:r>
              <a:rPr lang="en-US" sz="2000" dirty="0"/>
              <a:t>How many units people will buy at each price (based on willingness-to-pay)</a:t>
            </a:r>
            <a:endParaRPr lang="en-US" sz="2000" b="1" dirty="0">
              <a:solidFill>
                <a:schemeClr val="tx1"/>
              </a:solidFill>
            </a:endParaRPr>
          </a:p>
          <a:p>
            <a:pPr lvl="0" fontAlgn="base">
              <a:spcBef>
                <a:spcPct val="0"/>
              </a:spcBef>
              <a:spcAft>
                <a:spcPct val="0"/>
              </a:spcAft>
            </a:pPr>
            <a:r>
              <a:rPr lang="en-US" sz="2000" b="1" u="sng" dirty="0">
                <a:solidFill>
                  <a:schemeClr val="tx1"/>
                </a:solidFill>
              </a:rPr>
              <a:t>Supply</a:t>
            </a:r>
            <a:r>
              <a:rPr lang="en-US" sz="2000" dirty="0">
                <a:solidFill>
                  <a:schemeClr val="tx1"/>
                </a:solidFill>
              </a:rPr>
              <a:t>: How many units the company will sell at each price. </a:t>
            </a:r>
          </a:p>
          <a:p>
            <a:pPr lvl="0" fontAlgn="base">
              <a:spcBef>
                <a:spcPct val="0"/>
              </a:spcBef>
              <a:spcAft>
                <a:spcPct val="0"/>
              </a:spcAft>
            </a:pPr>
            <a:endParaRPr lang="en-US" sz="2000" dirty="0">
              <a:solidFill>
                <a:schemeClr val="tx1"/>
              </a:solidFill>
            </a:endParaRPr>
          </a:p>
          <a:p>
            <a:pPr lvl="0" fontAlgn="base">
              <a:spcBef>
                <a:spcPct val="0"/>
              </a:spcBef>
              <a:spcAft>
                <a:spcPct val="0"/>
              </a:spcAft>
            </a:pPr>
            <a:r>
              <a:rPr lang="en-US" sz="2000" dirty="0">
                <a:solidFill>
                  <a:schemeClr val="tx1"/>
                </a:solidFill>
              </a:rPr>
              <a:t>Companies want to maximize (expected) profits:</a:t>
            </a:r>
          </a:p>
          <a:p>
            <a:pPr marL="0" indent="0" algn="ctr" fontAlgn="base">
              <a:spcBef>
                <a:spcPct val="0"/>
              </a:spcBef>
              <a:spcAft>
                <a:spcPct val="0"/>
              </a:spcAft>
              <a:buNone/>
            </a:pPr>
            <a:r>
              <a:rPr lang="el-GR" sz="3500" b="1" dirty="0">
                <a:solidFill>
                  <a:schemeClr val="tx1"/>
                </a:solidFill>
              </a:rPr>
              <a:t>Π=(𝑃</a:t>
            </a:r>
            <a:r>
              <a:rPr lang="el-GR" sz="3500" b="1" dirty="0"/>
              <a:t>−</a:t>
            </a:r>
            <a:r>
              <a:rPr lang="el-GR" sz="3600" b="1" dirty="0"/>
              <a:t> 𝑀</a:t>
            </a:r>
            <a:r>
              <a:rPr lang="el-GR" sz="3500" b="1" dirty="0"/>
              <a:t>)</a:t>
            </a:r>
            <a:r>
              <a:rPr lang="el-GR" sz="3500" b="1" dirty="0">
                <a:solidFill>
                  <a:schemeClr val="tx1"/>
                </a:solidFill>
              </a:rPr>
              <a:t>∗𝑄−𝐹</a:t>
            </a:r>
            <a:endParaRPr lang="en-US" sz="3500" b="1" dirty="0">
              <a:solidFill>
                <a:schemeClr val="tx1"/>
              </a:solidFill>
            </a:endParaRPr>
          </a:p>
          <a:p>
            <a:pPr marL="0" indent="0" algn="ctr" fontAlgn="base">
              <a:spcBef>
                <a:spcPct val="0"/>
              </a:spcBef>
              <a:spcAft>
                <a:spcPct val="0"/>
              </a:spcAft>
              <a:buNone/>
            </a:pPr>
            <a:endParaRPr lang="en-US" sz="2000" dirty="0"/>
          </a:p>
          <a:p>
            <a:pPr fontAlgn="base">
              <a:spcBef>
                <a:spcPct val="0"/>
              </a:spcBef>
              <a:spcAft>
                <a:spcPct val="0"/>
              </a:spcAft>
            </a:pPr>
            <a:r>
              <a:rPr lang="en-US" sz="2000" dirty="0">
                <a:solidFill>
                  <a:schemeClr val="tx1"/>
                </a:solidFill>
              </a:rPr>
              <a:t>P = price that the company charges per unit</a:t>
            </a:r>
          </a:p>
          <a:p>
            <a:pPr fontAlgn="base">
              <a:spcBef>
                <a:spcPct val="0"/>
              </a:spcBef>
              <a:spcAft>
                <a:spcPct val="0"/>
              </a:spcAft>
            </a:pPr>
            <a:r>
              <a:rPr lang="en-US" sz="2000" dirty="0">
                <a:solidFill>
                  <a:schemeClr val="tx1"/>
                </a:solidFill>
              </a:rPr>
              <a:t>M or MC = marginal cost, i.e., the cost to make one more unit</a:t>
            </a:r>
            <a:endParaRPr lang="en-US" sz="2000" dirty="0"/>
          </a:p>
          <a:p>
            <a:pPr fontAlgn="base">
              <a:spcBef>
                <a:spcPct val="0"/>
              </a:spcBef>
              <a:spcAft>
                <a:spcPct val="0"/>
              </a:spcAft>
            </a:pPr>
            <a:r>
              <a:rPr lang="en-US" sz="2000" dirty="0">
                <a:solidFill>
                  <a:schemeClr val="tx1"/>
                </a:solidFill>
              </a:rPr>
              <a:t>Q = </a:t>
            </a:r>
            <a:r>
              <a:rPr lang="en-US" sz="2000" dirty="0"/>
              <a:t> number of units sold at that price</a:t>
            </a:r>
          </a:p>
          <a:p>
            <a:pPr fontAlgn="base">
              <a:spcBef>
                <a:spcPct val="0"/>
              </a:spcBef>
              <a:spcAft>
                <a:spcPct val="0"/>
              </a:spcAft>
            </a:pPr>
            <a:r>
              <a:rPr lang="en-US" sz="2000" dirty="0">
                <a:solidFill>
                  <a:schemeClr val="tx1"/>
                </a:solidFill>
              </a:rPr>
              <a:t>F = fixed costs, i.e., upfront costs (R&amp;D, clinical trials) paid no matter how many units sell</a:t>
            </a:r>
            <a:endParaRPr lang="en-US" sz="1800" dirty="0">
              <a:solidFill>
                <a:schemeClr val="tx1"/>
              </a:solidFill>
            </a:endParaRPr>
          </a:p>
          <a:p>
            <a:pPr marL="114300" indent="0">
              <a:buNone/>
            </a:pPr>
            <a:endParaRPr lang="en-US" dirty="0"/>
          </a:p>
        </p:txBody>
      </p:sp>
      <p:sp>
        <p:nvSpPr>
          <p:cNvPr id="4" name="Slide Number Placeholder 3">
            <a:extLst>
              <a:ext uri="{FF2B5EF4-FFF2-40B4-BE49-F238E27FC236}">
                <a16:creationId xmlns:a16="http://schemas.microsoft.com/office/drawing/2014/main" id="{A8436E99-BD49-E44D-9298-780F83828CF8}"/>
              </a:ext>
            </a:extLst>
          </p:cNvPr>
          <p:cNvSpPr>
            <a:spLocks noGrp="1"/>
          </p:cNvSpPr>
          <p:nvPr>
            <p:ph type="sldNum" sz="quarter" idx="12"/>
          </p:nvPr>
        </p:nvSpPr>
        <p:spPr/>
        <p:txBody>
          <a:bodyPr/>
          <a:lstStyle/>
          <a:p>
            <a:fld id="{171A6C5B-A11A-470F-8319-62E6F3F410BC}" type="slidenum">
              <a:rPr lang="en-US" smtClean="0"/>
              <a:pPr/>
              <a:t>5</a:t>
            </a:fld>
            <a:endParaRPr lang="en-US" dirty="0"/>
          </a:p>
        </p:txBody>
      </p:sp>
    </p:spTree>
    <p:extLst>
      <p:ext uri="{BB962C8B-B14F-4D97-AF65-F5344CB8AC3E}">
        <p14:creationId xmlns:p14="http://schemas.microsoft.com/office/powerpoint/2010/main" val="24340569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826044-4AC9-5448-8F93-265D370FC7A1}"/>
              </a:ext>
            </a:extLst>
          </p:cNvPr>
          <p:cNvSpPr>
            <a:spLocks noGrp="1"/>
          </p:cNvSpPr>
          <p:nvPr>
            <p:ph type="title"/>
          </p:nvPr>
        </p:nvSpPr>
        <p:spPr/>
        <p:txBody>
          <a:bodyPr/>
          <a:lstStyle/>
          <a:p>
            <a:r>
              <a:rPr lang="en-US" dirty="0"/>
              <a:t>Understanding the Profit Formula</a:t>
            </a:r>
          </a:p>
        </p:txBody>
      </p:sp>
      <p:sp>
        <p:nvSpPr>
          <p:cNvPr id="3" name="Content Placeholder 2">
            <a:extLst>
              <a:ext uri="{FF2B5EF4-FFF2-40B4-BE49-F238E27FC236}">
                <a16:creationId xmlns:a16="http://schemas.microsoft.com/office/drawing/2014/main" id="{6AE92F2E-CFA7-BD47-9434-12405C99F1BE}"/>
              </a:ext>
            </a:extLst>
          </p:cNvPr>
          <p:cNvSpPr>
            <a:spLocks noGrp="1"/>
          </p:cNvSpPr>
          <p:nvPr>
            <p:ph idx="1"/>
          </p:nvPr>
        </p:nvSpPr>
        <p:spPr>
          <a:xfrm>
            <a:off x="838200" y="1825625"/>
            <a:ext cx="10515600" cy="4667250"/>
          </a:xfrm>
        </p:spPr>
        <p:txBody>
          <a:bodyPr>
            <a:noAutofit/>
          </a:bodyPr>
          <a:lstStyle/>
          <a:p>
            <a:pPr marL="0" indent="0" algn="ctr" fontAlgn="base">
              <a:spcBef>
                <a:spcPct val="0"/>
              </a:spcBef>
              <a:spcAft>
                <a:spcPct val="0"/>
              </a:spcAft>
              <a:buNone/>
            </a:pPr>
            <a:r>
              <a:rPr lang="en-US" sz="1800" dirty="0">
                <a:solidFill>
                  <a:schemeClr val="tx1"/>
                </a:solidFill>
              </a:rPr>
              <a:t>Profits of pharmaceutical companies: </a:t>
            </a:r>
            <a:r>
              <a:rPr lang="el-GR" sz="1800" b="1" dirty="0">
                <a:solidFill>
                  <a:schemeClr val="tx1"/>
                </a:solidFill>
              </a:rPr>
              <a:t>Π=(𝑃−𝑀)∗𝑄−𝐹</a:t>
            </a:r>
            <a:endParaRPr lang="el-GR" sz="1800" dirty="0">
              <a:solidFill>
                <a:schemeClr val="tx1"/>
              </a:solidFill>
            </a:endParaRPr>
          </a:p>
          <a:p>
            <a:pPr marL="0" indent="0" algn="ctr" fontAlgn="base">
              <a:spcBef>
                <a:spcPct val="0"/>
              </a:spcBef>
              <a:spcAft>
                <a:spcPct val="0"/>
              </a:spcAft>
              <a:buNone/>
            </a:pPr>
            <a:r>
              <a:rPr lang="en-US" sz="1800" i="1" dirty="0">
                <a:solidFill>
                  <a:schemeClr val="tx1"/>
                </a:solidFill>
              </a:rPr>
              <a:t>P = price, M = marginal cost, Q = quantity demanded/supplied, F = fixed costs</a:t>
            </a:r>
          </a:p>
          <a:p>
            <a:pPr marL="0" indent="0" algn="ctr" fontAlgn="base">
              <a:spcBef>
                <a:spcPct val="0"/>
              </a:spcBef>
              <a:spcAft>
                <a:spcPct val="0"/>
              </a:spcAft>
              <a:buNone/>
            </a:pPr>
            <a:endParaRPr lang="en-US" sz="1800" dirty="0">
              <a:solidFill>
                <a:schemeClr val="tx1"/>
              </a:solidFill>
            </a:endParaRPr>
          </a:p>
          <a:p>
            <a:pPr fontAlgn="base">
              <a:spcBef>
                <a:spcPct val="0"/>
              </a:spcBef>
              <a:spcAft>
                <a:spcPct val="0"/>
              </a:spcAft>
            </a:pPr>
            <a:r>
              <a:rPr lang="en-US" sz="2000" dirty="0">
                <a:solidFill>
                  <a:schemeClr val="tx1"/>
                </a:solidFill>
              </a:rPr>
              <a:t>What are examples of </a:t>
            </a:r>
            <a:r>
              <a:rPr lang="en-US" sz="2000" b="1" dirty="0">
                <a:solidFill>
                  <a:schemeClr val="tx1"/>
                </a:solidFill>
              </a:rPr>
              <a:t>fixed costs</a:t>
            </a:r>
            <a:r>
              <a:rPr lang="en-US" sz="2000" dirty="0">
                <a:solidFill>
                  <a:schemeClr val="tx1"/>
                </a:solidFill>
              </a:rPr>
              <a:t>?</a:t>
            </a:r>
          </a:p>
          <a:p>
            <a:pPr fontAlgn="base">
              <a:spcBef>
                <a:spcPct val="0"/>
              </a:spcBef>
              <a:spcAft>
                <a:spcPct val="0"/>
              </a:spcAft>
            </a:pPr>
            <a:endParaRPr lang="en-US" sz="2000" dirty="0">
              <a:solidFill>
                <a:schemeClr val="tx1"/>
              </a:solidFill>
            </a:endParaRPr>
          </a:p>
          <a:p>
            <a:pPr fontAlgn="base">
              <a:spcBef>
                <a:spcPct val="0"/>
              </a:spcBef>
              <a:spcAft>
                <a:spcPct val="0"/>
              </a:spcAft>
            </a:pPr>
            <a:r>
              <a:rPr lang="en-US" sz="2000" dirty="0">
                <a:solidFill>
                  <a:schemeClr val="tx1"/>
                </a:solidFill>
              </a:rPr>
              <a:t>What are examples of </a:t>
            </a:r>
            <a:r>
              <a:rPr lang="en-US" sz="2000" b="1" dirty="0">
                <a:solidFill>
                  <a:schemeClr val="tx1"/>
                </a:solidFill>
              </a:rPr>
              <a:t>marginal costs</a:t>
            </a:r>
            <a:r>
              <a:rPr lang="en-US" sz="2000" dirty="0">
                <a:solidFill>
                  <a:schemeClr val="tx1"/>
                </a:solidFill>
              </a:rPr>
              <a:t>? </a:t>
            </a:r>
          </a:p>
          <a:p>
            <a:pPr fontAlgn="base">
              <a:spcBef>
                <a:spcPct val="0"/>
              </a:spcBef>
              <a:spcAft>
                <a:spcPct val="0"/>
              </a:spcAft>
            </a:pPr>
            <a:endParaRPr lang="en-US" sz="2000" dirty="0">
              <a:solidFill>
                <a:schemeClr val="tx1"/>
              </a:solidFill>
            </a:endParaRPr>
          </a:p>
          <a:p>
            <a:pPr fontAlgn="base">
              <a:spcBef>
                <a:spcPct val="0"/>
              </a:spcBef>
              <a:spcAft>
                <a:spcPct val="0"/>
              </a:spcAft>
            </a:pPr>
            <a:r>
              <a:rPr lang="en-US" sz="2000" dirty="0">
                <a:solidFill>
                  <a:schemeClr val="tx1"/>
                </a:solidFill>
              </a:rPr>
              <a:t>Which costs matter for deciding whether to </a:t>
            </a:r>
            <a:r>
              <a:rPr lang="en-US" sz="2000" b="1" dirty="0">
                <a:solidFill>
                  <a:schemeClr val="tx1"/>
                </a:solidFill>
              </a:rPr>
              <a:t>develop</a:t>
            </a:r>
            <a:r>
              <a:rPr lang="en-US" sz="2000" dirty="0">
                <a:solidFill>
                  <a:schemeClr val="tx1"/>
                </a:solidFill>
              </a:rPr>
              <a:t> a drug?</a:t>
            </a:r>
          </a:p>
          <a:p>
            <a:pPr fontAlgn="base">
              <a:spcBef>
                <a:spcPct val="0"/>
              </a:spcBef>
              <a:spcAft>
                <a:spcPct val="0"/>
              </a:spcAft>
            </a:pPr>
            <a:endParaRPr lang="en-US" sz="2000" dirty="0">
              <a:solidFill>
                <a:schemeClr val="tx1"/>
              </a:solidFill>
            </a:endParaRPr>
          </a:p>
          <a:p>
            <a:pPr fontAlgn="base">
              <a:spcBef>
                <a:spcPct val="0"/>
              </a:spcBef>
              <a:spcAft>
                <a:spcPct val="0"/>
              </a:spcAft>
            </a:pPr>
            <a:r>
              <a:rPr lang="en-US" sz="2000" dirty="0">
                <a:solidFill>
                  <a:schemeClr val="tx1"/>
                </a:solidFill>
              </a:rPr>
              <a:t>Which costs matter for deciding how to </a:t>
            </a:r>
            <a:r>
              <a:rPr lang="en-US" sz="2000" b="1" dirty="0">
                <a:solidFill>
                  <a:schemeClr val="tx1"/>
                </a:solidFill>
              </a:rPr>
              <a:t>price</a:t>
            </a:r>
            <a:r>
              <a:rPr lang="en-US" sz="2000" dirty="0">
                <a:solidFill>
                  <a:schemeClr val="tx1"/>
                </a:solidFill>
              </a:rPr>
              <a:t> a drug? </a:t>
            </a:r>
            <a:endParaRPr lang="en-US" sz="1600" dirty="0">
              <a:solidFill>
                <a:schemeClr val="tx1"/>
              </a:solidFill>
            </a:endParaRPr>
          </a:p>
          <a:p>
            <a:pPr marL="114300" indent="0">
              <a:buNone/>
            </a:pPr>
            <a:endParaRPr lang="en-US" sz="2400" dirty="0"/>
          </a:p>
        </p:txBody>
      </p:sp>
      <p:sp>
        <p:nvSpPr>
          <p:cNvPr id="4" name="Slide Number Placeholder 3">
            <a:extLst>
              <a:ext uri="{FF2B5EF4-FFF2-40B4-BE49-F238E27FC236}">
                <a16:creationId xmlns:a16="http://schemas.microsoft.com/office/drawing/2014/main" id="{6A5AB1ED-6C96-0F46-A4C5-63830FE0456A}"/>
              </a:ext>
            </a:extLst>
          </p:cNvPr>
          <p:cNvSpPr>
            <a:spLocks noGrp="1"/>
          </p:cNvSpPr>
          <p:nvPr>
            <p:ph type="sldNum" sz="quarter" idx="12"/>
          </p:nvPr>
        </p:nvSpPr>
        <p:spPr/>
        <p:txBody>
          <a:bodyPr/>
          <a:lstStyle/>
          <a:p>
            <a:fld id="{171A6C5B-A11A-470F-8319-62E6F3F410BC}" type="slidenum">
              <a:rPr lang="en-US" smtClean="0"/>
              <a:pPr/>
              <a:t>6</a:t>
            </a:fld>
            <a:endParaRPr lang="en-US" dirty="0"/>
          </a:p>
        </p:txBody>
      </p:sp>
    </p:spTree>
    <p:extLst>
      <p:ext uri="{BB962C8B-B14F-4D97-AF65-F5344CB8AC3E}">
        <p14:creationId xmlns:p14="http://schemas.microsoft.com/office/powerpoint/2010/main" val="26618945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826044-4AC9-5448-8F93-265D370FC7A1}"/>
              </a:ext>
            </a:extLst>
          </p:cNvPr>
          <p:cNvSpPr>
            <a:spLocks noGrp="1"/>
          </p:cNvSpPr>
          <p:nvPr>
            <p:ph type="title"/>
          </p:nvPr>
        </p:nvSpPr>
        <p:spPr/>
        <p:txBody>
          <a:bodyPr/>
          <a:lstStyle/>
          <a:p>
            <a:r>
              <a:rPr lang="en-US" dirty="0"/>
              <a:t>Understanding the Profit Formula</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AE92F2E-CFA7-BD47-9434-12405C99F1BE}"/>
                  </a:ext>
                </a:extLst>
              </p:cNvPr>
              <p:cNvSpPr>
                <a:spLocks noGrp="1"/>
              </p:cNvSpPr>
              <p:nvPr>
                <p:ph idx="1"/>
              </p:nvPr>
            </p:nvSpPr>
            <p:spPr>
              <a:xfrm>
                <a:off x="838200" y="1825625"/>
                <a:ext cx="10668000" cy="4667250"/>
              </a:xfrm>
            </p:spPr>
            <p:txBody>
              <a:bodyPr>
                <a:normAutofit/>
              </a:bodyPr>
              <a:lstStyle/>
              <a:p>
                <a:pPr fontAlgn="base">
                  <a:spcBef>
                    <a:spcPct val="0"/>
                  </a:spcBef>
                  <a:spcAft>
                    <a:spcPct val="0"/>
                  </a:spcAft>
                </a:pPr>
                <a:r>
                  <a:rPr lang="en-US" sz="1800" dirty="0">
                    <a:solidFill>
                      <a:schemeClr val="tx1"/>
                    </a:solidFill>
                  </a:rPr>
                  <a:t>What are examples of </a:t>
                </a:r>
                <a:r>
                  <a:rPr lang="en-US" sz="1800" b="1" dirty="0">
                    <a:solidFill>
                      <a:schemeClr val="tx1"/>
                    </a:solidFill>
                  </a:rPr>
                  <a:t>fixed costs</a:t>
                </a:r>
                <a:r>
                  <a:rPr lang="en-US" sz="1800" dirty="0">
                    <a:solidFill>
                      <a:schemeClr val="tx1"/>
                    </a:solidFill>
                  </a:rPr>
                  <a:t>?</a:t>
                </a:r>
              </a:p>
              <a:p>
                <a:pPr lvl="1" fontAlgn="base">
                  <a:spcBef>
                    <a:spcPct val="0"/>
                  </a:spcBef>
                  <a:spcAft>
                    <a:spcPct val="0"/>
                  </a:spcAft>
                </a:pPr>
                <a:r>
                  <a:rPr lang="en-US" sz="1600" dirty="0">
                    <a:solidFill>
                      <a:schemeClr val="accent5">
                        <a:lumMod val="75000"/>
                      </a:schemeClr>
                    </a:solidFill>
                  </a:rPr>
                  <a:t>E.g. R&amp;D to develop the drug (scientists, labs, clinical trials + FDA approval). Paid before a single pill is sold. </a:t>
                </a:r>
              </a:p>
              <a:p>
                <a:pPr fontAlgn="base">
                  <a:spcBef>
                    <a:spcPct val="0"/>
                  </a:spcBef>
                  <a:spcAft>
                    <a:spcPct val="0"/>
                  </a:spcAft>
                </a:pPr>
                <a:r>
                  <a:rPr lang="en-US" sz="1800" dirty="0">
                    <a:solidFill>
                      <a:schemeClr val="tx1"/>
                    </a:solidFill>
                  </a:rPr>
                  <a:t>What are examples of </a:t>
                </a:r>
                <a:r>
                  <a:rPr lang="en-US" sz="1800" b="1" dirty="0">
                    <a:solidFill>
                      <a:schemeClr val="tx1"/>
                    </a:solidFill>
                  </a:rPr>
                  <a:t>marginal costs</a:t>
                </a:r>
                <a:r>
                  <a:rPr lang="en-US" sz="1800" dirty="0">
                    <a:solidFill>
                      <a:schemeClr val="tx1"/>
                    </a:solidFill>
                  </a:rPr>
                  <a:t>? </a:t>
                </a:r>
              </a:p>
              <a:p>
                <a:pPr lvl="1" fontAlgn="base">
                  <a:spcBef>
                    <a:spcPct val="0"/>
                  </a:spcBef>
                  <a:spcAft>
                    <a:spcPct val="0"/>
                  </a:spcAft>
                </a:pPr>
                <a:r>
                  <a:rPr lang="en-US" sz="1600" dirty="0">
                    <a:solidFill>
                      <a:schemeClr val="accent5">
                        <a:lumMod val="75000"/>
                      </a:schemeClr>
                    </a:solidFill>
                  </a:rPr>
                  <a:t>E.g. for a pill – ingredients, packaging, shipping, production labor; the cost of making </a:t>
                </a:r>
                <a:r>
                  <a:rPr lang="en-US" sz="1600" i="1" dirty="0">
                    <a:solidFill>
                      <a:schemeClr val="accent5">
                        <a:lumMod val="75000"/>
                      </a:schemeClr>
                    </a:solidFill>
                  </a:rPr>
                  <a:t>one more </a:t>
                </a:r>
                <a:r>
                  <a:rPr lang="en-US" sz="1600" dirty="0">
                    <a:solidFill>
                      <a:schemeClr val="accent5">
                        <a:lumMod val="75000"/>
                      </a:schemeClr>
                    </a:solidFill>
                  </a:rPr>
                  <a:t>pill. </a:t>
                </a:r>
              </a:p>
              <a:p>
                <a:pPr fontAlgn="base">
                  <a:spcBef>
                    <a:spcPct val="0"/>
                  </a:spcBef>
                  <a:spcAft>
                    <a:spcPct val="0"/>
                  </a:spcAft>
                </a:pPr>
                <a:r>
                  <a:rPr lang="en-US" sz="1800" dirty="0">
                    <a:solidFill>
                      <a:schemeClr val="tx1"/>
                    </a:solidFill>
                  </a:rPr>
                  <a:t>Which costs matter for the decision of whether to </a:t>
                </a:r>
                <a:r>
                  <a:rPr lang="en-US" sz="1800" b="1" dirty="0">
                    <a:solidFill>
                      <a:schemeClr val="tx1"/>
                    </a:solidFill>
                  </a:rPr>
                  <a:t>develop</a:t>
                </a:r>
                <a:r>
                  <a:rPr lang="en-US" sz="1800" dirty="0">
                    <a:solidFill>
                      <a:schemeClr val="tx1"/>
                    </a:solidFill>
                  </a:rPr>
                  <a:t> a drug?</a:t>
                </a:r>
              </a:p>
              <a:p>
                <a:pPr lvl="1" fontAlgn="base">
                  <a:spcBef>
                    <a:spcPct val="0"/>
                  </a:spcBef>
                  <a:spcAft>
                    <a:spcPct val="0"/>
                  </a:spcAft>
                </a:pPr>
                <a:r>
                  <a:rPr lang="en-US" sz="1600" i="1" dirty="0">
                    <a:solidFill>
                      <a:schemeClr val="accent5">
                        <a:lumMod val="75000"/>
                      </a:schemeClr>
                    </a:solidFill>
                  </a:rPr>
                  <a:t>Dynamic</a:t>
                </a:r>
                <a:r>
                  <a:rPr lang="en-US" sz="1600" dirty="0">
                    <a:solidFill>
                      <a:schemeClr val="accent5">
                        <a:lumMod val="75000"/>
                      </a:schemeClr>
                    </a:solidFill>
                  </a:rPr>
                  <a:t>. Both marginal and fixed costs matter. Develop only if expected profits from sales, (Price – MC) x Quantity, are larger than the fixed cost. </a:t>
                </a:r>
              </a:p>
              <a:p>
                <a:pPr fontAlgn="base">
                  <a:spcBef>
                    <a:spcPct val="0"/>
                  </a:spcBef>
                  <a:spcAft>
                    <a:spcPct val="0"/>
                  </a:spcAft>
                </a:pPr>
                <a:r>
                  <a:rPr lang="en-US" sz="1800" dirty="0">
                    <a:solidFill>
                      <a:schemeClr val="tx1"/>
                    </a:solidFill>
                  </a:rPr>
                  <a:t>Which costs matter for the decision of how to </a:t>
                </a:r>
                <a:r>
                  <a:rPr lang="en-US" sz="1800" b="1" dirty="0">
                    <a:solidFill>
                      <a:schemeClr val="tx1"/>
                    </a:solidFill>
                  </a:rPr>
                  <a:t>price</a:t>
                </a:r>
                <a:r>
                  <a:rPr lang="en-US" sz="1800" dirty="0">
                    <a:solidFill>
                      <a:schemeClr val="tx1"/>
                    </a:solidFill>
                  </a:rPr>
                  <a:t> a drug? </a:t>
                </a:r>
              </a:p>
              <a:p>
                <a:pPr lvl="1" fontAlgn="base">
                  <a:spcBef>
                    <a:spcPct val="0"/>
                  </a:spcBef>
                  <a:spcAft>
                    <a:spcPct val="0"/>
                  </a:spcAft>
                </a:pPr>
                <a:r>
                  <a:rPr lang="en-US" sz="1600" i="1" dirty="0">
                    <a:solidFill>
                      <a:schemeClr val="accent5">
                        <a:lumMod val="75000"/>
                      </a:schemeClr>
                    </a:solidFill>
                  </a:rPr>
                  <a:t>Static</a:t>
                </a:r>
                <a:r>
                  <a:rPr lang="en-US" sz="1600" dirty="0">
                    <a:solidFill>
                      <a:schemeClr val="accent5">
                        <a:lumMod val="75000"/>
                      </a:schemeClr>
                    </a:solidFill>
                  </a:rPr>
                  <a:t>. Only marginal cost and demand matter. </a:t>
                </a:r>
              </a:p>
              <a:p>
                <a:pPr lvl="1" fontAlgn="base">
                  <a:spcBef>
                    <a:spcPct val="0"/>
                  </a:spcBef>
                  <a:spcAft>
                    <a:spcPct val="0"/>
                  </a:spcAft>
                </a:pPr>
                <a:r>
                  <a:rPr lang="en-US" sz="1600" dirty="0">
                    <a:solidFill>
                      <a:schemeClr val="accent5">
                        <a:lumMod val="75000"/>
                      </a:schemeClr>
                    </a:solidFill>
                  </a:rPr>
                  <a:t>Fixed costs are </a:t>
                </a:r>
                <a:r>
                  <a:rPr lang="en-US" sz="1600" i="1" dirty="0">
                    <a:solidFill>
                      <a:schemeClr val="accent5">
                        <a:lumMod val="75000"/>
                      </a:schemeClr>
                    </a:solidFill>
                  </a:rPr>
                  <a:t>sunk: </a:t>
                </a:r>
                <a:r>
                  <a:rPr lang="en-US" sz="1600" dirty="0">
                    <a:solidFill>
                      <a:schemeClr val="accent5">
                        <a:lumMod val="75000"/>
                      </a:schemeClr>
                    </a:solidFill>
                  </a:rPr>
                  <a:t>already spent, and the price charged can’t change them. </a:t>
                </a:r>
              </a:p>
              <a:p>
                <a:pPr lvl="1" fontAlgn="base">
                  <a:spcBef>
                    <a:spcPct val="0"/>
                  </a:spcBef>
                  <a:spcAft>
                    <a:spcPct val="0"/>
                  </a:spcAft>
                </a:pPr>
                <a:r>
                  <a:rPr lang="en-US" sz="1600" dirty="0">
                    <a:solidFill>
                      <a:schemeClr val="accent5">
                        <a:lumMod val="75000"/>
                      </a:schemeClr>
                    </a:solidFill>
                  </a:rPr>
                  <a:t>Price will be at least MC (</a:t>
                </a:r>
                <a14:m>
                  <m:oMath xmlns:m="http://schemas.openxmlformats.org/officeDocument/2006/math">
                    <m:r>
                      <a:rPr lang="en-US" sz="1600">
                        <a:solidFill>
                          <a:schemeClr val="accent5">
                            <a:lumMod val="75000"/>
                          </a:schemeClr>
                        </a:solidFill>
                        <a:latin typeface="Cambria Math" panose="02040503050406030204" pitchFamily="18" charset="0"/>
                      </a:rPr>
                      <m:t>𝑝</m:t>
                    </m:r>
                    <m:r>
                      <a:rPr lang="en-US" sz="1600">
                        <a:solidFill>
                          <a:schemeClr val="accent5">
                            <a:lumMod val="75000"/>
                          </a:schemeClr>
                        </a:solidFill>
                        <a:latin typeface="Cambria Math" panose="02040503050406030204" pitchFamily="18" charset="0"/>
                      </a:rPr>
                      <m:t>≥</m:t>
                    </m:r>
                    <m:r>
                      <a:rPr lang="en-US" sz="1600">
                        <a:solidFill>
                          <a:schemeClr val="accent5">
                            <a:lumMod val="75000"/>
                          </a:schemeClr>
                        </a:solidFill>
                        <a:latin typeface="Cambria Math" panose="02040503050406030204" pitchFamily="18" charset="0"/>
                      </a:rPr>
                      <m:t>𝑀𝐶</m:t>
                    </m:r>
                    <m:r>
                      <a:rPr lang="en-US" sz="1600" b="0" i="0" smtClean="0">
                        <a:solidFill>
                          <a:schemeClr val="accent5">
                            <a:lumMod val="75000"/>
                          </a:schemeClr>
                        </a:solidFill>
                        <a:latin typeface="Cambria Math" panose="02040503050406030204" pitchFamily="18" charset="0"/>
                      </a:rPr>
                      <m:t>)</m:t>
                    </m:r>
                  </m:oMath>
                </a14:m>
                <a:r>
                  <a:rPr lang="en-US" sz="1600" dirty="0">
                    <a:solidFill>
                      <a:schemeClr val="accent5">
                        <a:lumMod val="75000"/>
                      </a:schemeClr>
                    </a:solidFill>
                  </a:rPr>
                  <a:t>. How much higher depends on WTP and on market rules (i.e., whether only the patent holder can sell the drug, or if generics can be sold too)</a:t>
                </a:r>
              </a:p>
            </p:txBody>
          </p:sp>
        </mc:Choice>
        <mc:Fallback xmlns="">
          <p:sp>
            <p:nvSpPr>
              <p:cNvPr id="3" name="Content Placeholder 2">
                <a:extLst>
                  <a:ext uri="{FF2B5EF4-FFF2-40B4-BE49-F238E27FC236}">
                    <a16:creationId xmlns:a16="http://schemas.microsoft.com/office/drawing/2014/main" id="{6AE92F2E-CFA7-BD47-9434-12405C99F1BE}"/>
                  </a:ext>
                </a:extLst>
              </p:cNvPr>
              <p:cNvSpPr>
                <a:spLocks noGrp="1" noRot="1" noChangeAspect="1" noMove="1" noResize="1" noEditPoints="1" noAdjustHandles="1" noChangeArrowheads="1" noChangeShapeType="1" noTextEdit="1"/>
              </p:cNvSpPr>
              <p:nvPr>
                <p:ph idx="1"/>
              </p:nvPr>
            </p:nvSpPr>
            <p:spPr>
              <a:xfrm>
                <a:off x="838200" y="1825625"/>
                <a:ext cx="10668000" cy="4667250"/>
              </a:xfrm>
              <a:blipFill>
                <a:blip r:embed="rId3"/>
                <a:stretch>
                  <a:fillRect l="-476" r="-119" b="-813"/>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6A5AB1ED-6C96-0F46-A4C5-63830FE0456A}"/>
              </a:ext>
            </a:extLst>
          </p:cNvPr>
          <p:cNvSpPr>
            <a:spLocks noGrp="1"/>
          </p:cNvSpPr>
          <p:nvPr>
            <p:ph type="sldNum" sz="quarter" idx="12"/>
          </p:nvPr>
        </p:nvSpPr>
        <p:spPr/>
        <p:txBody>
          <a:bodyPr/>
          <a:lstStyle/>
          <a:p>
            <a:fld id="{171A6C5B-A11A-470F-8319-62E6F3F410BC}" type="slidenum">
              <a:rPr lang="en-US" smtClean="0"/>
              <a:pPr/>
              <a:t>7</a:t>
            </a:fld>
            <a:endParaRPr lang="en-US" dirty="0"/>
          </a:p>
        </p:txBody>
      </p:sp>
    </p:spTree>
    <p:extLst>
      <p:ext uri="{BB962C8B-B14F-4D97-AF65-F5344CB8AC3E}">
        <p14:creationId xmlns:p14="http://schemas.microsoft.com/office/powerpoint/2010/main" val="42618326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76D38F-5AF4-FF84-E7F9-13311272C1BF}"/>
              </a:ext>
            </a:extLst>
          </p:cNvPr>
          <p:cNvSpPr>
            <a:spLocks noGrp="1"/>
          </p:cNvSpPr>
          <p:nvPr>
            <p:ph type="title"/>
          </p:nvPr>
        </p:nvSpPr>
        <p:spPr/>
        <p:txBody>
          <a:bodyPr/>
          <a:lstStyle/>
          <a:p>
            <a:r>
              <a:rPr lang="en-US" dirty="0"/>
              <a:t>Understanding “Willingness to Pay”</a:t>
            </a:r>
          </a:p>
        </p:txBody>
      </p:sp>
      <p:sp>
        <p:nvSpPr>
          <p:cNvPr id="4" name="Slide Number Placeholder 3">
            <a:extLst>
              <a:ext uri="{FF2B5EF4-FFF2-40B4-BE49-F238E27FC236}">
                <a16:creationId xmlns:a16="http://schemas.microsoft.com/office/drawing/2014/main" id="{B328CD7A-1E89-526C-21AE-5C99F58F4E2C}"/>
              </a:ext>
            </a:extLst>
          </p:cNvPr>
          <p:cNvSpPr>
            <a:spLocks noGrp="1"/>
          </p:cNvSpPr>
          <p:nvPr>
            <p:ph type="sldNum" sz="quarter" idx="12"/>
          </p:nvPr>
        </p:nvSpPr>
        <p:spPr/>
        <p:txBody>
          <a:bodyPr/>
          <a:lstStyle/>
          <a:p>
            <a:fld id="{171A6C5B-A11A-470F-8319-62E6F3F410BC}" type="slidenum">
              <a:rPr lang="en-US" smtClean="0"/>
              <a:pPr/>
              <a:t>8</a:t>
            </a:fld>
            <a:endParaRPr lang="en-US"/>
          </a:p>
        </p:txBody>
      </p:sp>
      <p:sp>
        <p:nvSpPr>
          <p:cNvPr id="19" name="TextBox 18">
            <a:extLst>
              <a:ext uri="{FF2B5EF4-FFF2-40B4-BE49-F238E27FC236}">
                <a16:creationId xmlns:a16="http://schemas.microsoft.com/office/drawing/2014/main" id="{B242EB66-40FC-C394-5D0C-756E59DBCCAE}"/>
              </a:ext>
            </a:extLst>
          </p:cNvPr>
          <p:cNvSpPr txBox="1"/>
          <p:nvPr/>
        </p:nvSpPr>
        <p:spPr>
          <a:xfrm>
            <a:off x="457200" y="2299946"/>
            <a:ext cx="2719408" cy="3231654"/>
          </a:xfrm>
          <a:prstGeom prst="rect">
            <a:avLst/>
          </a:prstGeom>
          <a:noFill/>
        </p:spPr>
        <p:txBody>
          <a:bodyPr wrap="square" rtlCol="0">
            <a:spAutoFit/>
          </a:bodyPr>
          <a:lstStyle/>
          <a:p>
            <a:r>
              <a:rPr lang="en-US" sz="1700" dirty="0">
                <a:latin typeface="Arial" panose="020B0604020202020204" pitchFamily="34" charset="0"/>
                <a:cs typeface="Arial" panose="020B0604020202020204" pitchFamily="34" charset="0"/>
              </a:rPr>
              <a:t>Imagine 250 people, lined up from </a:t>
            </a:r>
            <a:r>
              <a:rPr lang="en-US" sz="1700" b="1" dirty="0">
                <a:latin typeface="Arial" panose="020B0604020202020204" pitchFamily="34" charset="0"/>
                <a:cs typeface="Arial" panose="020B0604020202020204" pitchFamily="34" charset="0"/>
              </a:rPr>
              <a:t>highest</a:t>
            </a:r>
            <a:r>
              <a:rPr lang="en-US" sz="1700" dirty="0">
                <a:latin typeface="Arial" panose="020B0604020202020204" pitchFamily="34" charset="0"/>
                <a:cs typeface="Arial" panose="020B0604020202020204" pitchFamily="34" charset="0"/>
              </a:rPr>
              <a:t> to </a:t>
            </a:r>
            <a:r>
              <a:rPr lang="en-US" sz="1700" b="1" dirty="0">
                <a:latin typeface="Arial" panose="020B0604020202020204" pitchFamily="34" charset="0"/>
                <a:cs typeface="Arial" panose="020B0604020202020204" pitchFamily="34" charset="0"/>
              </a:rPr>
              <a:t>lowest</a:t>
            </a:r>
            <a:r>
              <a:rPr lang="en-US" sz="1700" dirty="0">
                <a:latin typeface="Arial" panose="020B0604020202020204" pitchFamily="34" charset="0"/>
                <a:cs typeface="Arial" panose="020B0604020202020204" pitchFamily="34" charset="0"/>
              </a:rPr>
              <a:t> willingness-to-pay. (Assume each person wants to buy 1 unit.)</a:t>
            </a:r>
          </a:p>
          <a:p>
            <a:r>
              <a:rPr lang="en-US" sz="1700" dirty="0">
                <a:latin typeface="Arial" panose="020B0604020202020204" pitchFamily="34" charset="0"/>
                <a:cs typeface="Arial" panose="020B0604020202020204" pitchFamily="34" charset="0"/>
              </a:rPr>
              <a:t> </a:t>
            </a:r>
          </a:p>
          <a:p>
            <a:pPr marL="285750" indent="-285750">
              <a:buFont typeface="Arial" panose="020B0604020202020204" pitchFamily="34" charset="0"/>
              <a:buChar char="•"/>
            </a:pPr>
            <a:r>
              <a:rPr lang="en-US" sz="1700" dirty="0">
                <a:latin typeface="Arial" panose="020B0604020202020204" pitchFamily="34" charset="0"/>
                <a:cs typeface="Arial" panose="020B0604020202020204" pitchFamily="34" charset="0"/>
              </a:rPr>
              <a:t>Each step = a group of 50 people with the same WTP. </a:t>
            </a:r>
          </a:p>
          <a:p>
            <a:pPr marL="285750" indent="-285750">
              <a:buFont typeface="Arial" panose="020B0604020202020204" pitchFamily="34" charset="0"/>
              <a:buChar char="•"/>
            </a:pPr>
            <a:r>
              <a:rPr lang="en-US" sz="1700" dirty="0">
                <a:latin typeface="Arial" panose="020B0604020202020204" pitchFamily="34" charset="0"/>
                <a:cs typeface="Arial" panose="020B0604020202020204" pitchFamily="34" charset="0"/>
              </a:rPr>
              <a:t>The red line (MC) = the cost to make one more unit</a:t>
            </a:r>
          </a:p>
        </p:txBody>
      </p:sp>
      <p:pic>
        <p:nvPicPr>
          <p:cNvPr id="3" name="Picture 2">
            <a:extLst>
              <a:ext uri="{FF2B5EF4-FFF2-40B4-BE49-F238E27FC236}">
                <a16:creationId xmlns:a16="http://schemas.microsoft.com/office/drawing/2014/main" id="{84E42520-A646-D8E7-6F65-586161A93A6E}"/>
              </a:ext>
            </a:extLst>
          </p:cNvPr>
          <p:cNvPicPr>
            <a:picLocks noChangeAspect="1"/>
          </p:cNvPicPr>
          <p:nvPr/>
        </p:nvPicPr>
        <p:blipFill>
          <a:blip r:embed="rId3"/>
          <a:stretch>
            <a:fillRect/>
          </a:stretch>
        </p:blipFill>
        <p:spPr>
          <a:xfrm>
            <a:off x="3581400" y="1469753"/>
            <a:ext cx="8153400" cy="4892040"/>
          </a:xfrm>
          <a:prstGeom prst="rect">
            <a:avLst/>
          </a:prstGeom>
        </p:spPr>
      </p:pic>
    </p:spTree>
    <p:extLst>
      <p:ext uri="{BB962C8B-B14F-4D97-AF65-F5344CB8AC3E}">
        <p14:creationId xmlns:p14="http://schemas.microsoft.com/office/powerpoint/2010/main" val="28688029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B92180-FC9D-8F2B-B12F-DF61D3CBB9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0CDDC9-F819-EC17-EB71-D4238809A9A2}"/>
              </a:ext>
            </a:extLst>
          </p:cNvPr>
          <p:cNvSpPr>
            <a:spLocks noGrp="1"/>
          </p:cNvSpPr>
          <p:nvPr>
            <p:ph type="title"/>
          </p:nvPr>
        </p:nvSpPr>
        <p:spPr/>
        <p:txBody>
          <a:bodyPr/>
          <a:lstStyle/>
          <a:p>
            <a:r>
              <a:rPr lang="en-US" dirty="0"/>
              <a:t>Choosing one price</a:t>
            </a:r>
          </a:p>
        </p:txBody>
      </p:sp>
      <p:sp>
        <p:nvSpPr>
          <p:cNvPr id="4" name="Slide Number Placeholder 3">
            <a:extLst>
              <a:ext uri="{FF2B5EF4-FFF2-40B4-BE49-F238E27FC236}">
                <a16:creationId xmlns:a16="http://schemas.microsoft.com/office/drawing/2014/main" id="{D5396611-1F5A-A41C-EA05-6939FF8D776A}"/>
              </a:ext>
            </a:extLst>
          </p:cNvPr>
          <p:cNvSpPr>
            <a:spLocks noGrp="1"/>
          </p:cNvSpPr>
          <p:nvPr>
            <p:ph type="sldNum" sz="quarter" idx="12"/>
          </p:nvPr>
        </p:nvSpPr>
        <p:spPr/>
        <p:txBody>
          <a:bodyPr/>
          <a:lstStyle/>
          <a:p>
            <a:fld id="{171A6C5B-A11A-470F-8319-62E6F3F410BC}" type="slidenum">
              <a:rPr lang="en-US" smtClean="0"/>
              <a:pPr/>
              <a:t>9</a:t>
            </a:fld>
            <a:endParaRPr lang="en-US"/>
          </a:p>
        </p:txBody>
      </p:sp>
      <p:graphicFrame>
        <p:nvGraphicFramePr>
          <p:cNvPr id="7" name="Table 6">
            <a:extLst>
              <a:ext uri="{FF2B5EF4-FFF2-40B4-BE49-F238E27FC236}">
                <a16:creationId xmlns:a16="http://schemas.microsoft.com/office/drawing/2014/main" id="{66286EB1-41CF-E22C-EFC5-B3FE86C8EB0C}"/>
              </a:ext>
            </a:extLst>
          </p:cNvPr>
          <p:cNvGraphicFramePr>
            <a:graphicFrameLocks noGrp="1"/>
          </p:cNvGraphicFramePr>
          <p:nvPr/>
        </p:nvGraphicFramePr>
        <p:xfrm>
          <a:off x="170694" y="2787264"/>
          <a:ext cx="4949370" cy="2494280"/>
        </p:xfrm>
        <a:graphic>
          <a:graphicData uri="http://schemas.openxmlformats.org/drawingml/2006/table">
            <a:tbl>
              <a:tblPr firstRow="1" bandRow="1">
                <a:tableStyleId>{93296810-A885-4BE3-A3E7-6D5BEEA58F35}</a:tableStyleId>
              </a:tblPr>
              <a:tblGrid>
                <a:gridCol w="1649790">
                  <a:extLst>
                    <a:ext uri="{9D8B030D-6E8A-4147-A177-3AD203B41FA5}">
                      <a16:colId xmlns:a16="http://schemas.microsoft.com/office/drawing/2014/main" val="4084365346"/>
                    </a:ext>
                  </a:extLst>
                </a:gridCol>
                <a:gridCol w="1649790">
                  <a:extLst>
                    <a:ext uri="{9D8B030D-6E8A-4147-A177-3AD203B41FA5}">
                      <a16:colId xmlns:a16="http://schemas.microsoft.com/office/drawing/2014/main" val="105315224"/>
                    </a:ext>
                  </a:extLst>
                </a:gridCol>
                <a:gridCol w="1649790">
                  <a:extLst>
                    <a:ext uri="{9D8B030D-6E8A-4147-A177-3AD203B41FA5}">
                      <a16:colId xmlns:a16="http://schemas.microsoft.com/office/drawing/2014/main" val="1169804669"/>
                    </a:ext>
                  </a:extLst>
                </a:gridCol>
              </a:tblGrid>
              <a:tr h="0">
                <a:tc>
                  <a:txBody>
                    <a:bodyPr/>
                    <a:lstStyle/>
                    <a:p>
                      <a:pPr algn="ctr"/>
                      <a:r>
                        <a:rPr lang="en-US" dirty="0"/>
                        <a:t>Price</a:t>
                      </a:r>
                    </a:p>
                  </a:txBody>
                  <a:tcPr anchor="ctr"/>
                </a:tc>
                <a:tc>
                  <a:txBody>
                    <a:bodyPr/>
                    <a:lstStyle/>
                    <a:p>
                      <a:pPr algn="ctr"/>
                      <a:r>
                        <a:rPr lang="en-US" dirty="0"/>
                        <a:t>Units</a:t>
                      </a:r>
                    </a:p>
                  </a:txBody>
                  <a:tcPr anchor="ctr"/>
                </a:tc>
                <a:tc>
                  <a:txBody>
                    <a:bodyPr/>
                    <a:lstStyle/>
                    <a:p>
                      <a:pPr algn="ctr"/>
                      <a:r>
                        <a:rPr lang="en-US" dirty="0"/>
                        <a:t>Profit = (Price- MC) * Units</a:t>
                      </a:r>
                    </a:p>
                  </a:txBody>
                  <a:tcPr anchor="ctr"/>
                </a:tc>
                <a:extLst>
                  <a:ext uri="{0D108BD9-81ED-4DB2-BD59-A6C34878D82A}">
                    <a16:rowId xmlns:a16="http://schemas.microsoft.com/office/drawing/2014/main" val="2920843972"/>
                  </a:ext>
                </a:extLst>
              </a:tr>
              <a:tr h="370840">
                <a:tc>
                  <a:txBody>
                    <a:bodyPr/>
                    <a:lstStyle/>
                    <a:p>
                      <a:pPr algn="ctr"/>
                      <a:r>
                        <a:rPr lang="en-US" dirty="0"/>
                        <a:t>$3.50</a:t>
                      </a:r>
                    </a:p>
                  </a:txBody>
                  <a:tcPr anchor="ctr"/>
                </a:tc>
                <a:tc>
                  <a:txBody>
                    <a:bodyPr/>
                    <a:lstStyle/>
                    <a:p>
                      <a:pPr algn="ctr"/>
                      <a:r>
                        <a:rPr lang="en-US" dirty="0"/>
                        <a:t>50</a:t>
                      </a:r>
                    </a:p>
                  </a:txBody>
                  <a:tcPr anchor="ctr"/>
                </a:tc>
                <a:tc>
                  <a:txBody>
                    <a:bodyPr/>
                    <a:lstStyle/>
                    <a:p>
                      <a:pPr algn="ctr"/>
                      <a:r>
                        <a:rPr lang="en-US" dirty="0"/>
                        <a:t>$137.50</a:t>
                      </a:r>
                    </a:p>
                  </a:txBody>
                  <a:tcPr anchor="ctr"/>
                </a:tc>
                <a:extLst>
                  <a:ext uri="{0D108BD9-81ED-4DB2-BD59-A6C34878D82A}">
                    <a16:rowId xmlns:a16="http://schemas.microsoft.com/office/drawing/2014/main" val="674179483"/>
                  </a:ext>
                </a:extLst>
              </a:tr>
              <a:tr h="370840">
                <a:tc>
                  <a:txBody>
                    <a:bodyPr/>
                    <a:lstStyle/>
                    <a:p>
                      <a:pPr algn="ctr"/>
                      <a:r>
                        <a:rPr lang="en-US" dirty="0"/>
                        <a:t>$2.50</a:t>
                      </a:r>
                    </a:p>
                  </a:txBody>
                  <a:tcPr anchor="ctr"/>
                </a:tc>
                <a:tc>
                  <a:txBody>
                    <a:bodyPr/>
                    <a:lstStyle/>
                    <a:p>
                      <a:pPr algn="ctr"/>
                      <a:r>
                        <a:rPr lang="en-US" dirty="0"/>
                        <a:t>100</a:t>
                      </a:r>
                    </a:p>
                  </a:txBody>
                  <a:tcPr anchor="ctr"/>
                </a:tc>
                <a:tc>
                  <a:txBody>
                    <a:bodyPr/>
                    <a:lstStyle/>
                    <a:p>
                      <a:pPr algn="ctr"/>
                      <a:r>
                        <a:rPr lang="en-US" dirty="0"/>
                        <a:t>$175 </a:t>
                      </a:r>
                      <a:r>
                        <a:rPr lang="en-US" dirty="0">
                          <a:sym typeface="Wingdings" pitchFamily="2" charset="2"/>
                        </a:rPr>
                        <a:t> best</a:t>
                      </a:r>
                      <a:endParaRPr lang="en-US" dirty="0"/>
                    </a:p>
                  </a:txBody>
                  <a:tcPr anchor="ctr"/>
                </a:tc>
                <a:extLst>
                  <a:ext uri="{0D108BD9-81ED-4DB2-BD59-A6C34878D82A}">
                    <a16:rowId xmlns:a16="http://schemas.microsoft.com/office/drawing/2014/main" val="2567761460"/>
                  </a:ext>
                </a:extLst>
              </a:tr>
              <a:tr h="370840">
                <a:tc>
                  <a:txBody>
                    <a:bodyPr/>
                    <a:lstStyle/>
                    <a:p>
                      <a:pPr algn="ctr"/>
                      <a:r>
                        <a:rPr lang="en-US" dirty="0"/>
                        <a:t>$1.50</a:t>
                      </a:r>
                    </a:p>
                  </a:txBody>
                  <a:tcPr anchor="ctr"/>
                </a:tc>
                <a:tc>
                  <a:txBody>
                    <a:bodyPr/>
                    <a:lstStyle/>
                    <a:p>
                      <a:pPr algn="ctr"/>
                      <a:r>
                        <a:rPr lang="en-US" dirty="0"/>
                        <a:t>150</a:t>
                      </a:r>
                    </a:p>
                  </a:txBody>
                  <a:tcPr anchor="ctr"/>
                </a:tc>
                <a:tc>
                  <a:txBody>
                    <a:bodyPr/>
                    <a:lstStyle/>
                    <a:p>
                      <a:pPr algn="ctr"/>
                      <a:r>
                        <a:rPr lang="en-US" dirty="0"/>
                        <a:t>$112.50</a:t>
                      </a:r>
                    </a:p>
                  </a:txBody>
                  <a:tcPr anchor="ctr"/>
                </a:tc>
                <a:extLst>
                  <a:ext uri="{0D108BD9-81ED-4DB2-BD59-A6C34878D82A}">
                    <a16:rowId xmlns:a16="http://schemas.microsoft.com/office/drawing/2014/main" val="3945441974"/>
                  </a:ext>
                </a:extLst>
              </a:tr>
              <a:tr h="370840">
                <a:tc>
                  <a:txBody>
                    <a:bodyPr/>
                    <a:lstStyle/>
                    <a:p>
                      <a:pPr algn="ctr"/>
                      <a:r>
                        <a:rPr lang="en-US" dirty="0"/>
                        <a:t>$1.00</a:t>
                      </a:r>
                    </a:p>
                  </a:txBody>
                  <a:tcPr anchor="ctr"/>
                </a:tc>
                <a:tc>
                  <a:txBody>
                    <a:bodyPr/>
                    <a:lstStyle/>
                    <a:p>
                      <a:pPr algn="ctr"/>
                      <a:r>
                        <a:rPr lang="en-US" dirty="0"/>
                        <a:t>200</a:t>
                      </a:r>
                    </a:p>
                  </a:txBody>
                  <a:tcPr anchor="ctr"/>
                </a:tc>
                <a:tc>
                  <a:txBody>
                    <a:bodyPr/>
                    <a:lstStyle/>
                    <a:p>
                      <a:pPr algn="ctr"/>
                      <a:r>
                        <a:rPr lang="en-US" dirty="0"/>
                        <a:t>$50</a:t>
                      </a:r>
                    </a:p>
                  </a:txBody>
                  <a:tcPr anchor="ctr"/>
                </a:tc>
                <a:extLst>
                  <a:ext uri="{0D108BD9-81ED-4DB2-BD59-A6C34878D82A}">
                    <a16:rowId xmlns:a16="http://schemas.microsoft.com/office/drawing/2014/main" val="3594812851"/>
                  </a:ext>
                </a:extLst>
              </a:tr>
              <a:tr h="370840">
                <a:tc>
                  <a:txBody>
                    <a:bodyPr/>
                    <a:lstStyle/>
                    <a:p>
                      <a:pPr algn="ctr"/>
                      <a:r>
                        <a:rPr lang="en-US" dirty="0"/>
                        <a:t>$0.50</a:t>
                      </a:r>
                    </a:p>
                  </a:txBody>
                  <a:tcPr anchor="ctr"/>
                </a:tc>
                <a:tc>
                  <a:txBody>
                    <a:bodyPr/>
                    <a:lstStyle/>
                    <a:p>
                      <a:pPr algn="ctr"/>
                      <a:r>
                        <a:rPr lang="en-US" dirty="0"/>
                        <a:t>250</a:t>
                      </a:r>
                    </a:p>
                  </a:txBody>
                  <a:tcPr anchor="ctr"/>
                </a:tc>
                <a:tc>
                  <a:txBody>
                    <a:bodyPr/>
                    <a:lstStyle/>
                    <a:p>
                      <a:pPr algn="ctr"/>
                      <a:r>
                        <a:rPr lang="en-US" dirty="0"/>
                        <a:t>Loses money</a:t>
                      </a:r>
                    </a:p>
                  </a:txBody>
                  <a:tcPr anchor="ctr"/>
                </a:tc>
                <a:extLst>
                  <a:ext uri="{0D108BD9-81ED-4DB2-BD59-A6C34878D82A}">
                    <a16:rowId xmlns:a16="http://schemas.microsoft.com/office/drawing/2014/main" val="3003808154"/>
                  </a:ext>
                </a:extLst>
              </a:tr>
            </a:tbl>
          </a:graphicData>
        </a:graphic>
      </p:graphicFrame>
      <p:sp>
        <p:nvSpPr>
          <p:cNvPr id="10" name="TextBox 9">
            <a:extLst>
              <a:ext uri="{FF2B5EF4-FFF2-40B4-BE49-F238E27FC236}">
                <a16:creationId xmlns:a16="http://schemas.microsoft.com/office/drawing/2014/main" id="{DA4C6361-106E-A049-3245-965C5E7B1F5F}"/>
              </a:ext>
            </a:extLst>
          </p:cNvPr>
          <p:cNvSpPr txBox="1"/>
          <p:nvPr/>
        </p:nvSpPr>
        <p:spPr>
          <a:xfrm>
            <a:off x="170694" y="1977095"/>
            <a:ext cx="4949370" cy="615553"/>
          </a:xfrm>
          <a:prstGeom prst="rect">
            <a:avLst/>
          </a:prstGeom>
          <a:noFill/>
        </p:spPr>
        <p:txBody>
          <a:bodyPr wrap="square" rtlCol="0">
            <a:spAutoFit/>
          </a:bodyPr>
          <a:lstStyle/>
          <a:p>
            <a:r>
              <a:rPr lang="en-US" sz="1700" dirty="0">
                <a:latin typeface="Arial" panose="020B0604020202020204" pitchFamily="34" charset="0"/>
                <a:cs typeface="Arial" panose="020B0604020202020204" pitchFamily="34" charset="0"/>
              </a:rPr>
              <a:t>The company usually can’t charge each person a different price, so it picks </a:t>
            </a:r>
            <a:r>
              <a:rPr lang="en-US" sz="1700" b="1" dirty="0">
                <a:latin typeface="Arial" panose="020B0604020202020204" pitchFamily="34" charset="0"/>
                <a:cs typeface="Arial" panose="020B0604020202020204" pitchFamily="34" charset="0"/>
              </a:rPr>
              <a:t>one</a:t>
            </a:r>
            <a:r>
              <a:rPr lang="en-US" sz="1700" dirty="0">
                <a:latin typeface="Arial" panose="020B0604020202020204" pitchFamily="34" charset="0"/>
                <a:cs typeface="Arial" panose="020B0604020202020204" pitchFamily="34" charset="0"/>
              </a:rPr>
              <a:t> price for everyone.</a:t>
            </a:r>
          </a:p>
        </p:txBody>
      </p:sp>
      <p:sp>
        <p:nvSpPr>
          <p:cNvPr id="12" name="TextBox 11">
            <a:extLst>
              <a:ext uri="{FF2B5EF4-FFF2-40B4-BE49-F238E27FC236}">
                <a16:creationId xmlns:a16="http://schemas.microsoft.com/office/drawing/2014/main" id="{1C976B30-F2F1-C3EC-4EA2-65BE1279B3A5}"/>
              </a:ext>
            </a:extLst>
          </p:cNvPr>
          <p:cNvSpPr txBox="1"/>
          <p:nvPr/>
        </p:nvSpPr>
        <p:spPr>
          <a:xfrm>
            <a:off x="250524" y="5476160"/>
            <a:ext cx="4949370" cy="615553"/>
          </a:xfrm>
          <a:prstGeom prst="rect">
            <a:avLst/>
          </a:prstGeom>
          <a:noFill/>
        </p:spPr>
        <p:txBody>
          <a:bodyPr wrap="square" rtlCol="0">
            <a:spAutoFit/>
          </a:bodyPr>
          <a:lstStyle/>
          <a:p>
            <a:r>
              <a:rPr lang="en-US" sz="1700" b="1" dirty="0">
                <a:latin typeface="Arial" panose="020B0604020202020204" pitchFamily="34" charset="0"/>
                <a:cs typeface="Arial" panose="020B0604020202020204" pitchFamily="34" charset="0"/>
              </a:rPr>
              <a:t>Tradeoff: </a:t>
            </a:r>
            <a:r>
              <a:rPr lang="en-US" sz="1700" dirty="0">
                <a:latin typeface="Arial" panose="020B0604020202020204" pitchFamily="34" charset="0"/>
                <a:cs typeface="Arial" panose="020B0604020202020204" pitchFamily="34" charset="0"/>
              </a:rPr>
              <a:t>a higher price means more profit on each unit, but fewer buyers. </a:t>
            </a:r>
            <a:endParaRPr lang="en-US" sz="1700" b="1" dirty="0">
              <a:latin typeface="Arial" panose="020B0604020202020204" pitchFamily="34" charset="0"/>
              <a:cs typeface="Arial" panose="020B0604020202020204" pitchFamily="34" charset="0"/>
            </a:endParaRPr>
          </a:p>
        </p:txBody>
      </p:sp>
      <p:pic>
        <p:nvPicPr>
          <p:cNvPr id="3" name="Picture 2">
            <a:extLst>
              <a:ext uri="{FF2B5EF4-FFF2-40B4-BE49-F238E27FC236}">
                <a16:creationId xmlns:a16="http://schemas.microsoft.com/office/drawing/2014/main" id="{BE021C14-909B-2395-10EE-5E4FC282EE69}"/>
              </a:ext>
            </a:extLst>
          </p:cNvPr>
          <p:cNvPicPr>
            <a:picLocks noChangeAspect="1"/>
          </p:cNvPicPr>
          <p:nvPr/>
        </p:nvPicPr>
        <p:blipFill>
          <a:blip r:embed="rId3"/>
          <a:stretch>
            <a:fillRect/>
          </a:stretch>
        </p:blipFill>
        <p:spPr>
          <a:xfrm>
            <a:off x="5105400" y="2057400"/>
            <a:ext cx="7071936" cy="4243162"/>
          </a:xfrm>
          <a:prstGeom prst="rect">
            <a:avLst/>
          </a:prstGeom>
        </p:spPr>
      </p:pic>
    </p:spTree>
    <p:extLst>
      <p:ext uri="{BB962C8B-B14F-4D97-AF65-F5344CB8AC3E}">
        <p14:creationId xmlns:p14="http://schemas.microsoft.com/office/powerpoint/2010/main" val="21841029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826044-4AC9-5448-8F93-265D370FC7A1}"/>
              </a:ext>
            </a:extLst>
          </p:cNvPr>
          <p:cNvSpPr>
            <a:spLocks noGrp="1"/>
          </p:cNvSpPr>
          <p:nvPr>
            <p:ph type="title"/>
          </p:nvPr>
        </p:nvSpPr>
        <p:spPr/>
        <p:txBody>
          <a:bodyPr>
            <a:normAutofit/>
          </a:bodyPr>
          <a:lstStyle/>
          <a:p>
            <a:r>
              <a:rPr lang="en-US" dirty="0"/>
              <a:t>Who sets the price?</a:t>
            </a:r>
          </a:p>
        </p:txBody>
      </p:sp>
      <p:sp>
        <p:nvSpPr>
          <p:cNvPr id="3" name="Content Placeholder 2">
            <a:extLst>
              <a:ext uri="{FF2B5EF4-FFF2-40B4-BE49-F238E27FC236}">
                <a16:creationId xmlns:a16="http://schemas.microsoft.com/office/drawing/2014/main" id="{6AE92F2E-CFA7-BD47-9434-12405C99F1BE}"/>
              </a:ext>
            </a:extLst>
          </p:cNvPr>
          <p:cNvSpPr>
            <a:spLocks noGrp="1"/>
          </p:cNvSpPr>
          <p:nvPr>
            <p:ph idx="1"/>
          </p:nvPr>
        </p:nvSpPr>
        <p:spPr>
          <a:xfrm>
            <a:off x="838200" y="1600200"/>
            <a:ext cx="10515600" cy="5121275"/>
          </a:xfrm>
        </p:spPr>
        <p:txBody>
          <a:bodyPr>
            <a:noAutofit/>
          </a:bodyPr>
          <a:lstStyle/>
          <a:p>
            <a:pPr marL="400050" indent="-285750">
              <a:lnSpc>
                <a:spcPct val="120000"/>
              </a:lnSpc>
            </a:pPr>
            <a:r>
              <a:rPr lang="en-US" sz="1800" dirty="0"/>
              <a:t>Recall market rules from lecture:</a:t>
            </a:r>
          </a:p>
          <a:p>
            <a:pPr marL="400050" indent="-285750">
              <a:lnSpc>
                <a:spcPct val="120000"/>
              </a:lnSpc>
            </a:pPr>
            <a:endParaRPr lang="en-US" sz="1800" dirty="0"/>
          </a:p>
          <a:p>
            <a:pPr marL="400050" indent="-285750">
              <a:lnSpc>
                <a:spcPct val="120000"/>
              </a:lnSpc>
            </a:pPr>
            <a:endParaRPr lang="en-US" sz="1800" dirty="0"/>
          </a:p>
          <a:p>
            <a:pPr marL="400050" indent="-285750">
              <a:lnSpc>
                <a:spcPct val="120000"/>
              </a:lnSpc>
            </a:pPr>
            <a:endParaRPr lang="en-US" sz="1800" dirty="0"/>
          </a:p>
          <a:p>
            <a:pPr marL="400050" indent="-285750">
              <a:lnSpc>
                <a:spcPct val="120000"/>
              </a:lnSpc>
            </a:pPr>
            <a:endParaRPr lang="en-US" sz="1800" dirty="0"/>
          </a:p>
          <a:p>
            <a:pPr marL="400050" indent="-285750">
              <a:lnSpc>
                <a:spcPct val="120000"/>
              </a:lnSpc>
            </a:pPr>
            <a:endParaRPr lang="en-US" sz="1800" dirty="0"/>
          </a:p>
          <a:p>
            <a:pPr marL="400050" indent="-285750">
              <a:lnSpc>
                <a:spcPct val="120000"/>
              </a:lnSpc>
            </a:pPr>
            <a:endParaRPr lang="en-US" sz="1800" dirty="0"/>
          </a:p>
          <a:p>
            <a:pPr marL="400050" indent="-285750">
              <a:lnSpc>
                <a:spcPct val="120000"/>
              </a:lnSpc>
            </a:pPr>
            <a:endParaRPr lang="en-US" sz="1800" dirty="0"/>
          </a:p>
          <a:p>
            <a:pPr marL="400050" indent="-285750">
              <a:lnSpc>
                <a:spcPct val="120000"/>
              </a:lnSpc>
            </a:pPr>
            <a:r>
              <a:rPr lang="en-US" sz="1800" dirty="0"/>
              <a:t>Company’s dream: Charge each person their own WTP. </a:t>
            </a:r>
          </a:p>
          <a:p>
            <a:pPr marL="857250" lvl="1" indent="-285750">
              <a:lnSpc>
                <a:spcPct val="120000"/>
              </a:lnSpc>
            </a:pPr>
            <a:r>
              <a:rPr lang="en-US" sz="1800" dirty="0">
                <a:sym typeface="Wingdings" pitchFamily="2" charset="2"/>
              </a:rPr>
              <a:t> </a:t>
            </a:r>
            <a:r>
              <a:rPr lang="en-US" sz="1800" i="1" dirty="0"/>
              <a:t>We’ll explore this in the practice problem! </a:t>
            </a:r>
          </a:p>
        </p:txBody>
      </p:sp>
      <p:sp>
        <p:nvSpPr>
          <p:cNvPr id="4" name="Slide Number Placeholder 3">
            <a:extLst>
              <a:ext uri="{FF2B5EF4-FFF2-40B4-BE49-F238E27FC236}">
                <a16:creationId xmlns:a16="http://schemas.microsoft.com/office/drawing/2014/main" id="{6A5AB1ED-6C96-0F46-A4C5-63830FE0456A}"/>
              </a:ext>
            </a:extLst>
          </p:cNvPr>
          <p:cNvSpPr>
            <a:spLocks noGrp="1"/>
          </p:cNvSpPr>
          <p:nvPr>
            <p:ph type="sldNum" sz="quarter" idx="12"/>
          </p:nvPr>
        </p:nvSpPr>
        <p:spPr/>
        <p:txBody>
          <a:bodyPr/>
          <a:lstStyle/>
          <a:p>
            <a:fld id="{171A6C5B-A11A-470F-8319-62E6F3F410BC}" type="slidenum">
              <a:rPr lang="en-US" smtClean="0"/>
              <a:pPr/>
              <a:t>10</a:t>
            </a:fld>
            <a:endParaRPr lang="en-US"/>
          </a:p>
        </p:txBody>
      </p:sp>
      <mc:AlternateContent xmlns:mc="http://schemas.openxmlformats.org/markup-compatibility/2006" xmlns:a14="http://schemas.microsoft.com/office/drawing/2010/main">
        <mc:Choice Requires="a14">
          <p:graphicFrame>
            <p:nvGraphicFramePr>
              <p:cNvPr id="5" name="Table 4">
                <a:extLst>
                  <a:ext uri="{FF2B5EF4-FFF2-40B4-BE49-F238E27FC236}">
                    <a16:creationId xmlns:a16="http://schemas.microsoft.com/office/drawing/2014/main" id="{033112CC-07C7-57B5-3737-D6ABC9697FB1}"/>
                  </a:ext>
                </a:extLst>
              </p:cNvPr>
              <p:cNvGraphicFramePr>
                <a:graphicFrameLocks noGrp="1"/>
              </p:cNvGraphicFramePr>
              <p:nvPr>
                <p:extLst>
                  <p:ext uri="{D42A27DB-BD31-4B8C-83A1-F6EECF244321}">
                    <p14:modId xmlns:p14="http://schemas.microsoft.com/office/powerpoint/2010/main" val="2379215907"/>
                  </p:ext>
                </p:extLst>
              </p:nvPr>
            </p:nvGraphicFramePr>
            <p:xfrm>
              <a:off x="571500" y="2133600"/>
              <a:ext cx="11049000" cy="2971800"/>
            </p:xfrm>
            <a:graphic>
              <a:graphicData uri="http://schemas.openxmlformats.org/drawingml/2006/table">
                <a:tbl>
                  <a:tblPr firstRow="1" bandRow="1">
                    <a:tableStyleId>{073A0DAA-6AF3-43AB-8588-CEC1D06C72B9}</a:tableStyleId>
                  </a:tblPr>
                  <a:tblGrid>
                    <a:gridCol w="3683000">
                      <a:extLst>
                        <a:ext uri="{9D8B030D-6E8A-4147-A177-3AD203B41FA5}">
                          <a16:colId xmlns:a16="http://schemas.microsoft.com/office/drawing/2014/main" val="3707780026"/>
                        </a:ext>
                      </a:extLst>
                    </a:gridCol>
                    <a:gridCol w="3683000">
                      <a:extLst>
                        <a:ext uri="{9D8B030D-6E8A-4147-A177-3AD203B41FA5}">
                          <a16:colId xmlns:a16="http://schemas.microsoft.com/office/drawing/2014/main" val="183303201"/>
                        </a:ext>
                      </a:extLst>
                    </a:gridCol>
                    <a:gridCol w="3683000">
                      <a:extLst>
                        <a:ext uri="{9D8B030D-6E8A-4147-A177-3AD203B41FA5}">
                          <a16:colId xmlns:a16="http://schemas.microsoft.com/office/drawing/2014/main" val="928599604"/>
                        </a:ext>
                      </a:extLst>
                    </a:gridCol>
                  </a:tblGrid>
                  <a:tr h="481023">
                    <a:tc>
                      <a:txBody>
                        <a:bodyPr/>
                        <a:lstStyle/>
                        <a:p>
                          <a:r>
                            <a:rPr lang="en-US" dirty="0"/>
                            <a:t>Market Rule</a:t>
                          </a:r>
                        </a:p>
                      </a:txBody>
                      <a:tcPr/>
                    </a:tc>
                    <a:tc>
                      <a:txBody>
                        <a:bodyPr/>
                        <a:lstStyle/>
                        <a:p>
                          <a:r>
                            <a:rPr lang="en-US" dirty="0"/>
                            <a:t>What happens to price</a:t>
                          </a:r>
                        </a:p>
                      </a:txBody>
                      <a:tcPr/>
                    </a:tc>
                    <a:tc>
                      <a:txBody>
                        <a:bodyPr/>
                        <a:lstStyle/>
                        <a:p>
                          <a:r>
                            <a:rPr lang="en-US" dirty="0"/>
                            <a:t>Example</a:t>
                          </a:r>
                        </a:p>
                      </a:txBody>
                      <a:tcPr/>
                    </a:tc>
                    <a:extLst>
                      <a:ext uri="{0D108BD9-81ED-4DB2-BD59-A6C34878D82A}">
                        <a16:rowId xmlns:a16="http://schemas.microsoft.com/office/drawing/2014/main" val="2623517976"/>
                      </a:ext>
                    </a:extLst>
                  </a:tr>
                  <a:tr h="830259">
                    <a:tc>
                      <a:txBody>
                        <a:bodyPr/>
                        <a:lstStyle/>
                        <a:p>
                          <a:r>
                            <a:rPr lang="en-US" dirty="0"/>
                            <a:t>1. Any firm can make the drug</a:t>
                          </a:r>
                        </a:p>
                      </a:txBody>
                      <a:tcPr/>
                    </a:tc>
                    <a:tc>
                      <a:txBody>
                        <a:bodyPr/>
                        <a:lstStyle/>
                        <a:p>
                          <a:r>
                            <a:rPr lang="en-US" dirty="0"/>
                            <a:t>Competition pushes the price down to MC</a:t>
                          </a:r>
                        </a:p>
                      </a:txBody>
                      <a:tcPr/>
                    </a:tc>
                    <a:tc>
                      <a:txBody>
                        <a:bodyPr/>
                        <a:lstStyle/>
                        <a:p>
                          <a:r>
                            <a:rPr lang="en-US" dirty="0"/>
                            <a:t>Generic drugs, after patent expiration</a:t>
                          </a:r>
                        </a:p>
                      </a:txBody>
                      <a:tcPr/>
                    </a:tc>
                    <a:extLst>
                      <a:ext uri="{0D108BD9-81ED-4DB2-BD59-A6C34878D82A}">
                        <a16:rowId xmlns:a16="http://schemas.microsoft.com/office/drawing/2014/main" val="989664259"/>
                      </a:ext>
                    </a:extLst>
                  </a:tr>
                  <a:tr h="830259">
                    <a:tc>
                      <a:txBody>
                        <a:bodyPr/>
                        <a:lstStyle/>
                        <a:p>
                          <a:r>
                            <a:rPr lang="en-US" dirty="0"/>
                            <a:t>2. Only the patent holder can sell the drug</a:t>
                          </a:r>
                        </a:p>
                      </a:txBody>
                      <a:tcPr/>
                    </a:tc>
                    <a:tc>
                      <a:txBody>
                        <a:bodyPr/>
                        <a:lstStyle/>
                        <a:p>
                          <a:pPr marL="0" lvl="0" indent="0">
                            <a:buFont typeface="Arial" panose="020B0604020202020204" pitchFamily="34" charset="0"/>
                            <a:buNone/>
                          </a:pPr>
                          <a:r>
                            <a:rPr lang="en-US" dirty="0">
                              <a:solidFill>
                                <a:schemeClr val="tx1"/>
                              </a:solidFill>
                            </a:rPr>
                            <a:t>Price </a:t>
                          </a:r>
                          <a14:m>
                            <m:oMath xmlns:m="http://schemas.openxmlformats.org/officeDocument/2006/math">
                              <m:r>
                                <a:rPr lang="en-US" sz="1800" smtClean="0">
                                  <a:solidFill>
                                    <a:schemeClr val="tx1"/>
                                  </a:solidFill>
                                  <a:latin typeface="Cambria Math" panose="02040503050406030204" pitchFamily="18" charset="0"/>
                                </a:rPr>
                                <m:t>≥</m:t>
                              </m:r>
                            </m:oMath>
                          </a14:m>
                          <a:r>
                            <a:rPr lang="en-US" dirty="0">
                              <a:solidFill>
                                <a:schemeClr val="tx1"/>
                              </a:solidFill>
                            </a:rPr>
                            <a:t> </a:t>
                          </a:r>
                          <a:r>
                            <a:rPr lang="en-US" dirty="0"/>
                            <a:t>MC. The company picks the most</a:t>
                          </a:r>
                          <a:r>
                            <a:rPr lang="en-US" baseline="0" dirty="0"/>
                            <a:t> profitable price.</a:t>
                          </a:r>
                          <a:endParaRPr lang="en-US" dirty="0"/>
                        </a:p>
                      </a:txBody>
                      <a:tcPr/>
                    </a:tc>
                    <a:tc>
                      <a:txBody>
                        <a:bodyPr/>
                        <a:lstStyle/>
                        <a:p>
                          <a:r>
                            <a:rPr lang="en-US" dirty="0"/>
                            <a:t>Brand-name drugs under patent, like Keytruda</a:t>
                          </a:r>
                        </a:p>
                      </a:txBody>
                      <a:tcPr/>
                    </a:tc>
                    <a:extLst>
                      <a:ext uri="{0D108BD9-81ED-4DB2-BD59-A6C34878D82A}">
                        <a16:rowId xmlns:a16="http://schemas.microsoft.com/office/drawing/2014/main" val="3123315553"/>
                      </a:ext>
                    </a:extLst>
                  </a:tr>
                  <a:tr h="830259">
                    <a:tc>
                      <a:txBody>
                        <a:bodyPr/>
                        <a:lstStyle/>
                        <a:p>
                          <a:r>
                            <a:rPr lang="en-US" dirty="0"/>
                            <a:t>3. Only the patent holder + patients are well-insured</a:t>
                          </a:r>
                        </a:p>
                      </a:txBody>
                      <a:tcPr/>
                    </a:tc>
                    <a:tc>
                      <a:txBody>
                        <a:bodyPr/>
                        <a:lstStyle/>
                        <a:p>
                          <a:r>
                            <a:rPr lang="en-US" dirty="0"/>
                            <a:t>WTP is very high, so price goes as high as government or society allows</a:t>
                          </a:r>
                        </a:p>
                      </a:txBody>
                      <a:tcPr/>
                    </a:tc>
                    <a:tc>
                      <a:txBody>
                        <a:bodyPr/>
                        <a:lstStyle/>
                        <a:p>
                          <a:r>
                            <a:rPr lang="en-US" dirty="0"/>
                            <a:t>Specialty drugs in the US</a:t>
                          </a:r>
                        </a:p>
                      </a:txBody>
                      <a:tcPr/>
                    </a:tc>
                    <a:extLst>
                      <a:ext uri="{0D108BD9-81ED-4DB2-BD59-A6C34878D82A}">
                        <a16:rowId xmlns:a16="http://schemas.microsoft.com/office/drawing/2014/main" val="1639435218"/>
                      </a:ext>
                    </a:extLst>
                  </a:tr>
                </a:tbl>
              </a:graphicData>
            </a:graphic>
          </p:graphicFrame>
        </mc:Choice>
        <mc:Fallback xmlns="">
          <p:graphicFrame>
            <p:nvGraphicFramePr>
              <p:cNvPr id="5" name="Table 4">
                <a:extLst>
                  <a:ext uri="{FF2B5EF4-FFF2-40B4-BE49-F238E27FC236}">
                    <a16:creationId xmlns:a16="http://schemas.microsoft.com/office/drawing/2014/main" id="{033112CC-07C7-57B5-3737-D6ABC9697FB1}"/>
                  </a:ext>
                </a:extLst>
              </p:cNvPr>
              <p:cNvGraphicFramePr>
                <a:graphicFrameLocks noGrp="1"/>
              </p:cNvGraphicFramePr>
              <p:nvPr>
                <p:extLst>
                  <p:ext uri="{D42A27DB-BD31-4B8C-83A1-F6EECF244321}">
                    <p14:modId xmlns:p14="http://schemas.microsoft.com/office/powerpoint/2010/main" val="2379215907"/>
                  </p:ext>
                </p:extLst>
              </p:nvPr>
            </p:nvGraphicFramePr>
            <p:xfrm>
              <a:off x="571500" y="2133600"/>
              <a:ext cx="11049000" cy="2971800"/>
            </p:xfrm>
            <a:graphic>
              <a:graphicData uri="http://schemas.openxmlformats.org/drawingml/2006/table">
                <a:tbl>
                  <a:tblPr firstRow="1" bandRow="1">
                    <a:tableStyleId>{073A0DAA-6AF3-43AB-8588-CEC1D06C72B9}</a:tableStyleId>
                  </a:tblPr>
                  <a:tblGrid>
                    <a:gridCol w="3683000">
                      <a:extLst>
                        <a:ext uri="{9D8B030D-6E8A-4147-A177-3AD203B41FA5}">
                          <a16:colId xmlns:a16="http://schemas.microsoft.com/office/drawing/2014/main" val="3707780026"/>
                        </a:ext>
                      </a:extLst>
                    </a:gridCol>
                    <a:gridCol w="3683000">
                      <a:extLst>
                        <a:ext uri="{9D8B030D-6E8A-4147-A177-3AD203B41FA5}">
                          <a16:colId xmlns:a16="http://schemas.microsoft.com/office/drawing/2014/main" val="183303201"/>
                        </a:ext>
                      </a:extLst>
                    </a:gridCol>
                    <a:gridCol w="3683000">
                      <a:extLst>
                        <a:ext uri="{9D8B030D-6E8A-4147-A177-3AD203B41FA5}">
                          <a16:colId xmlns:a16="http://schemas.microsoft.com/office/drawing/2014/main" val="928599604"/>
                        </a:ext>
                      </a:extLst>
                    </a:gridCol>
                  </a:tblGrid>
                  <a:tr h="481023">
                    <a:tc>
                      <a:txBody>
                        <a:bodyPr/>
                        <a:lstStyle/>
                        <a:p>
                          <a:r>
                            <a:rPr lang="en-US" dirty="0"/>
                            <a:t>Market Rule</a:t>
                          </a:r>
                        </a:p>
                      </a:txBody>
                      <a:tcPr/>
                    </a:tc>
                    <a:tc>
                      <a:txBody>
                        <a:bodyPr/>
                        <a:lstStyle/>
                        <a:p>
                          <a:r>
                            <a:rPr lang="en-US" dirty="0"/>
                            <a:t>What happens to price</a:t>
                          </a:r>
                        </a:p>
                      </a:txBody>
                      <a:tcPr/>
                    </a:tc>
                    <a:tc>
                      <a:txBody>
                        <a:bodyPr/>
                        <a:lstStyle/>
                        <a:p>
                          <a:r>
                            <a:rPr lang="en-US" dirty="0"/>
                            <a:t>Example</a:t>
                          </a:r>
                        </a:p>
                      </a:txBody>
                      <a:tcPr/>
                    </a:tc>
                    <a:extLst>
                      <a:ext uri="{0D108BD9-81ED-4DB2-BD59-A6C34878D82A}">
                        <a16:rowId xmlns:a16="http://schemas.microsoft.com/office/drawing/2014/main" val="2623517976"/>
                      </a:ext>
                    </a:extLst>
                  </a:tr>
                  <a:tr h="830259">
                    <a:tc>
                      <a:txBody>
                        <a:bodyPr/>
                        <a:lstStyle/>
                        <a:p>
                          <a:r>
                            <a:rPr lang="en-US" dirty="0"/>
                            <a:t>1. Any firm can make the drug</a:t>
                          </a:r>
                        </a:p>
                      </a:txBody>
                      <a:tcPr/>
                    </a:tc>
                    <a:tc>
                      <a:txBody>
                        <a:bodyPr/>
                        <a:lstStyle/>
                        <a:p>
                          <a:r>
                            <a:rPr lang="en-US" dirty="0"/>
                            <a:t>Competition pushes the price down to MC</a:t>
                          </a:r>
                        </a:p>
                      </a:txBody>
                      <a:tcPr/>
                    </a:tc>
                    <a:tc>
                      <a:txBody>
                        <a:bodyPr/>
                        <a:lstStyle/>
                        <a:p>
                          <a:r>
                            <a:rPr lang="en-US" dirty="0"/>
                            <a:t>Generic drugs, after patent expiration</a:t>
                          </a:r>
                        </a:p>
                      </a:txBody>
                      <a:tcPr/>
                    </a:tc>
                    <a:extLst>
                      <a:ext uri="{0D108BD9-81ED-4DB2-BD59-A6C34878D82A}">
                        <a16:rowId xmlns:a16="http://schemas.microsoft.com/office/drawing/2014/main" val="989664259"/>
                      </a:ext>
                    </a:extLst>
                  </a:tr>
                  <a:tr h="830259">
                    <a:tc>
                      <a:txBody>
                        <a:bodyPr/>
                        <a:lstStyle/>
                        <a:p>
                          <a:r>
                            <a:rPr lang="en-US" dirty="0"/>
                            <a:t>2. Only the patent holder can sell the drug</a:t>
                          </a:r>
                        </a:p>
                      </a:txBody>
                      <a:tcPr/>
                    </a:tc>
                    <a:tc>
                      <a:txBody>
                        <a:bodyPr/>
                        <a:lstStyle/>
                        <a:p>
                          <a:endParaRPr lang="en-US"/>
                        </a:p>
                      </a:txBody>
                      <a:tcPr>
                        <a:blipFill>
                          <a:blip r:embed="rId3"/>
                          <a:stretch>
                            <a:fillRect l="-100345" t="-159091" r="-101034" b="-101515"/>
                          </a:stretch>
                        </a:blipFill>
                      </a:tcPr>
                    </a:tc>
                    <a:tc>
                      <a:txBody>
                        <a:bodyPr/>
                        <a:lstStyle/>
                        <a:p>
                          <a:r>
                            <a:rPr lang="en-US" dirty="0"/>
                            <a:t>Brand-name drugs under patent, like Keytruda</a:t>
                          </a:r>
                        </a:p>
                      </a:txBody>
                      <a:tcPr/>
                    </a:tc>
                    <a:extLst>
                      <a:ext uri="{0D108BD9-81ED-4DB2-BD59-A6C34878D82A}">
                        <a16:rowId xmlns:a16="http://schemas.microsoft.com/office/drawing/2014/main" val="3123315553"/>
                      </a:ext>
                    </a:extLst>
                  </a:tr>
                  <a:tr h="830259">
                    <a:tc>
                      <a:txBody>
                        <a:bodyPr/>
                        <a:lstStyle/>
                        <a:p>
                          <a:r>
                            <a:rPr lang="en-US" dirty="0"/>
                            <a:t>3. Only the patent holder + patients are well-insured</a:t>
                          </a:r>
                        </a:p>
                      </a:txBody>
                      <a:tcPr/>
                    </a:tc>
                    <a:tc>
                      <a:txBody>
                        <a:bodyPr/>
                        <a:lstStyle/>
                        <a:p>
                          <a:r>
                            <a:rPr lang="en-US" dirty="0"/>
                            <a:t>WTP is very high, so price goes as high as government or society allows</a:t>
                          </a:r>
                        </a:p>
                      </a:txBody>
                      <a:tcPr/>
                    </a:tc>
                    <a:tc>
                      <a:txBody>
                        <a:bodyPr/>
                        <a:lstStyle/>
                        <a:p>
                          <a:r>
                            <a:rPr lang="en-US" dirty="0"/>
                            <a:t>Specialty drugs in the US</a:t>
                          </a:r>
                        </a:p>
                      </a:txBody>
                      <a:tcPr/>
                    </a:tc>
                    <a:extLst>
                      <a:ext uri="{0D108BD9-81ED-4DB2-BD59-A6C34878D82A}">
                        <a16:rowId xmlns:a16="http://schemas.microsoft.com/office/drawing/2014/main" val="1639435218"/>
                      </a:ext>
                    </a:extLst>
                  </a:tr>
                </a:tbl>
              </a:graphicData>
            </a:graphic>
          </p:graphicFrame>
        </mc:Fallback>
      </mc:AlternateContent>
    </p:spTree>
    <p:extLst>
      <p:ext uri="{BB962C8B-B14F-4D97-AF65-F5344CB8AC3E}">
        <p14:creationId xmlns:p14="http://schemas.microsoft.com/office/powerpoint/2010/main" val="39848307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2FC7C7-7863-2A37-6B24-864C897969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0A2540-B6B7-8A49-BCFF-5C29E988C7F4}"/>
              </a:ext>
            </a:extLst>
          </p:cNvPr>
          <p:cNvSpPr>
            <a:spLocks noGrp="1"/>
          </p:cNvSpPr>
          <p:nvPr>
            <p:ph type="title"/>
          </p:nvPr>
        </p:nvSpPr>
        <p:spPr/>
        <p:txBody>
          <a:bodyPr>
            <a:normAutofit/>
          </a:bodyPr>
          <a:lstStyle/>
          <a:p>
            <a:r>
              <a:rPr lang="en-US" sz="3600" dirty="0"/>
              <a:t>Is a drug worth its price? </a:t>
            </a:r>
            <a:r>
              <a:rPr lang="en-US" sz="3600" dirty="0">
                <a:sym typeface="Wingdings" pitchFamily="2" charset="2"/>
              </a:rPr>
              <a:t> </a:t>
            </a:r>
            <a:r>
              <a:rPr lang="en-US" sz="3600" dirty="0"/>
              <a:t>cost-effectiveness</a:t>
            </a:r>
          </a:p>
        </p:txBody>
      </p:sp>
      <p:sp>
        <p:nvSpPr>
          <p:cNvPr id="3" name="Content Placeholder 2">
            <a:extLst>
              <a:ext uri="{FF2B5EF4-FFF2-40B4-BE49-F238E27FC236}">
                <a16:creationId xmlns:a16="http://schemas.microsoft.com/office/drawing/2014/main" id="{AE1B9743-572C-19C7-9B7E-A8EEDB2713EA}"/>
              </a:ext>
            </a:extLst>
          </p:cNvPr>
          <p:cNvSpPr>
            <a:spLocks noGrp="1"/>
          </p:cNvSpPr>
          <p:nvPr>
            <p:ph idx="1"/>
          </p:nvPr>
        </p:nvSpPr>
        <p:spPr>
          <a:xfrm>
            <a:off x="838200" y="1690688"/>
            <a:ext cx="10515600" cy="4802187"/>
          </a:xfrm>
        </p:spPr>
        <p:txBody>
          <a:bodyPr>
            <a:normAutofit/>
          </a:bodyPr>
          <a:lstStyle/>
          <a:p>
            <a:pPr fontAlgn="base">
              <a:spcBef>
                <a:spcPct val="0"/>
              </a:spcBef>
              <a:spcAft>
                <a:spcPct val="0"/>
              </a:spcAft>
            </a:pPr>
            <a:r>
              <a:rPr lang="en-US" sz="2000" dirty="0">
                <a:solidFill>
                  <a:schemeClr val="tx1"/>
                </a:solidFill>
              </a:rPr>
              <a:t>Value of a statistical life year in the US? </a:t>
            </a:r>
          </a:p>
          <a:p>
            <a:pPr lvl="1" fontAlgn="base">
              <a:spcBef>
                <a:spcPct val="0"/>
              </a:spcBef>
              <a:spcAft>
                <a:spcPct val="0"/>
              </a:spcAft>
            </a:pPr>
            <a:r>
              <a:rPr lang="en-US" sz="1800" dirty="0"/>
              <a:t>C</a:t>
            </a:r>
            <a:r>
              <a:rPr lang="en-US" sz="1800" dirty="0">
                <a:solidFill>
                  <a:schemeClr val="tx1"/>
                </a:solidFill>
              </a:rPr>
              <a:t>ommon rule of </a:t>
            </a:r>
            <a:r>
              <a:rPr lang="en-US" sz="1800" dirty="0"/>
              <a:t>thumb: $100,000 per year in perfect health</a:t>
            </a:r>
            <a:endParaRPr lang="en-US" sz="1600" dirty="0">
              <a:solidFill>
                <a:schemeClr val="tx1"/>
              </a:solidFill>
            </a:endParaRPr>
          </a:p>
          <a:p>
            <a:pPr fontAlgn="base">
              <a:spcBef>
                <a:spcPct val="0"/>
              </a:spcBef>
              <a:spcAft>
                <a:spcPct val="0"/>
              </a:spcAft>
            </a:pPr>
            <a:r>
              <a:rPr lang="en-US" sz="2000" dirty="0"/>
              <a:t>Two ways to ask the same question:</a:t>
            </a:r>
          </a:p>
          <a:p>
            <a:pPr fontAlgn="base">
              <a:spcBef>
                <a:spcPct val="0"/>
              </a:spcBef>
              <a:spcAft>
                <a:spcPct val="0"/>
              </a:spcAft>
            </a:pPr>
            <a:endParaRPr lang="en-US" sz="2000" dirty="0"/>
          </a:p>
          <a:p>
            <a:pPr fontAlgn="base">
              <a:spcBef>
                <a:spcPct val="0"/>
              </a:spcBef>
              <a:spcAft>
                <a:spcPct val="0"/>
              </a:spcAft>
            </a:pPr>
            <a:endParaRPr lang="en-US" sz="2000" dirty="0"/>
          </a:p>
          <a:p>
            <a:pPr fontAlgn="base">
              <a:spcBef>
                <a:spcPct val="0"/>
              </a:spcBef>
              <a:spcAft>
                <a:spcPct val="0"/>
              </a:spcAft>
            </a:pPr>
            <a:endParaRPr lang="en-US" sz="2000" dirty="0"/>
          </a:p>
          <a:p>
            <a:r>
              <a:rPr lang="en-US" sz="2000" dirty="0"/>
              <a:t>Example from lecture: </a:t>
            </a:r>
            <a:r>
              <a:rPr lang="en-US" sz="2000" dirty="0" err="1"/>
              <a:t>Provenge</a:t>
            </a:r>
            <a:r>
              <a:rPr lang="en-US" sz="2000" dirty="0"/>
              <a:t> costs $93,000 and adds 4 months (⅓ year) of life</a:t>
            </a:r>
          </a:p>
          <a:p>
            <a:pPr lvl="1"/>
            <a:r>
              <a:rPr lang="en-US" sz="1600" dirty="0"/>
              <a:t>Benefit = ⅓ × $100K ≈ $33K, which is </a:t>
            </a:r>
            <a:r>
              <a:rPr lang="en-US" sz="1600" b="1" dirty="0"/>
              <a:t>less</a:t>
            </a:r>
            <a:r>
              <a:rPr lang="en-US" sz="1600" dirty="0"/>
              <a:t> than the $93K price ✗</a:t>
            </a:r>
          </a:p>
          <a:p>
            <a:pPr lvl="1"/>
            <a:r>
              <a:rPr lang="en-US" sz="1600" dirty="0"/>
              <a:t>Cost per year = $93K ÷ ⅓ = $279K, which is </a:t>
            </a:r>
            <a:r>
              <a:rPr lang="en-US" sz="1600" b="1" dirty="0"/>
              <a:t>more</a:t>
            </a:r>
            <a:r>
              <a:rPr lang="en-US" sz="1600" dirty="0"/>
              <a:t> than $100K ✗</a:t>
            </a:r>
          </a:p>
          <a:p>
            <a:pPr lvl="1"/>
            <a:r>
              <a:rPr lang="en-US" sz="1600" dirty="0"/>
              <a:t>→ </a:t>
            </a:r>
            <a:r>
              <a:rPr lang="en-US" sz="1600" b="1" dirty="0"/>
              <a:t>Not cost-effective</a:t>
            </a:r>
            <a:r>
              <a:rPr lang="en-US" sz="1600" dirty="0"/>
              <a:t>, and both methods agree</a:t>
            </a:r>
          </a:p>
          <a:p>
            <a:pPr fontAlgn="base">
              <a:spcBef>
                <a:spcPct val="0"/>
              </a:spcBef>
              <a:spcAft>
                <a:spcPct val="0"/>
              </a:spcAft>
            </a:pPr>
            <a:endParaRPr lang="en-US" sz="2000" dirty="0"/>
          </a:p>
          <a:p>
            <a:pPr fontAlgn="base">
              <a:spcBef>
                <a:spcPct val="0"/>
              </a:spcBef>
              <a:spcAft>
                <a:spcPct val="0"/>
              </a:spcAft>
            </a:pPr>
            <a:endParaRPr lang="en-US" sz="2000" dirty="0"/>
          </a:p>
          <a:p>
            <a:pPr fontAlgn="base">
              <a:spcBef>
                <a:spcPct val="0"/>
              </a:spcBef>
              <a:spcAft>
                <a:spcPct val="0"/>
              </a:spcAft>
            </a:pPr>
            <a:endParaRPr lang="en-US" sz="2000" dirty="0">
              <a:solidFill>
                <a:schemeClr val="tx1"/>
              </a:solidFill>
            </a:endParaRPr>
          </a:p>
          <a:p>
            <a:pPr marL="114300" indent="0">
              <a:buNone/>
            </a:pPr>
            <a:endParaRPr lang="en-US" sz="2000" dirty="0"/>
          </a:p>
        </p:txBody>
      </p:sp>
      <p:sp>
        <p:nvSpPr>
          <p:cNvPr id="4" name="Slide Number Placeholder 3">
            <a:extLst>
              <a:ext uri="{FF2B5EF4-FFF2-40B4-BE49-F238E27FC236}">
                <a16:creationId xmlns:a16="http://schemas.microsoft.com/office/drawing/2014/main" id="{606081A2-9947-E813-CDCB-D01740645ADC}"/>
              </a:ext>
            </a:extLst>
          </p:cNvPr>
          <p:cNvSpPr>
            <a:spLocks noGrp="1"/>
          </p:cNvSpPr>
          <p:nvPr>
            <p:ph type="sldNum" sz="quarter" idx="12"/>
          </p:nvPr>
        </p:nvSpPr>
        <p:spPr/>
        <p:txBody>
          <a:bodyPr/>
          <a:lstStyle/>
          <a:p>
            <a:fld id="{171A6C5B-A11A-470F-8319-62E6F3F410BC}" type="slidenum">
              <a:rPr lang="en-US" smtClean="0"/>
              <a:pPr/>
              <a:t>11</a:t>
            </a:fld>
            <a:endParaRPr lang="en-US"/>
          </a:p>
        </p:txBody>
      </p:sp>
      <p:graphicFrame>
        <p:nvGraphicFramePr>
          <p:cNvPr id="5" name="Table 4">
            <a:extLst>
              <a:ext uri="{FF2B5EF4-FFF2-40B4-BE49-F238E27FC236}">
                <a16:creationId xmlns:a16="http://schemas.microsoft.com/office/drawing/2014/main" id="{4809748E-711D-AB31-2B89-5BF632B2F8F3}"/>
              </a:ext>
            </a:extLst>
          </p:cNvPr>
          <p:cNvGraphicFramePr>
            <a:graphicFrameLocks noGrp="1"/>
          </p:cNvGraphicFramePr>
          <p:nvPr>
            <p:extLst>
              <p:ext uri="{D42A27DB-BD31-4B8C-83A1-F6EECF244321}">
                <p14:modId xmlns:p14="http://schemas.microsoft.com/office/powerpoint/2010/main" val="9231572"/>
              </p:ext>
            </p:extLst>
          </p:nvPr>
        </p:nvGraphicFramePr>
        <p:xfrm>
          <a:off x="1600200" y="3434443"/>
          <a:ext cx="9601200" cy="1112520"/>
        </p:xfrm>
        <a:graphic>
          <a:graphicData uri="http://schemas.openxmlformats.org/drawingml/2006/table">
            <a:tbl>
              <a:tblPr firstRow="1" bandRow="1">
                <a:tableStyleId>{7DF18680-E054-41AD-8BC1-D1AEF772440D}</a:tableStyleId>
              </a:tblPr>
              <a:tblGrid>
                <a:gridCol w="3200400">
                  <a:extLst>
                    <a:ext uri="{9D8B030D-6E8A-4147-A177-3AD203B41FA5}">
                      <a16:colId xmlns:a16="http://schemas.microsoft.com/office/drawing/2014/main" val="2473179133"/>
                    </a:ext>
                  </a:extLst>
                </a:gridCol>
                <a:gridCol w="3200400">
                  <a:extLst>
                    <a:ext uri="{9D8B030D-6E8A-4147-A177-3AD203B41FA5}">
                      <a16:colId xmlns:a16="http://schemas.microsoft.com/office/drawing/2014/main" val="2182298940"/>
                    </a:ext>
                  </a:extLst>
                </a:gridCol>
                <a:gridCol w="3200400">
                  <a:extLst>
                    <a:ext uri="{9D8B030D-6E8A-4147-A177-3AD203B41FA5}">
                      <a16:colId xmlns:a16="http://schemas.microsoft.com/office/drawing/2014/main" val="2991226489"/>
                    </a:ext>
                  </a:extLst>
                </a:gridCol>
              </a:tblGrid>
              <a:tr h="370840">
                <a:tc>
                  <a:txBody>
                    <a:bodyPr/>
                    <a:lstStyle/>
                    <a:p>
                      <a:endParaRPr lang="en-US"/>
                    </a:p>
                  </a:txBody>
                  <a:tcPr/>
                </a:tc>
                <a:tc>
                  <a:txBody>
                    <a:bodyPr/>
                    <a:lstStyle/>
                    <a:p>
                      <a:r>
                        <a:rPr lang="en-US" dirty="0"/>
                        <a:t>Calculate</a:t>
                      </a:r>
                    </a:p>
                  </a:txBody>
                  <a:tcPr/>
                </a:tc>
                <a:tc>
                  <a:txBody>
                    <a:bodyPr/>
                    <a:lstStyle/>
                    <a:p>
                      <a:r>
                        <a:rPr lang="en-US" dirty="0"/>
                        <a:t>Worth it if…</a:t>
                      </a:r>
                    </a:p>
                  </a:txBody>
                  <a:tcPr/>
                </a:tc>
                <a:extLst>
                  <a:ext uri="{0D108BD9-81ED-4DB2-BD59-A6C34878D82A}">
                    <a16:rowId xmlns:a16="http://schemas.microsoft.com/office/drawing/2014/main" val="3298660402"/>
                  </a:ext>
                </a:extLst>
              </a:tr>
              <a:tr h="370840">
                <a:tc>
                  <a:txBody>
                    <a:bodyPr/>
                    <a:lstStyle/>
                    <a:p>
                      <a:r>
                        <a:rPr lang="en-US" dirty="0"/>
                        <a:t>Benefit vs. price (lecture)</a:t>
                      </a:r>
                    </a:p>
                  </a:txBody>
                  <a:tcPr/>
                </a:tc>
                <a:tc>
                  <a:txBody>
                    <a:bodyPr/>
                    <a:lstStyle/>
                    <a:p>
                      <a:r>
                        <a:rPr lang="en-US" dirty="0"/>
                        <a:t>Benefit = Years Gained x $100k</a:t>
                      </a:r>
                    </a:p>
                  </a:txBody>
                  <a:tcPr/>
                </a:tc>
                <a:tc>
                  <a:txBody>
                    <a:bodyPr/>
                    <a:lstStyle/>
                    <a:p>
                      <a:r>
                        <a:rPr lang="en-US" dirty="0"/>
                        <a:t>Benefit &gt; Price</a:t>
                      </a:r>
                    </a:p>
                  </a:txBody>
                  <a:tcPr/>
                </a:tc>
                <a:extLst>
                  <a:ext uri="{0D108BD9-81ED-4DB2-BD59-A6C34878D82A}">
                    <a16:rowId xmlns:a16="http://schemas.microsoft.com/office/drawing/2014/main" val="2212681950"/>
                  </a:ext>
                </a:extLst>
              </a:tr>
              <a:tr h="370840">
                <a:tc>
                  <a:txBody>
                    <a:bodyPr/>
                    <a:lstStyle/>
                    <a:p>
                      <a:r>
                        <a:rPr lang="en-US" dirty="0"/>
                        <a:t>Cost per year gained</a:t>
                      </a:r>
                    </a:p>
                  </a:txBody>
                  <a:tcPr/>
                </a:tc>
                <a:tc>
                  <a:txBody>
                    <a:bodyPr/>
                    <a:lstStyle/>
                    <a:p>
                      <a:r>
                        <a:rPr lang="en-US" dirty="0"/>
                        <a:t>Price ÷ Years Gained</a:t>
                      </a:r>
                    </a:p>
                  </a:txBody>
                  <a:tcPr/>
                </a:tc>
                <a:tc>
                  <a:txBody>
                    <a:bodyPr/>
                    <a:lstStyle/>
                    <a:p>
                      <a:r>
                        <a:rPr lang="en-US" dirty="0"/>
                        <a:t>Cost per year &lt; $100k</a:t>
                      </a:r>
                    </a:p>
                  </a:txBody>
                  <a:tcPr/>
                </a:tc>
                <a:extLst>
                  <a:ext uri="{0D108BD9-81ED-4DB2-BD59-A6C34878D82A}">
                    <a16:rowId xmlns:a16="http://schemas.microsoft.com/office/drawing/2014/main" val="1916973767"/>
                  </a:ext>
                </a:extLst>
              </a:tr>
            </a:tbl>
          </a:graphicData>
        </a:graphic>
      </p:graphicFrame>
    </p:spTree>
    <p:extLst>
      <p:ext uri="{BB962C8B-B14F-4D97-AF65-F5344CB8AC3E}">
        <p14:creationId xmlns:p14="http://schemas.microsoft.com/office/powerpoint/2010/main" val="25953778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982ACF-CEA6-1C48-99AD-AB3AC47A1AAA}"/>
              </a:ext>
            </a:extLst>
          </p:cNvPr>
          <p:cNvSpPr>
            <a:spLocks noGrp="1"/>
          </p:cNvSpPr>
          <p:nvPr>
            <p:ph type="title"/>
          </p:nvPr>
        </p:nvSpPr>
        <p:spPr/>
        <p:txBody>
          <a:bodyPr/>
          <a:lstStyle/>
          <a:p>
            <a:r>
              <a:rPr lang="en-US" dirty="0"/>
              <a:t>Practice Problem Prompt</a:t>
            </a:r>
          </a:p>
        </p:txBody>
      </p:sp>
      <p:sp>
        <p:nvSpPr>
          <p:cNvPr id="3" name="Content Placeholder 2">
            <a:extLst>
              <a:ext uri="{FF2B5EF4-FFF2-40B4-BE49-F238E27FC236}">
                <a16:creationId xmlns:a16="http://schemas.microsoft.com/office/drawing/2014/main" id="{57C1A583-F97D-134F-B161-4139E764591D}"/>
              </a:ext>
            </a:extLst>
          </p:cNvPr>
          <p:cNvSpPr>
            <a:spLocks noGrp="1"/>
          </p:cNvSpPr>
          <p:nvPr>
            <p:ph idx="1"/>
          </p:nvPr>
        </p:nvSpPr>
        <p:spPr/>
        <p:txBody>
          <a:bodyPr>
            <a:normAutofit/>
          </a:bodyPr>
          <a:lstStyle/>
          <a:p>
            <a:r>
              <a:rPr lang="en-US" sz="1600" dirty="0"/>
              <a:t>There are about 1-2 million of people living with </a:t>
            </a:r>
            <a:r>
              <a:rPr lang="en-US" sz="1600" b="1" dirty="0"/>
              <a:t>melanoma</a:t>
            </a:r>
            <a:r>
              <a:rPr lang="en-US" sz="1600" dirty="0"/>
              <a:t> (skin cancer) in the US. One person dies of melanoma every hour. New cancer drugs, called checkpoint inhibitors, remove the ability of some cancer cells to hide from the immune system. One checkpoint inhibitor, </a:t>
            </a:r>
            <a:r>
              <a:rPr lang="en-US" sz="1600" b="1" dirty="0"/>
              <a:t>Keytruda</a:t>
            </a:r>
            <a:r>
              <a:rPr lang="en-US" sz="1600" dirty="0"/>
              <a:t>, manufactured by </a:t>
            </a:r>
            <a:r>
              <a:rPr lang="en-US" sz="1600" b="1" dirty="0"/>
              <a:t>Merck</a:t>
            </a:r>
            <a:r>
              <a:rPr lang="en-US" sz="1600" dirty="0"/>
              <a:t>, increases survival of cancer patients significantly. In a clinical trial using Keytruda against melanoma, while the life expectancy of people not taking the drug was about </a:t>
            </a:r>
            <a:r>
              <a:rPr lang="en-US" sz="1600" b="1" dirty="0"/>
              <a:t>1</a:t>
            </a:r>
            <a:r>
              <a:rPr lang="en-US" sz="1600" dirty="0"/>
              <a:t> </a:t>
            </a:r>
            <a:r>
              <a:rPr lang="en-US" sz="1600" b="1" dirty="0"/>
              <a:t>year</a:t>
            </a:r>
            <a:r>
              <a:rPr lang="en-US" sz="1600" dirty="0"/>
              <a:t>, people taking the drug lived on average </a:t>
            </a:r>
            <a:r>
              <a:rPr lang="en-US" sz="1600" b="1" dirty="0"/>
              <a:t>3 years </a:t>
            </a:r>
            <a:r>
              <a:rPr lang="en-US" sz="1600" dirty="0"/>
              <a:t>(</a:t>
            </a:r>
            <a:r>
              <a:rPr lang="en-US" sz="1600" i="1" dirty="0"/>
              <a:t>this is simplified here for the purpose of this exercise</a:t>
            </a:r>
            <a:r>
              <a:rPr lang="en-US" sz="1600" dirty="0"/>
              <a:t>). Some patients have been completely cured.</a:t>
            </a:r>
          </a:p>
          <a:p>
            <a:r>
              <a:rPr lang="en-US" sz="1600" dirty="0"/>
              <a:t>Assume that the </a:t>
            </a:r>
            <a:r>
              <a:rPr lang="en-US" sz="1600" b="1" dirty="0"/>
              <a:t>development cost </a:t>
            </a:r>
            <a:r>
              <a:rPr lang="en-US" sz="1600" dirty="0"/>
              <a:t>(the fixed cost) for Keytruda was </a:t>
            </a:r>
            <a:r>
              <a:rPr lang="en-US" sz="1600" b="1" dirty="0"/>
              <a:t>$2.6 billion </a:t>
            </a:r>
            <a:r>
              <a:rPr lang="en-US" sz="1600" dirty="0"/>
              <a:t>and the </a:t>
            </a:r>
            <a:r>
              <a:rPr lang="en-US" sz="1600" b="1" dirty="0"/>
              <a:t>manufacturing cost </a:t>
            </a:r>
            <a:r>
              <a:rPr lang="en-US" sz="1600" dirty="0"/>
              <a:t>is </a:t>
            </a:r>
            <a:r>
              <a:rPr lang="en-US" sz="1600" b="1" dirty="0"/>
              <a:t>$1000 </a:t>
            </a:r>
            <a:r>
              <a:rPr lang="en-US" sz="1600" dirty="0"/>
              <a:t>for the entire course of treatment. Assume that people’s </a:t>
            </a:r>
            <a:r>
              <a:rPr lang="en-US" sz="1600" b="1" dirty="0"/>
              <a:t>willingness to pay </a:t>
            </a:r>
            <a:r>
              <a:rPr lang="en-US" sz="1600" dirty="0"/>
              <a:t>for Keytruda varies with the seriousness of the disease in the following way: for people with advanced metastatic cancer, Keytruda may be the only promising treatment option, and they are willing to pay more than people with less advanced forms of the disease.</a:t>
            </a:r>
          </a:p>
        </p:txBody>
      </p:sp>
      <p:sp>
        <p:nvSpPr>
          <p:cNvPr id="4" name="Slide Number Placeholder 3">
            <a:extLst>
              <a:ext uri="{FF2B5EF4-FFF2-40B4-BE49-F238E27FC236}">
                <a16:creationId xmlns:a16="http://schemas.microsoft.com/office/drawing/2014/main" id="{075CA122-6225-0749-97CB-E53F7123C2B7}"/>
              </a:ext>
            </a:extLst>
          </p:cNvPr>
          <p:cNvSpPr>
            <a:spLocks noGrp="1"/>
          </p:cNvSpPr>
          <p:nvPr>
            <p:ph type="sldNum" sz="quarter" idx="12"/>
          </p:nvPr>
        </p:nvSpPr>
        <p:spPr/>
        <p:txBody>
          <a:bodyPr/>
          <a:lstStyle/>
          <a:p>
            <a:fld id="{171A6C5B-A11A-470F-8319-62E6F3F410BC}" type="slidenum">
              <a:rPr lang="en-US" smtClean="0"/>
              <a:pPr/>
              <a:t>12</a:t>
            </a:fld>
            <a:endParaRPr lang="en-US"/>
          </a:p>
        </p:txBody>
      </p:sp>
    </p:spTree>
    <p:extLst>
      <p:ext uri="{BB962C8B-B14F-4D97-AF65-F5344CB8AC3E}">
        <p14:creationId xmlns:p14="http://schemas.microsoft.com/office/powerpoint/2010/main" val="42513118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E7CA09-6446-B14B-A647-23B01DAD1703}"/>
              </a:ext>
            </a:extLst>
          </p:cNvPr>
          <p:cNvSpPr>
            <a:spLocks noGrp="1"/>
          </p:cNvSpPr>
          <p:nvPr>
            <p:ph type="title"/>
          </p:nvPr>
        </p:nvSpPr>
        <p:spPr/>
        <p:txBody>
          <a:bodyPr>
            <a:normAutofit/>
          </a:bodyPr>
          <a:lstStyle/>
          <a:p>
            <a:r>
              <a:rPr lang="en-US" sz="4200" dirty="0"/>
              <a:t>Part 1: Merck can only charge one price </a:t>
            </a:r>
          </a:p>
        </p:txBody>
      </p:sp>
      <p:sp>
        <p:nvSpPr>
          <p:cNvPr id="3" name="Content Placeholder 2">
            <a:extLst>
              <a:ext uri="{FF2B5EF4-FFF2-40B4-BE49-F238E27FC236}">
                <a16:creationId xmlns:a16="http://schemas.microsoft.com/office/drawing/2014/main" id="{E372E4F5-CC35-C64E-AF68-FCC38B6B231E}"/>
              </a:ext>
            </a:extLst>
          </p:cNvPr>
          <p:cNvSpPr>
            <a:spLocks noGrp="1"/>
          </p:cNvSpPr>
          <p:nvPr>
            <p:ph idx="1"/>
          </p:nvPr>
        </p:nvSpPr>
        <p:spPr/>
        <p:txBody>
          <a:bodyPr>
            <a:normAutofit fontScale="70000" lnSpcReduction="20000"/>
          </a:bodyPr>
          <a:lstStyle/>
          <a:p>
            <a:pPr fontAlgn="base">
              <a:spcBef>
                <a:spcPct val="0"/>
              </a:spcBef>
              <a:spcAft>
                <a:spcPct val="0"/>
              </a:spcAft>
            </a:pPr>
            <a:r>
              <a:rPr lang="en-US" sz="2400" dirty="0">
                <a:solidFill>
                  <a:schemeClr val="tx1"/>
                </a:solidFill>
              </a:rPr>
              <a:t>In the following exercise, consider a population of 10,000 people and ignore the fixed costs.</a:t>
            </a:r>
          </a:p>
          <a:p>
            <a:pPr lvl="1" fontAlgn="base">
              <a:spcBef>
                <a:spcPct val="0"/>
              </a:spcBef>
              <a:spcAft>
                <a:spcPct val="0"/>
              </a:spcAft>
            </a:pPr>
            <a:r>
              <a:rPr lang="en-US" dirty="0">
                <a:solidFill>
                  <a:schemeClr val="tx1"/>
                </a:solidFill>
              </a:rPr>
              <a:t>400 have advanced metastatic cancer and are willing to pay $300,000</a:t>
            </a:r>
          </a:p>
          <a:p>
            <a:pPr lvl="1" fontAlgn="base">
              <a:spcBef>
                <a:spcPct val="0"/>
              </a:spcBef>
              <a:spcAft>
                <a:spcPct val="0"/>
              </a:spcAft>
            </a:pPr>
            <a:r>
              <a:rPr lang="en-US" dirty="0">
                <a:solidFill>
                  <a:schemeClr val="tx1"/>
                </a:solidFill>
              </a:rPr>
              <a:t>600 have a less advanced form of cancer and are willing to pay $100,000</a:t>
            </a:r>
          </a:p>
          <a:p>
            <a:pPr lvl="1" fontAlgn="base">
              <a:spcBef>
                <a:spcPct val="0"/>
              </a:spcBef>
              <a:spcAft>
                <a:spcPct val="0"/>
              </a:spcAft>
            </a:pPr>
            <a:r>
              <a:rPr lang="en-US" dirty="0">
                <a:solidFill>
                  <a:schemeClr val="tx1"/>
                </a:solidFill>
              </a:rPr>
              <a:t>1,000 have a less advanced form of the disease and they are not insured and are willing to pay $1,000. </a:t>
            </a:r>
          </a:p>
          <a:p>
            <a:pPr lvl="1" fontAlgn="base">
              <a:spcBef>
                <a:spcPct val="0"/>
              </a:spcBef>
              <a:spcAft>
                <a:spcPct val="0"/>
              </a:spcAft>
            </a:pPr>
            <a:r>
              <a:rPr lang="en-US" dirty="0">
                <a:solidFill>
                  <a:schemeClr val="tx1"/>
                </a:solidFill>
              </a:rPr>
              <a:t>1,000 have a less advanced form of the disease and they are not insured and are willing to pay $500. </a:t>
            </a:r>
          </a:p>
          <a:p>
            <a:endParaRPr lang="en-US" sz="2400" dirty="0"/>
          </a:p>
          <a:p>
            <a:pPr marL="114300" indent="0" fontAlgn="base">
              <a:spcBef>
                <a:spcPct val="0"/>
              </a:spcBef>
              <a:spcAft>
                <a:spcPct val="0"/>
              </a:spcAft>
              <a:buNone/>
            </a:pPr>
            <a:r>
              <a:rPr lang="en-US" sz="2400" b="1" dirty="0"/>
              <a:t>Q1: On a graph with quantity on the X axis and price on the Y axis, draw the supply and demand curves.</a:t>
            </a:r>
          </a:p>
          <a:p>
            <a:pPr marL="114300" indent="0" fontAlgn="base">
              <a:spcBef>
                <a:spcPct val="0"/>
              </a:spcBef>
              <a:spcAft>
                <a:spcPct val="0"/>
              </a:spcAft>
              <a:buNone/>
            </a:pPr>
            <a:endParaRPr lang="en-US" sz="2400" b="1" dirty="0"/>
          </a:p>
          <a:p>
            <a:pPr marL="114300" indent="0" fontAlgn="base">
              <a:spcBef>
                <a:spcPct val="0"/>
              </a:spcBef>
              <a:spcAft>
                <a:spcPct val="0"/>
              </a:spcAft>
              <a:buNone/>
            </a:pPr>
            <a:r>
              <a:rPr lang="en-US" sz="2400" b="1" dirty="0"/>
              <a:t>Q2: What price will Merck charge? Who gets Keytruda?</a:t>
            </a:r>
          </a:p>
          <a:p>
            <a:pPr fontAlgn="base">
              <a:spcBef>
                <a:spcPct val="0"/>
              </a:spcBef>
              <a:spcAft>
                <a:spcPct val="0"/>
              </a:spcAft>
            </a:pPr>
            <a:endParaRPr lang="en-US" sz="2200" dirty="0">
              <a:solidFill>
                <a:schemeClr val="tx1"/>
              </a:solidFill>
            </a:endParaRPr>
          </a:p>
          <a:p>
            <a:endParaRPr lang="en-US" dirty="0"/>
          </a:p>
        </p:txBody>
      </p:sp>
      <p:sp>
        <p:nvSpPr>
          <p:cNvPr id="4" name="Slide Number Placeholder 3">
            <a:extLst>
              <a:ext uri="{FF2B5EF4-FFF2-40B4-BE49-F238E27FC236}">
                <a16:creationId xmlns:a16="http://schemas.microsoft.com/office/drawing/2014/main" id="{F567894C-B81C-314C-93BE-4D46C5D2CDDE}"/>
              </a:ext>
            </a:extLst>
          </p:cNvPr>
          <p:cNvSpPr>
            <a:spLocks noGrp="1"/>
          </p:cNvSpPr>
          <p:nvPr>
            <p:ph type="sldNum" sz="quarter" idx="12"/>
          </p:nvPr>
        </p:nvSpPr>
        <p:spPr/>
        <p:txBody>
          <a:bodyPr/>
          <a:lstStyle/>
          <a:p>
            <a:fld id="{171A6C5B-A11A-470F-8319-62E6F3F410BC}" type="slidenum">
              <a:rPr lang="en-US" smtClean="0"/>
              <a:pPr/>
              <a:t>13</a:t>
            </a:fld>
            <a:endParaRPr lang="en-US"/>
          </a:p>
        </p:txBody>
      </p:sp>
    </p:spTree>
    <p:extLst>
      <p:ext uri="{BB962C8B-B14F-4D97-AF65-F5344CB8AC3E}">
        <p14:creationId xmlns:p14="http://schemas.microsoft.com/office/powerpoint/2010/main" val="3841148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E7CA09-6446-B14B-A647-23B01DAD1703}"/>
              </a:ext>
            </a:extLst>
          </p:cNvPr>
          <p:cNvSpPr>
            <a:spLocks noGrp="1"/>
          </p:cNvSpPr>
          <p:nvPr>
            <p:ph type="title"/>
          </p:nvPr>
        </p:nvSpPr>
        <p:spPr/>
        <p:txBody>
          <a:bodyPr>
            <a:normAutofit/>
          </a:bodyPr>
          <a:lstStyle/>
          <a:p>
            <a:r>
              <a:rPr lang="en-US" sz="4200" dirty="0"/>
              <a:t>Part 1: Merck can only charge one price </a:t>
            </a:r>
          </a:p>
        </p:txBody>
      </p:sp>
      <p:sp>
        <p:nvSpPr>
          <p:cNvPr id="4" name="Slide Number Placeholder 3">
            <a:extLst>
              <a:ext uri="{FF2B5EF4-FFF2-40B4-BE49-F238E27FC236}">
                <a16:creationId xmlns:a16="http://schemas.microsoft.com/office/drawing/2014/main" id="{F567894C-B81C-314C-93BE-4D46C5D2CDDE}"/>
              </a:ext>
            </a:extLst>
          </p:cNvPr>
          <p:cNvSpPr>
            <a:spLocks noGrp="1"/>
          </p:cNvSpPr>
          <p:nvPr>
            <p:ph type="sldNum" sz="quarter" idx="12"/>
          </p:nvPr>
        </p:nvSpPr>
        <p:spPr/>
        <p:txBody>
          <a:bodyPr/>
          <a:lstStyle/>
          <a:p>
            <a:fld id="{171A6C5B-A11A-470F-8319-62E6F3F410BC}" type="slidenum">
              <a:rPr lang="en-US" smtClean="0"/>
              <a:pPr/>
              <a:t>14</a:t>
            </a:fld>
            <a:endParaRPr lang="en-US"/>
          </a:p>
        </p:txBody>
      </p:sp>
      <p:sp>
        <p:nvSpPr>
          <p:cNvPr id="7" name="Content Placeholder 2">
            <a:extLst>
              <a:ext uri="{FF2B5EF4-FFF2-40B4-BE49-F238E27FC236}">
                <a16:creationId xmlns:a16="http://schemas.microsoft.com/office/drawing/2014/main" id="{FE5C8821-6F42-2315-E5C7-84139BAEF435}"/>
              </a:ext>
            </a:extLst>
          </p:cNvPr>
          <p:cNvSpPr>
            <a:spLocks noGrp="1"/>
          </p:cNvSpPr>
          <p:nvPr>
            <p:ph idx="1"/>
          </p:nvPr>
        </p:nvSpPr>
        <p:spPr>
          <a:xfrm>
            <a:off x="838200" y="1526314"/>
            <a:ext cx="10515600" cy="4373563"/>
          </a:xfrm>
        </p:spPr>
        <p:txBody>
          <a:bodyPr>
            <a:normAutofit/>
          </a:bodyPr>
          <a:lstStyle/>
          <a:p>
            <a:pPr marL="114300" indent="0" fontAlgn="base">
              <a:spcBef>
                <a:spcPct val="0"/>
              </a:spcBef>
              <a:spcAft>
                <a:spcPct val="0"/>
              </a:spcAft>
              <a:buNone/>
            </a:pPr>
            <a:r>
              <a:rPr lang="en-US" sz="1600" b="1" dirty="0"/>
              <a:t>Q1: On a graph with quantity on the X axis and price on the Y axis, draw the supply and demand curves.</a:t>
            </a:r>
          </a:p>
          <a:p>
            <a:pPr marL="114300" indent="0" fontAlgn="base">
              <a:spcBef>
                <a:spcPct val="0"/>
              </a:spcBef>
              <a:spcAft>
                <a:spcPct val="0"/>
              </a:spcAft>
              <a:buNone/>
            </a:pPr>
            <a:endParaRPr lang="en-US" sz="1800" dirty="0">
              <a:solidFill>
                <a:srgbClr val="008000"/>
              </a:solidFill>
            </a:endParaRPr>
          </a:p>
          <a:p>
            <a:pPr marL="114300" indent="0" fontAlgn="base">
              <a:spcBef>
                <a:spcPct val="0"/>
              </a:spcBef>
              <a:spcAft>
                <a:spcPct val="0"/>
              </a:spcAft>
              <a:buNone/>
            </a:pPr>
            <a:endParaRPr lang="en-US" sz="1800" dirty="0">
              <a:solidFill>
                <a:srgbClr val="008000"/>
              </a:solidFill>
            </a:endParaRPr>
          </a:p>
          <a:p>
            <a:pPr marL="114300" indent="0" fontAlgn="base">
              <a:spcBef>
                <a:spcPct val="0"/>
              </a:spcBef>
              <a:spcAft>
                <a:spcPct val="0"/>
              </a:spcAft>
              <a:buNone/>
            </a:pPr>
            <a:endParaRPr lang="en-US" sz="1800" dirty="0">
              <a:solidFill>
                <a:srgbClr val="008000"/>
              </a:solidFill>
            </a:endParaRPr>
          </a:p>
          <a:p>
            <a:pPr marL="114300" indent="0" fontAlgn="base">
              <a:spcBef>
                <a:spcPct val="0"/>
              </a:spcBef>
              <a:spcAft>
                <a:spcPct val="0"/>
              </a:spcAft>
              <a:buNone/>
            </a:pPr>
            <a:endParaRPr lang="en-US" sz="1800" dirty="0">
              <a:solidFill>
                <a:srgbClr val="008000"/>
              </a:solidFill>
            </a:endParaRPr>
          </a:p>
          <a:p>
            <a:pPr marL="114300" indent="0" fontAlgn="base">
              <a:spcBef>
                <a:spcPct val="0"/>
              </a:spcBef>
              <a:spcAft>
                <a:spcPct val="0"/>
              </a:spcAft>
              <a:buNone/>
            </a:pPr>
            <a:endParaRPr lang="en-US" sz="1800" dirty="0">
              <a:solidFill>
                <a:srgbClr val="008000"/>
              </a:solidFill>
            </a:endParaRPr>
          </a:p>
          <a:p>
            <a:pPr marL="114300" indent="0" fontAlgn="base">
              <a:spcBef>
                <a:spcPct val="0"/>
              </a:spcBef>
              <a:spcAft>
                <a:spcPct val="0"/>
              </a:spcAft>
              <a:buNone/>
            </a:pPr>
            <a:endParaRPr lang="en-US" sz="1800" dirty="0">
              <a:solidFill>
                <a:srgbClr val="008000"/>
              </a:solidFill>
            </a:endParaRPr>
          </a:p>
          <a:p>
            <a:pPr marL="114300" indent="0" fontAlgn="base">
              <a:spcBef>
                <a:spcPct val="0"/>
              </a:spcBef>
              <a:spcAft>
                <a:spcPct val="0"/>
              </a:spcAft>
              <a:buNone/>
            </a:pPr>
            <a:endParaRPr lang="en-US" sz="1800" dirty="0">
              <a:solidFill>
                <a:srgbClr val="008000"/>
              </a:solidFill>
            </a:endParaRPr>
          </a:p>
          <a:p>
            <a:pPr marL="114300" indent="0" fontAlgn="base">
              <a:spcBef>
                <a:spcPct val="0"/>
              </a:spcBef>
              <a:spcAft>
                <a:spcPct val="0"/>
              </a:spcAft>
              <a:buNone/>
            </a:pPr>
            <a:endParaRPr lang="en-US" sz="1800" dirty="0">
              <a:solidFill>
                <a:srgbClr val="008000"/>
              </a:solidFill>
            </a:endParaRPr>
          </a:p>
          <a:p>
            <a:pPr marL="114300" indent="0" fontAlgn="base">
              <a:spcBef>
                <a:spcPct val="0"/>
              </a:spcBef>
              <a:spcAft>
                <a:spcPct val="0"/>
              </a:spcAft>
              <a:buNone/>
            </a:pPr>
            <a:endParaRPr lang="en-US" sz="1800" dirty="0">
              <a:solidFill>
                <a:srgbClr val="008000"/>
              </a:solidFill>
            </a:endParaRPr>
          </a:p>
          <a:p>
            <a:pPr fontAlgn="base">
              <a:spcBef>
                <a:spcPct val="0"/>
              </a:spcBef>
              <a:spcAft>
                <a:spcPct val="0"/>
              </a:spcAft>
            </a:pPr>
            <a:endParaRPr lang="en-US" sz="2200" dirty="0">
              <a:solidFill>
                <a:schemeClr val="tx1"/>
              </a:solidFill>
              <a:latin typeface="Century Gothic" panose="020B0502020202020204" pitchFamily="34" charset="0"/>
            </a:endParaRPr>
          </a:p>
          <a:p>
            <a:endParaRPr lang="en-US" dirty="0"/>
          </a:p>
        </p:txBody>
      </p:sp>
      <p:pic>
        <p:nvPicPr>
          <p:cNvPr id="6" name="Picture 5">
            <a:extLst>
              <a:ext uri="{FF2B5EF4-FFF2-40B4-BE49-F238E27FC236}">
                <a16:creationId xmlns:a16="http://schemas.microsoft.com/office/drawing/2014/main" id="{85E9BC92-56C1-3436-3115-1C2F9A44E99D}"/>
              </a:ext>
            </a:extLst>
          </p:cNvPr>
          <p:cNvPicPr>
            <a:picLocks noChangeAspect="1"/>
          </p:cNvPicPr>
          <p:nvPr/>
        </p:nvPicPr>
        <p:blipFill>
          <a:blip r:embed="rId3"/>
          <a:stretch>
            <a:fillRect/>
          </a:stretch>
        </p:blipFill>
        <p:spPr>
          <a:xfrm>
            <a:off x="2209800" y="2058035"/>
            <a:ext cx="7772400" cy="4663440"/>
          </a:xfrm>
          <a:prstGeom prst="rect">
            <a:avLst/>
          </a:prstGeom>
        </p:spPr>
      </p:pic>
    </p:spTree>
    <p:extLst>
      <p:ext uri="{BB962C8B-B14F-4D97-AF65-F5344CB8AC3E}">
        <p14:creationId xmlns:p14="http://schemas.microsoft.com/office/powerpoint/2010/main" val="3785983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E7CA09-6446-B14B-A647-23B01DAD1703}"/>
              </a:ext>
            </a:extLst>
          </p:cNvPr>
          <p:cNvSpPr>
            <a:spLocks noGrp="1"/>
          </p:cNvSpPr>
          <p:nvPr>
            <p:ph type="title"/>
          </p:nvPr>
        </p:nvSpPr>
        <p:spPr/>
        <p:txBody>
          <a:bodyPr>
            <a:normAutofit/>
          </a:bodyPr>
          <a:lstStyle/>
          <a:p>
            <a:r>
              <a:rPr lang="en-US" sz="4200" dirty="0"/>
              <a:t>Part 1: Merck can only charge one price </a:t>
            </a:r>
          </a:p>
        </p:txBody>
      </p:sp>
      <p:sp>
        <p:nvSpPr>
          <p:cNvPr id="4" name="Slide Number Placeholder 3">
            <a:extLst>
              <a:ext uri="{FF2B5EF4-FFF2-40B4-BE49-F238E27FC236}">
                <a16:creationId xmlns:a16="http://schemas.microsoft.com/office/drawing/2014/main" id="{F567894C-B81C-314C-93BE-4D46C5D2CDDE}"/>
              </a:ext>
            </a:extLst>
          </p:cNvPr>
          <p:cNvSpPr>
            <a:spLocks noGrp="1"/>
          </p:cNvSpPr>
          <p:nvPr>
            <p:ph type="sldNum" sz="quarter" idx="12"/>
          </p:nvPr>
        </p:nvSpPr>
        <p:spPr/>
        <p:txBody>
          <a:bodyPr/>
          <a:lstStyle/>
          <a:p>
            <a:fld id="{171A6C5B-A11A-470F-8319-62E6F3F410BC}" type="slidenum">
              <a:rPr lang="en-US" smtClean="0"/>
              <a:pPr/>
              <a:t>15</a:t>
            </a:fld>
            <a:endParaRPr lang="en-US"/>
          </a:p>
        </p:txBody>
      </p:sp>
      <p:sp>
        <p:nvSpPr>
          <p:cNvPr id="6" name="Content Placeholder 2">
            <a:extLst>
              <a:ext uri="{FF2B5EF4-FFF2-40B4-BE49-F238E27FC236}">
                <a16:creationId xmlns:a16="http://schemas.microsoft.com/office/drawing/2014/main" id="{B1D15077-0F9A-F86B-D044-2B45D94CD1A3}"/>
              </a:ext>
            </a:extLst>
          </p:cNvPr>
          <p:cNvSpPr txBox="1">
            <a:spLocks/>
          </p:cNvSpPr>
          <p:nvPr/>
        </p:nvSpPr>
        <p:spPr>
          <a:xfrm>
            <a:off x="370114" y="1854177"/>
            <a:ext cx="4838851" cy="437356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14300" indent="0" fontAlgn="base">
              <a:spcBef>
                <a:spcPct val="0"/>
              </a:spcBef>
              <a:spcAft>
                <a:spcPct val="0"/>
              </a:spcAft>
              <a:buFont typeface="Arial" panose="020B0604020202020204" pitchFamily="34" charset="0"/>
              <a:buNone/>
            </a:pPr>
            <a:r>
              <a:rPr lang="en-US" sz="1800" b="1" dirty="0">
                <a:latin typeface="Arial" panose="020B0604020202020204" pitchFamily="34" charset="0"/>
                <a:cs typeface="Arial" panose="020B0604020202020204" pitchFamily="34" charset="0"/>
              </a:rPr>
              <a:t>Q2: What price will Merck charge? </a:t>
            </a:r>
          </a:p>
          <a:p>
            <a:pPr marL="0" indent="0" fontAlgn="base">
              <a:spcBef>
                <a:spcPct val="0"/>
              </a:spcBef>
              <a:spcAft>
                <a:spcPct val="0"/>
              </a:spcAft>
              <a:buNone/>
            </a:pPr>
            <a:endParaRPr lang="en-US" sz="2200" dirty="0">
              <a:latin typeface="Arial" panose="020B0604020202020204" pitchFamily="34" charset="0"/>
              <a:cs typeface="Arial" panose="020B0604020202020204" pitchFamily="34" charset="0"/>
            </a:endParaRPr>
          </a:p>
          <a:p>
            <a:pPr marL="0" indent="0" fontAlgn="base">
              <a:spcBef>
                <a:spcPct val="0"/>
              </a:spcBef>
              <a:spcAft>
                <a:spcPct val="0"/>
              </a:spcAft>
              <a:buNone/>
            </a:pPr>
            <a:endParaRPr lang="en-US" sz="2200" dirty="0">
              <a:latin typeface="Arial" panose="020B0604020202020204" pitchFamily="34" charset="0"/>
              <a:cs typeface="Arial" panose="020B0604020202020204" pitchFamily="34" charset="0"/>
            </a:endParaRPr>
          </a:p>
        </p:txBody>
      </p:sp>
      <p:pic>
        <p:nvPicPr>
          <p:cNvPr id="3" name="Picture 2">
            <a:extLst>
              <a:ext uri="{FF2B5EF4-FFF2-40B4-BE49-F238E27FC236}">
                <a16:creationId xmlns:a16="http://schemas.microsoft.com/office/drawing/2014/main" id="{4870A831-5342-5125-97E1-A6FCD1DCA142}"/>
              </a:ext>
            </a:extLst>
          </p:cNvPr>
          <p:cNvPicPr>
            <a:picLocks noChangeAspect="1"/>
          </p:cNvPicPr>
          <p:nvPr/>
        </p:nvPicPr>
        <p:blipFill>
          <a:blip r:embed="rId3"/>
          <a:stretch>
            <a:fillRect/>
          </a:stretch>
        </p:blipFill>
        <p:spPr>
          <a:xfrm>
            <a:off x="4827965" y="1921419"/>
            <a:ext cx="7211635" cy="4326981"/>
          </a:xfrm>
          <a:prstGeom prst="rect">
            <a:avLst/>
          </a:prstGeom>
        </p:spPr>
      </p:pic>
      <p:graphicFrame>
        <p:nvGraphicFramePr>
          <p:cNvPr id="5" name="Table 4">
            <a:extLst>
              <a:ext uri="{FF2B5EF4-FFF2-40B4-BE49-F238E27FC236}">
                <a16:creationId xmlns:a16="http://schemas.microsoft.com/office/drawing/2014/main" id="{DCA71582-4101-446D-E120-4891C3ED1409}"/>
              </a:ext>
            </a:extLst>
          </p:cNvPr>
          <p:cNvGraphicFramePr>
            <a:graphicFrameLocks noGrp="1"/>
          </p:cNvGraphicFramePr>
          <p:nvPr>
            <p:extLst>
              <p:ext uri="{D42A27DB-BD31-4B8C-83A1-F6EECF244321}">
                <p14:modId xmlns:p14="http://schemas.microsoft.com/office/powerpoint/2010/main" val="903953350"/>
              </p:ext>
            </p:extLst>
          </p:nvPr>
        </p:nvGraphicFramePr>
        <p:xfrm>
          <a:off x="170694" y="2787264"/>
          <a:ext cx="4629906" cy="1849120"/>
        </p:xfrm>
        <a:graphic>
          <a:graphicData uri="http://schemas.openxmlformats.org/drawingml/2006/table">
            <a:tbl>
              <a:tblPr firstRow="1" bandRow="1">
                <a:tableStyleId>{93296810-A885-4BE3-A3E7-6D5BEEA58F35}</a:tableStyleId>
              </a:tblPr>
              <a:tblGrid>
                <a:gridCol w="1044845">
                  <a:extLst>
                    <a:ext uri="{9D8B030D-6E8A-4147-A177-3AD203B41FA5}">
                      <a16:colId xmlns:a16="http://schemas.microsoft.com/office/drawing/2014/main" val="4084365346"/>
                    </a:ext>
                  </a:extLst>
                </a:gridCol>
                <a:gridCol w="984868">
                  <a:extLst>
                    <a:ext uri="{9D8B030D-6E8A-4147-A177-3AD203B41FA5}">
                      <a16:colId xmlns:a16="http://schemas.microsoft.com/office/drawing/2014/main" val="105315224"/>
                    </a:ext>
                  </a:extLst>
                </a:gridCol>
                <a:gridCol w="2600193">
                  <a:extLst>
                    <a:ext uri="{9D8B030D-6E8A-4147-A177-3AD203B41FA5}">
                      <a16:colId xmlns:a16="http://schemas.microsoft.com/office/drawing/2014/main" val="1169804669"/>
                    </a:ext>
                  </a:extLst>
                </a:gridCol>
              </a:tblGrid>
              <a:tr h="0">
                <a:tc>
                  <a:txBody>
                    <a:bodyPr/>
                    <a:lstStyle/>
                    <a:p>
                      <a:pPr algn="ctr"/>
                      <a:r>
                        <a:rPr lang="en-US" dirty="0"/>
                        <a:t>Price</a:t>
                      </a:r>
                    </a:p>
                  </a:txBody>
                  <a:tcPr anchor="ctr"/>
                </a:tc>
                <a:tc>
                  <a:txBody>
                    <a:bodyPr/>
                    <a:lstStyle/>
                    <a:p>
                      <a:pPr algn="ctr"/>
                      <a:r>
                        <a:rPr lang="en-US" dirty="0"/>
                        <a:t>Units</a:t>
                      </a:r>
                    </a:p>
                  </a:txBody>
                  <a:tcPr anchor="ctr"/>
                </a:tc>
                <a:tc>
                  <a:txBody>
                    <a:bodyPr/>
                    <a:lstStyle/>
                    <a:p>
                      <a:pPr algn="ctr"/>
                      <a:r>
                        <a:rPr lang="en-US" dirty="0"/>
                        <a:t>Profit </a:t>
                      </a:r>
                      <a:r>
                        <a:rPr lang="en-US" sz="1400" dirty="0"/>
                        <a:t>= (Price- MC) * Units</a:t>
                      </a:r>
                      <a:endParaRPr lang="en-US" dirty="0"/>
                    </a:p>
                  </a:txBody>
                  <a:tcPr anchor="ctr"/>
                </a:tc>
                <a:extLst>
                  <a:ext uri="{0D108BD9-81ED-4DB2-BD59-A6C34878D82A}">
                    <a16:rowId xmlns:a16="http://schemas.microsoft.com/office/drawing/2014/main" val="2920843972"/>
                  </a:ext>
                </a:extLst>
              </a:tr>
              <a:tr h="370840">
                <a:tc>
                  <a:txBody>
                    <a:bodyPr/>
                    <a:lstStyle/>
                    <a:p>
                      <a:pPr algn="ctr"/>
                      <a:r>
                        <a:rPr lang="en-US" dirty="0"/>
                        <a:t>$300k</a:t>
                      </a:r>
                    </a:p>
                  </a:txBody>
                  <a:tcPr anchor="ctr"/>
                </a:tc>
                <a:tc>
                  <a:txBody>
                    <a:bodyPr/>
                    <a:lstStyle/>
                    <a:p>
                      <a:pPr algn="ctr"/>
                      <a:r>
                        <a:rPr lang="en-US" dirty="0"/>
                        <a:t>400</a:t>
                      </a:r>
                    </a:p>
                  </a:txBody>
                  <a:tcPr anchor="ctr"/>
                </a:tc>
                <a:tc>
                  <a:txBody>
                    <a:bodyPr/>
                    <a:lstStyle/>
                    <a:p>
                      <a:pPr algn="ctr"/>
                      <a:r>
                        <a:rPr lang="en-US" dirty="0"/>
                        <a:t>$119.6M </a:t>
                      </a:r>
                      <a:r>
                        <a:rPr lang="en-US" dirty="0">
                          <a:sym typeface="Wingdings" pitchFamily="2" charset="2"/>
                        </a:rPr>
                        <a:t> Best</a:t>
                      </a:r>
                      <a:endParaRPr lang="en-US" dirty="0"/>
                    </a:p>
                  </a:txBody>
                  <a:tcPr anchor="ctr"/>
                </a:tc>
                <a:extLst>
                  <a:ext uri="{0D108BD9-81ED-4DB2-BD59-A6C34878D82A}">
                    <a16:rowId xmlns:a16="http://schemas.microsoft.com/office/drawing/2014/main" val="674179483"/>
                  </a:ext>
                </a:extLst>
              </a:tr>
              <a:tr h="370840">
                <a:tc>
                  <a:txBody>
                    <a:bodyPr/>
                    <a:lstStyle/>
                    <a:p>
                      <a:pPr algn="ctr"/>
                      <a:r>
                        <a:rPr lang="en-US" dirty="0"/>
                        <a:t>$100k</a:t>
                      </a:r>
                    </a:p>
                  </a:txBody>
                  <a:tcPr anchor="ctr"/>
                </a:tc>
                <a:tc>
                  <a:txBody>
                    <a:bodyPr/>
                    <a:lstStyle/>
                    <a:p>
                      <a:pPr algn="ctr"/>
                      <a:r>
                        <a:rPr lang="en-US" dirty="0"/>
                        <a:t>1,000</a:t>
                      </a:r>
                    </a:p>
                  </a:txBody>
                  <a:tcPr anchor="ctr"/>
                </a:tc>
                <a:tc>
                  <a:txBody>
                    <a:bodyPr/>
                    <a:lstStyle/>
                    <a:p>
                      <a:pPr algn="ctr"/>
                      <a:r>
                        <a:rPr lang="en-US" dirty="0"/>
                        <a:t>$99M</a:t>
                      </a:r>
                    </a:p>
                  </a:txBody>
                  <a:tcPr anchor="ctr"/>
                </a:tc>
                <a:extLst>
                  <a:ext uri="{0D108BD9-81ED-4DB2-BD59-A6C34878D82A}">
                    <a16:rowId xmlns:a16="http://schemas.microsoft.com/office/drawing/2014/main" val="2567761460"/>
                  </a:ext>
                </a:extLst>
              </a:tr>
              <a:tr h="370840">
                <a:tc>
                  <a:txBody>
                    <a:bodyPr/>
                    <a:lstStyle/>
                    <a:p>
                      <a:pPr algn="ctr"/>
                      <a:r>
                        <a:rPr lang="en-US" dirty="0"/>
                        <a:t>$1k</a:t>
                      </a:r>
                    </a:p>
                  </a:txBody>
                  <a:tcPr anchor="ctr"/>
                </a:tc>
                <a:tc>
                  <a:txBody>
                    <a:bodyPr/>
                    <a:lstStyle/>
                    <a:p>
                      <a:pPr algn="ctr"/>
                      <a:r>
                        <a:rPr lang="en-US" dirty="0"/>
                        <a:t>2,000</a:t>
                      </a:r>
                    </a:p>
                  </a:txBody>
                  <a:tcPr anchor="ctr"/>
                </a:tc>
                <a:tc>
                  <a:txBody>
                    <a:bodyPr/>
                    <a:lstStyle/>
                    <a:p>
                      <a:pPr algn="ctr"/>
                      <a:r>
                        <a:rPr lang="en-US" dirty="0"/>
                        <a:t>$0</a:t>
                      </a:r>
                    </a:p>
                  </a:txBody>
                  <a:tcPr anchor="ctr"/>
                </a:tc>
                <a:extLst>
                  <a:ext uri="{0D108BD9-81ED-4DB2-BD59-A6C34878D82A}">
                    <a16:rowId xmlns:a16="http://schemas.microsoft.com/office/drawing/2014/main" val="3945441974"/>
                  </a:ext>
                </a:extLst>
              </a:tr>
              <a:tr h="370840">
                <a:tc>
                  <a:txBody>
                    <a:bodyPr/>
                    <a:lstStyle/>
                    <a:p>
                      <a:pPr algn="ctr"/>
                      <a:r>
                        <a:rPr lang="en-US" dirty="0"/>
                        <a:t>$500</a:t>
                      </a:r>
                    </a:p>
                  </a:txBody>
                  <a:tcPr anchor="ctr"/>
                </a:tc>
                <a:tc>
                  <a:txBody>
                    <a:bodyPr/>
                    <a:lstStyle/>
                    <a:p>
                      <a:pPr algn="ctr"/>
                      <a:r>
                        <a:rPr lang="en-US" dirty="0"/>
                        <a:t>3,000</a:t>
                      </a:r>
                    </a:p>
                  </a:txBody>
                  <a:tcPr anchor="ctr"/>
                </a:tc>
                <a:tc>
                  <a:txBody>
                    <a:bodyPr/>
                    <a:lstStyle/>
                    <a:p>
                      <a:pPr algn="ctr"/>
                      <a:r>
                        <a:rPr lang="en-US" dirty="0"/>
                        <a:t>-$1.5M (losing money)</a:t>
                      </a:r>
                    </a:p>
                  </a:txBody>
                  <a:tcPr anchor="ctr"/>
                </a:tc>
                <a:extLst>
                  <a:ext uri="{0D108BD9-81ED-4DB2-BD59-A6C34878D82A}">
                    <a16:rowId xmlns:a16="http://schemas.microsoft.com/office/drawing/2014/main" val="3594812851"/>
                  </a:ext>
                </a:extLst>
              </a:tr>
            </a:tbl>
          </a:graphicData>
        </a:graphic>
      </p:graphicFrame>
      <p:sp>
        <p:nvSpPr>
          <p:cNvPr id="7" name="TextBox 6">
            <a:extLst>
              <a:ext uri="{FF2B5EF4-FFF2-40B4-BE49-F238E27FC236}">
                <a16:creationId xmlns:a16="http://schemas.microsoft.com/office/drawing/2014/main" id="{5ACD4F00-EE2C-3A58-7693-6BDC6024F30C}"/>
              </a:ext>
            </a:extLst>
          </p:cNvPr>
          <p:cNvSpPr txBox="1"/>
          <p:nvPr/>
        </p:nvSpPr>
        <p:spPr>
          <a:xfrm>
            <a:off x="248709" y="4970247"/>
            <a:ext cx="4949370" cy="353943"/>
          </a:xfrm>
          <a:prstGeom prst="rect">
            <a:avLst/>
          </a:prstGeom>
          <a:noFill/>
        </p:spPr>
        <p:txBody>
          <a:bodyPr wrap="square" rtlCol="0">
            <a:spAutoFit/>
          </a:bodyPr>
          <a:lstStyle/>
          <a:p>
            <a:r>
              <a:rPr lang="en-US" sz="1700" dirty="0">
                <a:solidFill>
                  <a:schemeClr val="accent1"/>
                </a:solidFill>
                <a:latin typeface="Arial" panose="020B0604020202020204" pitchFamily="34" charset="0"/>
                <a:cs typeface="Arial" panose="020B0604020202020204" pitchFamily="34" charset="0"/>
              </a:rPr>
              <a:t>--&gt; Merck charges $300k</a:t>
            </a:r>
          </a:p>
        </p:txBody>
      </p:sp>
    </p:spTree>
    <p:extLst>
      <p:ext uri="{BB962C8B-B14F-4D97-AF65-F5344CB8AC3E}">
        <p14:creationId xmlns:p14="http://schemas.microsoft.com/office/powerpoint/2010/main" val="31232884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9BF49A-E816-123B-7E05-BB9C7630B9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B22BC1-B690-BEEC-EB87-66B0B7446F4B}"/>
              </a:ext>
            </a:extLst>
          </p:cNvPr>
          <p:cNvSpPr>
            <a:spLocks noGrp="1"/>
          </p:cNvSpPr>
          <p:nvPr>
            <p:ph type="title"/>
          </p:nvPr>
        </p:nvSpPr>
        <p:spPr/>
        <p:txBody>
          <a:bodyPr>
            <a:normAutofit/>
          </a:bodyPr>
          <a:lstStyle/>
          <a:p>
            <a:r>
              <a:rPr lang="en-US" sz="4200" dirty="0"/>
              <a:t>Part 1: Merck can only charge one price </a:t>
            </a:r>
          </a:p>
        </p:txBody>
      </p:sp>
      <p:sp>
        <p:nvSpPr>
          <p:cNvPr id="4" name="Slide Number Placeholder 3">
            <a:extLst>
              <a:ext uri="{FF2B5EF4-FFF2-40B4-BE49-F238E27FC236}">
                <a16:creationId xmlns:a16="http://schemas.microsoft.com/office/drawing/2014/main" id="{3A1A53DD-7992-BB7B-8FBD-2D176A0696FE}"/>
              </a:ext>
            </a:extLst>
          </p:cNvPr>
          <p:cNvSpPr>
            <a:spLocks noGrp="1"/>
          </p:cNvSpPr>
          <p:nvPr>
            <p:ph type="sldNum" sz="quarter" idx="12"/>
          </p:nvPr>
        </p:nvSpPr>
        <p:spPr/>
        <p:txBody>
          <a:bodyPr/>
          <a:lstStyle/>
          <a:p>
            <a:fld id="{171A6C5B-A11A-470F-8319-62E6F3F410BC}" type="slidenum">
              <a:rPr lang="en-US" smtClean="0"/>
              <a:pPr/>
              <a:t>16</a:t>
            </a:fld>
            <a:endParaRPr lang="en-US"/>
          </a:p>
        </p:txBody>
      </p:sp>
      <p:sp>
        <p:nvSpPr>
          <p:cNvPr id="6" name="Content Placeholder 2">
            <a:extLst>
              <a:ext uri="{FF2B5EF4-FFF2-40B4-BE49-F238E27FC236}">
                <a16:creationId xmlns:a16="http://schemas.microsoft.com/office/drawing/2014/main" id="{C3060028-FF87-97DB-35A3-750F4DEBDCE3}"/>
              </a:ext>
            </a:extLst>
          </p:cNvPr>
          <p:cNvSpPr txBox="1">
            <a:spLocks/>
          </p:cNvSpPr>
          <p:nvPr/>
        </p:nvSpPr>
        <p:spPr>
          <a:xfrm>
            <a:off x="370115" y="1854177"/>
            <a:ext cx="4278086" cy="437356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14300" indent="0" fontAlgn="base">
              <a:spcBef>
                <a:spcPct val="0"/>
              </a:spcBef>
              <a:spcAft>
                <a:spcPct val="0"/>
              </a:spcAft>
              <a:buFont typeface="Arial" panose="020B0604020202020204" pitchFamily="34" charset="0"/>
              <a:buNone/>
            </a:pPr>
            <a:r>
              <a:rPr lang="en-US" sz="1800" b="1" dirty="0">
                <a:latin typeface="Arial" panose="020B0604020202020204" pitchFamily="34" charset="0"/>
                <a:cs typeface="Arial" panose="020B0604020202020204" pitchFamily="34" charset="0"/>
              </a:rPr>
              <a:t>Q2: Who gets Keytruda?</a:t>
            </a:r>
          </a:p>
          <a:p>
            <a:pPr marL="114300" indent="0" fontAlgn="base">
              <a:spcBef>
                <a:spcPct val="0"/>
              </a:spcBef>
              <a:spcAft>
                <a:spcPct val="0"/>
              </a:spcAft>
              <a:buFont typeface="Arial" panose="020B0604020202020204" pitchFamily="34" charset="0"/>
              <a:buNone/>
            </a:pPr>
            <a:endParaRPr lang="en-US" sz="1800" b="1" dirty="0">
              <a:latin typeface="Arial" panose="020B0604020202020204" pitchFamily="34" charset="0"/>
              <a:cs typeface="Arial" panose="020B0604020202020204" pitchFamily="34" charset="0"/>
            </a:endParaRPr>
          </a:p>
          <a:p>
            <a:pPr marL="114300" indent="0" fontAlgn="base">
              <a:spcBef>
                <a:spcPct val="0"/>
              </a:spcBef>
              <a:spcAft>
                <a:spcPct val="0"/>
              </a:spcAft>
              <a:buFont typeface="Arial" panose="020B0604020202020204" pitchFamily="34" charset="0"/>
              <a:buNone/>
            </a:pPr>
            <a:endParaRPr lang="en-US" sz="1800" b="1" dirty="0">
              <a:latin typeface="Arial" panose="020B0604020202020204" pitchFamily="34" charset="0"/>
              <a:cs typeface="Arial" panose="020B0604020202020204" pitchFamily="34" charset="0"/>
            </a:endParaRPr>
          </a:p>
          <a:p>
            <a:pPr marL="400050" indent="-285750" fontAlgn="base">
              <a:spcBef>
                <a:spcPct val="0"/>
              </a:spcBef>
              <a:spcAft>
                <a:spcPct val="0"/>
              </a:spcAft>
            </a:pPr>
            <a:r>
              <a:rPr lang="en-US" sz="1800" dirty="0">
                <a:solidFill>
                  <a:schemeClr val="accent1"/>
                </a:solidFill>
                <a:latin typeface="Arial" panose="020B0604020202020204" pitchFamily="34" charset="0"/>
                <a:cs typeface="Arial" panose="020B0604020202020204" pitchFamily="34" charset="0"/>
              </a:rPr>
              <a:t>Only the 400 patients with advanced cancer.</a:t>
            </a:r>
          </a:p>
          <a:p>
            <a:pPr marL="400050" indent="-285750" fontAlgn="base">
              <a:spcBef>
                <a:spcPct val="0"/>
              </a:spcBef>
              <a:spcAft>
                <a:spcPct val="0"/>
              </a:spcAft>
            </a:pPr>
            <a:endParaRPr lang="en-US" sz="1800" dirty="0">
              <a:solidFill>
                <a:schemeClr val="accent1"/>
              </a:solidFill>
              <a:latin typeface="Arial" panose="020B0604020202020204" pitchFamily="34" charset="0"/>
              <a:cs typeface="Arial" panose="020B0604020202020204" pitchFamily="34" charset="0"/>
            </a:endParaRPr>
          </a:p>
          <a:p>
            <a:pPr marL="400050" indent="-285750" fontAlgn="base">
              <a:spcBef>
                <a:spcPct val="0"/>
              </a:spcBef>
              <a:spcAft>
                <a:spcPct val="0"/>
              </a:spcAft>
            </a:pPr>
            <a:r>
              <a:rPr lang="en-US" sz="1800" dirty="0">
                <a:solidFill>
                  <a:schemeClr val="accent1"/>
                </a:solidFill>
                <a:latin typeface="Arial" panose="020B0604020202020204" pitchFamily="34" charset="0"/>
                <a:cs typeface="Arial" panose="020B0604020202020204" pitchFamily="34" charset="0"/>
              </a:rPr>
              <a:t>The other 2,600 patients with melanoma go without, including 600 who were willing-to-pay $100k, far above what it costs to make.</a:t>
            </a:r>
          </a:p>
          <a:p>
            <a:pPr marL="0" indent="0" fontAlgn="base">
              <a:spcBef>
                <a:spcPct val="0"/>
              </a:spcBef>
              <a:spcAft>
                <a:spcPct val="0"/>
              </a:spcAft>
              <a:buNone/>
            </a:pPr>
            <a:endParaRPr lang="en-US" sz="2200" dirty="0">
              <a:solidFill>
                <a:schemeClr val="accent1"/>
              </a:solidFill>
              <a:latin typeface="Arial" panose="020B0604020202020204" pitchFamily="34" charset="0"/>
              <a:cs typeface="Arial" panose="020B0604020202020204" pitchFamily="34" charset="0"/>
            </a:endParaRPr>
          </a:p>
          <a:p>
            <a:pPr marL="0" indent="0" fontAlgn="base">
              <a:spcBef>
                <a:spcPct val="0"/>
              </a:spcBef>
              <a:spcAft>
                <a:spcPct val="0"/>
              </a:spcAft>
              <a:buNone/>
            </a:pPr>
            <a:endParaRPr lang="en-US" sz="2200" dirty="0">
              <a:latin typeface="Arial" panose="020B0604020202020204" pitchFamily="34" charset="0"/>
              <a:cs typeface="Arial" panose="020B0604020202020204" pitchFamily="34" charset="0"/>
            </a:endParaRPr>
          </a:p>
        </p:txBody>
      </p:sp>
      <p:pic>
        <p:nvPicPr>
          <p:cNvPr id="3" name="Picture 2">
            <a:extLst>
              <a:ext uri="{FF2B5EF4-FFF2-40B4-BE49-F238E27FC236}">
                <a16:creationId xmlns:a16="http://schemas.microsoft.com/office/drawing/2014/main" id="{BA611AD4-F21F-C1B9-AD86-2A148DDE727C}"/>
              </a:ext>
            </a:extLst>
          </p:cNvPr>
          <p:cNvPicPr>
            <a:picLocks noChangeAspect="1"/>
          </p:cNvPicPr>
          <p:nvPr/>
        </p:nvPicPr>
        <p:blipFill>
          <a:blip r:embed="rId3"/>
          <a:stretch>
            <a:fillRect/>
          </a:stretch>
        </p:blipFill>
        <p:spPr>
          <a:xfrm>
            <a:off x="4827965" y="1921419"/>
            <a:ext cx="7211635" cy="4326981"/>
          </a:xfrm>
          <a:prstGeom prst="rect">
            <a:avLst/>
          </a:prstGeom>
        </p:spPr>
      </p:pic>
    </p:spTree>
    <p:extLst>
      <p:ext uri="{BB962C8B-B14F-4D97-AF65-F5344CB8AC3E}">
        <p14:creationId xmlns:p14="http://schemas.microsoft.com/office/powerpoint/2010/main" val="25532766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B7118-B276-604C-A708-09932F0E6246}"/>
              </a:ext>
            </a:extLst>
          </p:cNvPr>
          <p:cNvSpPr>
            <a:spLocks noGrp="1"/>
          </p:cNvSpPr>
          <p:nvPr>
            <p:ph type="title"/>
          </p:nvPr>
        </p:nvSpPr>
        <p:spPr/>
        <p:txBody>
          <a:bodyPr>
            <a:normAutofit/>
          </a:bodyPr>
          <a:lstStyle/>
          <a:p>
            <a:r>
              <a:rPr lang="en-US" sz="4200" dirty="0"/>
              <a:t>Part 2: Merck can charge different prices </a:t>
            </a:r>
          </a:p>
        </p:txBody>
      </p:sp>
      <p:sp>
        <p:nvSpPr>
          <p:cNvPr id="3" name="Content Placeholder 2">
            <a:extLst>
              <a:ext uri="{FF2B5EF4-FFF2-40B4-BE49-F238E27FC236}">
                <a16:creationId xmlns:a16="http://schemas.microsoft.com/office/drawing/2014/main" id="{2CFAF9FF-7FD1-0540-88FE-5117322F1015}"/>
              </a:ext>
            </a:extLst>
          </p:cNvPr>
          <p:cNvSpPr>
            <a:spLocks noGrp="1"/>
          </p:cNvSpPr>
          <p:nvPr>
            <p:ph idx="1"/>
          </p:nvPr>
        </p:nvSpPr>
        <p:spPr>
          <a:xfrm>
            <a:off x="457200" y="1573840"/>
            <a:ext cx="11353800" cy="4674559"/>
          </a:xfrm>
        </p:spPr>
        <p:txBody>
          <a:bodyPr>
            <a:noAutofit/>
          </a:bodyPr>
          <a:lstStyle/>
          <a:p>
            <a:pPr fontAlgn="base">
              <a:spcBef>
                <a:spcPct val="0"/>
              </a:spcBef>
              <a:spcAft>
                <a:spcPct val="0"/>
              </a:spcAft>
            </a:pPr>
            <a:r>
              <a:rPr lang="en-US" sz="1800" dirty="0"/>
              <a:t>Now, Merck can charge </a:t>
            </a:r>
            <a:r>
              <a:rPr lang="en-US" sz="1800" b="1" dirty="0"/>
              <a:t>different prices to different groups </a:t>
            </a:r>
            <a:r>
              <a:rPr lang="en-US" sz="1800" dirty="0"/>
              <a:t>for the same drug. Assume Merck can stop people from reselling it. </a:t>
            </a:r>
            <a:endParaRPr lang="en-US" sz="1800" dirty="0">
              <a:solidFill>
                <a:schemeClr val="tx1"/>
              </a:solidFill>
            </a:endParaRPr>
          </a:p>
          <a:p>
            <a:pPr fontAlgn="base">
              <a:spcBef>
                <a:spcPct val="0"/>
              </a:spcBef>
              <a:spcAft>
                <a:spcPct val="0"/>
              </a:spcAft>
            </a:pPr>
            <a:r>
              <a:rPr lang="en-US" sz="1800" dirty="0">
                <a:solidFill>
                  <a:schemeClr val="tx1"/>
                </a:solidFill>
              </a:rPr>
              <a:t>In the following exercise, consider a population of 10000 people and ignore the fixed costs.</a:t>
            </a:r>
          </a:p>
          <a:p>
            <a:pPr lvl="1" fontAlgn="base">
              <a:spcBef>
                <a:spcPct val="0"/>
              </a:spcBef>
              <a:spcAft>
                <a:spcPct val="0"/>
              </a:spcAft>
            </a:pPr>
            <a:r>
              <a:rPr lang="en-US" sz="1800" dirty="0">
                <a:solidFill>
                  <a:schemeClr val="tx1"/>
                </a:solidFill>
              </a:rPr>
              <a:t>400 have advanced metastatic cancer and are willing to pay $300,000</a:t>
            </a:r>
          </a:p>
          <a:p>
            <a:pPr lvl="1" fontAlgn="base">
              <a:spcBef>
                <a:spcPct val="0"/>
              </a:spcBef>
              <a:spcAft>
                <a:spcPct val="0"/>
              </a:spcAft>
            </a:pPr>
            <a:r>
              <a:rPr lang="en-US" sz="1800" dirty="0">
                <a:solidFill>
                  <a:schemeClr val="tx1"/>
                </a:solidFill>
              </a:rPr>
              <a:t>600 have a less advanced form of cancer and are willing to pay $100,000</a:t>
            </a:r>
          </a:p>
          <a:p>
            <a:pPr lvl="1" fontAlgn="base">
              <a:spcBef>
                <a:spcPct val="0"/>
              </a:spcBef>
              <a:spcAft>
                <a:spcPct val="0"/>
              </a:spcAft>
            </a:pPr>
            <a:r>
              <a:rPr lang="en-US" sz="1800" dirty="0">
                <a:solidFill>
                  <a:schemeClr val="tx1"/>
                </a:solidFill>
              </a:rPr>
              <a:t>1,000 have a less advanced form of the disease and they are not insured and are willing to pay $1,000. </a:t>
            </a:r>
          </a:p>
          <a:p>
            <a:pPr lvl="1" fontAlgn="base">
              <a:spcBef>
                <a:spcPct val="0"/>
              </a:spcBef>
              <a:spcAft>
                <a:spcPct val="0"/>
              </a:spcAft>
            </a:pPr>
            <a:r>
              <a:rPr lang="en-US" sz="1800" dirty="0">
                <a:solidFill>
                  <a:schemeClr val="tx1"/>
                </a:solidFill>
              </a:rPr>
              <a:t>1,000 have a less advanced form of the disease and they are not insured and are willing to pay $500. </a:t>
            </a:r>
          </a:p>
          <a:p>
            <a:pPr lvl="1" fontAlgn="base">
              <a:spcBef>
                <a:spcPct val="0"/>
              </a:spcBef>
              <a:spcAft>
                <a:spcPct val="0"/>
              </a:spcAft>
            </a:pPr>
            <a:endParaRPr lang="en-US" sz="1400" dirty="0"/>
          </a:p>
          <a:p>
            <a:pPr fontAlgn="base">
              <a:spcBef>
                <a:spcPct val="0"/>
              </a:spcBef>
              <a:spcAft>
                <a:spcPct val="0"/>
              </a:spcAft>
            </a:pPr>
            <a:r>
              <a:rPr lang="en-US" sz="1800" b="1" dirty="0"/>
              <a:t>Q1: What price will Merck charge each group? What are its total profits? Who gets Keytruda now?</a:t>
            </a:r>
          </a:p>
          <a:p>
            <a:pPr fontAlgn="base">
              <a:spcBef>
                <a:spcPct val="0"/>
              </a:spcBef>
              <a:spcAft>
                <a:spcPct val="0"/>
              </a:spcAft>
            </a:pPr>
            <a:r>
              <a:rPr lang="en-US" sz="1800" b="1" dirty="0"/>
              <a:t>Q2: Does Merck make more profits when it can charge one price or differentiated prices?</a:t>
            </a:r>
          </a:p>
          <a:p>
            <a:pPr fontAlgn="base">
              <a:spcBef>
                <a:spcPct val="0"/>
              </a:spcBef>
              <a:spcAft>
                <a:spcPct val="0"/>
              </a:spcAft>
            </a:pPr>
            <a:r>
              <a:rPr lang="en-US" sz="1800" b="1" dirty="0"/>
              <a:t>Q3: Give one pro and one con of differentiated pricing for </a:t>
            </a:r>
            <a:r>
              <a:rPr lang="en-US" sz="1800" b="1" u="sng" dirty="0"/>
              <a:t>Merck</a:t>
            </a:r>
            <a:r>
              <a:rPr lang="en-US" sz="1800" b="1" dirty="0"/>
              <a:t>, and one each for </a:t>
            </a:r>
            <a:r>
              <a:rPr lang="en-US" sz="1800" b="1" u="sng" dirty="0"/>
              <a:t>patients</a:t>
            </a:r>
            <a:r>
              <a:rPr lang="en-US" sz="1800" b="1" dirty="0"/>
              <a:t>. </a:t>
            </a:r>
          </a:p>
          <a:p>
            <a:endParaRPr lang="en-US" sz="1800" dirty="0"/>
          </a:p>
        </p:txBody>
      </p:sp>
      <p:sp>
        <p:nvSpPr>
          <p:cNvPr id="4" name="Slide Number Placeholder 3">
            <a:extLst>
              <a:ext uri="{FF2B5EF4-FFF2-40B4-BE49-F238E27FC236}">
                <a16:creationId xmlns:a16="http://schemas.microsoft.com/office/drawing/2014/main" id="{6152D6BF-F487-1F4B-9424-A52DFC046F43}"/>
              </a:ext>
            </a:extLst>
          </p:cNvPr>
          <p:cNvSpPr>
            <a:spLocks noGrp="1"/>
          </p:cNvSpPr>
          <p:nvPr>
            <p:ph type="sldNum" sz="quarter" idx="12"/>
          </p:nvPr>
        </p:nvSpPr>
        <p:spPr/>
        <p:txBody>
          <a:bodyPr/>
          <a:lstStyle/>
          <a:p>
            <a:fld id="{171A6C5B-A11A-470F-8319-62E6F3F410BC}" type="slidenum">
              <a:rPr lang="en-US" smtClean="0"/>
              <a:pPr/>
              <a:t>17</a:t>
            </a:fld>
            <a:endParaRPr lang="en-US"/>
          </a:p>
        </p:txBody>
      </p:sp>
    </p:spTree>
    <p:extLst>
      <p:ext uri="{BB962C8B-B14F-4D97-AF65-F5344CB8AC3E}">
        <p14:creationId xmlns:p14="http://schemas.microsoft.com/office/powerpoint/2010/main" val="30238882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B7118-B276-604C-A708-09932F0E6246}"/>
              </a:ext>
            </a:extLst>
          </p:cNvPr>
          <p:cNvSpPr>
            <a:spLocks noGrp="1"/>
          </p:cNvSpPr>
          <p:nvPr>
            <p:ph type="title"/>
          </p:nvPr>
        </p:nvSpPr>
        <p:spPr/>
        <p:txBody>
          <a:bodyPr>
            <a:normAutofit/>
          </a:bodyPr>
          <a:lstStyle/>
          <a:p>
            <a:r>
              <a:rPr lang="en-US" sz="4200" dirty="0"/>
              <a:t>Part 2: Merck can charge different prices </a:t>
            </a:r>
          </a:p>
        </p:txBody>
      </p:sp>
      <p:sp>
        <p:nvSpPr>
          <p:cNvPr id="4" name="Slide Number Placeholder 3">
            <a:extLst>
              <a:ext uri="{FF2B5EF4-FFF2-40B4-BE49-F238E27FC236}">
                <a16:creationId xmlns:a16="http://schemas.microsoft.com/office/drawing/2014/main" id="{6152D6BF-F487-1F4B-9424-A52DFC046F43}"/>
              </a:ext>
            </a:extLst>
          </p:cNvPr>
          <p:cNvSpPr>
            <a:spLocks noGrp="1"/>
          </p:cNvSpPr>
          <p:nvPr>
            <p:ph type="sldNum" sz="quarter" idx="12"/>
          </p:nvPr>
        </p:nvSpPr>
        <p:spPr/>
        <p:txBody>
          <a:bodyPr/>
          <a:lstStyle/>
          <a:p>
            <a:fld id="{171A6C5B-A11A-470F-8319-62E6F3F410BC}" type="slidenum">
              <a:rPr lang="en-US" smtClean="0"/>
              <a:pPr/>
              <a:t>18</a:t>
            </a:fld>
            <a:endParaRPr lang="en-US"/>
          </a:p>
        </p:txBody>
      </p:sp>
      <mc:AlternateContent xmlns:mc="http://schemas.openxmlformats.org/markup-compatibility/2006" xmlns:a14="http://schemas.microsoft.com/office/drawing/2010/main">
        <mc:Choice Requires="a14">
          <p:sp>
            <p:nvSpPr>
              <p:cNvPr id="7" name="Content Placeholder 2">
                <a:extLst>
                  <a:ext uri="{FF2B5EF4-FFF2-40B4-BE49-F238E27FC236}">
                    <a16:creationId xmlns:a16="http://schemas.microsoft.com/office/drawing/2014/main" id="{CFBCE309-DB24-6F2C-DA45-C8134A575523}"/>
                  </a:ext>
                </a:extLst>
              </p:cNvPr>
              <p:cNvSpPr>
                <a:spLocks noGrp="1"/>
              </p:cNvSpPr>
              <p:nvPr>
                <p:ph idx="1"/>
              </p:nvPr>
            </p:nvSpPr>
            <p:spPr>
              <a:xfrm>
                <a:off x="304800" y="1787751"/>
                <a:ext cx="4876800" cy="4373563"/>
              </a:xfrm>
            </p:spPr>
            <p:txBody>
              <a:bodyPr>
                <a:normAutofit/>
              </a:bodyPr>
              <a:lstStyle/>
              <a:p>
                <a:pPr marL="0" indent="0" fontAlgn="base">
                  <a:spcBef>
                    <a:spcPct val="0"/>
                  </a:spcBef>
                  <a:spcAft>
                    <a:spcPct val="0"/>
                  </a:spcAft>
                  <a:buNone/>
                </a:pPr>
                <a:r>
                  <a:rPr lang="en-US" sz="1800" b="1" dirty="0"/>
                  <a:t>Q1: What price will Merck charge? </a:t>
                </a:r>
                <a:endParaRPr lang="en-US" sz="1800" dirty="0">
                  <a:solidFill>
                    <a:schemeClr val="tx1"/>
                  </a:solidFill>
                </a:endParaRPr>
              </a:p>
              <a:p>
                <a:pPr fontAlgn="base">
                  <a:spcBef>
                    <a:spcPct val="0"/>
                  </a:spcBef>
                  <a:spcAft>
                    <a:spcPct val="0"/>
                  </a:spcAft>
                </a:pPr>
                <a:r>
                  <a:rPr lang="en-US" sz="1800" dirty="0">
                    <a:solidFill>
                      <a:schemeClr val="accent1"/>
                    </a:solidFill>
                  </a:rPr>
                  <a:t>Each group pays its own willingness-to-pay, as long as it’s </a:t>
                </a:r>
                <a14:m>
                  <m:oMath xmlns:m="http://schemas.openxmlformats.org/officeDocument/2006/math">
                    <m:r>
                      <a:rPr lang="en-US" sz="1800">
                        <a:solidFill>
                          <a:schemeClr val="accent1"/>
                        </a:solidFill>
                        <a:latin typeface="Cambria Math" panose="02040503050406030204" pitchFamily="18" charset="0"/>
                      </a:rPr>
                      <m:t>≥</m:t>
                    </m:r>
                  </m:oMath>
                </a14:m>
                <a:r>
                  <a:rPr lang="en-US" sz="1800" dirty="0">
                    <a:solidFill>
                      <a:schemeClr val="accent1"/>
                    </a:solidFill>
                  </a:rPr>
                  <a:t> MC </a:t>
                </a:r>
              </a:p>
              <a:p>
                <a:endParaRPr lang="en-US" dirty="0"/>
              </a:p>
            </p:txBody>
          </p:sp>
        </mc:Choice>
        <mc:Fallback xmlns="">
          <p:sp>
            <p:nvSpPr>
              <p:cNvPr id="7" name="Content Placeholder 2">
                <a:extLst>
                  <a:ext uri="{FF2B5EF4-FFF2-40B4-BE49-F238E27FC236}">
                    <a16:creationId xmlns:a16="http://schemas.microsoft.com/office/drawing/2014/main" id="{CFBCE309-DB24-6F2C-DA45-C8134A575523}"/>
                  </a:ext>
                </a:extLst>
              </p:cNvPr>
              <p:cNvSpPr>
                <a:spLocks noGrp="1" noRot="1" noChangeAspect="1" noMove="1" noResize="1" noEditPoints="1" noAdjustHandles="1" noChangeArrowheads="1" noChangeShapeType="1" noTextEdit="1"/>
              </p:cNvSpPr>
              <p:nvPr>
                <p:ph idx="1"/>
              </p:nvPr>
            </p:nvSpPr>
            <p:spPr>
              <a:xfrm>
                <a:off x="304800" y="1787751"/>
                <a:ext cx="4876800" cy="4373563"/>
              </a:xfrm>
              <a:blipFill>
                <a:blip r:embed="rId3"/>
                <a:stretch>
                  <a:fillRect l="-1039" r="-1299"/>
                </a:stretch>
              </a:blipFill>
            </p:spPr>
            <p:txBody>
              <a:bodyPr/>
              <a:lstStyle/>
              <a:p>
                <a:r>
                  <a:rPr lang="en-US">
                    <a:noFill/>
                  </a:rPr>
                  <a:t> </a:t>
                </a:r>
              </a:p>
            </p:txBody>
          </p:sp>
        </mc:Fallback>
      </mc:AlternateContent>
      <p:graphicFrame>
        <p:nvGraphicFramePr>
          <p:cNvPr id="3" name="Table 2">
            <a:extLst>
              <a:ext uri="{FF2B5EF4-FFF2-40B4-BE49-F238E27FC236}">
                <a16:creationId xmlns:a16="http://schemas.microsoft.com/office/drawing/2014/main" id="{61152146-1154-6CA7-BE78-300D36AB4949}"/>
              </a:ext>
            </a:extLst>
          </p:cNvPr>
          <p:cNvGraphicFramePr>
            <a:graphicFrameLocks noGrp="1"/>
          </p:cNvGraphicFramePr>
          <p:nvPr>
            <p:extLst>
              <p:ext uri="{D42A27DB-BD31-4B8C-83A1-F6EECF244321}">
                <p14:modId xmlns:p14="http://schemas.microsoft.com/office/powerpoint/2010/main" val="1233496583"/>
              </p:ext>
            </p:extLst>
          </p:nvPr>
        </p:nvGraphicFramePr>
        <p:xfrm>
          <a:off x="152400" y="3155315"/>
          <a:ext cx="5105400" cy="3124200"/>
        </p:xfrm>
        <a:graphic>
          <a:graphicData uri="http://schemas.openxmlformats.org/drawingml/2006/table">
            <a:tbl>
              <a:tblPr firstRow="1" bandRow="1">
                <a:tableStyleId>{93296810-A885-4BE3-A3E7-6D5BEEA58F35}</a:tableStyleId>
              </a:tblPr>
              <a:tblGrid>
                <a:gridCol w="1098631">
                  <a:extLst>
                    <a:ext uri="{9D8B030D-6E8A-4147-A177-3AD203B41FA5}">
                      <a16:colId xmlns:a16="http://schemas.microsoft.com/office/drawing/2014/main" val="4084365346"/>
                    </a:ext>
                  </a:extLst>
                </a:gridCol>
                <a:gridCol w="646253">
                  <a:extLst>
                    <a:ext uri="{9D8B030D-6E8A-4147-A177-3AD203B41FA5}">
                      <a16:colId xmlns:a16="http://schemas.microsoft.com/office/drawing/2014/main" val="1356044771"/>
                    </a:ext>
                  </a:extLst>
                </a:gridCol>
                <a:gridCol w="904754">
                  <a:extLst>
                    <a:ext uri="{9D8B030D-6E8A-4147-A177-3AD203B41FA5}">
                      <a16:colId xmlns:a16="http://schemas.microsoft.com/office/drawing/2014/main" val="105315224"/>
                    </a:ext>
                  </a:extLst>
                </a:gridCol>
                <a:gridCol w="1292506">
                  <a:extLst>
                    <a:ext uri="{9D8B030D-6E8A-4147-A177-3AD203B41FA5}">
                      <a16:colId xmlns:a16="http://schemas.microsoft.com/office/drawing/2014/main" val="1169804669"/>
                    </a:ext>
                  </a:extLst>
                </a:gridCol>
                <a:gridCol w="1163256">
                  <a:extLst>
                    <a:ext uri="{9D8B030D-6E8A-4147-A177-3AD203B41FA5}">
                      <a16:colId xmlns:a16="http://schemas.microsoft.com/office/drawing/2014/main" val="349140179"/>
                    </a:ext>
                  </a:extLst>
                </a:gridCol>
              </a:tblGrid>
              <a:tr h="0">
                <a:tc>
                  <a:txBody>
                    <a:bodyPr/>
                    <a:lstStyle/>
                    <a:p>
                      <a:pPr algn="ctr"/>
                      <a:r>
                        <a:rPr lang="en-US" sz="1600" dirty="0"/>
                        <a:t>Group</a:t>
                      </a:r>
                    </a:p>
                  </a:txBody>
                  <a:tcPr anchor="ctr"/>
                </a:tc>
                <a:tc>
                  <a:txBody>
                    <a:bodyPr/>
                    <a:lstStyle/>
                    <a:p>
                      <a:pPr algn="ctr"/>
                      <a:r>
                        <a:rPr lang="en-US" sz="1600" dirty="0"/>
                        <a:t>Units</a:t>
                      </a:r>
                    </a:p>
                  </a:txBody>
                  <a:tcPr anchor="ctr"/>
                </a:tc>
                <a:tc>
                  <a:txBody>
                    <a:bodyPr/>
                    <a:lstStyle/>
                    <a:p>
                      <a:pPr algn="ctr"/>
                      <a:r>
                        <a:rPr lang="en-US" sz="1600" dirty="0"/>
                        <a:t>Price</a:t>
                      </a:r>
                    </a:p>
                  </a:txBody>
                  <a:tcPr anchor="ctr"/>
                </a:tc>
                <a:tc>
                  <a:txBody>
                    <a:bodyPr/>
                    <a:lstStyle/>
                    <a:p>
                      <a:pPr algn="ctr"/>
                      <a:r>
                        <a:rPr lang="en-US" sz="1600" dirty="0"/>
                        <a:t>Profit per unit </a:t>
                      </a:r>
                      <a:r>
                        <a:rPr lang="en-US" sz="1200" dirty="0"/>
                        <a:t>= (Price- MC)</a:t>
                      </a:r>
                      <a:endParaRPr lang="en-US" sz="1600" dirty="0"/>
                    </a:p>
                  </a:txBody>
                  <a:tcPr anchor="ctr"/>
                </a:tc>
                <a:tc>
                  <a:txBody>
                    <a:bodyPr/>
                    <a:lstStyle/>
                    <a:p>
                      <a:pPr algn="ctr"/>
                      <a:r>
                        <a:rPr lang="en-US" sz="1600" dirty="0"/>
                        <a:t>Total profit</a:t>
                      </a:r>
                    </a:p>
                  </a:txBody>
                  <a:tcPr anchor="ctr"/>
                </a:tc>
                <a:extLst>
                  <a:ext uri="{0D108BD9-81ED-4DB2-BD59-A6C34878D82A}">
                    <a16:rowId xmlns:a16="http://schemas.microsoft.com/office/drawing/2014/main" val="2920843972"/>
                  </a:ext>
                </a:extLst>
              </a:tr>
              <a:tr h="370840">
                <a:tc>
                  <a:txBody>
                    <a:bodyPr/>
                    <a:lstStyle/>
                    <a:p>
                      <a:pPr algn="ctr"/>
                      <a:r>
                        <a:rPr lang="en-US" sz="1400" dirty="0"/>
                        <a:t>Advanced</a:t>
                      </a:r>
                    </a:p>
                  </a:txBody>
                  <a:tcPr anchor="ctr"/>
                </a:tc>
                <a:tc>
                  <a:txBody>
                    <a:bodyPr/>
                    <a:lstStyle/>
                    <a:p>
                      <a:pPr algn="ctr"/>
                      <a:r>
                        <a:rPr lang="en-US" sz="1400" dirty="0"/>
                        <a:t>400</a:t>
                      </a:r>
                    </a:p>
                  </a:txBody>
                  <a:tcPr anchor="ctr"/>
                </a:tc>
                <a:tc>
                  <a:txBody>
                    <a:bodyPr/>
                    <a:lstStyle/>
                    <a:p>
                      <a:pPr algn="ctr"/>
                      <a:r>
                        <a:rPr lang="en-US" sz="1400" dirty="0"/>
                        <a:t>$300k</a:t>
                      </a:r>
                    </a:p>
                  </a:txBody>
                  <a:tcPr anchor="ctr"/>
                </a:tc>
                <a:tc>
                  <a:txBody>
                    <a:bodyPr/>
                    <a:lstStyle/>
                    <a:p>
                      <a:pPr algn="ctr"/>
                      <a:r>
                        <a:rPr lang="en-US" sz="1400" dirty="0"/>
                        <a:t>$299k</a:t>
                      </a:r>
                    </a:p>
                  </a:txBody>
                  <a:tcPr anchor="ctr"/>
                </a:tc>
                <a:tc>
                  <a:txBody>
                    <a:bodyPr/>
                    <a:lstStyle/>
                    <a:p>
                      <a:pPr algn="ctr"/>
                      <a:r>
                        <a:rPr lang="en-US" sz="1400" dirty="0"/>
                        <a:t>$119.6M</a:t>
                      </a:r>
                    </a:p>
                  </a:txBody>
                  <a:tcPr anchor="ctr"/>
                </a:tc>
                <a:extLst>
                  <a:ext uri="{0D108BD9-81ED-4DB2-BD59-A6C34878D82A}">
                    <a16:rowId xmlns:a16="http://schemas.microsoft.com/office/drawing/2014/main" val="674179483"/>
                  </a:ext>
                </a:extLst>
              </a:tr>
              <a:tr h="370840">
                <a:tc>
                  <a:txBody>
                    <a:bodyPr/>
                    <a:lstStyle/>
                    <a:p>
                      <a:pPr algn="ctr"/>
                      <a:r>
                        <a:rPr lang="en-US" sz="1400" dirty="0"/>
                        <a:t>Less advanced</a:t>
                      </a:r>
                    </a:p>
                  </a:txBody>
                  <a:tcPr anchor="ctr"/>
                </a:tc>
                <a:tc>
                  <a:txBody>
                    <a:bodyPr/>
                    <a:lstStyle/>
                    <a:p>
                      <a:pPr algn="ctr"/>
                      <a:r>
                        <a:rPr lang="en-US" sz="1400" dirty="0"/>
                        <a:t>600</a:t>
                      </a:r>
                    </a:p>
                  </a:txBody>
                  <a:tcPr anchor="ctr"/>
                </a:tc>
                <a:tc>
                  <a:txBody>
                    <a:bodyPr/>
                    <a:lstStyle/>
                    <a:p>
                      <a:pPr algn="ctr"/>
                      <a:r>
                        <a:rPr lang="en-US" sz="1400" dirty="0"/>
                        <a:t>$100k</a:t>
                      </a:r>
                    </a:p>
                  </a:txBody>
                  <a:tcPr anchor="ctr"/>
                </a:tc>
                <a:tc>
                  <a:txBody>
                    <a:bodyPr/>
                    <a:lstStyle/>
                    <a:p>
                      <a:pPr algn="ctr"/>
                      <a:r>
                        <a:rPr lang="en-US" sz="1400" dirty="0"/>
                        <a:t>$99k</a:t>
                      </a:r>
                    </a:p>
                  </a:txBody>
                  <a:tcPr anchor="ctr"/>
                </a:tc>
                <a:tc>
                  <a:txBody>
                    <a:bodyPr/>
                    <a:lstStyle/>
                    <a:p>
                      <a:pPr algn="ctr"/>
                      <a:r>
                        <a:rPr lang="en-US" sz="1400" dirty="0"/>
                        <a:t>$59.4M</a:t>
                      </a:r>
                    </a:p>
                  </a:txBody>
                  <a:tcPr anchor="ctr"/>
                </a:tc>
                <a:extLst>
                  <a:ext uri="{0D108BD9-81ED-4DB2-BD59-A6C34878D82A}">
                    <a16:rowId xmlns:a16="http://schemas.microsoft.com/office/drawing/2014/main" val="2567761460"/>
                  </a:ext>
                </a:extLst>
              </a:tr>
              <a:tr h="370840">
                <a:tc>
                  <a:txBody>
                    <a:bodyPr/>
                    <a:lstStyle/>
                    <a:p>
                      <a:pPr algn="ctr"/>
                      <a:r>
                        <a:rPr lang="en-US" sz="1400" dirty="0"/>
                        <a:t>Uninsured</a:t>
                      </a:r>
                    </a:p>
                  </a:txBody>
                  <a:tcPr anchor="ctr"/>
                </a:tc>
                <a:tc>
                  <a:txBody>
                    <a:bodyPr/>
                    <a:lstStyle/>
                    <a:p>
                      <a:pPr algn="ctr"/>
                      <a:r>
                        <a:rPr lang="en-US" sz="1400" dirty="0"/>
                        <a:t>1,000</a:t>
                      </a:r>
                    </a:p>
                  </a:txBody>
                  <a:tcPr anchor="ctr"/>
                </a:tc>
                <a:tc>
                  <a:txBody>
                    <a:bodyPr/>
                    <a:lstStyle/>
                    <a:p>
                      <a:pPr algn="ctr"/>
                      <a:r>
                        <a:rPr lang="en-US" sz="1400" dirty="0"/>
                        <a:t>$1k</a:t>
                      </a:r>
                    </a:p>
                  </a:txBody>
                  <a:tcPr anchor="ctr"/>
                </a:tc>
                <a:tc>
                  <a:txBody>
                    <a:bodyPr/>
                    <a:lstStyle/>
                    <a:p>
                      <a:pPr algn="ctr"/>
                      <a:r>
                        <a:rPr lang="en-US" sz="1400" dirty="0"/>
                        <a:t>$0</a:t>
                      </a:r>
                    </a:p>
                  </a:txBody>
                  <a:tcPr anchor="ctr"/>
                </a:tc>
                <a:tc>
                  <a:txBody>
                    <a:bodyPr/>
                    <a:lstStyle/>
                    <a:p>
                      <a:pPr algn="ctr"/>
                      <a:r>
                        <a:rPr lang="en-US" sz="1400" dirty="0"/>
                        <a:t>$0</a:t>
                      </a:r>
                    </a:p>
                  </a:txBody>
                  <a:tcPr anchor="ctr"/>
                </a:tc>
                <a:extLst>
                  <a:ext uri="{0D108BD9-81ED-4DB2-BD59-A6C34878D82A}">
                    <a16:rowId xmlns:a16="http://schemas.microsoft.com/office/drawing/2014/main" val="3945441974"/>
                  </a:ext>
                </a:extLst>
              </a:tr>
              <a:tr h="370840">
                <a:tc>
                  <a:txBody>
                    <a:bodyPr/>
                    <a:lstStyle/>
                    <a:p>
                      <a:pPr algn="ctr"/>
                      <a:r>
                        <a:rPr lang="en-US" sz="1400" dirty="0"/>
                        <a:t>Uninsured, lower WTP</a:t>
                      </a:r>
                    </a:p>
                  </a:txBody>
                  <a:tcPr anchor="ctr">
                    <a:lnB w="12700" cap="flat" cmpd="sng" algn="ctr">
                      <a:solidFill>
                        <a:schemeClr val="tx1"/>
                      </a:solidFill>
                      <a:prstDash val="solid"/>
                      <a:round/>
                      <a:headEnd type="none" w="med" len="med"/>
                      <a:tailEnd type="none" w="med" len="med"/>
                    </a:lnB>
                  </a:tcPr>
                </a:tc>
                <a:tc>
                  <a:txBody>
                    <a:bodyPr/>
                    <a:lstStyle/>
                    <a:p>
                      <a:pPr algn="ctr"/>
                      <a:r>
                        <a:rPr lang="en-US" sz="1400" dirty="0"/>
                        <a:t>1,000</a:t>
                      </a:r>
                    </a:p>
                  </a:txBody>
                  <a:tcPr anchor="ctr">
                    <a:lnB w="12700" cap="flat" cmpd="sng" algn="ctr">
                      <a:solidFill>
                        <a:schemeClr val="tx1"/>
                      </a:solidFill>
                      <a:prstDash val="solid"/>
                      <a:round/>
                      <a:headEnd type="none" w="med" len="med"/>
                      <a:tailEnd type="none" w="med" len="med"/>
                    </a:lnB>
                  </a:tcPr>
                </a:tc>
                <a:tc>
                  <a:txBody>
                    <a:bodyPr/>
                    <a:lstStyle/>
                    <a:p>
                      <a:pPr algn="ctr"/>
                      <a:r>
                        <a:rPr lang="en-US" sz="1400" dirty="0"/>
                        <a:t>Not sold (below MC)</a:t>
                      </a:r>
                    </a:p>
                  </a:txBody>
                  <a:tcPr anchor="ctr">
                    <a:lnB w="12700" cap="flat" cmpd="sng" algn="ctr">
                      <a:solidFill>
                        <a:schemeClr val="tx1"/>
                      </a:solidFill>
                      <a:prstDash val="solid"/>
                      <a:round/>
                      <a:headEnd type="none" w="med" len="med"/>
                      <a:tailEnd type="none" w="med" len="med"/>
                    </a:lnB>
                  </a:tcPr>
                </a:tc>
                <a:tc>
                  <a:txBody>
                    <a:bodyPr/>
                    <a:lstStyle/>
                    <a:p>
                      <a:pPr algn="ctr"/>
                      <a:r>
                        <a:rPr lang="en-US" sz="1400" dirty="0"/>
                        <a:t>--</a:t>
                      </a:r>
                    </a:p>
                  </a:txBody>
                  <a:tcPr anchor="ctr">
                    <a:lnB w="12700" cap="flat" cmpd="sng" algn="ctr">
                      <a:solidFill>
                        <a:schemeClr val="tx1"/>
                      </a:solidFill>
                      <a:prstDash val="solid"/>
                      <a:round/>
                      <a:headEnd type="none" w="med" len="med"/>
                      <a:tailEnd type="none" w="med" len="med"/>
                    </a:lnB>
                  </a:tcPr>
                </a:tc>
                <a:tc>
                  <a:txBody>
                    <a:bodyPr/>
                    <a:lstStyle/>
                    <a:p>
                      <a:pPr algn="ctr"/>
                      <a:r>
                        <a:rPr lang="en-US" sz="1400" dirty="0"/>
                        <a:t>--</a:t>
                      </a:r>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94812851"/>
                  </a:ext>
                </a:extLst>
              </a:tr>
              <a:tr h="370840">
                <a:tc>
                  <a:txBody>
                    <a:bodyPr/>
                    <a:lstStyle/>
                    <a:p>
                      <a:pPr algn="ctr"/>
                      <a:r>
                        <a:rPr lang="en-US" sz="1400" b="1" dirty="0"/>
                        <a:t>Total</a:t>
                      </a:r>
                    </a:p>
                  </a:txBody>
                  <a:tcPr anchor="ctr">
                    <a:lnT w="12700" cap="flat" cmpd="sng" algn="ctr">
                      <a:solidFill>
                        <a:schemeClr val="tx1"/>
                      </a:solidFill>
                      <a:prstDash val="solid"/>
                      <a:round/>
                      <a:headEnd type="none" w="med" len="med"/>
                      <a:tailEnd type="none" w="med" len="med"/>
                    </a:lnT>
                  </a:tcPr>
                </a:tc>
                <a:tc>
                  <a:txBody>
                    <a:bodyPr/>
                    <a:lstStyle/>
                    <a:p>
                      <a:pPr algn="ctr"/>
                      <a:endParaRPr lang="en-US" sz="1400" dirty="0"/>
                    </a:p>
                  </a:txBody>
                  <a:tcPr anchor="ctr">
                    <a:lnT w="12700" cap="flat" cmpd="sng" algn="ctr">
                      <a:solidFill>
                        <a:schemeClr val="tx1"/>
                      </a:solidFill>
                      <a:prstDash val="solid"/>
                      <a:round/>
                      <a:headEnd type="none" w="med" len="med"/>
                      <a:tailEnd type="none" w="med" len="med"/>
                    </a:lnT>
                  </a:tcPr>
                </a:tc>
                <a:tc>
                  <a:txBody>
                    <a:bodyPr/>
                    <a:lstStyle/>
                    <a:p>
                      <a:pPr algn="ctr"/>
                      <a:endParaRPr lang="en-US" sz="1400" dirty="0"/>
                    </a:p>
                  </a:txBody>
                  <a:tcPr anchor="ctr">
                    <a:lnT w="12700" cap="flat" cmpd="sng" algn="ctr">
                      <a:solidFill>
                        <a:schemeClr val="tx1"/>
                      </a:solidFill>
                      <a:prstDash val="solid"/>
                      <a:round/>
                      <a:headEnd type="none" w="med" len="med"/>
                      <a:tailEnd type="none" w="med" len="med"/>
                    </a:lnT>
                  </a:tcPr>
                </a:tc>
                <a:tc>
                  <a:txBody>
                    <a:bodyPr/>
                    <a:lstStyle/>
                    <a:p>
                      <a:pPr algn="ctr"/>
                      <a:endParaRPr lang="en-US" sz="1400" dirty="0"/>
                    </a:p>
                  </a:txBody>
                  <a:tcPr anchor="ctr">
                    <a:lnT w="12700" cap="flat" cmpd="sng" algn="ctr">
                      <a:solidFill>
                        <a:schemeClr val="tx1"/>
                      </a:solidFill>
                      <a:prstDash val="solid"/>
                      <a:round/>
                      <a:headEnd type="none" w="med" len="med"/>
                      <a:tailEnd type="none" w="med" len="med"/>
                    </a:lnT>
                  </a:tcPr>
                </a:tc>
                <a:tc>
                  <a:txBody>
                    <a:bodyPr/>
                    <a:lstStyle/>
                    <a:p>
                      <a:pPr algn="ctr"/>
                      <a:r>
                        <a:rPr lang="en-US" sz="1400" dirty="0"/>
                        <a:t>$179M</a:t>
                      </a:r>
                    </a:p>
                  </a:txBody>
                  <a:tcPr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327767789"/>
                  </a:ext>
                </a:extLst>
              </a:tr>
            </a:tbl>
          </a:graphicData>
        </a:graphic>
      </p:graphicFrame>
      <p:pic>
        <p:nvPicPr>
          <p:cNvPr id="5" name="Picture 4">
            <a:extLst>
              <a:ext uri="{FF2B5EF4-FFF2-40B4-BE49-F238E27FC236}">
                <a16:creationId xmlns:a16="http://schemas.microsoft.com/office/drawing/2014/main" id="{7737120B-A85F-9183-8CD5-17762C2F88CC}"/>
              </a:ext>
            </a:extLst>
          </p:cNvPr>
          <p:cNvPicPr>
            <a:picLocks noChangeAspect="1"/>
          </p:cNvPicPr>
          <p:nvPr/>
        </p:nvPicPr>
        <p:blipFill>
          <a:blip r:embed="rId4"/>
          <a:stretch>
            <a:fillRect/>
          </a:stretch>
        </p:blipFill>
        <p:spPr>
          <a:xfrm>
            <a:off x="5263243" y="1993175"/>
            <a:ext cx="6928757" cy="4157254"/>
          </a:xfrm>
          <a:prstGeom prst="rect">
            <a:avLst/>
          </a:prstGeom>
        </p:spPr>
      </p:pic>
    </p:spTree>
    <p:extLst>
      <p:ext uri="{BB962C8B-B14F-4D97-AF65-F5344CB8AC3E}">
        <p14:creationId xmlns:p14="http://schemas.microsoft.com/office/powerpoint/2010/main" val="24688409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BC27A3-5F58-1090-CC9A-06B89CFC6D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97AA968-14A4-5541-08B6-C5F00FB2901C}"/>
              </a:ext>
            </a:extLst>
          </p:cNvPr>
          <p:cNvSpPr>
            <a:spLocks noGrp="1"/>
          </p:cNvSpPr>
          <p:nvPr>
            <p:ph type="title"/>
          </p:nvPr>
        </p:nvSpPr>
        <p:spPr/>
        <p:txBody>
          <a:bodyPr>
            <a:normAutofit/>
          </a:bodyPr>
          <a:lstStyle/>
          <a:p>
            <a:r>
              <a:rPr lang="en-US" sz="4200" dirty="0"/>
              <a:t>Part 2: Merck can charge different prices </a:t>
            </a:r>
          </a:p>
        </p:txBody>
      </p:sp>
      <p:sp>
        <p:nvSpPr>
          <p:cNvPr id="4" name="Slide Number Placeholder 3">
            <a:extLst>
              <a:ext uri="{FF2B5EF4-FFF2-40B4-BE49-F238E27FC236}">
                <a16:creationId xmlns:a16="http://schemas.microsoft.com/office/drawing/2014/main" id="{B626DE95-5710-DC70-3428-E7258D8C4A7F}"/>
              </a:ext>
            </a:extLst>
          </p:cNvPr>
          <p:cNvSpPr>
            <a:spLocks noGrp="1"/>
          </p:cNvSpPr>
          <p:nvPr>
            <p:ph type="sldNum" sz="quarter" idx="12"/>
          </p:nvPr>
        </p:nvSpPr>
        <p:spPr/>
        <p:txBody>
          <a:bodyPr/>
          <a:lstStyle/>
          <a:p>
            <a:fld id="{171A6C5B-A11A-470F-8319-62E6F3F410BC}" type="slidenum">
              <a:rPr lang="en-US" smtClean="0"/>
              <a:pPr/>
              <a:t>19</a:t>
            </a:fld>
            <a:endParaRPr lang="en-US"/>
          </a:p>
        </p:txBody>
      </p:sp>
      <p:sp>
        <p:nvSpPr>
          <p:cNvPr id="7" name="Content Placeholder 2">
            <a:extLst>
              <a:ext uri="{FF2B5EF4-FFF2-40B4-BE49-F238E27FC236}">
                <a16:creationId xmlns:a16="http://schemas.microsoft.com/office/drawing/2014/main" id="{10038F46-097C-A1E0-9EAB-7D8F3F7BF449}"/>
              </a:ext>
            </a:extLst>
          </p:cNvPr>
          <p:cNvSpPr>
            <a:spLocks noGrp="1"/>
          </p:cNvSpPr>
          <p:nvPr>
            <p:ph idx="1"/>
          </p:nvPr>
        </p:nvSpPr>
        <p:spPr>
          <a:xfrm>
            <a:off x="304800" y="1509668"/>
            <a:ext cx="3429000" cy="4373563"/>
          </a:xfrm>
        </p:spPr>
        <p:txBody>
          <a:bodyPr>
            <a:normAutofit/>
          </a:bodyPr>
          <a:lstStyle/>
          <a:p>
            <a:pPr marL="0" indent="0" fontAlgn="base">
              <a:spcBef>
                <a:spcPct val="0"/>
              </a:spcBef>
              <a:spcAft>
                <a:spcPct val="0"/>
              </a:spcAft>
              <a:buNone/>
            </a:pPr>
            <a:r>
              <a:rPr lang="en-US" sz="1800" b="1" dirty="0"/>
              <a:t>Q1: Who gets Keytruda now?</a:t>
            </a:r>
          </a:p>
          <a:p>
            <a:pPr marL="0" indent="0" fontAlgn="base">
              <a:spcBef>
                <a:spcPct val="0"/>
              </a:spcBef>
              <a:spcAft>
                <a:spcPct val="0"/>
              </a:spcAft>
              <a:buNone/>
            </a:pPr>
            <a:r>
              <a:rPr lang="en-US" sz="1800" b="1" dirty="0"/>
              <a:t> </a:t>
            </a:r>
            <a:endParaRPr lang="en-US" sz="1800" dirty="0">
              <a:solidFill>
                <a:schemeClr val="tx1"/>
              </a:solidFill>
            </a:endParaRPr>
          </a:p>
          <a:p>
            <a:pPr fontAlgn="base">
              <a:spcBef>
                <a:spcPct val="0"/>
              </a:spcBef>
              <a:spcAft>
                <a:spcPct val="0"/>
              </a:spcAft>
            </a:pPr>
            <a:r>
              <a:rPr lang="en-US" sz="1800" dirty="0">
                <a:solidFill>
                  <a:schemeClr val="accent1"/>
                </a:solidFill>
              </a:rPr>
              <a:t>2,000 people, up from 400 in Part 1!</a:t>
            </a:r>
          </a:p>
          <a:p>
            <a:endParaRPr lang="en-US" dirty="0"/>
          </a:p>
        </p:txBody>
      </p:sp>
      <p:pic>
        <p:nvPicPr>
          <p:cNvPr id="5" name="Picture 4">
            <a:extLst>
              <a:ext uri="{FF2B5EF4-FFF2-40B4-BE49-F238E27FC236}">
                <a16:creationId xmlns:a16="http://schemas.microsoft.com/office/drawing/2014/main" id="{B4BE7A91-E2F6-7786-00B5-929D845D73AB}"/>
              </a:ext>
            </a:extLst>
          </p:cNvPr>
          <p:cNvPicPr>
            <a:picLocks noChangeAspect="1"/>
          </p:cNvPicPr>
          <p:nvPr/>
        </p:nvPicPr>
        <p:blipFill>
          <a:blip r:embed="rId3"/>
          <a:stretch>
            <a:fillRect/>
          </a:stretch>
        </p:blipFill>
        <p:spPr>
          <a:xfrm>
            <a:off x="3733800" y="1574982"/>
            <a:ext cx="8381999" cy="5029199"/>
          </a:xfrm>
          <a:prstGeom prst="rect">
            <a:avLst/>
          </a:prstGeom>
        </p:spPr>
      </p:pic>
    </p:spTree>
    <p:extLst>
      <p:ext uri="{BB962C8B-B14F-4D97-AF65-F5344CB8AC3E}">
        <p14:creationId xmlns:p14="http://schemas.microsoft.com/office/powerpoint/2010/main" val="29218737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B7118-B276-604C-A708-09932F0E6246}"/>
              </a:ext>
            </a:extLst>
          </p:cNvPr>
          <p:cNvSpPr>
            <a:spLocks noGrp="1"/>
          </p:cNvSpPr>
          <p:nvPr>
            <p:ph type="title"/>
          </p:nvPr>
        </p:nvSpPr>
        <p:spPr/>
        <p:txBody>
          <a:bodyPr>
            <a:normAutofit/>
          </a:bodyPr>
          <a:lstStyle/>
          <a:p>
            <a:r>
              <a:rPr lang="en-US" sz="4200"/>
              <a:t>Part 2: Merck can charge different prices </a:t>
            </a:r>
            <a:endParaRPr lang="en-US" sz="4200" dirty="0"/>
          </a:p>
        </p:txBody>
      </p:sp>
      <p:sp>
        <p:nvSpPr>
          <p:cNvPr id="4" name="Slide Number Placeholder 3">
            <a:extLst>
              <a:ext uri="{FF2B5EF4-FFF2-40B4-BE49-F238E27FC236}">
                <a16:creationId xmlns:a16="http://schemas.microsoft.com/office/drawing/2014/main" id="{6152D6BF-F487-1F4B-9424-A52DFC046F43}"/>
              </a:ext>
            </a:extLst>
          </p:cNvPr>
          <p:cNvSpPr>
            <a:spLocks noGrp="1"/>
          </p:cNvSpPr>
          <p:nvPr>
            <p:ph type="sldNum" sz="quarter" idx="12"/>
          </p:nvPr>
        </p:nvSpPr>
        <p:spPr/>
        <p:txBody>
          <a:bodyPr/>
          <a:lstStyle/>
          <a:p>
            <a:fld id="{171A6C5B-A11A-470F-8319-62E6F3F410BC}" type="slidenum">
              <a:rPr lang="en-US" smtClean="0"/>
              <a:pPr/>
              <a:t>20</a:t>
            </a:fld>
            <a:endParaRPr lang="en-US"/>
          </a:p>
        </p:txBody>
      </p:sp>
      <p:sp>
        <p:nvSpPr>
          <p:cNvPr id="6" name="Content Placeholder 2">
            <a:extLst>
              <a:ext uri="{FF2B5EF4-FFF2-40B4-BE49-F238E27FC236}">
                <a16:creationId xmlns:a16="http://schemas.microsoft.com/office/drawing/2014/main" id="{597F44F7-E15B-DDCD-D502-548906BB9CCD}"/>
              </a:ext>
            </a:extLst>
          </p:cNvPr>
          <p:cNvSpPr txBox="1">
            <a:spLocks/>
          </p:cNvSpPr>
          <p:nvPr/>
        </p:nvSpPr>
        <p:spPr>
          <a:xfrm>
            <a:off x="838200" y="1371599"/>
            <a:ext cx="10515600" cy="5349875"/>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base">
              <a:lnSpc>
                <a:spcPct val="150000"/>
              </a:lnSpc>
              <a:spcBef>
                <a:spcPct val="0"/>
              </a:spcBef>
              <a:spcAft>
                <a:spcPct val="0"/>
              </a:spcAft>
              <a:buNone/>
            </a:pPr>
            <a:r>
              <a:rPr lang="en-US" sz="1800" b="1" dirty="0">
                <a:latin typeface="Arial" panose="020B0604020202020204" pitchFamily="34" charset="0"/>
                <a:cs typeface="Arial" panose="020B0604020202020204" pitchFamily="34" charset="0"/>
              </a:rPr>
              <a:t>Q2: Does Merck make more profits with one price or with different prices?</a:t>
            </a:r>
          </a:p>
          <a:p>
            <a:pPr fontAlgn="base">
              <a:lnSpc>
                <a:spcPct val="150000"/>
              </a:lnSpc>
              <a:spcBef>
                <a:spcPct val="0"/>
              </a:spcBef>
              <a:spcAft>
                <a:spcPct val="0"/>
              </a:spcAft>
            </a:pPr>
            <a:endParaRPr lang="en-US" sz="1800" dirty="0">
              <a:solidFill>
                <a:srgbClr val="008001"/>
              </a:solidFill>
              <a:latin typeface="Arial" panose="020B0604020202020204" pitchFamily="34" charset="0"/>
              <a:cs typeface="Arial" panose="020B0604020202020204" pitchFamily="34" charset="0"/>
            </a:endParaRPr>
          </a:p>
          <a:p>
            <a:pPr fontAlgn="base">
              <a:lnSpc>
                <a:spcPct val="150000"/>
              </a:lnSpc>
              <a:spcBef>
                <a:spcPct val="0"/>
              </a:spcBef>
              <a:spcAft>
                <a:spcPct val="0"/>
              </a:spcAft>
            </a:pPr>
            <a:endParaRPr lang="en-US" sz="1800" dirty="0">
              <a:solidFill>
                <a:schemeClr val="accent1"/>
              </a:solidFill>
              <a:latin typeface="Arial" panose="020B0604020202020204" pitchFamily="34" charset="0"/>
              <a:cs typeface="Arial" panose="020B0604020202020204" pitchFamily="34" charset="0"/>
            </a:endParaRPr>
          </a:p>
          <a:p>
            <a:pPr fontAlgn="base">
              <a:lnSpc>
                <a:spcPct val="150000"/>
              </a:lnSpc>
              <a:spcBef>
                <a:spcPct val="0"/>
              </a:spcBef>
              <a:spcAft>
                <a:spcPct val="0"/>
              </a:spcAft>
            </a:pPr>
            <a:endParaRPr lang="en-US" sz="1800" dirty="0">
              <a:solidFill>
                <a:schemeClr val="accent1"/>
              </a:solidFill>
              <a:latin typeface="Arial" panose="020B0604020202020204" pitchFamily="34" charset="0"/>
              <a:cs typeface="Arial" panose="020B0604020202020204" pitchFamily="34" charset="0"/>
            </a:endParaRPr>
          </a:p>
          <a:p>
            <a:pPr fontAlgn="base">
              <a:lnSpc>
                <a:spcPct val="150000"/>
              </a:lnSpc>
              <a:spcBef>
                <a:spcPct val="0"/>
              </a:spcBef>
              <a:spcAft>
                <a:spcPct val="0"/>
              </a:spcAft>
            </a:pPr>
            <a:endParaRPr lang="en-US" sz="1800" dirty="0">
              <a:solidFill>
                <a:schemeClr val="accent1"/>
              </a:solidFill>
              <a:latin typeface="Arial" panose="020B0604020202020204" pitchFamily="34" charset="0"/>
              <a:cs typeface="Arial" panose="020B0604020202020204" pitchFamily="34" charset="0"/>
            </a:endParaRPr>
          </a:p>
          <a:p>
            <a:pPr fontAlgn="base">
              <a:lnSpc>
                <a:spcPct val="150000"/>
              </a:lnSpc>
              <a:spcBef>
                <a:spcPct val="0"/>
              </a:spcBef>
              <a:spcAft>
                <a:spcPct val="0"/>
              </a:spcAft>
            </a:pPr>
            <a:endParaRPr lang="en-US" sz="1800" dirty="0">
              <a:solidFill>
                <a:schemeClr val="accent1"/>
              </a:solidFill>
              <a:latin typeface="Arial" panose="020B0604020202020204" pitchFamily="34" charset="0"/>
              <a:cs typeface="Arial" panose="020B0604020202020204" pitchFamily="34" charset="0"/>
            </a:endParaRPr>
          </a:p>
          <a:p>
            <a:pPr fontAlgn="base">
              <a:lnSpc>
                <a:spcPct val="150000"/>
              </a:lnSpc>
              <a:spcBef>
                <a:spcPct val="0"/>
              </a:spcBef>
              <a:spcAft>
                <a:spcPct val="0"/>
              </a:spcAft>
            </a:pPr>
            <a:endParaRPr lang="en-US" sz="1800" dirty="0">
              <a:solidFill>
                <a:schemeClr val="accent1"/>
              </a:solidFill>
              <a:latin typeface="Arial" panose="020B0604020202020204" pitchFamily="34" charset="0"/>
              <a:cs typeface="Arial" panose="020B0604020202020204" pitchFamily="34" charset="0"/>
            </a:endParaRPr>
          </a:p>
          <a:p>
            <a:pPr fontAlgn="base">
              <a:lnSpc>
                <a:spcPct val="150000"/>
              </a:lnSpc>
              <a:spcBef>
                <a:spcPct val="0"/>
              </a:spcBef>
              <a:spcAft>
                <a:spcPct val="0"/>
              </a:spcAft>
            </a:pPr>
            <a:endParaRPr lang="en-US" sz="1800" dirty="0">
              <a:solidFill>
                <a:schemeClr val="accent1"/>
              </a:solidFill>
              <a:latin typeface="Arial" panose="020B0604020202020204" pitchFamily="34" charset="0"/>
              <a:cs typeface="Arial" panose="020B0604020202020204" pitchFamily="34" charset="0"/>
            </a:endParaRPr>
          </a:p>
          <a:p>
            <a:pPr fontAlgn="base">
              <a:lnSpc>
                <a:spcPct val="150000"/>
              </a:lnSpc>
              <a:spcBef>
                <a:spcPct val="0"/>
              </a:spcBef>
              <a:spcAft>
                <a:spcPct val="0"/>
              </a:spcAft>
            </a:pPr>
            <a:endParaRPr lang="en-US" sz="1800" dirty="0">
              <a:solidFill>
                <a:schemeClr val="accent1"/>
              </a:solidFill>
              <a:latin typeface="Arial" panose="020B0604020202020204" pitchFamily="34" charset="0"/>
              <a:cs typeface="Arial" panose="020B0604020202020204" pitchFamily="34" charset="0"/>
            </a:endParaRPr>
          </a:p>
          <a:p>
            <a:pPr fontAlgn="base">
              <a:lnSpc>
                <a:spcPct val="150000"/>
              </a:lnSpc>
              <a:spcBef>
                <a:spcPct val="0"/>
              </a:spcBef>
              <a:spcAft>
                <a:spcPct val="0"/>
              </a:spcAft>
            </a:pPr>
            <a:r>
              <a:rPr lang="en-US" sz="1800" dirty="0">
                <a:solidFill>
                  <a:schemeClr val="accent1"/>
                </a:solidFill>
                <a:latin typeface="Arial" panose="020B0604020202020204" pitchFamily="34" charset="0"/>
                <a:cs typeface="Arial" panose="020B0604020202020204" pitchFamily="34" charset="0"/>
              </a:rPr>
              <a:t>Different prices win, by $59.4M</a:t>
            </a:r>
          </a:p>
          <a:p>
            <a:pPr fontAlgn="base">
              <a:lnSpc>
                <a:spcPct val="150000"/>
              </a:lnSpc>
              <a:spcBef>
                <a:spcPct val="0"/>
              </a:spcBef>
              <a:spcAft>
                <a:spcPct val="0"/>
              </a:spcAft>
            </a:pPr>
            <a:r>
              <a:rPr lang="en-US" sz="1800" dirty="0">
                <a:solidFill>
                  <a:schemeClr val="accent1"/>
                </a:solidFill>
                <a:latin typeface="Arial" panose="020B0604020202020204" pitchFamily="34" charset="0"/>
                <a:cs typeface="Arial" panose="020B0604020202020204" pitchFamily="34" charset="0"/>
              </a:rPr>
              <a:t>Why? With one price, Merck had to choose between a high price (few buyers) and a low price (many buyers). With different prices, it doesn’t have to choose. It charges the sickest patients $300k and still sells to everyone else who’s willing to pay at least MC. </a:t>
            </a:r>
          </a:p>
          <a:p>
            <a:pPr fontAlgn="base">
              <a:lnSpc>
                <a:spcPct val="150000"/>
              </a:lnSpc>
              <a:spcBef>
                <a:spcPct val="0"/>
              </a:spcBef>
              <a:spcAft>
                <a:spcPct val="0"/>
              </a:spcAft>
            </a:pPr>
            <a:r>
              <a:rPr lang="en-US" sz="1800" dirty="0">
                <a:solidFill>
                  <a:schemeClr val="accent1"/>
                </a:solidFill>
                <a:latin typeface="Arial" panose="020B0604020202020204" pitchFamily="34" charset="0"/>
                <a:cs typeface="Arial" panose="020B0604020202020204" pitchFamily="34" charset="0"/>
              </a:rPr>
              <a:t>Economists call this differentiated pricing “</a:t>
            </a:r>
            <a:r>
              <a:rPr lang="en-US" sz="1800" b="1" i="1" dirty="0">
                <a:solidFill>
                  <a:schemeClr val="accent1"/>
                </a:solidFill>
                <a:latin typeface="Arial" panose="020B0604020202020204" pitchFamily="34" charset="0"/>
                <a:cs typeface="Arial" panose="020B0604020202020204" pitchFamily="34" charset="0"/>
              </a:rPr>
              <a:t>price discrimination</a:t>
            </a:r>
            <a:r>
              <a:rPr lang="en-US" sz="1800" i="1" dirty="0">
                <a:solidFill>
                  <a:schemeClr val="accent1"/>
                </a:solidFill>
                <a:latin typeface="Arial" panose="020B0604020202020204" pitchFamily="34" charset="0"/>
                <a:cs typeface="Arial" panose="020B0604020202020204" pitchFamily="34" charset="0"/>
              </a:rPr>
              <a:t>.”</a:t>
            </a:r>
            <a:endParaRPr lang="en-US" sz="1800" dirty="0">
              <a:solidFill>
                <a:schemeClr val="accent1"/>
              </a:solidFill>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2AF3BE73-5122-2335-83B5-D31F30E75401}"/>
              </a:ext>
            </a:extLst>
          </p:cNvPr>
          <p:cNvPicPr>
            <a:picLocks noChangeAspect="1"/>
          </p:cNvPicPr>
          <p:nvPr/>
        </p:nvPicPr>
        <p:blipFill>
          <a:blip r:embed="rId3"/>
          <a:stretch>
            <a:fillRect/>
          </a:stretch>
        </p:blipFill>
        <p:spPr>
          <a:xfrm>
            <a:off x="5867400" y="1766887"/>
            <a:ext cx="4876800" cy="2926080"/>
          </a:xfrm>
          <a:prstGeom prst="rect">
            <a:avLst/>
          </a:prstGeom>
        </p:spPr>
      </p:pic>
      <p:pic>
        <p:nvPicPr>
          <p:cNvPr id="7" name="Picture 6">
            <a:extLst>
              <a:ext uri="{FF2B5EF4-FFF2-40B4-BE49-F238E27FC236}">
                <a16:creationId xmlns:a16="http://schemas.microsoft.com/office/drawing/2014/main" id="{48CE57BE-05A7-E169-00E8-3CB386B97CE2}"/>
              </a:ext>
            </a:extLst>
          </p:cNvPr>
          <p:cNvPicPr>
            <a:picLocks noChangeAspect="1"/>
          </p:cNvPicPr>
          <p:nvPr/>
        </p:nvPicPr>
        <p:blipFill>
          <a:blip r:embed="rId4"/>
          <a:stretch>
            <a:fillRect/>
          </a:stretch>
        </p:blipFill>
        <p:spPr>
          <a:xfrm>
            <a:off x="838200" y="1766887"/>
            <a:ext cx="4876800" cy="2926080"/>
          </a:xfrm>
          <a:prstGeom prst="rect">
            <a:avLst/>
          </a:prstGeom>
        </p:spPr>
      </p:pic>
    </p:spTree>
    <p:extLst>
      <p:ext uri="{BB962C8B-B14F-4D97-AF65-F5344CB8AC3E}">
        <p14:creationId xmlns:p14="http://schemas.microsoft.com/office/powerpoint/2010/main" val="244292447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99D1DB-0907-6B68-98E6-22D1975C62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3D4D2C-765E-2AFF-F6FF-743BE39E2681}"/>
              </a:ext>
            </a:extLst>
          </p:cNvPr>
          <p:cNvSpPr>
            <a:spLocks noGrp="1"/>
          </p:cNvSpPr>
          <p:nvPr>
            <p:ph type="title"/>
          </p:nvPr>
        </p:nvSpPr>
        <p:spPr/>
        <p:txBody>
          <a:bodyPr>
            <a:normAutofit/>
          </a:bodyPr>
          <a:lstStyle/>
          <a:p>
            <a:r>
              <a:rPr lang="en-US" sz="4200" dirty="0"/>
              <a:t>Part 2: Merck can charge different prices </a:t>
            </a:r>
          </a:p>
        </p:txBody>
      </p:sp>
      <p:sp>
        <p:nvSpPr>
          <p:cNvPr id="4" name="Slide Number Placeholder 3">
            <a:extLst>
              <a:ext uri="{FF2B5EF4-FFF2-40B4-BE49-F238E27FC236}">
                <a16:creationId xmlns:a16="http://schemas.microsoft.com/office/drawing/2014/main" id="{A2024982-A568-DF63-1B10-956B5D6D7388}"/>
              </a:ext>
            </a:extLst>
          </p:cNvPr>
          <p:cNvSpPr>
            <a:spLocks noGrp="1"/>
          </p:cNvSpPr>
          <p:nvPr>
            <p:ph type="sldNum" sz="quarter" idx="12"/>
          </p:nvPr>
        </p:nvSpPr>
        <p:spPr/>
        <p:txBody>
          <a:bodyPr/>
          <a:lstStyle/>
          <a:p>
            <a:fld id="{171A6C5B-A11A-470F-8319-62E6F3F410BC}" type="slidenum">
              <a:rPr lang="en-US" smtClean="0"/>
              <a:pPr/>
              <a:t>21</a:t>
            </a:fld>
            <a:endParaRPr lang="en-US"/>
          </a:p>
        </p:txBody>
      </p:sp>
      <p:sp>
        <p:nvSpPr>
          <p:cNvPr id="3" name="Content Placeholder 2">
            <a:extLst>
              <a:ext uri="{FF2B5EF4-FFF2-40B4-BE49-F238E27FC236}">
                <a16:creationId xmlns:a16="http://schemas.microsoft.com/office/drawing/2014/main" id="{01566509-5EF4-1268-BB8B-94D69D99D9E2}"/>
              </a:ext>
            </a:extLst>
          </p:cNvPr>
          <p:cNvSpPr>
            <a:spLocks noGrp="1"/>
          </p:cNvSpPr>
          <p:nvPr>
            <p:ph idx="1"/>
          </p:nvPr>
        </p:nvSpPr>
        <p:spPr>
          <a:xfrm>
            <a:off x="838200" y="1690688"/>
            <a:ext cx="10515600" cy="4373563"/>
          </a:xfrm>
        </p:spPr>
        <p:txBody>
          <a:bodyPr>
            <a:normAutofit/>
          </a:bodyPr>
          <a:lstStyle/>
          <a:p>
            <a:pPr marL="0" indent="0" fontAlgn="base">
              <a:spcBef>
                <a:spcPct val="0"/>
              </a:spcBef>
              <a:spcAft>
                <a:spcPct val="0"/>
              </a:spcAft>
              <a:buNone/>
            </a:pPr>
            <a:r>
              <a:rPr lang="en-US" sz="1700" b="1" dirty="0"/>
              <a:t>Q3: What are pros and cons of differentiated prices for Merck and for the patients?</a:t>
            </a:r>
          </a:p>
          <a:p>
            <a:pPr fontAlgn="base">
              <a:spcBef>
                <a:spcPct val="0"/>
              </a:spcBef>
              <a:spcAft>
                <a:spcPct val="0"/>
              </a:spcAft>
            </a:pPr>
            <a:endParaRPr lang="en-US" sz="1700" b="1" dirty="0"/>
          </a:p>
          <a:p>
            <a:pPr fontAlgn="base">
              <a:spcBef>
                <a:spcPct val="0"/>
              </a:spcBef>
              <a:spcAft>
                <a:spcPct val="0"/>
              </a:spcAft>
            </a:pPr>
            <a:endParaRPr lang="en-US" sz="1800" dirty="0">
              <a:solidFill>
                <a:schemeClr val="tx1"/>
              </a:solidFill>
            </a:endParaRPr>
          </a:p>
          <a:p>
            <a:endParaRPr lang="en-US" dirty="0"/>
          </a:p>
        </p:txBody>
      </p:sp>
      <p:graphicFrame>
        <p:nvGraphicFramePr>
          <p:cNvPr id="6" name="Table 5">
            <a:extLst>
              <a:ext uri="{FF2B5EF4-FFF2-40B4-BE49-F238E27FC236}">
                <a16:creationId xmlns:a16="http://schemas.microsoft.com/office/drawing/2014/main" id="{21561612-061F-C4B4-1A9E-B46014AD200F}"/>
              </a:ext>
            </a:extLst>
          </p:cNvPr>
          <p:cNvGraphicFramePr>
            <a:graphicFrameLocks noGrp="1"/>
          </p:cNvGraphicFramePr>
          <p:nvPr>
            <p:extLst>
              <p:ext uri="{D42A27DB-BD31-4B8C-83A1-F6EECF244321}">
                <p14:modId xmlns:p14="http://schemas.microsoft.com/office/powerpoint/2010/main" val="2457601647"/>
              </p:ext>
            </p:extLst>
          </p:nvPr>
        </p:nvGraphicFramePr>
        <p:xfrm>
          <a:off x="1295400" y="2743200"/>
          <a:ext cx="9601200" cy="2362200"/>
        </p:xfrm>
        <a:graphic>
          <a:graphicData uri="http://schemas.openxmlformats.org/drawingml/2006/table">
            <a:tbl>
              <a:tblPr firstRow="1" bandRow="1">
                <a:tableStyleId>{5C22544A-7EE6-4342-B048-85BDC9FD1C3A}</a:tableStyleId>
              </a:tblPr>
              <a:tblGrid>
                <a:gridCol w="1324303">
                  <a:extLst>
                    <a:ext uri="{9D8B030D-6E8A-4147-A177-3AD203B41FA5}">
                      <a16:colId xmlns:a16="http://schemas.microsoft.com/office/drawing/2014/main" val="3508855430"/>
                    </a:ext>
                  </a:extLst>
                </a:gridCol>
                <a:gridCol w="3559066">
                  <a:extLst>
                    <a:ext uri="{9D8B030D-6E8A-4147-A177-3AD203B41FA5}">
                      <a16:colId xmlns:a16="http://schemas.microsoft.com/office/drawing/2014/main" val="3203841651"/>
                    </a:ext>
                  </a:extLst>
                </a:gridCol>
                <a:gridCol w="4717831">
                  <a:extLst>
                    <a:ext uri="{9D8B030D-6E8A-4147-A177-3AD203B41FA5}">
                      <a16:colId xmlns:a16="http://schemas.microsoft.com/office/drawing/2014/main" val="1227707393"/>
                    </a:ext>
                  </a:extLst>
                </a:gridCol>
              </a:tblGrid>
              <a:tr h="381000">
                <a:tc>
                  <a:txBody>
                    <a:bodyPr/>
                    <a:lstStyle/>
                    <a:p>
                      <a:endParaRPr lang="en-US"/>
                    </a:p>
                  </a:txBody>
                  <a:tcPr anchor="ctr"/>
                </a:tc>
                <a:tc>
                  <a:txBody>
                    <a:bodyPr/>
                    <a:lstStyle/>
                    <a:p>
                      <a:r>
                        <a:rPr lang="en-US" dirty="0"/>
                        <a:t>Pro</a:t>
                      </a:r>
                    </a:p>
                  </a:txBody>
                  <a:tcPr anchor="ctr"/>
                </a:tc>
                <a:tc>
                  <a:txBody>
                    <a:bodyPr/>
                    <a:lstStyle/>
                    <a:p>
                      <a:r>
                        <a:rPr lang="en-US" dirty="0"/>
                        <a:t>Con</a:t>
                      </a:r>
                    </a:p>
                  </a:txBody>
                  <a:tcPr anchor="ctr">
                    <a:solidFill>
                      <a:schemeClr val="accent2"/>
                    </a:solidFill>
                  </a:tcPr>
                </a:tc>
                <a:extLst>
                  <a:ext uri="{0D108BD9-81ED-4DB2-BD59-A6C34878D82A}">
                    <a16:rowId xmlns:a16="http://schemas.microsoft.com/office/drawing/2014/main" val="3869876098"/>
                  </a:ext>
                </a:extLst>
              </a:tr>
              <a:tr h="990600">
                <a:tc>
                  <a:txBody>
                    <a:bodyPr/>
                    <a:lstStyle/>
                    <a:p>
                      <a:r>
                        <a:rPr lang="en-US" b="1" dirty="0"/>
                        <a:t>Merck</a:t>
                      </a:r>
                    </a:p>
                  </a:txBody>
                  <a:tcPr anchor="ctr"/>
                </a:tc>
                <a:tc>
                  <a:txBody>
                    <a:bodyPr/>
                    <a:lstStyle/>
                    <a:p>
                      <a:endParaRPr lang="en-US" dirty="0"/>
                    </a:p>
                  </a:txBody>
                  <a:tcPr anchor="ctr"/>
                </a:tc>
                <a:tc>
                  <a:txBody>
                    <a:bodyPr/>
                    <a:lstStyle/>
                    <a:p>
                      <a:endParaRPr lang="en-US" dirty="0"/>
                    </a:p>
                  </a:txBody>
                  <a:tcPr anchor="ctr">
                    <a:solidFill>
                      <a:schemeClr val="accent2">
                        <a:lumMod val="40000"/>
                        <a:lumOff val="60000"/>
                      </a:schemeClr>
                    </a:solidFill>
                  </a:tcPr>
                </a:tc>
                <a:extLst>
                  <a:ext uri="{0D108BD9-81ED-4DB2-BD59-A6C34878D82A}">
                    <a16:rowId xmlns:a16="http://schemas.microsoft.com/office/drawing/2014/main" val="2596641302"/>
                  </a:ext>
                </a:extLst>
              </a:tr>
              <a:tr h="990600">
                <a:tc>
                  <a:txBody>
                    <a:bodyPr/>
                    <a:lstStyle/>
                    <a:p>
                      <a:r>
                        <a:rPr lang="en-US" b="1" dirty="0"/>
                        <a:t>Patients</a:t>
                      </a:r>
                    </a:p>
                  </a:txBody>
                  <a:tcPr anchor="ctr"/>
                </a:tc>
                <a:tc>
                  <a:txBody>
                    <a:bodyPr/>
                    <a:lstStyle/>
                    <a:p>
                      <a:endParaRPr lang="en-US" dirty="0"/>
                    </a:p>
                  </a:txBody>
                  <a:tcPr anchor="ctr"/>
                </a:tc>
                <a:tc>
                  <a:txBody>
                    <a:bodyPr/>
                    <a:lstStyle/>
                    <a:p>
                      <a:endParaRPr lang="en-US" dirty="0"/>
                    </a:p>
                  </a:txBody>
                  <a:tcPr anchor="ctr">
                    <a:solidFill>
                      <a:schemeClr val="accent2">
                        <a:lumMod val="20000"/>
                        <a:lumOff val="80000"/>
                      </a:schemeClr>
                    </a:solidFill>
                  </a:tcPr>
                </a:tc>
                <a:extLst>
                  <a:ext uri="{0D108BD9-81ED-4DB2-BD59-A6C34878D82A}">
                    <a16:rowId xmlns:a16="http://schemas.microsoft.com/office/drawing/2014/main" val="1890588287"/>
                  </a:ext>
                </a:extLst>
              </a:tr>
            </a:tbl>
          </a:graphicData>
        </a:graphic>
      </p:graphicFrame>
    </p:spTree>
    <p:extLst>
      <p:ext uri="{BB962C8B-B14F-4D97-AF65-F5344CB8AC3E}">
        <p14:creationId xmlns:p14="http://schemas.microsoft.com/office/powerpoint/2010/main" val="179283792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B7118-B276-604C-A708-09932F0E6246}"/>
              </a:ext>
            </a:extLst>
          </p:cNvPr>
          <p:cNvSpPr>
            <a:spLocks noGrp="1"/>
          </p:cNvSpPr>
          <p:nvPr>
            <p:ph type="title"/>
          </p:nvPr>
        </p:nvSpPr>
        <p:spPr/>
        <p:txBody>
          <a:bodyPr>
            <a:normAutofit/>
          </a:bodyPr>
          <a:lstStyle/>
          <a:p>
            <a:r>
              <a:rPr lang="en-US" sz="4200" dirty="0"/>
              <a:t>Part 2: Merck can charge different prices </a:t>
            </a:r>
          </a:p>
        </p:txBody>
      </p:sp>
      <p:sp>
        <p:nvSpPr>
          <p:cNvPr id="4" name="Slide Number Placeholder 3">
            <a:extLst>
              <a:ext uri="{FF2B5EF4-FFF2-40B4-BE49-F238E27FC236}">
                <a16:creationId xmlns:a16="http://schemas.microsoft.com/office/drawing/2014/main" id="{6152D6BF-F487-1F4B-9424-A52DFC046F43}"/>
              </a:ext>
            </a:extLst>
          </p:cNvPr>
          <p:cNvSpPr>
            <a:spLocks noGrp="1"/>
          </p:cNvSpPr>
          <p:nvPr>
            <p:ph type="sldNum" sz="quarter" idx="12"/>
          </p:nvPr>
        </p:nvSpPr>
        <p:spPr/>
        <p:txBody>
          <a:bodyPr/>
          <a:lstStyle/>
          <a:p>
            <a:fld id="{171A6C5B-A11A-470F-8319-62E6F3F410BC}" type="slidenum">
              <a:rPr lang="en-US" smtClean="0"/>
              <a:pPr/>
              <a:t>22</a:t>
            </a:fld>
            <a:endParaRPr lang="en-US"/>
          </a:p>
        </p:txBody>
      </p:sp>
      <p:sp>
        <p:nvSpPr>
          <p:cNvPr id="3" name="Content Placeholder 2">
            <a:extLst>
              <a:ext uri="{FF2B5EF4-FFF2-40B4-BE49-F238E27FC236}">
                <a16:creationId xmlns:a16="http://schemas.microsoft.com/office/drawing/2014/main" id="{6D66258C-68C2-49D1-7055-97BFA6690CA5}"/>
              </a:ext>
            </a:extLst>
          </p:cNvPr>
          <p:cNvSpPr>
            <a:spLocks noGrp="1"/>
          </p:cNvSpPr>
          <p:nvPr>
            <p:ph idx="1"/>
          </p:nvPr>
        </p:nvSpPr>
        <p:spPr>
          <a:xfrm>
            <a:off x="838200" y="1690688"/>
            <a:ext cx="10515600" cy="4373563"/>
          </a:xfrm>
        </p:spPr>
        <p:txBody>
          <a:bodyPr>
            <a:normAutofit/>
          </a:bodyPr>
          <a:lstStyle/>
          <a:p>
            <a:pPr marL="0" indent="0" fontAlgn="base">
              <a:spcBef>
                <a:spcPct val="0"/>
              </a:spcBef>
              <a:spcAft>
                <a:spcPct val="0"/>
              </a:spcAft>
              <a:buNone/>
            </a:pPr>
            <a:r>
              <a:rPr lang="en-US" sz="1700" b="1" dirty="0"/>
              <a:t>Q3: What are pros and cons of differentiated prices for Merck and for the patients?</a:t>
            </a:r>
          </a:p>
          <a:p>
            <a:pPr fontAlgn="base">
              <a:spcBef>
                <a:spcPct val="0"/>
              </a:spcBef>
              <a:spcAft>
                <a:spcPct val="0"/>
              </a:spcAft>
            </a:pPr>
            <a:endParaRPr lang="en-US" sz="1700" b="1" dirty="0"/>
          </a:p>
          <a:p>
            <a:pPr fontAlgn="base">
              <a:spcBef>
                <a:spcPct val="0"/>
              </a:spcBef>
              <a:spcAft>
                <a:spcPct val="0"/>
              </a:spcAft>
            </a:pPr>
            <a:endParaRPr lang="en-US" sz="1800" dirty="0">
              <a:solidFill>
                <a:schemeClr val="tx1"/>
              </a:solidFill>
            </a:endParaRPr>
          </a:p>
          <a:p>
            <a:endParaRPr lang="en-US" dirty="0"/>
          </a:p>
        </p:txBody>
      </p:sp>
      <p:graphicFrame>
        <p:nvGraphicFramePr>
          <p:cNvPr id="6" name="Table 5">
            <a:extLst>
              <a:ext uri="{FF2B5EF4-FFF2-40B4-BE49-F238E27FC236}">
                <a16:creationId xmlns:a16="http://schemas.microsoft.com/office/drawing/2014/main" id="{7A8D69AB-76D8-30F0-82B5-2B8A94C1863F}"/>
              </a:ext>
            </a:extLst>
          </p:cNvPr>
          <p:cNvGraphicFramePr>
            <a:graphicFrameLocks noGrp="1"/>
          </p:cNvGraphicFramePr>
          <p:nvPr>
            <p:extLst>
              <p:ext uri="{D42A27DB-BD31-4B8C-83A1-F6EECF244321}">
                <p14:modId xmlns:p14="http://schemas.microsoft.com/office/powerpoint/2010/main" val="1897447128"/>
              </p:ext>
            </p:extLst>
          </p:nvPr>
        </p:nvGraphicFramePr>
        <p:xfrm>
          <a:off x="1295400" y="2743200"/>
          <a:ext cx="9601200" cy="2560320"/>
        </p:xfrm>
        <a:graphic>
          <a:graphicData uri="http://schemas.openxmlformats.org/drawingml/2006/table">
            <a:tbl>
              <a:tblPr firstRow="1" bandRow="1">
                <a:tableStyleId>{5C22544A-7EE6-4342-B048-85BDC9FD1C3A}</a:tableStyleId>
              </a:tblPr>
              <a:tblGrid>
                <a:gridCol w="1324303">
                  <a:extLst>
                    <a:ext uri="{9D8B030D-6E8A-4147-A177-3AD203B41FA5}">
                      <a16:colId xmlns:a16="http://schemas.microsoft.com/office/drawing/2014/main" val="3508855430"/>
                    </a:ext>
                  </a:extLst>
                </a:gridCol>
                <a:gridCol w="3559066">
                  <a:extLst>
                    <a:ext uri="{9D8B030D-6E8A-4147-A177-3AD203B41FA5}">
                      <a16:colId xmlns:a16="http://schemas.microsoft.com/office/drawing/2014/main" val="3203841651"/>
                    </a:ext>
                  </a:extLst>
                </a:gridCol>
                <a:gridCol w="4717831">
                  <a:extLst>
                    <a:ext uri="{9D8B030D-6E8A-4147-A177-3AD203B41FA5}">
                      <a16:colId xmlns:a16="http://schemas.microsoft.com/office/drawing/2014/main" val="1227707393"/>
                    </a:ext>
                  </a:extLst>
                </a:gridCol>
              </a:tblGrid>
              <a:tr h="381000">
                <a:tc>
                  <a:txBody>
                    <a:bodyPr/>
                    <a:lstStyle/>
                    <a:p>
                      <a:endParaRPr lang="en-US" dirty="0"/>
                    </a:p>
                  </a:txBody>
                  <a:tcPr anchor="ctr"/>
                </a:tc>
                <a:tc>
                  <a:txBody>
                    <a:bodyPr/>
                    <a:lstStyle/>
                    <a:p>
                      <a:r>
                        <a:rPr lang="en-US" dirty="0"/>
                        <a:t>Pro</a:t>
                      </a:r>
                    </a:p>
                  </a:txBody>
                  <a:tcPr anchor="ctr"/>
                </a:tc>
                <a:tc>
                  <a:txBody>
                    <a:bodyPr/>
                    <a:lstStyle/>
                    <a:p>
                      <a:r>
                        <a:rPr lang="en-US" dirty="0"/>
                        <a:t>Con</a:t>
                      </a:r>
                    </a:p>
                  </a:txBody>
                  <a:tcPr anchor="ctr">
                    <a:solidFill>
                      <a:schemeClr val="accent2"/>
                    </a:solidFill>
                  </a:tcPr>
                </a:tc>
                <a:extLst>
                  <a:ext uri="{0D108BD9-81ED-4DB2-BD59-A6C34878D82A}">
                    <a16:rowId xmlns:a16="http://schemas.microsoft.com/office/drawing/2014/main" val="3869876098"/>
                  </a:ext>
                </a:extLst>
              </a:tr>
              <a:tr h="990600">
                <a:tc>
                  <a:txBody>
                    <a:bodyPr/>
                    <a:lstStyle/>
                    <a:p>
                      <a:r>
                        <a:rPr lang="en-US" b="1" dirty="0"/>
                        <a:t>Merck</a:t>
                      </a:r>
                    </a:p>
                  </a:txBody>
                  <a:tcPr anchor="ctr"/>
                </a:tc>
                <a:tc>
                  <a:txBody>
                    <a:bodyPr/>
                    <a:lstStyle/>
                    <a:p>
                      <a:r>
                        <a:rPr lang="en-US" dirty="0"/>
                        <a:t>Higher profits ($179M vs. $119.6M)</a:t>
                      </a:r>
                    </a:p>
                  </a:txBody>
                  <a:tcPr anchor="ctr"/>
                </a:tc>
                <a:tc>
                  <a:txBody>
                    <a:bodyPr/>
                    <a:lstStyle/>
                    <a:p>
                      <a:r>
                        <a:rPr lang="en-US" dirty="0"/>
                        <a:t>Hard to pull off: Merck has to know who will pay what and stop people from reselling cheap doses to others. Also potential legal or public backlash.</a:t>
                      </a:r>
                    </a:p>
                  </a:txBody>
                  <a:tcPr anchor="ctr">
                    <a:solidFill>
                      <a:schemeClr val="accent2">
                        <a:lumMod val="40000"/>
                        <a:lumOff val="60000"/>
                      </a:schemeClr>
                    </a:solidFill>
                  </a:tcPr>
                </a:tc>
                <a:extLst>
                  <a:ext uri="{0D108BD9-81ED-4DB2-BD59-A6C34878D82A}">
                    <a16:rowId xmlns:a16="http://schemas.microsoft.com/office/drawing/2014/main" val="2596641302"/>
                  </a:ext>
                </a:extLst>
              </a:tr>
              <a:tr h="990600">
                <a:tc>
                  <a:txBody>
                    <a:bodyPr/>
                    <a:lstStyle/>
                    <a:p>
                      <a:r>
                        <a:rPr lang="en-US" b="1" dirty="0"/>
                        <a:t>Patients</a:t>
                      </a:r>
                    </a:p>
                  </a:txBody>
                  <a:tcPr anchor="ctr"/>
                </a:tc>
                <a:tc>
                  <a:txBody>
                    <a:bodyPr/>
                    <a:lstStyle/>
                    <a:p>
                      <a:r>
                        <a:rPr lang="en-US" dirty="0"/>
                        <a:t>More people get the drug (2,000 vs. 400)</a:t>
                      </a:r>
                    </a:p>
                  </a:txBody>
                  <a:tcPr anchor="ctr"/>
                </a:tc>
                <a:tc>
                  <a:txBody>
                    <a:bodyPr/>
                    <a:lstStyle/>
                    <a:p>
                      <a:r>
                        <a:rPr lang="en-US" dirty="0"/>
                        <a:t>Feels unfair: sicker patients pay much more for the same drug, and every patient pays the most they’re willing and able to pay. </a:t>
                      </a:r>
                    </a:p>
                  </a:txBody>
                  <a:tcPr anchor="ctr">
                    <a:solidFill>
                      <a:schemeClr val="accent2">
                        <a:lumMod val="20000"/>
                        <a:lumOff val="80000"/>
                      </a:schemeClr>
                    </a:solidFill>
                  </a:tcPr>
                </a:tc>
                <a:extLst>
                  <a:ext uri="{0D108BD9-81ED-4DB2-BD59-A6C34878D82A}">
                    <a16:rowId xmlns:a16="http://schemas.microsoft.com/office/drawing/2014/main" val="1890588287"/>
                  </a:ext>
                </a:extLst>
              </a:tr>
            </a:tbl>
          </a:graphicData>
        </a:graphic>
      </p:graphicFrame>
    </p:spTree>
    <p:extLst>
      <p:ext uri="{BB962C8B-B14F-4D97-AF65-F5344CB8AC3E}">
        <p14:creationId xmlns:p14="http://schemas.microsoft.com/office/powerpoint/2010/main" val="225718629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0811D1-7B9D-C14C-A01E-437F3F2DC634}"/>
              </a:ext>
            </a:extLst>
          </p:cNvPr>
          <p:cNvSpPr>
            <a:spLocks noGrp="1"/>
          </p:cNvSpPr>
          <p:nvPr>
            <p:ph type="title"/>
          </p:nvPr>
        </p:nvSpPr>
        <p:spPr/>
        <p:txBody>
          <a:bodyPr>
            <a:normAutofit/>
          </a:bodyPr>
          <a:lstStyle/>
          <a:p>
            <a:r>
              <a:rPr lang="en-US" sz="3600" dirty="0"/>
              <a:t>Part 3: Is Keytruda cost-effective?</a:t>
            </a:r>
            <a:br>
              <a:rPr lang="en-US" dirty="0"/>
            </a:br>
            <a:endParaRPr lang="en-US" dirty="0"/>
          </a:p>
        </p:txBody>
      </p:sp>
      <p:sp>
        <p:nvSpPr>
          <p:cNvPr id="3" name="Content Placeholder 2">
            <a:extLst>
              <a:ext uri="{FF2B5EF4-FFF2-40B4-BE49-F238E27FC236}">
                <a16:creationId xmlns:a16="http://schemas.microsoft.com/office/drawing/2014/main" id="{3EEE720F-E4A0-FB40-96BF-68B651DCE054}"/>
              </a:ext>
            </a:extLst>
          </p:cNvPr>
          <p:cNvSpPr>
            <a:spLocks noGrp="1"/>
          </p:cNvSpPr>
          <p:nvPr>
            <p:ph idx="1"/>
          </p:nvPr>
        </p:nvSpPr>
        <p:spPr>
          <a:xfrm>
            <a:off x="838200" y="1690688"/>
            <a:ext cx="10515600" cy="4373563"/>
          </a:xfrm>
        </p:spPr>
        <p:txBody>
          <a:bodyPr>
            <a:normAutofit fontScale="92500"/>
          </a:bodyPr>
          <a:lstStyle/>
          <a:p>
            <a:pPr fontAlgn="base">
              <a:spcBef>
                <a:spcPct val="0"/>
              </a:spcBef>
              <a:spcAft>
                <a:spcPct val="0"/>
              </a:spcAft>
            </a:pPr>
            <a:r>
              <a:rPr lang="en-US" sz="1800" dirty="0"/>
              <a:t>Recall: </a:t>
            </a:r>
          </a:p>
          <a:p>
            <a:pPr lvl="1" fontAlgn="base">
              <a:spcBef>
                <a:spcPct val="0"/>
              </a:spcBef>
              <a:spcAft>
                <a:spcPct val="0"/>
              </a:spcAft>
            </a:pPr>
            <a:r>
              <a:rPr lang="en-US" sz="1800" dirty="0"/>
              <a:t>Price is $300k (from Part 1)</a:t>
            </a:r>
          </a:p>
          <a:p>
            <a:pPr lvl="1" fontAlgn="base">
              <a:spcBef>
                <a:spcPct val="0"/>
              </a:spcBef>
              <a:spcAft>
                <a:spcPct val="0"/>
              </a:spcAft>
            </a:pPr>
            <a:r>
              <a:rPr lang="en-US" sz="1800" dirty="0"/>
              <a:t>Life expectancy </a:t>
            </a:r>
            <a:r>
              <a:rPr lang="en-US" sz="1800" u="sng" dirty="0"/>
              <a:t>without</a:t>
            </a:r>
            <a:r>
              <a:rPr lang="en-US" sz="1800" dirty="0"/>
              <a:t> Keytruda: 1 year</a:t>
            </a:r>
          </a:p>
          <a:p>
            <a:pPr lvl="1" fontAlgn="base">
              <a:spcBef>
                <a:spcPct val="0"/>
              </a:spcBef>
              <a:spcAft>
                <a:spcPct val="0"/>
              </a:spcAft>
            </a:pPr>
            <a:r>
              <a:rPr lang="en-US" sz="1800" dirty="0"/>
              <a:t>Life expectancy </a:t>
            </a:r>
            <a:r>
              <a:rPr lang="en-US" sz="1800" i="1" dirty="0"/>
              <a:t>with</a:t>
            </a:r>
            <a:r>
              <a:rPr lang="en-US" sz="1800" dirty="0"/>
              <a:t> Keytruda: 3 years</a:t>
            </a:r>
          </a:p>
          <a:p>
            <a:pPr lvl="1" fontAlgn="base">
              <a:spcBef>
                <a:spcPct val="0"/>
              </a:spcBef>
              <a:spcAft>
                <a:spcPct val="0"/>
              </a:spcAft>
            </a:pPr>
            <a:endParaRPr lang="en-US" sz="1400" dirty="0"/>
          </a:p>
          <a:p>
            <a:pPr marL="0" indent="0" fontAlgn="base">
              <a:spcBef>
                <a:spcPct val="0"/>
              </a:spcBef>
              <a:spcAft>
                <a:spcPct val="0"/>
              </a:spcAft>
              <a:buNone/>
            </a:pPr>
            <a:r>
              <a:rPr lang="en-US" sz="1800" b="1" dirty="0"/>
              <a:t>Q1: Calculate the cost per year of life gained</a:t>
            </a:r>
          </a:p>
          <a:p>
            <a:pPr marL="0" indent="0" fontAlgn="base">
              <a:spcBef>
                <a:spcPct val="0"/>
              </a:spcBef>
              <a:spcAft>
                <a:spcPct val="0"/>
              </a:spcAft>
              <a:buNone/>
            </a:pPr>
            <a:endParaRPr lang="en-US" sz="1800" b="1" dirty="0"/>
          </a:p>
          <a:p>
            <a:pPr marL="0" indent="0" fontAlgn="base">
              <a:spcBef>
                <a:spcPct val="0"/>
              </a:spcBef>
              <a:spcAft>
                <a:spcPct val="0"/>
              </a:spcAft>
              <a:buNone/>
            </a:pPr>
            <a:r>
              <a:rPr lang="en-US" sz="1800" b="1" dirty="0"/>
              <a:t>Q2: Is Keytruda cost-effective, based on the value of a statistical life from class (~$100k per year)?</a:t>
            </a:r>
          </a:p>
          <a:p>
            <a:pPr marL="0" indent="0" fontAlgn="base">
              <a:spcBef>
                <a:spcPct val="0"/>
              </a:spcBef>
              <a:spcAft>
                <a:spcPct val="0"/>
              </a:spcAft>
              <a:buNone/>
            </a:pPr>
            <a:endParaRPr lang="en-US" sz="1800" b="1" dirty="0"/>
          </a:p>
          <a:p>
            <a:pPr marL="0" indent="0" fontAlgn="base">
              <a:spcBef>
                <a:spcPct val="0"/>
              </a:spcBef>
              <a:spcAft>
                <a:spcPct val="0"/>
              </a:spcAft>
              <a:buNone/>
            </a:pPr>
            <a:r>
              <a:rPr lang="en-US" sz="1800" b="1" dirty="0"/>
              <a:t>Q3: What are the pros and cons of an insurer or national health plan using cost-effectiveness to decide whether to cover Keytruda? </a:t>
            </a:r>
            <a:endParaRPr lang="en-US" sz="2400" dirty="0"/>
          </a:p>
          <a:p>
            <a:endParaRPr lang="en-US" dirty="0"/>
          </a:p>
        </p:txBody>
      </p:sp>
      <p:sp>
        <p:nvSpPr>
          <p:cNvPr id="4" name="Slide Number Placeholder 3">
            <a:extLst>
              <a:ext uri="{FF2B5EF4-FFF2-40B4-BE49-F238E27FC236}">
                <a16:creationId xmlns:a16="http://schemas.microsoft.com/office/drawing/2014/main" id="{6257D003-2C8E-D249-9009-E8BED5EE0CC1}"/>
              </a:ext>
            </a:extLst>
          </p:cNvPr>
          <p:cNvSpPr>
            <a:spLocks noGrp="1"/>
          </p:cNvSpPr>
          <p:nvPr>
            <p:ph type="sldNum" sz="quarter" idx="12"/>
          </p:nvPr>
        </p:nvSpPr>
        <p:spPr/>
        <p:txBody>
          <a:bodyPr/>
          <a:lstStyle/>
          <a:p>
            <a:fld id="{171A6C5B-A11A-470F-8319-62E6F3F410BC}" type="slidenum">
              <a:rPr lang="en-US" smtClean="0"/>
              <a:pPr/>
              <a:t>23</a:t>
            </a:fld>
            <a:endParaRPr lang="en-US"/>
          </a:p>
        </p:txBody>
      </p:sp>
    </p:spTree>
    <p:extLst>
      <p:ext uri="{BB962C8B-B14F-4D97-AF65-F5344CB8AC3E}">
        <p14:creationId xmlns:p14="http://schemas.microsoft.com/office/powerpoint/2010/main" val="165835734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0811D1-7B9D-C14C-A01E-437F3F2DC634}"/>
              </a:ext>
            </a:extLst>
          </p:cNvPr>
          <p:cNvSpPr>
            <a:spLocks noGrp="1"/>
          </p:cNvSpPr>
          <p:nvPr>
            <p:ph type="title"/>
          </p:nvPr>
        </p:nvSpPr>
        <p:spPr/>
        <p:txBody>
          <a:bodyPr>
            <a:normAutofit/>
          </a:bodyPr>
          <a:lstStyle/>
          <a:p>
            <a:r>
              <a:rPr lang="en-US" sz="3600" dirty="0"/>
              <a:t>Part 3: Is Keytruda cost-effective?</a:t>
            </a:r>
            <a:br>
              <a:rPr lang="en-US" dirty="0"/>
            </a:br>
            <a:endParaRPr lang="en-US" dirty="0"/>
          </a:p>
        </p:txBody>
      </p:sp>
      <p:sp>
        <p:nvSpPr>
          <p:cNvPr id="4" name="Slide Number Placeholder 3">
            <a:extLst>
              <a:ext uri="{FF2B5EF4-FFF2-40B4-BE49-F238E27FC236}">
                <a16:creationId xmlns:a16="http://schemas.microsoft.com/office/drawing/2014/main" id="{6257D003-2C8E-D249-9009-E8BED5EE0CC1}"/>
              </a:ext>
            </a:extLst>
          </p:cNvPr>
          <p:cNvSpPr>
            <a:spLocks noGrp="1"/>
          </p:cNvSpPr>
          <p:nvPr>
            <p:ph type="sldNum" sz="quarter" idx="12"/>
          </p:nvPr>
        </p:nvSpPr>
        <p:spPr/>
        <p:txBody>
          <a:bodyPr/>
          <a:lstStyle/>
          <a:p>
            <a:fld id="{171A6C5B-A11A-470F-8319-62E6F3F410BC}" type="slidenum">
              <a:rPr lang="en-US" smtClean="0"/>
              <a:pPr/>
              <a:t>24</a:t>
            </a:fld>
            <a:endParaRPr lang="en-US"/>
          </a:p>
        </p:txBody>
      </p:sp>
      <p:sp>
        <p:nvSpPr>
          <p:cNvPr id="7" name="Content Placeholder 2">
            <a:extLst>
              <a:ext uri="{FF2B5EF4-FFF2-40B4-BE49-F238E27FC236}">
                <a16:creationId xmlns:a16="http://schemas.microsoft.com/office/drawing/2014/main" id="{EEFC2D2D-96C1-E043-41DB-3A023CB1E300}"/>
              </a:ext>
            </a:extLst>
          </p:cNvPr>
          <p:cNvSpPr txBox="1">
            <a:spLocks/>
          </p:cNvSpPr>
          <p:nvPr/>
        </p:nvSpPr>
        <p:spPr>
          <a:xfrm>
            <a:off x="685800" y="1690688"/>
            <a:ext cx="10515599" cy="437356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14300" indent="0" fontAlgn="base">
              <a:lnSpc>
                <a:spcPct val="150000"/>
              </a:lnSpc>
              <a:spcBef>
                <a:spcPct val="0"/>
              </a:spcBef>
              <a:spcAft>
                <a:spcPct val="0"/>
              </a:spcAft>
              <a:buFont typeface="Arial" panose="020B0604020202020204" pitchFamily="34" charset="0"/>
              <a:buNone/>
            </a:pPr>
            <a:r>
              <a:rPr lang="en-US" sz="2400" b="1" dirty="0">
                <a:latin typeface="Arial" panose="020B0604020202020204" pitchFamily="34" charset="0"/>
                <a:cs typeface="Arial" panose="020B0604020202020204" pitchFamily="34" charset="0"/>
              </a:rPr>
              <a:t>Q1: Cost per life year gained.</a:t>
            </a:r>
          </a:p>
          <a:p>
            <a:pPr marL="114300" indent="0" fontAlgn="base">
              <a:lnSpc>
                <a:spcPct val="150000"/>
              </a:lnSpc>
              <a:spcBef>
                <a:spcPct val="0"/>
              </a:spcBef>
              <a:spcAft>
                <a:spcPct val="0"/>
              </a:spcAft>
              <a:buFont typeface="Arial" panose="020B0604020202020204" pitchFamily="34" charset="0"/>
              <a:buNone/>
            </a:pPr>
            <a:endParaRPr lang="en-US" sz="2400" dirty="0">
              <a:solidFill>
                <a:srgbClr val="008000"/>
              </a:solidFill>
              <a:latin typeface="Arial" panose="020B0604020202020204" pitchFamily="34" charset="0"/>
              <a:cs typeface="Arial" panose="020B0604020202020204" pitchFamily="34" charset="0"/>
            </a:endParaRPr>
          </a:p>
          <a:p>
            <a:pPr marL="457200" indent="-342900" fontAlgn="base">
              <a:lnSpc>
                <a:spcPct val="150000"/>
              </a:lnSpc>
              <a:spcBef>
                <a:spcPct val="0"/>
              </a:spcBef>
              <a:spcAft>
                <a:spcPct val="0"/>
              </a:spcAft>
            </a:pPr>
            <a:r>
              <a:rPr lang="en-US" sz="2400" dirty="0">
                <a:solidFill>
                  <a:schemeClr val="accent1"/>
                </a:solidFill>
                <a:latin typeface="Arial" panose="020B0604020202020204" pitchFamily="34" charset="0"/>
                <a:cs typeface="Arial" panose="020B0604020202020204" pitchFamily="34" charset="0"/>
              </a:rPr>
              <a:t>Years gained: 3 – 1 = 2 years</a:t>
            </a:r>
          </a:p>
          <a:p>
            <a:pPr marL="457200" indent="-342900" fontAlgn="base">
              <a:lnSpc>
                <a:spcPct val="150000"/>
              </a:lnSpc>
              <a:spcBef>
                <a:spcPct val="0"/>
              </a:spcBef>
              <a:spcAft>
                <a:spcPct val="0"/>
              </a:spcAft>
            </a:pPr>
            <a:r>
              <a:rPr lang="en-US" sz="2400" dirty="0">
                <a:solidFill>
                  <a:schemeClr val="accent1"/>
                </a:solidFill>
                <a:latin typeface="Arial" panose="020B0604020202020204" pitchFamily="34" charset="0"/>
                <a:cs typeface="Arial" panose="020B0604020202020204" pitchFamily="34" charset="0"/>
              </a:rPr>
              <a:t>Cost per year gained = Price / Years gained</a:t>
            </a:r>
          </a:p>
          <a:p>
            <a:pPr marL="914400" lvl="1" indent="-342900" fontAlgn="base">
              <a:lnSpc>
                <a:spcPct val="150000"/>
              </a:lnSpc>
              <a:spcBef>
                <a:spcPct val="0"/>
              </a:spcBef>
              <a:spcAft>
                <a:spcPct val="0"/>
              </a:spcAft>
            </a:pPr>
            <a:r>
              <a:rPr lang="en-US" sz="2000" dirty="0">
                <a:solidFill>
                  <a:schemeClr val="accent1"/>
                </a:solidFill>
                <a:latin typeface="Arial" panose="020B0604020202020204" pitchFamily="34" charset="0"/>
                <a:cs typeface="Arial" panose="020B0604020202020204" pitchFamily="34" charset="0"/>
              </a:rPr>
              <a:t>= $300k / 2</a:t>
            </a:r>
          </a:p>
          <a:p>
            <a:pPr marL="914400" lvl="1" indent="-342900" fontAlgn="base">
              <a:lnSpc>
                <a:spcPct val="150000"/>
              </a:lnSpc>
              <a:spcBef>
                <a:spcPct val="0"/>
              </a:spcBef>
              <a:spcAft>
                <a:spcPct val="0"/>
              </a:spcAft>
            </a:pPr>
            <a:r>
              <a:rPr lang="en-US" sz="2000" dirty="0">
                <a:solidFill>
                  <a:schemeClr val="accent1"/>
                </a:solidFill>
                <a:latin typeface="Arial" panose="020B0604020202020204" pitchFamily="34" charset="0"/>
                <a:cs typeface="Arial" panose="020B0604020202020204" pitchFamily="34" charset="0"/>
              </a:rPr>
              <a:t>= $150k per life year gained</a:t>
            </a:r>
          </a:p>
          <a:p>
            <a:pPr marL="914400" lvl="1" indent="-342900" fontAlgn="base">
              <a:lnSpc>
                <a:spcPct val="150000"/>
              </a:lnSpc>
              <a:spcBef>
                <a:spcPct val="0"/>
              </a:spcBef>
              <a:spcAft>
                <a:spcPct val="0"/>
              </a:spcAft>
            </a:pPr>
            <a:endParaRPr lang="en-US" sz="2000" dirty="0">
              <a:solidFill>
                <a:schemeClr val="accent1"/>
              </a:solidFill>
              <a:latin typeface="Arial" panose="020B0604020202020204" pitchFamily="34" charset="0"/>
              <a:cs typeface="Arial" panose="020B0604020202020204" pitchFamily="34" charset="0"/>
            </a:endParaRPr>
          </a:p>
          <a:p>
            <a:pPr marL="457200" indent="-342900" fontAlgn="base">
              <a:lnSpc>
                <a:spcPct val="150000"/>
              </a:lnSpc>
              <a:spcBef>
                <a:spcPct val="0"/>
              </a:spcBef>
              <a:spcAft>
                <a:spcPct val="0"/>
              </a:spcAft>
            </a:pPr>
            <a:r>
              <a:rPr lang="en-US" sz="1800" i="1" dirty="0">
                <a:solidFill>
                  <a:schemeClr val="accent1"/>
                </a:solidFill>
                <a:latin typeface="Arial" panose="020B0604020202020204" pitchFamily="34" charset="0"/>
                <a:cs typeface="Arial" panose="020B0604020202020204" pitchFamily="34" charset="0"/>
              </a:rPr>
              <a:t>Alternative method: Benefit = 2 years * 100k = $200k, which is less than the $300k price</a:t>
            </a:r>
            <a:endParaRPr lang="en-US" sz="1600" i="1" dirty="0">
              <a:solidFill>
                <a:schemeClr val="accent1"/>
              </a:solidFill>
              <a:latin typeface="Arial" panose="020B0604020202020204" pitchFamily="34" charset="0"/>
              <a:cs typeface="Arial" panose="020B0604020202020204" pitchFamily="34" charset="0"/>
            </a:endParaRPr>
          </a:p>
          <a:p>
            <a:pPr>
              <a:lnSpc>
                <a:spcPct val="150000"/>
              </a:lnSpc>
            </a:pPr>
            <a:endParaRPr 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0450266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0811D1-7B9D-C14C-A01E-437F3F2DC634}"/>
              </a:ext>
            </a:extLst>
          </p:cNvPr>
          <p:cNvSpPr>
            <a:spLocks noGrp="1"/>
          </p:cNvSpPr>
          <p:nvPr>
            <p:ph type="title"/>
          </p:nvPr>
        </p:nvSpPr>
        <p:spPr/>
        <p:txBody>
          <a:bodyPr>
            <a:normAutofit/>
          </a:bodyPr>
          <a:lstStyle/>
          <a:p>
            <a:r>
              <a:rPr lang="en-US" sz="3600" dirty="0"/>
              <a:t>Part 3: Is Keytruda cost-effective?</a:t>
            </a:r>
            <a:br>
              <a:rPr lang="en-US" dirty="0"/>
            </a:br>
            <a:endParaRPr lang="en-US" dirty="0"/>
          </a:p>
        </p:txBody>
      </p:sp>
      <p:sp>
        <p:nvSpPr>
          <p:cNvPr id="4" name="Slide Number Placeholder 3">
            <a:extLst>
              <a:ext uri="{FF2B5EF4-FFF2-40B4-BE49-F238E27FC236}">
                <a16:creationId xmlns:a16="http://schemas.microsoft.com/office/drawing/2014/main" id="{6257D003-2C8E-D249-9009-E8BED5EE0CC1}"/>
              </a:ext>
            </a:extLst>
          </p:cNvPr>
          <p:cNvSpPr>
            <a:spLocks noGrp="1"/>
          </p:cNvSpPr>
          <p:nvPr>
            <p:ph type="sldNum" sz="quarter" idx="12"/>
          </p:nvPr>
        </p:nvSpPr>
        <p:spPr/>
        <p:txBody>
          <a:bodyPr/>
          <a:lstStyle/>
          <a:p>
            <a:fld id="{171A6C5B-A11A-470F-8319-62E6F3F410BC}" type="slidenum">
              <a:rPr lang="en-US" smtClean="0"/>
              <a:pPr/>
              <a:t>25</a:t>
            </a:fld>
            <a:endParaRPr lang="en-US"/>
          </a:p>
        </p:txBody>
      </p:sp>
      <p:sp>
        <p:nvSpPr>
          <p:cNvPr id="3" name="Content Placeholder 2">
            <a:extLst>
              <a:ext uri="{FF2B5EF4-FFF2-40B4-BE49-F238E27FC236}">
                <a16:creationId xmlns:a16="http://schemas.microsoft.com/office/drawing/2014/main" id="{9D2FE181-0A56-6372-B1A7-20D0EBACCAEC}"/>
              </a:ext>
            </a:extLst>
          </p:cNvPr>
          <p:cNvSpPr>
            <a:spLocks noGrp="1"/>
          </p:cNvSpPr>
          <p:nvPr>
            <p:ph idx="1"/>
          </p:nvPr>
        </p:nvSpPr>
        <p:spPr>
          <a:xfrm>
            <a:off x="803564" y="1242218"/>
            <a:ext cx="10515600" cy="4853782"/>
          </a:xfrm>
        </p:spPr>
        <p:txBody>
          <a:bodyPr>
            <a:normAutofit fontScale="77500" lnSpcReduction="20000"/>
          </a:bodyPr>
          <a:lstStyle/>
          <a:p>
            <a:pPr marL="114300" indent="0" fontAlgn="base">
              <a:spcBef>
                <a:spcPct val="0"/>
              </a:spcBef>
              <a:spcAft>
                <a:spcPct val="0"/>
              </a:spcAft>
              <a:buNone/>
            </a:pPr>
            <a:endParaRPr lang="en-US" sz="2400" dirty="0">
              <a:solidFill>
                <a:srgbClr val="008000"/>
              </a:solidFill>
            </a:endParaRPr>
          </a:p>
          <a:p>
            <a:pPr marL="114300" indent="0" fontAlgn="base">
              <a:spcBef>
                <a:spcPct val="0"/>
              </a:spcBef>
              <a:spcAft>
                <a:spcPct val="0"/>
              </a:spcAft>
              <a:buNone/>
            </a:pPr>
            <a:r>
              <a:rPr lang="en-US" b="1" dirty="0"/>
              <a:t>Q2: Is Keytruda cost-effective, based on the value of a statistical life from class (~$100k per year)?</a:t>
            </a:r>
          </a:p>
          <a:p>
            <a:pPr marL="114300" indent="0" fontAlgn="base">
              <a:spcBef>
                <a:spcPct val="0"/>
              </a:spcBef>
              <a:spcAft>
                <a:spcPct val="0"/>
              </a:spcAft>
              <a:buNone/>
            </a:pPr>
            <a:endParaRPr lang="en-US" dirty="0">
              <a:solidFill>
                <a:schemeClr val="accent5"/>
              </a:solidFill>
            </a:endParaRPr>
          </a:p>
          <a:p>
            <a:pPr marL="457200" indent="-342900" fontAlgn="base">
              <a:spcBef>
                <a:spcPct val="0"/>
              </a:spcBef>
              <a:spcAft>
                <a:spcPct val="0"/>
              </a:spcAft>
            </a:pPr>
            <a:r>
              <a:rPr lang="en-US" sz="2600" dirty="0">
                <a:solidFill>
                  <a:schemeClr val="accent1"/>
                </a:solidFill>
              </a:rPr>
              <a:t>$150k &gt; $100k, so not cost effective</a:t>
            </a:r>
          </a:p>
          <a:p>
            <a:pPr marL="457200" indent="-342900" fontAlgn="base">
              <a:spcBef>
                <a:spcPct val="0"/>
              </a:spcBef>
              <a:spcAft>
                <a:spcPct val="0"/>
              </a:spcAft>
            </a:pPr>
            <a:endParaRPr lang="en-US" sz="2600" dirty="0">
              <a:solidFill>
                <a:schemeClr val="accent1"/>
              </a:solidFill>
            </a:endParaRPr>
          </a:p>
          <a:p>
            <a:pPr marL="457200" indent="-342900" fontAlgn="base">
              <a:spcBef>
                <a:spcPct val="0"/>
              </a:spcBef>
              <a:spcAft>
                <a:spcPct val="0"/>
              </a:spcAft>
            </a:pPr>
            <a:r>
              <a:rPr lang="en-US" sz="2600" dirty="0">
                <a:solidFill>
                  <a:schemeClr val="accent1"/>
                </a:solidFill>
              </a:rPr>
              <a:t>Keytruda costs $150,000 per year of life gained, which is more than the roughly $100,000 per year that we value an additional year of life at, so it is </a:t>
            </a:r>
            <a:r>
              <a:rPr lang="en-US" sz="2600" b="1" dirty="0">
                <a:solidFill>
                  <a:schemeClr val="accent1"/>
                </a:solidFill>
              </a:rPr>
              <a:t>not cost-effective </a:t>
            </a:r>
            <a:r>
              <a:rPr lang="en-US" sz="2600" dirty="0">
                <a:solidFill>
                  <a:schemeClr val="accent1"/>
                </a:solidFill>
              </a:rPr>
              <a:t>at a price of $300,000.</a:t>
            </a:r>
          </a:p>
          <a:p>
            <a:pPr marL="457200" indent="-342900" fontAlgn="base">
              <a:spcBef>
                <a:spcPct val="0"/>
              </a:spcBef>
              <a:spcAft>
                <a:spcPct val="0"/>
              </a:spcAft>
            </a:pPr>
            <a:endParaRPr lang="en-US" sz="2600" dirty="0">
              <a:solidFill>
                <a:schemeClr val="accent1"/>
              </a:solidFill>
            </a:endParaRPr>
          </a:p>
          <a:p>
            <a:pPr marL="457200" indent="-342900" fontAlgn="base">
              <a:spcBef>
                <a:spcPct val="0"/>
              </a:spcBef>
              <a:spcAft>
                <a:spcPct val="0"/>
              </a:spcAft>
            </a:pPr>
            <a:r>
              <a:rPr lang="en-US" sz="2600" dirty="0">
                <a:solidFill>
                  <a:schemeClr val="accent1"/>
                </a:solidFill>
              </a:rPr>
              <a:t>What price would make it cost-effective? 2 years × $100K = $200,000 or less</a:t>
            </a:r>
          </a:p>
          <a:p>
            <a:endParaRPr lang="en-US" dirty="0"/>
          </a:p>
        </p:txBody>
      </p:sp>
    </p:spTree>
    <p:extLst>
      <p:ext uri="{BB962C8B-B14F-4D97-AF65-F5344CB8AC3E}">
        <p14:creationId xmlns:p14="http://schemas.microsoft.com/office/powerpoint/2010/main" val="233217386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0811D1-7B9D-C14C-A01E-437F3F2DC634}"/>
              </a:ext>
            </a:extLst>
          </p:cNvPr>
          <p:cNvSpPr>
            <a:spLocks noGrp="1"/>
          </p:cNvSpPr>
          <p:nvPr>
            <p:ph type="title"/>
          </p:nvPr>
        </p:nvSpPr>
        <p:spPr/>
        <p:txBody>
          <a:bodyPr>
            <a:normAutofit/>
          </a:bodyPr>
          <a:lstStyle/>
          <a:p>
            <a:r>
              <a:rPr lang="en-US" sz="3600" dirty="0"/>
              <a:t>Part 3: The cost effectiveness of Keytruda </a:t>
            </a:r>
            <a:br>
              <a:rPr lang="en-US" dirty="0"/>
            </a:br>
            <a:endParaRPr lang="en-US" dirty="0"/>
          </a:p>
        </p:txBody>
      </p:sp>
      <p:sp>
        <p:nvSpPr>
          <p:cNvPr id="4" name="Slide Number Placeholder 3">
            <a:extLst>
              <a:ext uri="{FF2B5EF4-FFF2-40B4-BE49-F238E27FC236}">
                <a16:creationId xmlns:a16="http://schemas.microsoft.com/office/drawing/2014/main" id="{6257D003-2C8E-D249-9009-E8BED5EE0CC1}"/>
              </a:ext>
            </a:extLst>
          </p:cNvPr>
          <p:cNvSpPr>
            <a:spLocks noGrp="1"/>
          </p:cNvSpPr>
          <p:nvPr>
            <p:ph type="sldNum" sz="quarter" idx="12"/>
          </p:nvPr>
        </p:nvSpPr>
        <p:spPr/>
        <p:txBody>
          <a:bodyPr/>
          <a:lstStyle/>
          <a:p>
            <a:fld id="{171A6C5B-A11A-470F-8319-62E6F3F410BC}" type="slidenum">
              <a:rPr lang="en-US" smtClean="0"/>
              <a:pPr/>
              <a:t>26</a:t>
            </a:fld>
            <a:endParaRPr lang="en-US"/>
          </a:p>
        </p:txBody>
      </p:sp>
      <p:sp>
        <p:nvSpPr>
          <p:cNvPr id="3" name="Content Placeholder 2">
            <a:extLst>
              <a:ext uri="{FF2B5EF4-FFF2-40B4-BE49-F238E27FC236}">
                <a16:creationId xmlns:a16="http://schemas.microsoft.com/office/drawing/2014/main" id="{30B51B39-D437-362A-3E64-0A4E11E8B251}"/>
              </a:ext>
            </a:extLst>
          </p:cNvPr>
          <p:cNvSpPr>
            <a:spLocks noGrp="1"/>
          </p:cNvSpPr>
          <p:nvPr>
            <p:ph idx="1"/>
          </p:nvPr>
        </p:nvSpPr>
        <p:spPr>
          <a:xfrm>
            <a:off x="819397" y="1447800"/>
            <a:ext cx="10058400" cy="5181600"/>
          </a:xfrm>
        </p:spPr>
        <p:txBody>
          <a:bodyPr>
            <a:noAutofit/>
          </a:bodyPr>
          <a:lstStyle/>
          <a:p>
            <a:pPr marL="0" indent="0" fontAlgn="base">
              <a:spcBef>
                <a:spcPct val="0"/>
              </a:spcBef>
              <a:spcAft>
                <a:spcPct val="0"/>
              </a:spcAft>
              <a:buNone/>
            </a:pPr>
            <a:r>
              <a:rPr lang="en-US" sz="2400" b="1" dirty="0"/>
              <a:t>Q3: What are the pros and cons of an insurer or national health plan using cost-effectiveness to decide whether to cover Keytruda? </a:t>
            </a:r>
            <a:endParaRPr lang="en-US" sz="2400" dirty="0"/>
          </a:p>
          <a:p>
            <a:pPr marL="114300" indent="0" fontAlgn="base">
              <a:spcBef>
                <a:spcPct val="0"/>
              </a:spcBef>
              <a:spcAft>
                <a:spcPct val="0"/>
              </a:spcAft>
              <a:buNone/>
            </a:pPr>
            <a:endParaRPr lang="en-US" sz="1000" dirty="0">
              <a:solidFill>
                <a:schemeClr val="tx1"/>
              </a:solidFill>
            </a:endParaRPr>
          </a:p>
          <a:p>
            <a:endParaRPr lang="en-US" sz="2000" dirty="0"/>
          </a:p>
        </p:txBody>
      </p:sp>
      <p:graphicFrame>
        <p:nvGraphicFramePr>
          <p:cNvPr id="5" name="Table 4">
            <a:extLst>
              <a:ext uri="{FF2B5EF4-FFF2-40B4-BE49-F238E27FC236}">
                <a16:creationId xmlns:a16="http://schemas.microsoft.com/office/drawing/2014/main" id="{A5C1C171-0077-FE3D-3606-441E9ED4EECC}"/>
              </a:ext>
            </a:extLst>
          </p:cNvPr>
          <p:cNvGraphicFramePr>
            <a:graphicFrameLocks noGrp="1"/>
          </p:cNvGraphicFramePr>
          <p:nvPr>
            <p:extLst>
              <p:ext uri="{D42A27DB-BD31-4B8C-83A1-F6EECF244321}">
                <p14:modId xmlns:p14="http://schemas.microsoft.com/office/powerpoint/2010/main" val="3054348134"/>
              </p:ext>
            </p:extLst>
          </p:nvPr>
        </p:nvGraphicFramePr>
        <p:xfrm>
          <a:off x="1200397" y="2895600"/>
          <a:ext cx="9296400" cy="3083088"/>
        </p:xfrm>
        <a:graphic>
          <a:graphicData uri="http://schemas.openxmlformats.org/drawingml/2006/table">
            <a:tbl>
              <a:tblPr firstRow="1" bandRow="1">
                <a:tableStyleId>{93296810-A885-4BE3-A3E7-6D5BEEA58F35}</a:tableStyleId>
              </a:tblPr>
              <a:tblGrid>
                <a:gridCol w="4707225">
                  <a:extLst>
                    <a:ext uri="{9D8B030D-6E8A-4147-A177-3AD203B41FA5}">
                      <a16:colId xmlns:a16="http://schemas.microsoft.com/office/drawing/2014/main" val="3203841651"/>
                    </a:ext>
                  </a:extLst>
                </a:gridCol>
                <a:gridCol w="4589175">
                  <a:extLst>
                    <a:ext uri="{9D8B030D-6E8A-4147-A177-3AD203B41FA5}">
                      <a16:colId xmlns:a16="http://schemas.microsoft.com/office/drawing/2014/main" val="1227707393"/>
                    </a:ext>
                  </a:extLst>
                </a:gridCol>
              </a:tblGrid>
              <a:tr h="248840">
                <a:tc>
                  <a:txBody>
                    <a:bodyPr/>
                    <a:lstStyle/>
                    <a:p>
                      <a:r>
                        <a:rPr lang="en-US" dirty="0"/>
                        <a:t>Pros</a:t>
                      </a:r>
                    </a:p>
                  </a:txBody>
                  <a:tcPr anchor="ctr"/>
                </a:tc>
                <a:tc>
                  <a:txBody>
                    <a:bodyPr/>
                    <a:lstStyle/>
                    <a:p>
                      <a:r>
                        <a:rPr lang="en-US" dirty="0"/>
                        <a:t>Cons</a:t>
                      </a:r>
                    </a:p>
                  </a:txBody>
                  <a:tcPr anchor="ctr">
                    <a:solidFill>
                      <a:schemeClr val="accent2"/>
                    </a:solidFill>
                  </a:tcPr>
                </a:tc>
                <a:extLst>
                  <a:ext uri="{0D108BD9-81ED-4DB2-BD59-A6C34878D82A}">
                    <a16:rowId xmlns:a16="http://schemas.microsoft.com/office/drawing/2014/main" val="3869876098"/>
                  </a:ext>
                </a:extLst>
              </a:tr>
              <a:tr h="776379">
                <a:tc>
                  <a:txBody>
                    <a:bodyPr/>
                    <a:lstStyle/>
                    <a:p>
                      <a:endParaRPr lang="en-US" dirty="0"/>
                    </a:p>
                  </a:txBody>
                  <a:tcPr anchor="ctr"/>
                </a:tc>
                <a:tc>
                  <a:txBody>
                    <a:bodyPr/>
                    <a:lstStyle/>
                    <a:p>
                      <a:endParaRPr lang="en-US" dirty="0"/>
                    </a:p>
                  </a:txBody>
                  <a:tcPr anchor="ctr">
                    <a:solidFill>
                      <a:schemeClr val="accent2">
                        <a:lumMod val="40000"/>
                        <a:lumOff val="60000"/>
                      </a:schemeClr>
                    </a:solidFill>
                  </a:tcPr>
                </a:tc>
                <a:extLst>
                  <a:ext uri="{0D108BD9-81ED-4DB2-BD59-A6C34878D82A}">
                    <a16:rowId xmlns:a16="http://schemas.microsoft.com/office/drawing/2014/main" val="2596641302"/>
                  </a:ext>
                </a:extLst>
              </a:tr>
              <a:tr h="646983">
                <a:tc>
                  <a:txBody>
                    <a:bodyPr/>
                    <a:lstStyle/>
                    <a:p>
                      <a:endParaRPr lang="en-US" dirty="0"/>
                    </a:p>
                  </a:txBody>
                  <a:tcPr anchor="ctr"/>
                </a:tc>
                <a:tc>
                  <a:txBody>
                    <a:bodyPr/>
                    <a:lstStyle/>
                    <a:p>
                      <a:endParaRPr lang="en-US" dirty="0"/>
                    </a:p>
                  </a:txBody>
                  <a:tcPr anchor="ctr">
                    <a:solidFill>
                      <a:schemeClr val="accent2">
                        <a:lumMod val="20000"/>
                        <a:lumOff val="80000"/>
                      </a:schemeClr>
                    </a:solidFill>
                  </a:tcPr>
                </a:tc>
                <a:extLst>
                  <a:ext uri="{0D108BD9-81ED-4DB2-BD59-A6C34878D82A}">
                    <a16:rowId xmlns:a16="http://schemas.microsoft.com/office/drawing/2014/main" val="1890588287"/>
                  </a:ext>
                </a:extLst>
              </a:tr>
              <a:tr h="646983">
                <a:tc>
                  <a:txBody>
                    <a:bodyPr/>
                    <a:lstStyle/>
                    <a:p>
                      <a:endParaRPr lang="en-US" dirty="0"/>
                    </a:p>
                  </a:txBody>
                  <a:tcPr anchor="ctr"/>
                </a:tc>
                <a:tc>
                  <a:txBody>
                    <a:bodyPr/>
                    <a:lstStyle/>
                    <a:p>
                      <a:endParaRPr lang="en-US" dirty="0"/>
                    </a:p>
                  </a:txBody>
                  <a:tcPr anchor="ctr">
                    <a:solidFill>
                      <a:schemeClr val="accent2">
                        <a:lumMod val="40000"/>
                        <a:lumOff val="60000"/>
                      </a:schemeClr>
                    </a:solidFill>
                  </a:tcPr>
                </a:tc>
                <a:extLst>
                  <a:ext uri="{0D108BD9-81ED-4DB2-BD59-A6C34878D82A}">
                    <a16:rowId xmlns:a16="http://schemas.microsoft.com/office/drawing/2014/main" val="2443515669"/>
                  </a:ext>
                </a:extLst>
              </a:tr>
              <a:tr h="646983">
                <a:tc>
                  <a:txBody>
                    <a:bodyPr/>
                    <a:lstStyle/>
                    <a:p>
                      <a:endParaRPr lang="en-US" dirty="0"/>
                    </a:p>
                  </a:txBody>
                  <a:tcPr anchor="ctr"/>
                </a:tc>
                <a:tc>
                  <a:txBody>
                    <a:bodyPr/>
                    <a:lstStyle/>
                    <a:p>
                      <a:endParaRPr lang="en-US" dirty="0"/>
                    </a:p>
                  </a:txBody>
                  <a:tcPr anchor="ctr">
                    <a:solidFill>
                      <a:schemeClr val="accent2">
                        <a:lumMod val="20000"/>
                        <a:lumOff val="80000"/>
                      </a:schemeClr>
                    </a:solidFill>
                  </a:tcPr>
                </a:tc>
                <a:extLst>
                  <a:ext uri="{0D108BD9-81ED-4DB2-BD59-A6C34878D82A}">
                    <a16:rowId xmlns:a16="http://schemas.microsoft.com/office/drawing/2014/main" val="1927608629"/>
                  </a:ext>
                </a:extLst>
              </a:tr>
            </a:tbl>
          </a:graphicData>
        </a:graphic>
      </p:graphicFrame>
    </p:spTree>
    <p:extLst>
      <p:ext uri="{BB962C8B-B14F-4D97-AF65-F5344CB8AC3E}">
        <p14:creationId xmlns:p14="http://schemas.microsoft.com/office/powerpoint/2010/main" val="158294596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0404B5-0455-C10C-47F7-CE96E73D9B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E51AFA-2C00-D308-85DB-88B21D4B7C51}"/>
              </a:ext>
            </a:extLst>
          </p:cNvPr>
          <p:cNvSpPr>
            <a:spLocks noGrp="1"/>
          </p:cNvSpPr>
          <p:nvPr>
            <p:ph type="title"/>
          </p:nvPr>
        </p:nvSpPr>
        <p:spPr/>
        <p:txBody>
          <a:bodyPr>
            <a:normAutofit/>
          </a:bodyPr>
          <a:lstStyle/>
          <a:p>
            <a:r>
              <a:rPr lang="en-US" sz="3600" dirty="0"/>
              <a:t>Part 3: The cost effectiveness of Keytruda </a:t>
            </a:r>
            <a:br>
              <a:rPr lang="en-US" dirty="0"/>
            </a:br>
            <a:endParaRPr lang="en-US" dirty="0"/>
          </a:p>
        </p:txBody>
      </p:sp>
      <p:sp>
        <p:nvSpPr>
          <p:cNvPr id="4" name="Slide Number Placeholder 3">
            <a:extLst>
              <a:ext uri="{FF2B5EF4-FFF2-40B4-BE49-F238E27FC236}">
                <a16:creationId xmlns:a16="http://schemas.microsoft.com/office/drawing/2014/main" id="{879AB86A-EF15-852B-A333-03CE95A85564}"/>
              </a:ext>
            </a:extLst>
          </p:cNvPr>
          <p:cNvSpPr>
            <a:spLocks noGrp="1"/>
          </p:cNvSpPr>
          <p:nvPr>
            <p:ph type="sldNum" sz="quarter" idx="12"/>
          </p:nvPr>
        </p:nvSpPr>
        <p:spPr/>
        <p:txBody>
          <a:bodyPr/>
          <a:lstStyle/>
          <a:p>
            <a:fld id="{171A6C5B-A11A-470F-8319-62E6F3F410BC}" type="slidenum">
              <a:rPr lang="en-US" smtClean="0"/>
              <a:pPr/>
              <a:t>27</a:t>
            </a:fld>
            <a:endParaRPr lang="en-US"/>
          </a:p>
        </p:txBody>
      </p:sp>
      <p:sp>
        <p:nvSpPr>
          <p:cNvPr id="3" name="Content Placeholder 2">
            <a:extLst>
              <a:ext uri="{FF2B5EF4-FFF2-40B4-BE49-F238E27FC236}">
                <a16:creationId xmlns:a16="http://schemas.microsoft.com/office/drawing/2014/main" id="{A764910A-4295-F597-9EF7-751395A44AF9}"/>
              </a:ext>
            </a:extLst>
          </p:cNvPr>
          <p:cNvSpPr>
            <a:spLocks noGrp="1"/>
          </p:cNvSpPr>
          <p:nvPr>
            <p:ph idx="1"/>
          </p:nvPr>
        </p:nvSpPr>
        <p:spPr>
          <a:xfrm>
            <a:off x="819397" y="1447800"/>
            <a:ext cx="10058400" cy="5181600"/>
          </a:xfrm>
        </p:spPr>
        <p:txBody>
          <a:bodyPr>
            <a:noAutofit/>
          </a:bodyPr>
          <a:lstStyle/>
          <a:p>
            <a:pPr marL="0" indent="0" fontAlgn="base">
              <a:spcBef>
                <a:spcPct val="0"/>
              </a:spcBef>
              <a:spcAft>
                <a:spcPct val="0"/>
              </a:spcAft>
              <a:buNone/>
            </a:pPr>
            <a:r>
              <a:rPr lang="en-US" sz="2400" b="1" dirty="0"/>
              <a:t>Q3: What are the pros and cons of an insurer or national health plan using cost-effectiveness to decide whether to cover Keytruda? </a:t>
            </a:r>
            <a:endParaRPr lang="en-US" sz="2400" dirty="0"/>
          </a:p>
          <a:p>
            <a:pPr marL="114300" indent="0" fontAlgn="base">
              <a:spcBef>
                <a:spcPct val="0"/>
              </a:spcBef>
              <a:spcAft>
                <a:spcPct val="0"/>
              </a:spcAft>
              <a:buNone/>
            </a:pPr>
            <a:endParaRPr lang="en-US" sz="1000" dirty="0">
              <a:solidFill>
                <a:schemeClr val="tx1"/>
              </a:solidFill>
            </a:endParaRPr>
          </a:p>
          <a:p>
            <a:endParaRPr lang="en-US" sz="2000" dirty="0"/>
          </a:p>
        </p:txBody>
      </p:sp>
      <p:graphicFrame>
        <p:nvGraphicFramePr>
          <p:cNvPr id="5" name="Table 4">
            <a:extLst>
              <a:ext uri="{FF2B5EF4-FFF2-40B4-BE49-F238E27FC236}">
                <a16:creationId xmlns:a16="http://schemas.microsoft.com/office/drawing/2014/main" id="{FDB6A2D4-BE8F-6F93-AF8D-A97519420084}"/>
              </a:ext>
            </a:extLst>
          </p:cNvPr>
          <p:cNvGraphicFramePr>
            <a:graphicFrameLocks noGrp="1"/>
          </p:cNvGraphicFramePr>
          <p:nvPr/>
        </p:nvGraphicFramePr>
        <p:xfrm>
          <a:off x="1200397" y="2895600"/>
          <a:ext cx="9296400" cy="3221109"/>
        </p:xfrm>
        <a:graphic>
          <a:graphicData uri="http://schemas.openxmlformats.org/drawingml/2006/table">
            <a:tbl>
              <a:tblPr firstRow="1" bandRow="1">
                <a:tableStyleId>{93296810-A885-4BE3-A3E7-6D5BEEA58F35}</a:tableStyleId>
              </a:tblPr>
              <a:tblGrid>
                <a:gridCol w="4707225">
                  <a:extLst>
                    <a:ext uri="{9D8B030D-6E8A-4147-A177-3AD203B41FA5}">
                      <a16:colId xmlns:a16="http://schemas.microsoft.com/office/drawing/2014/main" val="3203841651"/>
                    </a:ext>
                  </a:extLst>
                </a:gridCol>
                <a:gridCol w="4589175">
                  <a:extLst>
                    <a:ext uri="{9D8B030D-6E8A-4147-A177-3AD203B41FA5}">
                      <a16:colId xmlns:a16="http://schemas.microsoft.com/office/drawing/2014/main" val="1227707393"/>
                    </a:ext>
                  </a:extLst>
                </a:gridCol>
              </a:tblGrid>
              <a:tr h="248840">
                <a:tc>
                  <a:txBody>
                    <a:bodyPr/>
                    <a:lstStyle/>
                    <a:p>
                      <a:r>
                        <a:rPr lang="en-US" dirty="0"/>
                        <a:t>Pros</a:t>
                      </a:r>
                    </a:p>
                  </a:txBody>
                  <a:tcPr anchor="ctr"/>
                </a:tc>
                <a:tc>
                  <a:txBody>
                    <a:bodyPr/>
                    <a:lstStyle/>
                    <a:p>
                      <a:r>
                        <a:rPr lang="en-US" dirty="0"/>
                        <a:t>Cons</a:t>
                      </a:r>
                    </a:p>
                  </a:txBody>
                  <a:tcPr anchor="ctr">
                    <a:solidFill>
                      <a:schemeClr val="accent2"/>
                    </a:solidFill>
                  </a:tcPr>
                </a:tc>
                <a:extLst>
                  <a:ext uri="{0D108BD9-81ED-4DB2-BD59-A6C34878D82A}">
                    <a16:rowId xmlns:a16="http://schemas.microsoft.com/office/drawing/2014/main" val="3869876098"/>
                  </a:ext>
                </a:extLst>
              </a:tr>
              <a:tr h="776379">
                <a:tc>
                  <a:txBody>
                    <a:bodyPr/>
                    <a:lstStyle/>
                    <a:p>
                      <a:r>
                        <a:rPr lang="en-US" dirty="0"/>
                        <a:t>Money goes where it buys the most health. The same dollars might save more years of life spent on other treatments.</a:t>
                      </a:r>
                    </a:p>
                  </a:txBody>
                  <a:tcPr anchor="ctr"/>
                </a:tc>
                <a:tc>
                  <a:txBody>
                    <a:bodyPr/>
                    <a:lstStyle/>
                    <a:p>
                      <a:r>
                        <a:rPr lang="en-US" dirty="0"/>
                        <a:t>Patients lose access to a drug that works. Including the sickest, who may have no other option.</a:t>
                      </a:r>
                    </a:p>
                  </a:txBody>
                  <a:tcPr anchor="ctr">
                    <a:solidFill>
                      <a:schemeClr val="accent2">
                        <a:lumMod val="40000"/>
                        <a:lumOff val="60000"/>
                      </a:schemeClr>
                    </a:solidFill>
                  </a:tcPr>
                </a:tc>
                <a:extLst>
                  <a:ext uri="{0D108BD9-81ED-4DB2-BD59-A6C34878D82A}">
                    <a16:rowId xmlns:a16="http://schemas.microsoft.com/office/drawing/2014/main" val="2596641302"/>
                  </a:ext>
                </a:extLst>
              </a:tr>
              <a:tr h="646983">
                <a:tc>
                  <a:txBody>
                    <a:bodyPr/>
                    <a:lstStyle/>
                    <a:p>
                      <a:r>
                        <a:rPr lang="en-US" dirty="0"/>
                        <a:t>Pressures companies to lower prices, e.g., Keytruda to $200k or less.</a:t>
                      </a:r>
                    </a:p>
                  </a:txBody>
                  <a:tcPr anchor="ctr"/>
                </a:tc>
                <a:tc>
                  <a:txBody>
                    <a:bodyPr/>
                    <a:lstStyle/>
                    <a:p>
                      <a:r>
                        <a:rPr lang="en-US" dirty="0"/>
                        <a:t>The $100k threshold is a judgment call.</a:t>
                      </a:r>
                    </a:p>
                  </a:txBody>
                  <a:tcPr anchor="ctr">
                    <a:solidFill>
                      <a:schemeClr val="accent2">
                        <a:lumMod val="20000"/>
                        <a:lumOff val="80000"/>
                      </a:schemeClr>
                    </a:solidFill>
                  </a:tcPr>
                </a:tc>
                <a:extLst>
                  <a:ext uri="{0D108BD9-81ED-4DB2-BD59-A6C34878D82A}">
                    <a16:rowId xmlns:a16="http://schemas.microsoft.com/office/drawing/2014/main" val="1890588287"/>
                  </a:ext>
                </a:extLst>
              </a:tr>
              <a:tr h="646983">
                <a:tc>
                  <a:txBody>
                    <a:bodyPr/>
                    <a:lstStyle/>
                    <a:p>
                      <a:r>
                        <a:rPr lang="en-US" dirty="0"/>
                        <a:t>One consistent rule for every drug, instead of case-by-case lobbying.</a:t>
                      </a:r>
                    </a:p>
                  </a:txBody>
                  <a:tcPr anchor="ctr"/>
                </a:tc>
                <a:tc>
                  <a:txBody>
                    <a:bodyPr/>
                    <a:lstStyle/>
                    <a:p>
                      <a:r>
                        <a:rPr lang="en-US" dirty="0"/>
                        <a:t>It works with averages, but some patients are cured and others gain little</a:t>
                      </a:r>
                    </a:p>
                  </a:txBody>
                  <a:tcPr anchor="ctr">
                    <a:solidFill>
                      <a:schemeClr val="accent2">
                        <a:lumMod val="40000"/>
                        <a:lumOff val="60000"/>
                      </a:schemeClr>
                    </a:solidFill>
                  </a:tcPr>
                </a:tc>
                <a:extLst>
                  <a:ext uri="{0D108BD9-81ED-4DB2-BD59-A6C34878D82A}">
                    <a16:rowId xmlns:a16="http://schemas.microsoft.com/office/drawing/2014/main" val="2443515669"/>
                  </a:ext>
                </a:extLst>
              </a:tr>
              <a:tr h="646983">
                <a:tc>
                  <a:txBody>
                    <a:bodyPr/>
                    <a:lstStyle/>
                    <a:p>
                      <a:r>
                        <a:rPr lang="en-US" dirty="0"/>
                        <a:t>Keeps premiums and taxes down, since everyone pays for coverage,</a:t>
                      </a:r>
                    </a:p>
                  </a:txBody>
                  <a:tcPr anchor="ctr"/>
                </a:tc>
                <a:tc>
                  <a:txBody>
                    <a:bodyPr/>
                    <a:lstStyle/>
                    <a:p>
                      <a:r>
                        <a:rPr lang="en-US" dirty="0"/>
                        <a:t>Lower expected profits </a:t>
                      </a:r>
                      <a:r>
                        <a:rPr lang="en-US" dirty="0">
                          <a:sym typeface="Wingdings" pitchFamily="2" charset="2"/>
                        </a:rPr>
                        <a:t> less incentive to develop new drugs. </a:t>
                      </a:r>
                      <a:endParaRPr lang="en-US" dirty="0"/>
                    </a:p>
                  </a:txBody>
                  <a:tcPr anchor="ctr">
                    <a:solidFill>
                      <a:schemeClr val="accent2">
                        <a:lumMod val="20000"/>
                        <a:lumOff val="80000"/>
                      </a:schemeClr>
                    </a:solidFill>
                  </a:tcPr>
                </a:tc>
                <a:extLst>
                  <a:ext uri="{0D108BD9-81ED-4DB2-BD59-A6C34878D82A}">
                    <a16:rowId xmlns:a16="http://schemas.microsoft.com/office/drawing/2014/main" val="1927608629"/>
                  </a:ext>
                </a:extLst>
              </a:tr>
            </a:tbl>
          </a:graphicData>
        </a:graphic>
      </p:graphicFrame>
    </p:spTree>
    <p:extLst>
      <p:ext uri="{BB962C8B-B14F-4D97-AF65-F5344CB8AC3E}">
        <p14:creationId xmlns:p14="http://schemas.microsoft.com/office/powerpoint/2010/main" val="397037267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Wrap up </a:t>
            </a:r>
          </a:p>
        </p:txBody>
      </p:sp>
      <p:sp>
        <p:nvSpPr>
          <p:cNvPr id="4" name="Slide Number Placeholder 3"/>
          <p:cNvSpPr>
            <a:spLocks noGrp="1"/>
          </p:cNvSpPr>
          <p:nvPr>
            <p:ph type="sldNum" sz="quarter" idx="12"/>
          </p:nvPr>
        </p:nvSpPr>
        <p:spPr/>
        <p:txBody>
          <a:bodyPr/>
          <a:lstStyle/>
          <a:p>
            <a:fld id="{171A6C5B-A11A-470F-8319-62E6F3F410BC}" type="slidenum">
              <a:rPr lang="en-US" smtClean="0"/>
              <a:pPr/>
              <a:t>28</a:t>
            </a:fld>
            <a:endParaRPr lang="en-US" dirty="0"/>
          </a:p>
        </p:txBody>
      </p:sp>
      <p:sp>
        <p:nvSpPr>
          <p:cNvPr id="6" name="TextBox 5">
            <a:extLst>
              <a:ext uri="{FF2B5EF4-FFF2-40B4-BE49-F238E27FC236}">
                <a16:creationId xmlns:a16="http://schemas.microsoft.com/office/drawing/2014/main" id="{3869B352-1872-490A-A260-CE104D3A5499}"/>
              </a:ext>
            </a:extLst>
          </p:cNvPr>
          <p:cNvSpPr txBox="1"/>
          <p:nvPr/>
        </p:nvSpPr>
        <p:spPr>
          <a:xfrm>
            <a:off x="838200" y="1959469"/>
            <a:ext cx="8001000" cy="3108543"/>
          </a:xfrm>
          <a:prstGeom prst="rect">
            <a:avLst/>
          </a:prstGeom>
          <a:noFill/>
        </p:spPr>
        <p:txBody>
          <a:bodyPr wrap="square" rtlCol="0">
            <a:spAutoFit/>
          </a:bodyPr>
          <a:lstStyle/>
          <a:p>
            <a:pPr marL="285750" indent="-285750">
              <a:buFont typeface="Arial" panose="020B0604020202020204" pitchFamily="34" charset="0"/>
              <a:buChar char="•"/>
            </a:pPr>
            <a:r>
              <a:rPr lang="en-US" altLang="zh-CN" sz="2000" dirty="0">
                <a:latin typeface="Arial" panose="020B0604020202020204" pitchFamily="34" charset="0"/>
                <a:cs typeface="Arial" panose="020B0604020202020204" pitchFamily="34" charset="0"/>
              </a:rPr>
              <a:t>Any questions?</a:t>
            </a:r>
          </a:p>
          <a:p>
            <a:pPr marL="285750" indent="-285750">
              <a:buFont typeface="Arial" panose="020B0604020202020204" pitchFamily="34" charset="0"/>
              <a:buChar char="•"/>
            </a:pPr>
            <a:endParaRPr lang="en-US" altLang="zh-CN" sz="2000" dirty="0">
              <a:latin typeface="Arial" panose="020B0604020202020204" pitchFamily="34" charset="0"/>
              <a:cs typeface="Arial" panose="020B0604020202020204" pitchFamily="34" charset="0"/>
            </a:endParaRPr>
          </a:p>
          <a:p>
            <a:pPr marL="285750" indent="-285750">
              <a:lnSpc>
                <a:spcPct val="200000"/>
              </a:lnSpc>
              <a:buFont typeface="Arial" panose="020B0604020202020204" pitchFamily="34" charset="0"/>
              <a:buChar char="•"/>
            </a:pPr>
            <a:r>
              <a:rPr lang="en-US" altLang="zh-CN" sz="2800" b="1" dirty="0">
                <a:latin typeface="Arial" panose="020B0604020202020204" pitchFamily="34" charset="0"/>
                <a:cs typeface="Arial" panose="020B0604020202020204" pitchFamily="34" charset="0"/>
              </a:rPr>
              <a:t>Reminders:</a:t>
            </a:r>
          </a:p>
          <a:p>
            <a:pPr marL="742950" lvl="1" indent="-285750">
              <a:lnSpc>
                <a:spcPct val="200000"/>
              </a:lnSpc>
              <a:buFont typeface="Arial" panose="020B0604020202020204" pitchFamily="34" charset="0"/>
              <a:buChar char="•"/>
            </a:pPr>
            <a:r>
              <a:rPr lang="en-US" altLang="zh-CN" sz="2000" dirty="0">
                <a:latin typeface="Arial" panose="020B0604020202020204" pitchFamily="34" charset="0"/>
                <a:cs typeface="Arial" panose="020B0604020202020204" pitchFamily="34" charset="0"/>
              </a:rPr>
              <a:t>Problem set 2 is due on </a:t>
            </a:r>
            <a:r>
              <a:rPr lang="en-US" altLang="zh-CN" sz="2000" i="1" dirty="0">
                <a:latin typeface="Arial" panose="020B0604020202020204" pitchFamily="34" charset="0"/>
                <a:cs typeface="Arial" panose="020B0604020202020204" pitchFamily="34" charset="0"/>
              </a:rPr>
              <a:t>Oct 12 (Mon) at 5pm</a:t>
            </a:r>
            <a:r>
              <a:rPr lang="en-US" altLang="zh-CN" sz="2000" dirty="0">
                <a:latin typeface="Arial" panose="020B0604020202020204" pitchFamily="34" charset="0"/>
                <a:cs typeface="Arial" panose="020B0604020202020204" pitchFamily="34" charset="0"/>
              </a:rPr>
              <a:t>.</a:t>
            </a:r>
          </a:p>
          <a:p>
            <a:pPr marL="742950" lvl="1" indent="-285750">
              <a:lnSpc>
                <a:spcPct val="200000"/>
              </a:lnSpc>
              <a:buFont typeface="Arial" panose="020B0604020202020204" pitchFamily="34" charset="0"/>
              <a:buChar char="•"/>
            </a:pPr>
            <a:r>
              <a:rPr lang="en-US" altLang="zh-CN" sz="2000" dirty="0">
                <a:latin typeface="Arial" panose="020B0604020202020204" pitchFamily="34" charset="0"/>
                <a:cs typeface="Arial" panose="020B0604020202020204" pitchFamily="34" charset="0"/>
              </a:rPr>
              <a:t>Unit 2 assignment is due on </a:t>
            </a:r>
            <a:r>
              <a:rPr lang="en-US" altLang="zh-CN" sz="2000" i="1" dirty="0">
                <a:latin typeface="Arial" panose="020B0604020202020204" pitchFamily="34" charset="0"/>
                <a:cs typeface="Arial" panose="020B0604020202020204" pitchFamily="34" charset="0"/>
              </a:rPr>
              <a:t>Oct 23 (Fri) at 5pm</a:t>
            </a:r>
            <a:r>
              <a:rPr lang="en-US" altLang="zh-CN" sz="2000" dirty="0">
                <a:latin typeface="Arial" panose="020B0604020202020204" pitchFamily="34" charset="0"/>
                <a:cs typeface="Arial" panose="020B0604020202020204" pitchFamily="34" charset="0"/>
              </a:rPr>
              <a:t>.</a:t>
            </a:r>
          </a:p>
          <a:p>
            <a:endParaRPr lang="en-US" altLang="zh-CN"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482543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25A7B4-F3E4-3A89-D252-9AB256D6E4AF}"/>
              </a:ext>
            </a:extLst>
          </p:cNvPr>
          <p:cNvSpPr>
            <a:spLocks noGrp="1"/>
          </p:cNvSpPr>
          <p:nvPr>
            <p:ph type="title"/>
          </p:nvPr>
        </p:nvSpPr>
        <p:spPr>
          <a:xfrm>
            <a:off x="4267200" y="2590800"/>
            <a:ext cx="10515600" cy="1325563"/>
          </a:xfrm>
        </p:spPr>
        <p:txBody>
          <a:bodyPr/>
          <a:lstStyle/>
          <a:p>
            <a:r>
              <a:rPr lang="en-US" dirty="0"/>
              <a:t>Appendix</a:t>
            </a:r>
          </a:p>
        </p:txBody>
      </p:sp>
      <p:sp>
        <p:nvSpPr>
          <p:cNvPr id="4" name="Slide Number Placeholder 3">
            <a:extLst>
              <a:ext uri="{FF2B5EF4-FFF2-40B4-BE49-F238E27FC236}">
                <a16:creationId xmlns:a16="http://schemas.microsoft.com/office/drawing/2014/main" id="{71CDADAE-EC01-F4D9-70DA-0AF8BAF13F1E}"/>
              </a:ext>
            </a:extLst>
          </p:cNvPr>
          <p:cNvSpPr>
            <a:spLocks noGrp="1"/>
          </p:cNvSpPr>
          <p:nvPr>
            <p:ph type="sldNum" sz="quarter" idx="12"/>
          </p:nvPr>
        </p:nvSpPr>
        <p:spPr/>
        <p:txBody>
          <a:bodyPr/>
          <a:lstStyle/>
          <a:p>
            <a:fld id="{171A6C5B-A11A-470F-8319-62E6F3F410BC}" type="slidenum">
              <a:rPr lang="en-US" smtClean="0"/>
              <a:pPr/>
              <a:t>29</a:t>
            </a:fld>
            <a:endParaRPr lang="en-US"/>
          </a:p>
        </p:txBody>
      </p:sp>
    </p:spTree>
    <p:extLst>
      <p:ext uri="{BB962C8B-B14F-4D97-AF65-F5344CB8AC3E}">
        <p14:creationId xmlns:p14="http://schemas.microsoft.com/office/powerpoint/2010/main" val="349892497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76D38F-5AF4-FF84-E7F9-13311272C1BF}"/>
              </a:ext>
            </a:extLst>
          </p:cNvPr>
          <p:cNvSpPr>
            <a:spLocks noGrp="1"/>
          </p:cNvSpPr>
          <p:nvPr>
            <p:ph type="title"/>
          </p:nvPr>
        </p:nvSpPr>
        <p:spPr/>
        <p:txBody>
          <a:bodyPr/>
          <a:lstStyle/>
          <a:p>
            <a:r>
              <a:rPr lang="en-US" dirty="0"/>
              <a:t>Understanding “Willingness to Pay”</a:t>
            </a:r>
          </a:p>
        </p:txBody>
      </p:sp>
      <p:sp>
        <p:nvSpPr>
          <p:cNvPr id="4" name="Slide Number Placeholder 3">
            <a:extLst>
              <a:ext uri="{FF2B5EF4-FFF2-40B4-BE49-F238E27FC236}">
                <a16:creationId xmlns:a16="http://schemas.microsoft.com/office/drawing/2014/main" id="{B328CD7A-1E89-526C-21AE-5C99F58F4E2C}"/>
              </a:ext>
            </a:extLst>
          </p:cNvPr>
          <p:cNvSpPr>
            <a:spLocks noGrp="1"/>
          </p:cNvSpPr>
          <p:nvPr>
            <p:ph type="sldNum" sz="quarter" idx="12"/>
          </p:nvPr>
        </p:nvSpPr>
        <p:spPr/>
        <p:txBody>
          <a:bodyPr/>
          <a:lstStyle/>
          <a:p>
            <a:fld id="{171A6C5B-A11A-470F-8319-62E6F3F410BC}" type="slidenum">
              <a:rPr lang="en-US" smtClean="0"/>
              <a:pPr/>
              <a:t>30</a:t>
            </a:fld>
            <a:endParaRPr lang="en-US" dirty="0"/>
          </a:p>
        </p:txBody>
      </p:sp>
      <p:cxnSp>
        <p:nvCxnSpPr>
          <p:cNvPr id="5" name="Connector: Elbow 4">
            <a:extLst>
              <a:ext uri="{FF2B5EF4-FFF2-40B4-BE49-F238E27FC236}">
                <a16:creationId xmlns:a16="http://schemas.microsoft.com/office/drawing/2014/main" id="{D9461128-0E6F-4DCA-81E7-0C86C8A82120}"/>
              </a:ext>
            </a:extLst>
          </p:cNvPr>
          <p:cNvCxnSpPr>
            <a:cxnSpLocks/>
          </p:cNvCxnSpPr>
          <p:nvPr/>
        </p:nvCxnSpPr>
        <p:spPr>
          <a:xfrm>
            <a:off x="3886200" y="2580861"/>
            <a:ext cx="4909931" cy="3485322"/>
          </a:xfrm>
          <a:prstGeom prst="bentConnector3">
            <a:avLst>
              <a:gd name="adj1" fmla="val 67"/>
            </a:avLst>
          </a:prstGeom>
          <a:ln w="19050"/>
        </p:spPr>
        <p:style>
          <a:lnRef idx="1">
            <a:schemeClr val="dk1"/>
          </a:lnRef>
          <a:fillRef idx="0">
            <a:schemeClr val="dk1"/>
          </a:fillRef>
          <a:effectRef idx="0">
            <a:schemeClr val="dk1"/>
          </a:effectRef>
          <a:fontRef idx="minor">
            <a:schemeClr val="tx1"/>
          </a:fontRef>
        </p:style>
      </p:cxnSp>
      <p:sp>
        <p:nvSpPr>
          <p:cNvPr id="6" name="TextBox 5">
            <a:extLst>
              <a:ext uri="{FF2B5EF4-FFF2-40B4-BE49-F238E27FC236}">
                <a16:creationId xmlns:a16="http://schemas.microsoft.com/office/drawing/2014/main" id="{228DFB98-F1BB-8A3E-4436-5465C9E0F76C}"/>
              </a:ext>
            </a:extLst>
          </p:cNvPr>
          <p:cNvSpPr txBox="1"/>
          <p:nvPr/>
        </p:nvSpPr>
        <p:spPr>
          <a:xfrm>
            <a:off x="7610062" y="6185452"/>
            <a:ext cx="1186069" cy="369332"/>
          </a:xfrm>
          <a:prstGeom prst="rect">
            <a:avLst/>
          </a:prstGeom>
          <a:noFill/>
        </p:spPr>
        <p:txBody>
          <a:bodyPr wrap="square" rtlCol="0">
            <a:spAutoFit/>
          </a:bodyPr>
          <a:lstStyle/>
          <a:p>
            <a:r>
              <a:rPr lang="en-US" dirty="0"/>
              <a:t>Quantity</a:t>
            </a:r>
          </a:p>
        </p:txBody>
      </p:sp>
      <p:cxnSp>
        <p:nvCxnSpPr>
          <p:cNvPr id="7" name="Connector: Elbow 6">
            <a:extLst>
              <a:ext uri="{FF2B5EF4-FFF2-40B4-BE49-F238E27FC236}">
                <a16:creationId xmlns:a16="http://schemas.microsoft.com/office/drawing/2014/main" id="{D669CBD1-4738-AA34-5A05-CE110CFC54B9}"/>
              </a:ext>
            </a:extLst>
          </p:cNvPr>
          <p:cNvCxnSpPr/>
          <p:nvPr/>
        </p:nvCxnSpPr>
        <p:spPr>
          <a:xfrm>
            <a:off x="3886200" y="3124200"/>
            <a:ext cx="3723862" cy="2941983"/>
          </a:xfrm>
          <a:prstGeom prst="bentConnector3">
            <a:avLst/>
          </a:prstGeom>
          <a:ln w="19050">
            <a:solidFill>
              <a:srgbClr val="002060"/>
            </a:solidFill>
          </a:ln>
        </p:spPr>
        <p:style>
          <a:lnRef idx="1">
            <a:schemeClr val="accent2"/>
          </a:lnRef>
          <a:fillRef idx="0">
            <a:schemeClr val="accent2"/>
          </a:fillRef>
          <a:effectRef idx="0">
            <a:schemeClr val="accent2"/>
          </a:effectRef>
          <a:fontRef idx="minor">
            <a:schemeClr val="tx1"/>
          </a:fontRef>
        </p:style>
      </p:cxnSp>
      <p:sp>
        <p:nvSpPr>
          <p:cNvPr id="8" name="TextBox 7">
            <a:extLst>
              <a:ext uri="{FF2B5EF4-FFF2-40B4-BE49-F238E27FC236}">
                <a16:creationId xmlns:a16="http://schemas.microsoft.com/office/drawing/2014/main" id="{9398F9BD-C667-C167-6248-34E4BB81335D}"/>
              </a:ext>
            </a:extLst>
          </p:cNvPr>
          <p:cNvSpPr txBox="1"/>
          <p:nvPr/>
        </p:nvSpPr>
        <p:spPr>
          <a:xfrm>
            <a:off x="3223591" y="2882040"/>
            <a:ext cx="748747" cy="369332"/>
          </a:xfrm>
          <a:prstGeom prst="rect">
            <a:avLst/>
          </a:prstGeom>
          <a:noFill/>
        </p:spPr>
        <p:txBody>
          <a:bodyPr wrap="square" rtlCol="0">
            <a:spAutoFit/>
          </a:bodyPr>
          <a:lstStyle/>
          <a:p>
            <a:r>
              <a:rPr lang="en-US" dirty="0" err="1">
                <a:solidFill>
                  <a:srgbClr val="002060"/>
                </a:solidFill>
              </a:rPr>
              <a:t>W</a:t>
            </a:r>
            <a:r>
              <a:rPr lang="en-US" baseline="-25000" dirty="0" err="1">
                <a:solidFill>
                  <a:srgbClr val="002060"/>
                </a:solidFill>
              </a:rPr>
              <a:t>rich</a:t>
            </a:r>
            <a:endParaRPr lang="en-US" baseline="-25000" dirty="0">
              <a:solidFill>
                <a:srgbClr val="002060"/>
              </a:solidFill>
            </a:endParaRPr>
          </a:p>
        </p:txBody>
      </p:sp>
      <p:sp>
        <p:nvSpPr>
          <p:cNvPr id="9" name="TextBox 8">
            <a:extLst>
              <a:ext uri="{FF2B5EF4-FFF2-40B4-BE49-F238E27FC236}">
                <a16:creationId xmlns:a16="http://schemas.microsoft.com/office/drawing/2014/main" id="{7D9EFC65-C8CB-DAD2-DE37-1C2C275B3A58}"/>
              </a:ext>
            </a:extLst>
          </p:cNvPr>
          <p:cNvSpPr txBox="1"/>
          <p:nvPr/>
        </p:nvSpPr>
        <p:spPr>
          <a:xfrm>
            <a:off x="2978609" y="2162907"/>
            <a:ext cx="2967868" cy="369332"/>
          </a:xfrm>
          <a:prstGeom prst="rect">
            <a:avLst/>
          </a:prstGeom>
          <a:noFill/>
        </p:spPr>
        <p:txBody>
          <a:bodyPr wrap="square" rtlCol="0">
            <a:spAutoFit/>
          </a:bodyPr>
          <a:lstStyle/>
          <a:p>
            <a:r>
              <a:rPr lang="en-US" dirty="0"/>
              <a:t>Willingness to pay (dollars)</a:t>
            </a:r>
          </a:p>
        </p:txBody>
      </p:sp>
      <p:cxnSp>
        <p:nvCxnSpPr>
          <p:cNvPr id="10" name="Straight Connector 9">
            <a:extLst>
              <a:ext uri="{FF2B5EF4-FFF2-40B4-BE49-F238E27FC236}">
                <a16:creationId xmlns:a16="http://schemas.microsoft.com/office/drawing/2014/main" id="{7869400A-8C97-FE90-DDBD-2FAF68C6E189}"/>
              </a:ext>
            </a:extLst>
          </p:cNvPr>
          <p:cNvCxnSpPr/>
          <p:nvPr/>
        </p:nvCxnSpPr>
        <p:spPr>
          <a:xfrm>
            <a:off x="3886200" y="5657986"/>
            <a:ext cx="4828597" cy="0"/>
          </a:xfrm>
          <a:prstGeom prst="line">
            <a:avLst/>
          </a:prstGeom>
          <a:ln w="19050">
            <a:solidFill>
              <a:srgbClr val="00B050"/>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2D98F365-6036-CAE5-9EA4-4E96BDC25DA8}"/>
              </a:ext>
            </a:extLst>
          </p:cNvPr>
          <p:cNvSpPr txBox="1"/>
          <p:nvPr/>
        </p:nvSpPr>
        <p:spPr>
          <a:xfrm>
            <a:off x="3331246" y="5535016"/>
            <a:ext cx="641092" cy="369332"/>
          </a:xfrm>
          <a:prstGeom prst="rect">
            <a:avLst/>
          </a:prstGeom>
          <a:noFill/>
        </p:spPr>
        <p:txBody>
          <a:bodyPr wrap="square" rtlCol="0">
            <a:spAutoFit/>
          </a:bodyPr>
          <a:lstStyle/>
          <a:p>
            <a:r>
              <a:rPr lang="en-US" dirty="0">
                <a:solidFill>
                  <a:schemeClr val="accent6">
                    <a:lumMod val="75000"/>
                  </a:schemeClr>
                </a:solidFill>
              </a:rPr>
              <a:t>MC</a:t>
            </a:r>
          </a:p>
        </p:txBody>
      </p:sp>
      <p:sp>
        <p:nvSpPr>
          <p:cNvPr id="12" name="TextBox 11">
            <a:extLst>
              <a:ext uri="{FF2B5EF4-FFF2-40B4-BE49-F238E27FC236}">
                <a16:creationId xmlns:a16="http://schemas.microsoft.com/office/drawing/2014/main" id="{5808BB5E-AA0E-A374-7F4E-0E2E4B7CD8DF}"/>
              </a:ext>
            </a:extLst>
          </p:cNvPr>
          <p:cNvSpPr txBox="1"/>
          <p:nvPr/>
        </p:nvSpPr>
        <p:spPr>
          <a:xfrm>
            <a:off x="5823041" y="2991461"/>
            <a:ext cx="3107014" cy="369332"/>
          </a:xfrm>
          <a:prstGeom prst="rect">
            <a:avLst/>
          </a:prstGeom>
          <a:noFill/>
        </p:spPr>
        <p:txBody>
          <a:bodyPr wrap="square" rtlCol="0">
            <a:spAutoFit/>
          </a:bodyPr>
          <a:lstStyle/>
          <a:p>
            <a:r>
              <a:rPr lang="en-US" dirty="0">
                <a:solidFill>
                  <a:srgbClr val="002060"/>
                </a:solidFill>
              </a:rPr>
              <a:t>Willingness to pay of rich</a:t>
            </a:r>
          </a:p>
        </p:txBody>
      </p:sp>
      <p:cxnSp>
        <p:nvCxnSpPr>
          <p:cNvPr id="13" name="Connector: Elbow 12">
            <a:extLst>
              <a:ext uri="{FF2B5EF4-FFF2-40B4-BE49-F238E27FC236}">
                <a16:creationId xmlns:a16="http://schemas.microsoft.com/office/drawing/2014/main" id="{5025B78F-F850-24EA-5BEB-2403EC2BB2FF}"/>
              </a:ext>
            </a:extLst>
          </p:cNvPr>
          <p:cNvCxnSpPr/>
          <p:nvPr/>
        </p:nvCxnSpPr>
        <p:spPr>
          <a:xfrm>
            <a:off x="3886200" y="5490965"/>
            <a:ext cx="3274362" cy="575218"/>
          </a:xfrm>
          <a:prstGeom prst="bentConnector3">
            <a:avLst>
              <a:gd name="adj1" fmla="val 98305"/>
            </a:avLst>
          </a:prstGeom>
          <a:ln w="127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F50A4164-F3B7-6A1A-F1AA-EE3F35C1D782}"/>
              </a:ext>
            </a:extLst>
          </p:cNvPr>
          <p:cNvSpPr txBox="1"/>
          <p:nvPr/>
        </p:nvSpPr>
        <p:spPr>
          <a:xfrm>
            <a:off x="3200908" y="5191967"/>
            <a:ext cx="748747" cy="369332"/>
          </a:xfrm>
          <a:prstGeom prst="rect">
            <a:avLst/>
          </a:prstGeom>
          <a:noFill/>
        </p:spPr>
        <p:txBody>
          <a:bodyPr wrap="square" rtlCol="0">
            <a:spAutoFit/>
          </a:bodyPr>
          <a:lstStyle/>
          <a:p>
            <a:r>
              <a:rPr lang="en-US" dirty="0" err="1">
                <a:solidFill>
                  <a:schemeClr val="accent2">
                    <a:lumMod val="75000"/>
                  </a:schemeClr>
                </a:solidFill>
              </a:rPr>
              <a:t>W</a:t>
            </a:r>
            <a:r>
              <a:rPr lang="en-US" baseline="-25000" dirty="0" err="1">
                <a:solidFill>
                  <a:schemeClr val="accent2">
                    <a:lumMod val="75000"/>
                  </a:schemeClr>
                </a:solidFill>
              </a:rPr>
              <a:t>poor</a:t>
            </a:r>
            <a:endParaRPr lang="en-US" baseline="-25000" dirty="0">
              <a:solidFill>
                <a:schemeClr val="accent2">
                  <a:lumMod val="75000"/>
                </a:schemeClr>
              </a:solidFill>
            </a:endParaRPr>
          </a:p>
        </p:txBody>
      </p:sp>
      <p:cxnSp>
        <p:nvCxnSpPr>
          <p:cNvPr id="17" name="Straight Arrow Connector 16">
            <a:extLst>
              <a:ext uri="{FF2B5EF4-FFF2-40B4-BE49-F238E27FC236}">
                <a16:creationId xmlns:a16="http://schemas.microsoft.com/office/drawing/2014/main" id="{C7B6EA00-2ECD-52E4-BCED-D21B9A4EF735}"/>
              </a:ext>
            </a:extLst>
          </p:cNvPr>
          <p:cNvCxnSpPr>
            <a:cxnSpLocks/>
          </p:cNvCxnSpPr>
          <p:nvPr/>
        </p:nvCxnSpPr>
        <p:spPr>
          <a:xfrm>
            <a:off x="1947272" y="5561299"/>
            <a:ext cx="1805004" cy="502655"/>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DF0400AD-D056-93E0-0A1F-85AB97BEDED3}"/>
              </a:ext>
            </a:extLst>
          </p:cNvPr>
          <p:cNvSpPr txBox="1"/>
          <p:nvPr/>
        </p:nvSpPr>
        <p:spPr>
          <a:xfrm>
            <a:off x="271586" y="3406676"/>
            <a:ext cx="2719408" cy="2308324"/>
          </a:xfrm>
          <a:prstGeom prst="rect">
            <a:avLst/>
          </a:prstGeom>
          <a:noFill/>
        </p:spPr>
        <p:txBody>
          <a:bodyPr wrap="square" rtlCol="0">
            <a:spAutoFit/>
          </a:bodyPr>
          <a:lstStyle/>
          <a:p>
            <a:r>
              <a:rPr lang="en-US" sz="1600" dirty="0">
                <a:solidFill>
                  <a:srgbClr val="FF0000"/>
                </a:solidFill>
              </a:rPr>
              <a:t>Imagine that the X-axis is a group of 100 people, ordered by the amount of money they’d pay for your product:</a:t>
            </a:r>
          </a:p>
          <a:p>
            <a:endParaRPr lang="en-US" sz="1600" dirty="0">
              <a:solidFill>
                <a:srgbClr val="FF0000"/>
              </a:solidFill>
            </a:endParaRPr>
          </a:p>
          <a:p>
            <a:r>
              <a:rPr lang="en-US" sz="1600" dirty="0">
                <a:solidFill>
                  <a:srgbClr val="FF0000"/>
                </a:solidFill>
              </a:rPr>
              <a:t>the left-most person would offer to pay the most and the right-most person would offer to pay the least</a:t>
            </a:r>
          </a:p>
        </p:txBody>
      </p:sp>
      <p:sp>
        <p:nvSpPr>
          <p:cNvPr id="15" name="TextBox 14">
            <a:extLst>
              <a:ext uri="{FF2B5EF4-FFF2-40B4-BE49-F238E27FC236}">
                <a16:creationId xmlns:a16="http://schemas.microsoft.com/office/drawing/2014/main" id="{DF4E4EE0-39E2-672F-C886-ACCD655431A7}"/>
              </a:ext>
            </a:extLst>
          </p:cNvPr>
          <p:cNvSpPr txBox="1"/>
          <p:nvPr/>
        </p:nvSpPr>
        <p:spPr>
          <a:xfrm>
            <a:off x="6089266" y="5163503"/>
            <a:ext cx="3289889" cy="369332"/>
          </a:xfrm>
          <a:prstGeom prst="rect">
            <a:avLst/>
          </a:prstGeom>
          <a:noFill/>
        </p:spPr>
        <p:txBody>
          <a:bodyPr wrap="square" rtlCol="0">
            <a:spAutoFit/>
          </a:bodyPr>
          <a:lstStyle/>
          <a:p>
            <a:r>
              <a:rPr lang="en-US" dirty="0">
                <a:solidFill>
                  <a:schemeClr val="accent2">
                    <a:lumMod val="75000"/>
                  </a:schemeClr>
                </a:solidFill>
              </a:rPr>
              <a:t>Willingness to pay of poor</a:t>
            </a:r>
          </a:p>
        </p:txBody>
      </p:sp>
    </p:spTree>
    <p:extLst>
      <p:ext uri="{BB962C8B-B14F-4D97-AF65-F5344CB8AC3E}">
        <p14:creationId xmlns:p14="http://schemas.microsoft.com/office/powerpoint/2010/main" val="24631186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2"/>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4"/>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3"/>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P spid="9" grpId="0"/>
      <p:bldP spid="11" grpId="0"/>
      <p:bldP spid="12" grpId="0"/>
      <p:bldP spid="14" grpId="0"/>
      <p:bldP spid="22" grpId="0"/>
      <p:bldP spid="15"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76D38F-5AF4-FF84-E7F9-13311272C1BF}"/>
              </a:ext>
            </a:extLst>
          </p:cNvPr>
          <p:cNvSpPr>
            <a:spLocks noGrp="1"/>
          </p:cNvSpPr>
          <p:nvPr>
            <p:ph type="title"/>
          </p:nvPr>
        </p:nvSpPr>
        <p:spPr/>
        <p:txBody>
          <a:bodyPr/>
          <a:lstStyle/>
          <a:p>
            <a:r>
              <a:rPr lang="en-US" dirty="0"/>
              <a:t>Understanding “Willingness to Pay”</a:t>
            </a:r>
          </a:p>
        </p:txBody>
      </p:sp>
      <p:sp>
        <p:nvSpPr>
          <p:cNvPr id="4" name="Slide Number Placeholder 3">
            <a:extLst>
              <a:ext uri="{FF2B5EF4-FFF2-40B4-BE49-F238E27FC236}">
                <a16:creationId xmlns:a16="http://schemas.microsoft.com/office/drawing/2014/main" id="{B328CD7A-1E89-526C-21AE-5C99F58F4E2C}"/>
              </a:ext>
            </a:extLst>
          </p:cNvPr>
          <p:cNvSpPr>
            <a:spLocks noGrp="1"/>
          </p:cNvSpPr>
          <p:nvPr>
            <p:ph type="sldNum" sz="quarter" idx="12"/>
          </p:nvPr>
        </p:nvSpPr>
        <p:spPr/>
        <p:txBody>
          <a:bodyPr/>
          <a:lstStyle/>
          <a:p>
            <a:fld id="{171A6C5B-A11A-470F-8319-62E6F3F410BC}" type="slidenum">
              <a:rPr lang="en-US" smtClean="0"/>
              <a:pPr/>
              <a:t>31</a:t>
            </a:fld>
            <a:endParaRPr lang="en-US"/>
          </a:p>
        </p:txBody>
      </p:sp>
      <p:cxnSp>
        <p:nvCxnSpPr>
          <p:cNvPr id="5" name="Connector: Elbow 4">
            <a:extLst>
              <a:ext uri="{FF2B5EF4-FFF2-40B4-BE49-F238E27FC236}">
                <a16:creationId xmlns:a16="http://schemas.microsoft.com/office/drawing/2014/main" id="{D9461128-0E6F-4DCA-81E7-0C86C8A82120}"/>
              </a:ext>
            </a:extLst>
          </p:cNvPr>
          <p:cNvCxnSpPr>
            <a:cxnSpLocks/>
          </p:cNvCxnSpPr>
          <p:nvPr/>
        </p:nvCxnSpPr>
        <p:spPr>
          <a:xfrm>
            <a:off x="3886200" y="2580861"/>
            <a:ext cx="4909931" cy="3485322"/>
          </a:xfrm>
          <a:prstGeom prst="bentConnector3">
            <a:avLst>
              <a:gd name="adj1" fmla="val 67"/>
            </a:avLst>
          </a:prstGeom>
          <a:ln w="19050"/>
        </p:spPr>
        <p:style>
          <a:lnRef idx="1">
            <a:schemeClr val="dk1"/>
          </a:lnRef>
          <a:fillRef idx="0">
            <a:schemeClr val="dk1"/>
          </a:fillRef>
          <a:effectRef idx="0">
            <a:schemeClr val="dk1"/>
          </a:effectRef>
          <a:fontRef idx="minor">
            <a:schemeClr val="tx1"/>
          </a:fontRef>
        </p:style>
      </p:cxnSp>
      <p:sp>
        <p:nvSpPr>
          <p:cNvPr id="6" name="TextBox 5">
            <a:extLst>
              <a:ext uri="{FF2B5EF4-FFF2-40B4-BE49-F238E27FC236}">
                <a16:creationId xmlns:a16="http://schemas.microsoft.com/office/drawing/2014/main" id="{228DFB98-F1BB-8A3E-4436-5465C9E0F76C}"/>
              </a:ext>
            </a:extLst>
          </p:cNvPr>
          <p:cNvSpPr txBox="1"/>
          <p:nvPr/>
        </p:nvSpPr>
        <p:spPr>
          <a:xfrm>
            <a:off x="7610062" y="6185452"/>
            <a:ext cx="1186069" cy="369332"/>
          </a:xfrm>
          <a:prstGeom prst="rect">
            <a:avLst/>
          </a:prstGeom>
          <a:noFill/>
        </p:spPr>
        <p:txBody>
          <a:bodyPr wrap="square" rtlCol="0">
            <a:spAutoFit/>
          </a:bodyPr>
          <a:lstStyle/>
          <a:p>
            <a:r>
              <a:rPr lang="en-US" dirty="0"/>
              <a:t>Quantity</a:t>
            </a:r>
          </a:p>
        </p:txBody>
      </p:sp>
      <p:cxnSp>
        <p:nvCxnSpPr>
          <p:cNvPr id="7" name="Connector: Elbow 6">
            <a:extLst>
              <a:ext uri="{FF2B5EF4-FFF2-40B4-BE49-F238E27FC236}">
                <a16:creationId xmlns:a16="http://schemas.microsoft.com/office/drawing/2014/main" id="{D669CBD1-4738-AA34-5A05-CE110CFC54B9}"/>
              </a:ext>
            </a:extLst>
          </p:cNvPr>
          <p:cNvCxnSpPr/>
          <p:nvPr/>
        </p:nvCxnSpPr>
        <p:spPr>
          <a:xfrm>
            <a:off x="3886200" y="3124200"/>
            <a:ext cx="3723862" cy="2941983"/>
          </a:xfrm>
          <a:prstGeom prst="bentConnector3">
            <a:avLst/>
          </a:prstGeom>
          <a:ln w="19050">
            <a:solidFill>
              <a:srgbClr val="002060"/>
            </a:solidFill>
          </a:ln>
        </p:spPr>
        <p:style>
          <a:lnRef idx="1">
            <a:schemeClr val="accent2"/>
          </a:lnRef>
          <a:fillRef idx="0">
            <a:schemeClr val="accent2"/>
          </a:fillRef>
          <a:effectRef idx="0">
            <a:schemeClr val="accent2"/>
          </a:effectRef>
          <a:fontRef idx="minor">
            <a:schemeClr val="tx1"/>
          </a:fontRef>
        </p:style>
      </p:cxnSp>
      <p:sp>
        <p:nvSpPr>
          <p:cNvPr id="8" name="TextBox 7">
            <a:extLst>
              <a:ext uri="{FF2B5EF4-FFF2-40B4-BE49-F238E27FC236}">
                <a16:creationId xmlns:a16="http://schemas.microsoft.com/office/drawing/2014/main" id="{9398F9BD-C667-C167-6248-34E4BB81335D}"/>
              </a:ext>
            </a:extLst>
          </p:cNvPr>
          <p:cNvSpPr txBox="1"/>
          <p:nvPr/>
        </p:nvSpPr>
        <p:spPr>
          <a:xfrm>
            <a:off x="3223591" y="2882040"/>
            <a:ext cx="748747" cy="369332"/>
          </a:xfrm>
          <a:prstGeom prst="rect">
            <a:avLst/>
          </a:prstGeom>
          <a:noFill/>
        </p:spPr>
        <p:txBody>
          <a:bodyPr wrap="square" rtlCol="0">
            <a:spAutoFit/>
          </a:bodyPr>
          <a:lstStyle/>
          <a:p>
            <a:r>
              <a:rPr lang="en-US" dirty="0" err="1">
                <a:solidFill>
                  <a:srgbClr val="002060"/>
                </a:solidFill>
              </a:rPr>
              <a:t>W</a:t>
            </a:r>
            <a:r>
              <a:rPr lang="en-US" baseline="-25000" dirty="0" err="1">
                <a:solidFill>
                  <a:srgbClr val="002060"/>
                </a:solidFill>
              </a:rPr>
              <a:t>rich</a:t>
            </a:r>
            <a:endParaRPr lang="en-US" baseline="-25000" dirty="0">
              <a:solidFill>
                <a:srgbClr val="002060"/>
              </a:solidFill>
            </a:endParaRPr>
          </a:p>
        </p:txBody>
      </p:sp>
      <p:sp>
        <p:nvSpPr>
          <p:cNvPr id="9" name="TextBox 8">
            <a:extLst>
              <a:ext uri="{FF2B5EF4-FFF2-40B4-BE49-F238E27FC236}">
                <a16:creationId xmlns:a16="http://schemas.microsoft.com/office/drawing/2014/main" id="{7D9EFC65-C8CB-DAD2-DE37-1C2C275B3A58}"/>
              </a:ext>
            </a:extLst>
          </p:cNvPr>
          <p:cNvSpPr txBox="1"/>
          <p:nvPr/>
        </p:nvSpPr>
        <p:spPr>
          <a:xfrm>
            <a:off x="2978609" y="2162907"/>
            <a:ext cx="2967868" cy="369332"/>
          </a:xfrm>
          <a:prstGeom prst="rect">
            <a:avLst/>
          </a:prstGeom>
          <a:noFill/>
        </p:spPr>
        <p:txBody>
          <a:bodyPr wrap="square" rtlCol="0">
            <a:spAutoFit/>
          </a:bodyPr>
          <a:lstStyle/>
          <a:p>
            <a:r>
              <a:rPr lang="en-US" dirty="0"/>
              <a:t>Willingness to pay (dollars)</a:t>
            </a:r>
          </a:p>
        </p:txBody>
      </p:sp>
      <p:cxnSp>
        <p:nvCxnSpPr>
          <p:cNvPr id="10" name="Straight Connector 9">
            <a:extLst>
              <a:ext uri="{FF2B5EF4-FFF2-40B4-BE49-F238E27FC236}">
                <a16:creationId xmlns:a16="http://schemas.microsoft.com/office/drawing/2014/main" id="{7869400A-8C97-FE90-DDBD-2FAF68C6E189}"/>
              </a:ext>
            </a:extLst>
          </p:cNvPr>
          <p:cNvCxnSpPr/>
          <p:nvPr/>
        </p:nvCxnSpPr>
        <p:spPr>
          <a:xfrm>
            <a:off x="3886200" y="5657986"/>
            <a:ext cx="4828597" cy="0"/>
          </a:xfrm>
          <a:prstGeom prst="line">
            <a:avLst/>
          </a:prstGeom>
          <a:ln w="19050">
            <a:solidFill>
              <a:srgbClr val="00B050"/>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2D98F365-6036-CAE5-9EA4-4E96BDC25DA8}"/>
              </a:ext>
            </a:extLst>
          </p:cNvPr>
          <p:cNvSpPr txBox="1"/>
          <p:nvPr/>
        </p:nvSpPr>
        <p:spPr>
          <a:xfrm>
            <a:off x="3331246" y="5535016"/>
            <a:ext cx="641092" cy="369332"/>
          </a:xfrm>
          <a:prstGeom prst="rect">
            <a:avLst/>
          </a:prstGeom>
          <a:noFill/>
        </p:spPr>
        <p:txBody>
          <a:bodyPr wrap="square" rtlCol="0">
            <a:spAutoFit/>
          </a:bodyPr>
          <a:lstStyle/>
          <a:p>
            <a:r>
              <a:rPr lang="en-US" dirty="0">
                <a:solidFill>
                  <a:schemeClr val="accent6">
                    <a:lumMod val="75000"/>
                  </a:schemeClr>
                </a:solidFill>
              </a:rPr>
              <a:t>MC</a:t>
            </a:r>
          </a:p>
        </p:txBody>
      </p:sp>
      <p:sp>
        <p:nvSpPr>
          <p:cNvPr id="12" name="TextBox 11">
            <a:extLst>
              <a:ext uri="{FF2B5EF4-FFF2-40B4-BE49-F238E27FC236}">
                <a16:creationId xmlns:a16="http://schemas.microsoft.com/office/drawing/2014/main" id="{5808BB5E-AA0E-A374-7F4E-0E2E4B7CD8DF}"/>
              </a:ext>
            </a:extLst>
          </p:cNvPr>
          <p:cNvSpPr txBox="1"/>
          <p:nvPr/>
        </p:nvSpPr>
        <p:spPr>
          <a:xfrm>
            <a:off x="5823041" y="2991461"/>
            <a:ext cx="3107014" cy="369332"/>
          </a:xfrm>
          <a:prstGeom prst="rect">
            <a:avLst/>
          </a:prstGeom>
          <a:noFill/>
        </p:spPr>
        <p:txBody>
          <a:bodyPr wrap="square" rtlCol="0">
            <a:spAutoFit/>
          </a:bodyPr>
          <a:lstStyle/>
          <a:p>
            <a:r>
              <a:rPr lang="en-US" dirty="0">
                <a:solidFill>
                  <a:srgbClr val="002060"/>
                </a:solidFill>
              </a:rPr>
              <a:t>Willingness to pay of rich</a:t>
            </a:r>
          </a:p>
        </p:txBody>
      </p:sp>
      <p:cxnSp>
        <p:nvCxnSpPr>
          <p:cNvPr id="13" name="Connector: Elbow 12">
            <a:extLst>
              <a:ext uri="{FF2B5EF4-FFF2-40B4-BE49-F238E27FC236}">
                <a16:creationId xmlns:a16="http://schemas.microsoft.com/office/drawing/2014/main" id="{5025B78F-F850-24EA-5BEB-2403EC2BB2FF}"/>
              </a:ext>
            </a:extLst>
          </p:cNvPr>
          <p:cNvCxnSpPr/>
          <p:nvPr/>
        </p:nvCxnSpPr>
        <p:spPr>
          <a:xfrm>
            <a:off x="3886200" y="5490965"/>
            <a:ext cx="3274362" cy="575218"/>
          </a:xfrm>
          <a:prstGeom prst="bentConnector3">
            <a:avLst>
              <a:gd name="adj1" fmla="val 98305"/>
            </a:avLst>
          </a:prstGeom>
          <a:ln w="127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F50A4164-F3B7-6A1A-F1AA-EE3F35C1D782}"/>
              </a:ext>
            </a:extLst>
          </p:cNvPr>
          <p:cNvSpPr txBox="1"/>
          <p:nvPr/>
        </p:nvSpPr>
        <p:spPr>
          <a:xfrm>
            <a:off x="3200908" y="5191967"/>
            <a:ext cx="748747" cy="369332"/>
          </a:xfrm>
          <a:prstGeom prst="rect">
            <a:avLst/>
          </a:prstGeom>
          <a:noFill/>
        </p:spPr>
        <p:txBody>
          <a:bodyPr wrap="square" rtlCol="0">
            <a:spAutoFit/>
          </a:bodyPr>
          <a:lstStyle/>
          <a:p>
            <a:r>
              <a:rPr lang="en-US" dirty="0" err="1">
                <a:solidFill>
                  <a:schemeClr val="accent2">
                    <a:lumMod val="75000"/>
                  </a:schemeClr>
                </a:solidFill>
              </a:rPr>
              <a:t>W</a:t>
            </a:r>
            <a:r>
              <a:rPr lang="en-US" baseline="-25000" dirty="0" err="1">
                <a:solidFill>
                  <a:schemeClr val="accent2">
                    <a:lumMod val="75000"/>
                  </a:schemeClr>
                </a:solidFill>
              </a:rPr>
              <a:t>poor</a:t>
            </a:r>
            <a:endParaRPr lang="en-US" baseline="-25000" dirty="0">
              <a:solidFill>
                <a:schemeClr val="accent2">
                  <a:lumMod val="75000"/>
                </a:schemeClr>
              </a:solidFill>
            </a:endParaRPr>
          </a:p>
        </p:txBody>
      </p:sp>
      <p:cxnSp>
        <p:nvCxnSpPr>
          <p:cNvPr id="17" name="Straight Arrow Connector 16">
            <a:extLst>
              <a:ext uri="{FF2B5EF4-FFF2-40B4-BE49-F238E27FC236}">
                <a16:creationId xmlns:a16="http://schemas.microsoft.com/office/drawing/2014/main" id="{C7B6EA00-2ECD-52E4-BCED-D21B9A4EF735}"/>
              </a:ext>
            </a:extLst>
          </p:cNvPr>
          <p:cNvCxnSpPr>
            <a:cxnSpLocks/>
          </p:cNvCxnSpPr>
          <p:nvPr/>
        </p:nvCxnSpPr>
        <p:spPr>
          <a:xfrm flipH="1">
            <a:off x="8717292" y="4999681"/>
            <a:ext cx="633793" cy="561618"/>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DF0400AD-D056-93E0-0A1F-85AB97BEDED3}"/>
              </a:ext>
            </a:extLst>
          </p:cNvPr>
          <p:cNvSpPr txBox="1"/>
          <p:nvPr/>
        </p:nvSpPr>
        <p:spPr>
          <a:xfrm>
            <a:off x="9379155" y="4415307"/>
            <a:ext cx="2719408" cy="1077218"/>
          </a:xfrm>
          <a:prstGeom prst="rect">
            <a:avLst/>
          </a:prstGeom>
          <a:noFill/>
        </p:spPr>
        <p:txBody>
          <a:bodyPr wrap="square" rtlCol="0">
            <a:spAutoFit/>
          </a:bodyPr>
          <a:lstStyle/>
          <a:p>
            <a:r>
              <a:rPr lang="en-US" sz="1600" dirty="0">
                <a:solidFill>
                  <a:srgbClr val="FF0000"/>
                </a:solidFill>
              </a:rPr>
              <a:t>Our firm </a:t>
            </a:r>
            <a:r>
              <a:rPr lang="en-US" sz="1600" u="sng" dirty="0">
                <a:solidFill>
                  <a:srgbClr val="FF0000"/>
                </a:solidFill>
              </a:rPr>
              <a:t>can’t</a:t>
            </a:r>
            <a:r>
              <a:rPr lang="en-US" sz="1600" dirty="0">
                <a:solidFill>
                  <a:srgbClr val="FF0000"/>
                </a:solidFill>
              </a:rPr>
              <a:t> sell for less than MC (marginal cost); otherwise, we will lose money at any quantity</a:t>
            </a:r>
          </a:p>
        </p:txBody>
      </p:sp>
      <p:sp>
        <p:nvSpPr>
          <p:cNvPr id="15" name="TextBox 14">
            <a:extLst>
              <a:ext uri="{FF2B5EF4-FFF2-40B4-BE49-F238E27FC236}">
                <a16:creationId xmlns:a16="http://schemas.microsoft.com/office/drawing/2014/main" id="{DF4E4EE0-39E2-672F-C886-ACCD655431A7}"/>
              </a:ext>
            </a:extLst>
          </p:cNvPr>
          <p:cNvSpPr txBox="1"/>
          <p:nvPr/>
        </p:nvSpPr>
        <p:spPr>
          <a:xfrm>
            <a:off x="6089266" y="5163503"/>
            <a:ext cx="3289889" cy="369332"/>
          </a:xfrm>
          <a:prstGeom prst="rect">
            <a:avLst/>
          </a:prstGeom>
          <a:noFill/>
        </p:spPr>
        <p:txBody>
          <a:bodyPr wrap="square" rtlCol="0">
            <a:spAutoFit/>
          </a:bodyPr>
          <a:lstStyle/>
          <a:p>
            <a:r>
              <a:rPr lang="en-US" dirty="0">
                <a:solidFill>
                  <a:schemeClr val="accent2">
                    <a:lumMod val="75000"/>
                  </a:schemeClr>
                </a:solidFill>
              </a:rPr>
              <a:t>Willingness to pay of poor</a:t>
            </a:r>
          </a:p>
        </p:txBody>
      </p:sp>
    </p:spTree>
    <p:extLst>
      <p:ext uri="{BB962C8B-B14F-4D97-AF65-F5344CB8AC3E}">
        <p14:creationId xmlns:p14="http://schemas.microsoft.com/office/powerpoint/2010/main" val="259784774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11699</TotalTime>
  <Words>6434</Words>
  <Application>Microsoft Macintosh PowerPoint</Application>
  <PresentationFormat>Widescreen</PresentationFormat>
  <Paragraphs>605</Paragraphs>
  <Slides>31</Slides>
  <Notes>31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31</vt:i4>
      </vt:variant>
    </vt:vector>
  </HeadingPairs>
  <TitlesOfParts>
    <vt:vector size="38" baseType="lpstr">
      <vt:lpstr>Arial</vt:lpstr>
      <vt:lpstr>Calibri</vt:lpstr>
      <vt:lpstr>Cambria Math</vt:lpstr>
      <vt:lpstr>Century Gothic</vt:lpstr>
      <vt:lpstr>Times New Roman</vt:lpstr>
      <vt:lpstr>Wingdings</vt:lpstr>
      <vt:lpstr>Office Theme</vt:lpstr>
      <vt:lpstr>GENED 1079 Section 4</vt:lpstr>
      <vt:lpstr>Agenda</vt:lpstr>
      <vt:lpstr>Quick pulse check – who has taken Ec10?</vt:lpstr>
      <vt:lpstr>Economics of pharmaceuticals: Basics</vt:lpstr>
      <vt:lpstr>Economics of pharmaceuticals: Basics</vt:lpstr>
      <vt:lpstr>Understanding the Profit Formula</vt:lpstr>
      <vt:lpstr>Understanding the Profit Formula</vt:lpstr>
      <vt:lpstr>Understanding “Willingness to Pay”</vt:lpstr>
      <vt:lpstr>Choosing one price</vt:lpstr>
      <vt:lpstr>Who sets the price?</vt:lpstr>
      <vt:lpstr>Is a drug worth its price?  cost-effectiveness</vt:lpstr>
      <vt:lpstr>Practice Problem Prompt</vt:lpstr>
      <vt:lpstr>Part 1: Merck can only charge one price </vt:lpstr>
      <vt:lpstr>Part 1: Merck can only charge one price </vt:lpstr>
      <vt:lpstr>Part 1: Merck can only charge one price </vt:lpstr>
      <vt:lpstr>Part 1: Merck can only charge one price </vt:lpstr>
      <vt:lpstr>Part 2: Merck can charge different prices </vt:lpstr>
      <vt:lpstr>Part 2: Merck can charge different prices </vt:lpstr>
      <vt:lpstr>Part 2: Merck can charge different prices </vt:lpstr>
      <vt:lpstr>Part 2: Merck can charge different prices </vt:lpstr>
      <vt:lpstr>Part 2: Merck can charge different prices </vt:lpstr>
      <vt:lpstr>Part 2: Merck can charge different prices </vt:lpstr>
      <vt:lpstr>Part 3: Is Keytruda cost-effective? </vt:lpstr>
      <vt:lpstr>Part 3: Is Keytruda cost-effective? </vt:lpstr>
      <vt:lpstr>Part 3: Is Keytruda cost-effective? </vt:lpstr>
      <vt:lpstr>Part 3: The cost effectiveness of Keytruda  </vt:lpstr>
      <vt:lpstr>Part 3: The cost effectiveness of Keytruda  </vt:lpstr>
      <vt:lpstr>Wrap up </vt:lpstr>
      <vt:lpstr>Appendix</vt:lpstr>
      <vt:lpstr>Understanding “Willingness to Pay”</vt:lpstr>
      <vt:lpstr>Understanding “Willingness to Pay”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Modeling Epidemics</dc:title>
  <dc:creator>David Cutler</dc:creator>
  <cp:lastModifiedBy>Jhang, Janice</cp:lastModifiedBy>
  <cp:revision>212</cp:revision>
  <cp:lastPrinted>2026-10-05T01:41:46Z</cp:lastPrinted>
  <dcterms:created xsi:type="dcterms:W3CDTF">2020-08-12T16:21:11Z</dcterms:created>
  <dcterms:modified xsi:type="dcterms:W3CDTF">2026-10-07T19:07:34Z</dcterms:modified>
</cp:coreProperties>
</file>