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72" r:id="rId1"/>
  </p:sldMasterIdLst>
  <p:notesMasterIdLst>
    <p:notesMasterId r:id="rId33"/>
  </p:notesMasterIdLst>
  <p:sldIdLst>
    <p:sldId id="506" r:id="rId2"/>
    <p:sldId id="267" r:id="rId3"/>
    <p:sldId id="544" r:id="rId4"/>
    <p:sldId id="545" r:id="rId5"/>
    <p:sldId id="548" r:id="rId6"/>
    <p:sldId id="550" r:id="rId7"/>
    <p:sldId id="557" r:id="rId8"/>
    <p:sldId id="551" r:id="rId9"/>
    <p:sldId id="558" r:id="rId10"/>
    <p:sldId id="552" r:id="rId11"/>
    <p:sldId id="559" r:id="rId12"/>
    <p:sldId id="553" r:id="rId13"/>
    <p:sldId id="560" r:id="rId14"/>
    <p:sldId id="549" r:id="rId15"/>
    <p:sldId id="554" r:id="rId16"/>
    <p:sldId id="532" r:id="rId17"/>
    <p:sldId id="555" r:id="rId18"/>
    <p:sldId id="289" r:id="rId19"/>
    <p:sldId id="295" r:id="rId20"/>
    <p:sldId id="290" r:id="rId21"/>
    <p:sldId id="292" r:id="rId22"/>
    <p:sldId id="293" r:id="rId23"/>
    <p:sldId id="291" r:id="rId24"/>
    <p:sldId id="294" r:id="rId25"/>
    <p:sldId id="556" r:id="rId26"/>
    <p:sldId id="561" r:id="rId27"/>
    <p:sldId id="562" r:id="rId28"/>
    <p:sldId id="563" r:id="rId29"/>
    <p:sldId id="284" r:id="rId30"/>
    <p:sldId id="279" r:id="rId31"/>
    <p:sldId id="277" r:id="rId32"/>
  </p:sldIdLst>
  <p:sldSz cx="12192000" cy="6858000"/>
  <p:notesSz cx="7315200" cy="96012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3024">
          <p15:clr>
            <a:srgbClr val="A4A3A4"/>
          </p15:clr>
        </p15:guide>
        <p15:guide id="2" pos="230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809"/>
    <p:restoredTop sz="92483"/>
  </p:normalViewPr>
  <p:slideViewPr>
    <p:cSldViewPr snapToGrid="0">
      <p:cViewPr>
        <p:scale>
          <a:sx n="120" d="100"/>
          <a:sy n="120" d="100"/>
        </p:scale>
        <p:origin x="584" y="176"/>
      </p:cViewPr>
      <p:guideLst>
        <p:guide orient="horz" pos="2160"/>
        <p:guide pos="3840"/>
      </p:guideLst>
    </p:cSldViewPr>
  </p:slideViewPr>
  <p:notesTextViewPr>
    <p:cViewPr>
      <p:scale>
        <a:sx n="1" d="1"/>
        <a:sy n="1" d="1"/>
      </p:scale>
      <p:origin x="0" y="0"/>
    </p:cViewPr>
  </p:notesTextViewPr>
  <p:notesViewPr>
    <p:cSldViewPr snapToGrid="0">
      <p:cViewPr varScale="1">
        <p:scale>
          <a:sx n="100" d="100"/>
          <a:sy n="100" d="100"/>
        </p:scale>
        <p:origin x="0" y="0"/>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1"/>
            <a:ext cx="3169390" cy="480060"/>
          </a:xfrm>
          <a:prstGeom prst="rect">
            <a:avLst/>
          </a:prstGeom>
          <a:noFill/>
          <a:ln>
            <a:noFill/>
          </a:ln>
        </p:spPr>
        <p:txBody>
          <a:bodyPr spcFirstLastPara="1" wrap="square" lIns="96650" tIns="48325" rIns="96650" bIns="48325" anchor="t" anchorCtr="0">
            <a:noAutofit/>
          </a:bodyPr>
          <a:lstStyle>
            <a:lvl1pPr marR="0" lvl="0" algn="l" rtl="0">
              <a:spcBef>
                <a:spcPts val="0"/>
              </a:spcBef>
              <a:spcAft>
                <a:spcPts val="0"/>
              </a:spcAft>
              <a:buSzPts val="1400"/>
              <a:buNone/>
              <a:defRPr sz="1300" b="0" i="0" u="none" strike="noStrike" cap="none">
                <a:solidFill>
                  <a:schemeClr val="dk1"/>
                </a:solidFill>
                <a:latin typeface="Times New Roman"/>
                <a:ea typeface="Times New Roman"/>
                <a:cs typeface="Times New Roman"/>
                <a:sym typeface="Times New Roman"/>
              </a:defRPr>
            </a:lvl1pPr>
            <a:lvl2pPr marR="0" lvl="1" algn="l" rtl="0">
              <a:spcBef>
                <a:spcPts val="0"/>
              </a:spcBef>
              <a:spcAft>
                <a:spcPts val="0"/>
              </a:spcAft>
              <a:buSzPts val="1400"/>
              <a:buNone/>
              <a:defRPr sz="2400" b="0" i="0" u="none" strike="noStrike" cap="none">
                <a:solidFill>
                  <a:schemeClr val="dk1"/>
                </a:solidFill>
                <a:latin typeface="Arial Narrow"/>
                <a:ea typeface="Arial Narrow"/>
                <a:cs typeface="Arial Narrow"/>
                <a:sym typeface="Arial Narrow"/>
              </a:defRPr>
            </a:lvl2pPr>
            <a:lvl3pPr marR="0" lvl="2" algn="l" rtl="0">
              <a:spcBef>
                <a:spcPts val="0"/>
              </a:spcBef>
              <a:spcAft>
                <a:spcPts val="0"/>
              </a:spcAft>
              <a:buSzPts val="1400"/>
              <a:buNone/>
              <a:defRPr sz="2400" b="0" i="0" u="none" strike="noStrike" cap="none">
                <a:solidFill>
                  <a:schemeClr val="dk1"/>
                </a:solidFill>
                <a:latin typeface="Arial Narrow"/>
                <a:ea typeface="Arial Narrow"/>
                <a:cs typeface="Arial Narrow"/>
                <a:sym typeface="Arial Narrow"/>
              </a:defRPr>
            </a:lvl3pPr>
            <a:lvl4pPr marR="0" lvl="3" algn="l" rtl="0">
              <a:spcBef>
                <a:spcPts val="0"/>
              </a:spcBef>
              <a:spcAft>
                <a:spcPts val="0"/>
              </a:spcAft>
              <a:buSzPts val="1400"/>
              <a:buNone/>
              <a:defRPr sz="2400" b="0" i="0" u="none" strike="noStrike" cap="none">
                <a:solidFill>
                  <a:schemeClr val="dk1"/>
                </a:solidFill>
                <a:latin typeface="Arial Narrow"/>
                <a:ea typeface="Arial Narrow"/>
                <a:cs typeface="Arial Narrow"/>
                <a:sym typeface="Arial Narrow"/>
              </a:defRPr>
            </a:lvl4pPr>
            <a:lvl5pPr marR="0" lvl="4" algn="l" rtl="0">
              <a:spcBef>
                <a:spcPts val="0"/>
              </a:spcBef>
              <a:spcAft>
                <a:spcPts val="0"/>
              </a:spcAft>
              <a:buSzPts val="1400"/>
              <a:buNone/>
              <a:defRPr sz="2400" b="0" i="0" u="none" strike="noStrike" cap="none">
                <a:solidFill>
                  <a:schemeClr val="dk1"/>
                </a:solidFill>
                <a:latin typeface="Arial Narrow"/>
                <a:ea typeface="Arial Narrow"/>
                <a:cs typeface="Arial Narrow"/>
                <a:sym typeface="Arial Narrow"/>
              </a:defRPr>
            </a:lvl5pPr>
            <a:lvl6pPr marR="0" lvl="5" algn="l" rtl="0">
              <a:spcBef>
                <a:spcPts val="0"/>
              </a:spcBef>
              <a:spcAft>
                <a:spcPts val="0"/>
              </a:spcAft>
              <a:buSzPts val="1400"/>
              <a:buNone/>
              <a:defRPr sz="2400" b="0" i="0" u="none" strike="noStrike" cap="none">
                <a:solidFill>
                  <a:schemeClr val="dk1"/>
                </a:solidFill>
                <a:latin typeface="Arial Narrow"/>
                <a:ea typeface="Arial Narrow"/>
                <a:cs typeface="Arial Narrow"/>
                <a:sym typeface="Arial Narrow"/>
              </a:defRPr>
            </a:lvl6pPr>
            <a:lvl7pPr marR="0" lvl="6" algn="l" rtl="0">
              <a:spcBef>
                <a:spcPts val="0"/>
              </a:spcBef>
              <a:spcAft>
                <a:spcPts val="0"/>
              </a:spcAft>
              <a:buSzPts val="1400"/>
              <a:buNone/>
              <a:defRPr sz="2400" b="0" i="0" u="none" strike="noStrike" cap="none">
                <a:solidFill>
                  <a:schemeClr val="dk1"/>
                </a:solidFill>
                <a:latin typeface="Arial Narrow"/>
                <a:ea typeface="Arial Narrow"/>
                <a:cs typeface="Arial Narrow"/>
                <a:sym typeface="Arial Narrow"/>
              </a:defRPr>
            </a:lvl7pPr>
            <a:lvl8pPr marR="0" lvl="7" algn="l" rtl="0">
              <a:spcBef>
                <a:spcPts val="0"/>
              </a:spcBef>
              <a:spcAft>
                <a:spcPts val="0"/>
              </a:spcAft>
              <a:buSzPts val="1400"/>
              <a:buNone/>
              <a:defRPr sz="2400" b="0" i="0" u="none" strike="noStrike" cap="none">
                <a:solidFill>
                  <a:schemeClr val="dk1"/>
                </a:solidFill>
                <a:latin typeface="Arial Narrow"/>
                <a:ea typeface="Arial Narrow"/>
                <a:cs typeface="Arial Narrow"/>
                <a:sym typeface="Arial Narrow"/>
              </a:defRPr>
            </a:lvl8pPr>
            <a:lvl9pPr marR="0" lvl="8" algn="l" rtl="0">
              <a:spcBef>
                <a:spcPts val="0"/>
              </a:spcBef>
              <a:spcAft>
                <a:spcPts val="0"/>
              </a:spcAft>
              <a:buSzPts val="1400"/>
              <a:buNone/>
              <a:defRPr sz="2400" b="0" i="0" u="none" strike="noStrike" cap="none">
                <a:solidFill>
                  <a:schemeClr val="dk1"/>
                </a:solidFill>
                <a:latin typeface="Arial Narrow"/>
                <a:ea typeface="Arial Narrow"/>
                <a:cs typeface="Arial Narrow"/>
                <a:sym typeface="Arial Narrow"/>
              </a:defRPr>
            </a:lvl9pPr>
          </a:lstStyle>
          <a:p>
            <a:endParaRPr/>
          </a:p>
        </p:txBody>
      </p:sp>
      <p:sp>
        <p:nvSpPr>
          <p:cNvPr id="4" name="Google Shape;4;n"/>
          <p:cNvSpPr txBox="1">
            <a:spLocks noGrp="1"/>
          </p:cNvSpPr>
          <p:nvPr>
            <p:ph type="dt" idx="10"/>
          </p:nvPr>
        </p:nvSpPr>
        <p:spPr>
          <a:xfrm>
            <a:off x="4145811" y="1"/>
            <a:ext cx="3169389" cy="480060"/>
          </a:xfrm>
          <a:prstGeom prst="rect">
            <a:avLst/>
          </a:prstGeom>
          <a:noFill/>
          <a:ln>
            <a:noFill/>
          </a:ln>
        </p:spPr>
        <p:txBody>
          <a:bodyPr spcFirstLastPara="1" wrap="square" lIns="96650" tIns="48325" rIns="96650" bIns="48325" anchor="t" anchorCtr="0">
            <a:noAutofit/>
          </a:bodyPr>
          <a:lstStyle>
            <a:lvl1pPr marR="0" lvl="0" algn="r" rtl="0">
              <a:spcBef>
                <a:spcPts val="0"/>
              </a:spcBef>
              <a:spcAft>
                <a:spcPts val="0"/>
              </a:spcAft>
              <a:buSzPts val="1400"/>
              <a:buNone/>
              <a:defRPr sz="1300" b="0" i="0" u="none" strike="noStrike" cap="none">
                <a:solidFill>
                  <a:schemeClr val="dk1"/>
                </a:solidFill>
                <a:latin typeface="Times New Roman"/>
                <a:ea typeface="Times New Roman"/>
                <a:cs typeface="Times New Roman"/>
                <a:sym typeface="Times New Roman"/>
              </a:defRPr>
            </a:lvl1pPr>
            <a:lvl2pPr marR="0" lvl="1" algn="l" rtl="0">
              <a:spcBef>
                <a:spcPts val="0"/>
              </a:spcBef>
              <a:spcAft>
                <a:spcPts val="0"/>
              </a:spcAft>
              <a:buSzPts val="1400"/>
              <a:buNone/>
              <a:defRPr sz="2400" b="0" i="0" u="none" strike="noStrike" cap="none">
                <a:solidFill>
                  <a:schemeClr val="dk1"/>
                </a:solidFill>
                <a:latin typeface="Arial Narrow"/>
                <a:ea typeface="Arial Narrow"/>
                <a:cs typeface="Arial Narrow"/>
                <a:sym typeface="Arial Narrow"/>
              </a:defRPr>
            </a:lvl2pPr>
            <a:lvl3pPr marR="0" lvl="2" algn="l" rtl="0">
              <a:spcBef>
                <a:spcPts val="0"/>
              </a:spcBef>
              <a:spcAft>
                <a:spcPts val="0"/>
              </a:spcAft>
              <a:buSzPts val="1400"/>
              <a:buNone/>
              <a:defRPr sz="2400" b="0" i="0" u="none" strike="noStrike" cap="none">
                <a:solidFill>
                  <a:schemeClr val="dk1"/>
                </a:solidFill>
                <a:latin typeface="Arial Narrow"/>
                <a:ea typeface="Arial Narrow"/>
                <a:cs typeface="Arial Narrow"/>
                <a:sym typeface="Arial Narrow"/>
              </a:defRPr>
            </a:lvl3pPr>
            <a:lvl4pPr marR="0" lvl="3" algn="l" rtl="0">
              <a:spcBef>
                <a:spcPts val="0"/>
              </a:spcBef>
              <a:spcAft>
                <a:spcPts val="0"/>
              </a:spcAft>
              <a:buSzPts val="1400"/>
              <a:buNone/>
              <a:defRPr sz="2400" b="0" i="0" u="none" strike="noStrike" cap="none">
                <a:solidFill>
                  <a:schemeClr val="dk1"/>
                </a:solidFill>
                <a:latin typeface="Arial Narrow"/>
                <a:ea typeface="Arial Narrow"/>
                <a:cs typeface="Arial Narrow"/>
                <a:sym typeface="Arial Narrow"/>
              </a:defRPr>
            </a:lvl4pPr>
            <a:lvl5pPr marR="0" lvl="4" algn="l" rtl="0">
              <a:spcBef>
                <a:spcPts val="0"/>
              </a:spcBef>
              <a:spcAft>
                <a:spcPts val="0"/>
              </a:spcAft>
              <a:buSzPts val="1400"/>
              <a:buNone/>
              <a:defRPr sz="2400" b="0" i="0" u="none" strike="noStrike" cap="none">
                <a:solidFill>
                  <a:schemeClr val="dk1"/>
                </a:solidFill>
                <a:latin typeface="Arial Narrow"/>
                <a:ea typeface="Arial Narrow"/>
                <a:cs typeface="Arial Narrow"/>
                <a:sym typeface="Arial Narrow"/>
              </a:defRPr>
            </a:lvl5pPr>
            <a:lvl6pPr marR="0" lvl="5" algn="l" rtl="0">
              <a:spcBef>
                <a:spcPts val="0"/>
              </a:spcBef>
              <a:spcAft>
                <a:spcPts val="0"/>
              </a:spcAft>
              <a:buSzPts val="1400"/>
              <a:buNone/>
              <a:defRPr sz="2400" b="0" i="0" u="none" strike="noStrike" cap="none">
                <a:solidFill>
                  <a:schemeClr val="dk1"/>
                </a:solidFill>
                <a:latin typeface="Arial Narrow"/>
                <a:ea typeface="Arial Narrow"/>
                <a:cs typeface="Arial Narrow"/>
                <a:sym typeface="Arial Narrow"/>
              </a:defRPr>
            </a:lvl6pPr>
            <a:lvl7pPr marR="0" lvl="6" algn="l" rtl="0">
              <a:spcBef>
                <a:spcPts val="0"/>
              </a:spcBef>
              <a:spcAft>
                <a:spcPts val="0"/>
              </a:spcAft>
              <a:buSzPts val="1400"/>
              <a:buNone/>
              <a:defRPr sz="2400" b="0" i="0" u="none" strike="noStrike" cap="none">
                <a:solidFill>
                  <a:schemeClr val="dk1"/>
                </a:solidFill>
                <a:latin typeface="Arial Narrow"/>
                <a:ea typeface="Arial Narrow"/>
                <a:cs typeface="Arial Narrow"/>
                <a:sym typeface="Arial Narrow"/>
              </a:defRPr>
            </a:lvl7pPr>
            <a:lvl8pPr marR="0" lvl="7" algn="l" rtl="0">
              <a:spcBef>
                <a:spcPts val="0"/>
              </a:spcBef>
              <a:spcAft>
                <a:spcPts val="0"/>
              </a:spcAft>
              <a:buSzPts val="1400"/>
              <a:buNone/>
              <a:defRPr sz="2400" b="0" i="0" u="none" strike="noStrike" cap="none">
                <a:solidFill>
                  <a:schemeClr val="dk1"/>
                </a:solidFill>
                <a:latin typeface="Arial Narrow"/>
                <a:ea typeface="Arial Narrow"/>
                <a:cs typeface="Arial Narrow"/>
                <a:sym typeface="Arial Narrow"/>
              </a:defRPr>
            </a:lvl8pPr>
            <a:lvl9pPr marR="0" lvl="8" algn="l" rtl="0">
              <a:spcBef>
                <a:spcPts val="0"/>
              </a:spcBef>
              <a:spcAft>
                <a:spcPts val="0"/>
              </a:spcAft>
              <a:buSzPts val="1400"/>
              <a:buNone/>
              <a:defRPr sz="2400" b="0" i="0" u="none" strike="noStrike" cap="none">
                <a:solidFill>
                  <a:schemeClr val="dk1"/>
                </a:solidFill>
                <a:latin typeface="Arial Narrow"/>
                <a:ea typeface="Arial Narrow"/>
                <a:cs typeface="Arial Narrow"/>
                <a:sym typeface="Arial Narrow"/>
              </a:defRPr>
            </a:lvl9pPr>
          </a:lstStyle>
          <a:p>
            <a:endParaRPr/>
          </a:p>
        </p:txBody>
      </p:sp>
      <p:sp>
        <p:nvSpPr>
          <p:cNvPr id="5" name="Google Shape;5;n"/>
          <p:cNvSpPr>
            <a:spLocks noGrp="1" noRot="1" noChangeAspect="1"/>
          </p:cNvSpPr>
          <p:nvPr>
            <p:ph type="sldImg" idx="3"/>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6" name="Google Shape;6;n"/>
          <p:cNvSpPr txBox="1">
            <a:spLocks noGrp="1"/>
          </p:cNvSpPr>
          <p:nvPr>
            <p:ph type="body" idx="1"/>
          </p:nvPr>
        </p:nvSpPr>
        <p:spPr>
          <a:xfrm>
            <a:off x="974831" y="4560571"/>
            <a:ext cx="5365540" cy="4320540"/>
          </a:xfrm>
          <a:prstGeom prst="rect">
            <a:avLst/>
          </a:prstGeom>
          <a:noFill/>
          <a:ln>
            <a:noFill/>
          </a:ln>
        </p:spPr>
        <p:txBody>
          <a:bodyPr spcFirstLastPara="1" wrap="square" lIns="96650" tIns="48325" rIns="96650" bIns="48325" anchor="t" anchorCtr="0">
            <a:noAutofit/>
          </a:bodyPr>
          <a:lstStyle>
            <a:lvl1pPr marL="457200" marR="0" lvl="0" indent="-228600" algn="l" rtl="0">
              <a:spcBef>
                <a:spcPts val="36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1pPr>
            <a:lvl2pPr marL="914400" marR="0" lvl="1" indent="-228600" algn="l" rtl="0">
              <a:spcBef>
                <a:spcPts val="36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2pPr>
            <a:lvl3pPr marL="1371600" marR="0" lvl="2" indent="-228600" algn="l" rtl="0">
              <a:spcBef>
                <a:spcPts val="36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3pPr>
            <a:lvl4pPr marL="1828800" marR="0" lvl="3" indent="-228600" algn="l" rtl="0">
              <a:spcBef>
                <a:spcPts val="36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4pPr>
            <a:lvl5pPr marL="2286000" marR="0" lvl="4" indent="-228600" algn="l" rtl="0">
              <a:spcBef>
                <a:spcPts val="36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9121141"/>
            <a:ext cx="3169390" cy="480060"/>
          </a:xfrm>
          <a:prstGeom prst="rect">
            <a:avLst/>
          </a:prstGeom>
          <a:noFill/>
          <a:ln>
            <a:noFill/>
          </a:ln>
        </p:spPr>
        <p:txBody>
          <a:bodyPr spcFirstLastPara="1" wrap="square" lIns="96650" tIns="48325" rIns="96650" bIns="48325" anchor="b" anchorCtr="0">
            <a:noAutofit/>
          </a:bodyPr>
          <a:lstStyle>
            <a:lvl1pPr marR="0" lvl="0" algn="l" rtl="0">
              <a:spcBef>
                <a:spcPts val="0"/>
              </a:spcBef>
              <a:spcAft>
                <a:spcPts val="0"/>
              </a:spcAft>
              <a:buSzPts val="1400"/>
              <a:buNone/>
              <a:defRPr sz="1300" b="0" i="0" u="none" strike="noStrike" cap="none">
                <a:solidFill>
                  <a:schemeClr val="dk1"/>
                </a:solidFill>
                <a:latin typeface="Times New Roman"/>
                <a:ea typeface="Times New Roman"/>
                <a:cs typeface="Times New Roman"/>
                <a:sym typeface="Times New Roman"/>
              </a:defRPr>
            </a:lvl1pPr>
            <a:lvl2pPr marR="0" lvl="1" algn="l" rtl="0">
              <a:spcBef>
                <a:spcPts val="0"/>
              </a:spcBef>
              <a:spcAft>
                <a:spcPts val="0"/>
              </a:spcAft>
              <a:buSzPts val="1400"/>
              <a:buNone/>
              <a:defRPr sz="2400" b="0" i="0" u="none" strike="noStrike" cap="none">
                <a:solidFill>
                  <a:schemeClr val="dk1"/>
                </a:solidFill>
                <a:latin typeface="Arial Narrow"/>
                <a:ea typeface="Arial Narrow"/>
                <a:cs typeface="Arial Narrow"/>
                <a:sym typeface="Arial Narrow"/>
              </a:defRPr>
            </a:lvl2pPr>
            <a:lvl3pPr marR="0" lvl="2" algn="l" rtl="0">
              <a:spcBef>
                <a:spcPts val="0"/>
              </a:spcBef>
              <a:spcAft>
                <a:spcPts val="0"/>
              </a:spcAft>
              <a:buSzPts val="1400"/>
              <a:buNone/>
              <a:defRPr sz="2400" b="0" i="0" u="none" strike="noStrike" cap="none">
                <a:solidFill>
                  <a:schemeClr val="dk1"/>
                </a:solidFill>
                <a:latin typeface="Arial Narrow"/>
                <a:ea typeface="Arial Narrow"/>
                <a:cs typeface="Arial Narrow"/>
                <a:sym typeface="Arial Narrow"/>
              </a:defRPr>
            </a:lvl3pPr>
            <a:lvl4pPr marR="0" lvl="3" algn="l" rtl="0">
              <a:spcBef>
                <a:spcPts val="0"/>
              </a:spcBef>
              <a:spcAft>
                <a:spcPts val="0"/>
              </a:spcAft>
              <a:buSzPts val="1400"/>
              <a:buNone/>
              <a:defRPr sz="2400" b="0" i="0" u="none" strike="noStrike" cap="none">
                <a:solidFill>
                  <a:schemeClr val="dk1"/>
                </a:solidFill>
                <a:latin typeface="Arial Narrow"/>
                <a:ea typeface="Arial Narrow"/>
                <a:cs typeface="Arial Narrow"/>
                <a:sym typeface="Arial Narrow"/>
              </a:defRPr>
            </a:lvl4pPr>
            <a:lvl5pPr marR="0" lvl="4" algn="l" rtl="0">
              <a:spcBef>
                <a:spcPts val="0"/>
              </a:spcBef>
              <a:spcAft>
                <a:spcPts val="0"/>
              </a:spcAft>
              <a:buSzPts val="1400"/>
              <a:buNone/>
              <a:defRPr sz="2400" b="0" i="0" u="none" strike="noStrike" cap="none">
                <a:solidFill>
                  <a:schemeClr val="dk1"/>
                </a:solidFill>
                <a:latin typeface="Arial Narrow"/>
                <a:ea typeface="Arial Narrow"/>
                <a:cs typeface="Arial Narrow"/>
                <a:sym typeface="Arial Narrow"/>
              </a:defRPr>
            </a:lvl5pPr>
            <a:lvl6pPr marR="0" lvl="5" algn="l" rtl="0">
              <a:spcBef>
                <a:spcPts val="0"/>
              </a:spcBef>
              <a:spcAft>
                <a:spcPts val="0"/>
              </a:spcAft>
              <a:buSzPts val="1400"/>
              <a:buNone/>
              <a:defRPr sz="2400" b="0" i="0" u="none" strike="noStrike" cap="none">
                <a:solidFill>
                  <a:schemeClr val="dk1"/>
                </a:solidFill>
                <a:latin typeface="Arial Narrow"/>
                <a:ea typeface="Arial Narrow"/>
                <a:cs typeface="Arial Narrow"/>
                <a:sym typeface="Arial Narrow"/>
              </a:defRPr>
            </a:lvl6pPr>
            <a:lvl7pPr marR="0" lvl="6" algn="l" rtl="0">
              <a:spcBef>
                <a:spcPts val="0"/>
              </a:spcBef>
              <a:spcAft>
                <a:spcPts val="0"/>
              </a:spcAft>
              <a:buSzPts val="1400"/>
              <a:buNone/>
              <a:defRPr sz="2400" b="0" i="0" u="none" strike="noStrike" cap="none">
                <a:solidFill>
                  <a:schemeClr val="dk1"/>
                </a:solidFill>
                <a:latin typeface="Arial Narrow"/>
                <a:ea typeface="Arial Narrow"/>
                <a:cs typeface="Arial Narrow"/>
                <a:sym typeface="Arial Narrow"/>
              </a:defRPr>
            </a:lvl7pPr>
            <a:lvl8pPr marR="0" lvl="7" algn="l" rtl="0">
              <a:spcBef>
                <a:spcPts val="0"/>
              </a:spcBef>
              <a:spcAft>
                <a:spcPts val="0"/>
              </a:spcAft>
              <a:buSzPts val="1400"/>
              <a:buNone/>
              <a:defRPr sz="2400" b="0" i="0" u="none" strike="noStrike" cap="none">
                <a:solidFill>
                  <a:schemeClr val="dk1"/>
                </a:solidFill>
                <a:latin typeface="Arial Narrow"/>
                <a:ea typeface="Arial Narrow"/>
                <a:cs typeface="Arial Narrow"/>
                <a:sym typeface="Arial Narrow"/>
              </a:defRPr>
            </a:lvl8pPr>
            <a:lvl9pPr marR="0" lvl="8" algn="l" rtl="0">
              <a:spcBef>
                <a:spcPts val="0"/>
              </a:spcBef>
              <a:spcAft>
                <a:spcPts val="0"/>
              </a:spcAft>
              <a:buSzPts val="1400"/>
              <a:buNone/>
              <a:defRPr sz="2400" b="0" i="0" u="none" strike="noStrike" cap="none">
                <a:solidFill>
                  <a:schemeClr val="dk1"/>
                </a:solidFill>
                <a:latin typeface="Arial Narrow"/>
                <a:ea typeface="Arial Narrow"/>
                <a:cs typeface="Arial Narrow"/>
                <a:sym typeface="Arial Narrow"/>
              </a:defRPr>
            </a:lvl9pPr>
          </a:lstStyle>
          <a:p>
            <a:endParaRPr/>
          </a:p>
        </p:txBody>
      </p:sp>
      <p:sp>
        <p:nvSpPr>
          <p:cNvPr id="8" name="Google Shape;8;n"/>
          <p:cNvSpPr txBox="1">
            <a:spLocks noGrp="1"/>
          </p:cNvSpPr>
          <p:nvPr>
            <p:ph type="sldNum" idx="12"/>
          </p:nvPr>
        </p:nvSpPr>
        <p:spPr>
          <a:xfrm>
            <a:off x="4145811" y="9121141"/>
            <a:ext cx="3169389" cy="480060"/>
          </a:xfrm>
          <a:prstGeom prst="rect">
            <a:avLst/>
          </a:prstGeom>
          <a:noFill/>
          <a:ln>
            <a:noFill/>
          </a:ln>
        </p:spPr>
        <p:txBody>
          <a:bodyPr spcFirstLastPara="1" wrap="square" lIns="96650" tIns="48325" rIns="96650" bIns="48325" anchor="b" anchorCtr="0">
            <a:noAutofit/>
          </a:bodyPr>
          <a:lstStyle/>
          <a:p>
            <a:pPr marL="0" marR="0" lvl="0" indent="0" algn="r" rtl="0">
              <a:spcBef>
                <a:spcPts val="0"/>
              </a:spcBef>
              <a:spcAft>
                <a:spcPts val="0"/>
              </a:spcAft>
              <a:buNone/>
            </a:pPr>
            <a:fld id="{00000000-1234-1234-1234-123412341234}" type="slidenum">
              <a:rPr lang="en-US" sz="1300" b="0" i="0" u="none" strike="noStrike" cap="none">
                <a:solidFill>
                  <a:schemeClr val="dk1"/>
                </a:solidFill>
                <a:latin typeface="Times New Roman"/>
                <a:ea typeface="Times New Roman"/>
                <a:cs typeface="Times New Roman"/>
                <a:sym typeface="Times New Roman"/>
              </a:rPr>
              <a:t>‹#›</a:t>
            </a:fld>
            <a:endParaRPr sz="1300" b="0" i="0" u="none" strike="noStrike" cap="none">
              <a:solidFill>
                <a:schemeClr val="dk1"/>
              </a:solidFill>
              <a:latin typeface="Times New Roman"/>
              <a:ea typeface="Times New Roman"/>
              <a:cs typeface="Times New Roman"/>
              <a:sym typeface="Times New Roman"/>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300" b="0" i="0" u="none" strike="noStrike" cap="none" smtClean="0">
                <a:solidFill>
                  <a:schemeClr val="dk1"/>
                </a:solidFill>
                <a:latin typeface="Times New Roman"/>
                <a:ea typeface="Times New Roman"/>
                <a:cs typeface="Times New Roman"/>
                <a:sym typeface="Times New Roman"/>
              </a:rPr>
              <a:t>1</a:t>
            </a:fld>
            <a:endParaRPr lang="en-US" sz="1300" b="0" i="0" u="none" strike="noStrike" cap="non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7287272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p16:notes"/>
          <p:cNvSpPr txBox="1">
            <a:spLocks noGrp="1"/>
          </p:cNvSpPr>
          <p:nvPr>
            <p:ph type="body" idx="1"/>
          </p:nvPr>
        </p:nvSpPr>
        <p:spPr>
          <a:xfrm>
            <a:off x="974831" y="4560571"/>
            <a:ext cx="5365540" cy="4320540"/>
          </a:xfrm>
          <a:prstGeom prst="rect">
            <a:avLst/>
          </a:prstGeom>
        </p:spPr>
        <p:txBody>
          <a:bodyPr spcFirstLastPara="1" wrap="square" lIns="96650" tIns="48325" rIns="96650" bIns="48325" anchor="t" anchorCtr="0">
            <a:noAutofit/>
          </a:bodyPr>
          <a:lstStyle/>
          <a:p>
            <a:pPr marL="0" lvl="0" indent="0" algn="l" rtl="0">
              <a:spcBef>
                <a:spcPts val="360"/>
              </a:spcBef>
              <a:spcAft>
                <a:spcPts val="0"/>
              </a:spcAft>
              <a:buNone/>
            </a:pPr>
            <a:endParaRPr/>
          </a:p>
        </p:txBody>
      </p:sp>
      <p:sp>
        <p:nvSpPr>
          <p:cNvPr id="215" name="Google Shape;215;p16: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183287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Recall lowercase s and I are proportions. </a:t>
            </a:r>
          </a:p>
          <a:p>
            <a:r>
              <a:rPr lang="en-US" dirty="0"/>
              <a:t>JJ: whiteboard</a:t>
            </a:r>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300" b="0" i="0" u="none" strike="noStrike" cap="none" smtClean="0">
                <a:solidFill>
                  <a:schemeClr val="dk1"/>
                </a:solidFill>
                <a:latin typeface="Times New Roman"/>
                <a:ea typeface="Times New Roman"/>
                <a:cs typeface="Times New Roman"/>
                <a:sym typeface="Times New Roman"/>
              </a:rPr>
              <a:t>5</a:t>
            </a:fld>
            <a:endParaRPr lang="en-US" sz="1300" b="0" i="0" u="none" strike="noStrike" cap="non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9788105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300" b="0" i="0" u="none" strike="noStrike" cap="none" smtClean="0">
                <a:solidFill>
                  <a:schemeClr val="dk1"/>
                </a:solidFill>
                <a:latin typeface="Times New Roman"/>
                <a:ea typeface="Times New Roman"/>
                <a:cs typeface="Times New Roman"/>
                <a:sym typeface="Times New Roman"/>
              </a:rPr>
              <a:t>7</a:t>
            </a:fld>
            <a:endParaRPr lang="en-US" sz="1300" b="0" i="0" u="none" strike="noStrike" cap="non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8369677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Review of in-class activity</a:t>
            </a:r>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300" b="0" i="0" u="none" strike="noStrike" cap="none" smtClean="0">
                <a:solidFill>
                  <a:schemeClr val="dk1"/>
                </a:solidFill>
                <a:latin typeface="Times New Roman"/>
                <a:ea typeface="Times New Roman"/>
                <a:cs typeface="Times New Roman"/>
                <a:sym typeface="Times New Roman"/>
              </a:rPr>
              <a:t>8</a:t>
            </a:fld>
            <a:endParaRPr lang="en-US" sz="1300" b="0" i="0" u="none" strike="noStrike" cap="non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6474208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20725"/>
            <a:ext cx="6400800" cy="3600450"/>
          </a:xfrm>
        </p:spPr>
      </p:sp>
      <p:sp>
        <p:nvSpPr>
          <p:cNvPr id="3" name="Notes Placeholder 2"/>
          <p:cNvSpPr>
            <a:spLocks noGrp="1"/>
          </p:cNvSpPr>
          <p:nvPr>
            <p:ph type="body" idx="1"/>
          </p:nvPr>
        </p:nvSpPr>
        <p:spPr/>
        <p:txBody>
          <a:bodyPr/>
          <a:lstStyle/>
          <a:p>
            <a:r>
              <a:rPr lang="en-US" dirty="0"/>
              <a:t>Give groups ~ 15 minutes to research and discuss and each 3 minutes to report back to the class. </a:t>
            </a:r>
          </a:p>
          <a:p>
            <a:endParaRPr lang="en-US" dirty="0"/>
          </a:p>
          <a:p>
            <a:r>
              <a:rPr lang="en-US" dirty="0"/>
              <a:t>Feel free to get creative with where you want to assign people to. For example, could have students volunteer suggestions and then divvy up groups. </a:t>
            </a:r>
          </a:p>
          <a:p>
            <a:endParaRPr lang="en-US" dirty="0"/>
          </a:p>
          <a:p>
            <a:r>
              <a:rPr lang="en-US" b="1" dirty="0"/>
              <a:t>Might be good to assign groups to interesting place that will provide different political environment and responses:</a:t>
            </a:r>
          </a:p>
          <a:p>
            <a:r>
              <a:rPr lang="en-US" dirty="0"/>
              <a:t>My list:  Mississippi, Massachusetts, India, and the United Kingdom</a:t>
            </a:r>
          </a:p>
        </p:txBody>
      </p:sp>
      <p:sp>
        <p:nvSpPr>
          <p:cNvPr id="4" name="Header Placeholder 3"/>
          <p:cNvSpPr>
            <a:spLocks noGrp="1"/>
          </p:cNvSpPr>
          <p:nvPr>
            <p:ph type="hdr" sz="quarter"/>
          </p:nvPr>
        </p:nvSpPr>
        <p:spPr/>
        <p:txBody>
          <a:bodyPr/>
          <a:lstStyle/>
          <a:p>
            <a:r>
              <a:rPr lang="en-US"/>
              <a:t>QR24, Fall 2005, Lecture 2</a:t>
            </a:r>
          </a:p>
        </p:txBody>
      </p:sp>
      <p:sp>
        <p:nvSpPr>
          <p:cNvPr id="5" name="Slide Number Placeholder 4"/>
          <p:cNvSpPr>
            <a:spLocks noGrp="1"/>
          </p:cNvSpPr>
          <p:nvPr>
            <p:ph type="sldNum" sz="quarter" idx="5"/>
          </p:nvPr>
        </p:nvSpPr>
        <p:spPr/>
        <p:txBody>
          <a:bodyPr/>
          <a:lstStyle/>
          <a:p>
            <a:fld id="{510FF742-9BE3-414A-87AC-D68001451B72}" type="slidenum">
              <a:rPr lang="en-US" smtClean="0"/>
              <a:pPr/>
              <a:t>16</a:t>
            </a:fld>
            <a:endParaRPr lang="en-US"/>
          </a:p>
        </p:txBody>
      </p:sp>
    </p:spTree>
    <p:extLst>
      <p:ext uri="{BB962C8B-B14F-4D97-AF65-F5344CB8AC3E}">
        <p14:creationId xmlns:p14="http://schemas.microsoft.com/office/powerpoint/2010/main" val="9183789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Idea here is to show that for the unit 1 assignments there is a balance between providing sufficient information, but not little. This may not look different from other presentations. </a:t>
            </a:r>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300" b="0" i="0" u="none" strike="noStrike" cap="none" smtClean="0">
                <a:solidFill>
                  <a:schemeClr val="dk1"/>
                </a:solidFill>
                <a:latin typeface="Times New Roman"/>
                <a:ea typeface="Times New Roman"/>
                <a:cs typeface="Times New Roman"/>
                <a:sym typeface="Times New Roman"/>
              </a:rPr>
              <a:t>18</a:t>
            </a:fld>
            <a:endParaRPr lang="en-US" sz="1300" b="0" i="0" u="none" strike="noStrike" cap="non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6338234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use of bold to provide structure, concise bullets</a:t>
            </a:r>
          </a:p>
          <a:p>
            <a:r>
              <a:rPr lang="en-US" dirty="0"/>
              <a:t>Bad: too little content, unclear header</a:t>
            </a:r>
          </a:p>
          <a:p>
            <a:endParaRPr lang="en-US" dirty="0"/>
          </a:p>
          <a:p>
            <a:r>
              <a:rPr lang="en-US" dirty="0"/>
              <a:t>This might be great for a presentation, but for a unit assignment slide, it likely has too little content and is unclear</a:t>
            </a:r>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300" b="0" i="0" u="none" strike="noStrike" cap="none" smtClean="0">
                <a:solidFill>
                  <a:schemeClr val="dk1"/>
                </a:solidFill>
                <a:latin typeface="Times New Roman"/>
                <a:ea typeface="Times New Roman"/>
                <a:cs typeface="Times New Roman"/>
                <a:sym typeface="Times New Roman"/>
              </a:rPr>
              <a:t>20</a:t>
            </a:fld>
            <a:endParaRPr lang="en-US" sz="1300" b="0" i="0" u="none" strike="noStrike" cap="non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0110503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clear, brief header with topic sentence, use of bolding, sub-bullets, dividing into 3 sections</a:t>
            </a:r>
          </a:p>
          <a:p>
            <a:r>
              <a:rPr lang="en-US" dirty="0"/>
              <a:t>In the unit assignments, all the citations would have to link to a reference slide!</a:t>
            </a:r>
          </a:p>
          <a:p>
            <a:endParaRPr lang="en-US" dirty="0"/>
          </a:p>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300" b="0" i="0" u="none" strike="noStrike" cap="none" smtClean="0">
                <a:solidFill>
                  <a:schemeClr val="dk1"/>
                </a:solidFill>
                <a:latin typeface="Times New Roman"/>
                <a:ea typeface="Times New Roman"/>
                <a:cs typeface="Times New Roman"/>
                <a:sym typeface="Times New Roman"/>
              </a:rPr>
              <a:t>21</a:t>
            </a:fld>
            <a:endParaRPr lang="en-US" sz="1300" b="0" i="0" u="none" strike="noStrike" cap="non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9458933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marR="0" lvl="0" indent="-228600" algn="l" defTabSz="914400" rtl="0" eaLnBrk="1" fontAlgn="auto" latinLnBrk="0" hangingPunct="1">
              <a:lnSpc>
                <a:spcPct val="100000"/>
              </a:lnSpc>
              <a:spcBef>
                <a:spcPts val="360"/>
              </a:spcBef>
              <a:spcAft>
                <a:spcPts val="0"/>
              </a:spcAft>
              <a:buClr>
                <a:srgbClr val="000000"/>
              </a:buClr>
              <a:buSzPts val="1400"/>
              <a:buFont typeface="Arial"/>
              <a:buNone/>
              <a:tabLst/>
              <a:defRPr/>
            </a:pPr>
            <a:r>
              <a:rPr lang="en-US" dirty="0"/>
              <a:t>Good: clear, brief header with topic sentence, use of bolding, sub-bullets, dividing into 3 sections</a:t>
            </a:r>
          </a:p>
          <a:p>
            <a:r>
              <a:rPr lang="en-US" dirty="0"/>
              <a:t>This is very similar to the prior slide, goal is to show different ways of formatting</a:t>
            </a:r>
          </a:p>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300" b="0" i="0" u="none" strike="noStrike" cap="none" smtClean="0">
                <a:solidFill>
                  <a:schemeClr val="dk1"/>
                </a:solidFill>
                <a:latin typeface="Times New Roman"/>
                <a:ea typeface="Times New Roman"/>
                <a:cs typeface="Times New Roman"/>
                <a:sym typeface="Times New Roman"/>
              </a:rPr>
              <a:t>22</a:t>
            </a:fld>
            <a:endParaRPr lang="en-US" sz="1300" b="0" i="0" u="none" strike="noStrike" cap="non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934955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Bad: long title, bullets are too long &amp; hard to read, title says 3 main ways but there are 5 bullets. Missing citations!</a:t>
            </a:r>
          </a:p>
          <a:p>
            <a:endParaRPr lang="en-US" dirty="0"/>
          </a:p>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300" b="0" i="0" u="none" strike="noStrike" cap="none" smtClean="0">
                <a:solidFill>
                  <a:schemeClr val="dk1"/>
                </a:solidFill>
                <a:latin typeface="Times New Roman"/>
                <a:ea typeface="Times New Roman"/>
                <a:cs typeface="Times New Roman"/>
                <a:sym typeface="Times New Roman"/>
              </a:rPr>
              <a:t>23</a:t>
            </a:fld>
            <a:endParaRPr lang="en-US" sz="1300" b="0" i="0" u="none" strike="noStrike" cap="non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14780853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300" b="0" i="0" u="none" strike="noStrike" cap="none" smtClean="0">
                <a:solidFill>
                  <a:schemeClr val="dk1"/>
                </a:solidFill>
                <a:latin typeface="Times New Roman"/>
                <a:ea typeface="Times New Roman"/>
                <a:cs typeface="Times New Roman"/>
                <a:sym typeface="Times New Roman"/>
              </a:rPr>
              <a:t>24</a:t>
            </a:fld>
            <a:endParaRPr lang="en-US" sz="1300" b="0" i="0" u="none" strike="noStrike" cap="non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83418575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12pm section</a:t>
            </a:r>
          </a:p>
          <a:p>
            <a:r>
              <a:rPr lang="en-US" dirty="0"/>
              <a:t>Get contact info for your groups</a:t>
            </a:r>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300" b="0" i="0" u="none" strike="noStrike" cap="none" smtClean="0">
                <a:solidFill>
                  <a:schemeClr val="dk1"/>
                </a:solidFill>
                <a:latin typeface="Times New Roman"/>
                <a:ea typeface="Times New Roman"/>
                <a:cs typeface="Times New Roman"/>
                <a:sym typeface="Times New Roman"/>
              </a:rPr>
              <a:t>27</a:t>
            </a:fld>
            <a:endParaRPr lang="en-US" sz="1300" b="0" i="0" u="none" strike="noStrike" cap="non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64434246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marR="0" lvl="0" indent="-228600" algn="l" defTabSz="914400" rtl="0" eaLnBrk="1" fontAlgn="auto" latinLnBrk="0" hangingPunct="1">
              <a:lnSpc>
                <a:spcPct val="100000"/>
              </a:lnSpc>
              <a:spcBef>
                <a:spcPts val="360"/>
              </a:spcBef>
              <a:spcAft>
                <a:spcPts val="0"/>
              </a:spcAft>
              <a:buClr>
                <a:srgbClr val="000000"/>
              </a:buClr>
              <a:buSzPts val="1400"/>
              <a:buFont typeface="Arial"/>
              <a:buNone/>
              <a:tabLst/>
              <a:defRPr/>
            </a:pPr>
            <a:r>
              <a:rPr lang="en-US" dirty="0"/>
              <a:t>1:30pm section</a:t>
            </a:r>
          </a:p>
          <a:p>
            <a:pPr marL="457200" marR="0" lvl="0" indent="-228600" algn="l" defTabSz="914400" rtl="0" eaLnBrk="1" fontAlgn="auto" latinLnBrk="0" hangingPunct="1">
              <a:lnSpc>
                <a:spcPct val="100000"/>
              </a:lnSpc>
              <a:spcBef>
                <a:spcPts val="360"/>
              </a:spcBef>
              <a:spcAft>
                <a:spcPts val="0"/>
              </a:spcAft>
              <a:buClr>
                <a:srgbClr val="000000"/>
              </a:buClr>
              <a:buSzPts val="1400"/>
              <a:buFont typeface="Arial"/>
              <a:buNone/>
              <a:tabLst/>
              <a:defRPr/>
            </a:pPr>
            <a:r>
              <a:rPr lang="en-US" dirty="0"/>
              <a:t>Get contact info for your groups</a:t>
            </a:r>
          </a:p>
          <a:p>
            <a:endParaRPr lang="en-US" dirty="0"/>
          </a:p>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300" b="0" i="0" u="none" strike="noStrike" cap="none" smtClean="0">
                <a:solidFill>
                  <a:schemeClr val="dk1"/>
                </a:solidFill>
                <a:latin typeface="Times New Roman"/>
                <a:ea typeface="Times New Roman"/>
                <a:cs typeface="Times New Roman"/>
                <a:sym typeface="Times New Roman"/>
              </a:rPr>
              <a:t>28</a:t>
            </a:fld>
            <a:endParaRPr lang="en-US" sz="1300" b="0" i="0" u="none" strike="noStrike" cap="non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2612588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3:notes"/>
          <p:cNvSpPr txBox="1">
            <a:spLocks noGrp="1"/>
          </p:cNvSpPr>
          <p:nvPr>
            <p:ph type="body" idx="1"/>
          </p:nvPr>
        </p:nvSpPr>
        <p:spPr>
          <a:xfrm>
            <a:off x="974831" y="4560571"/>
            <a:ext cx="5365540" cy="4320540"/>
          </a:xfrm>
          <a:prstGeom prst="rect">
            <a:avLst/>
          </a:prstGeom>
        </p:spPr>
        <p:txBody>
          <a:bodyPr spcFirstLastPara="1" wrap="square" lIns="96650" tIns="48325" rIns="96650" bIns="48325" anchor="t" anchorCtr="0">
            <a:noAutofit/>
          </a:bodyPr>
          <a:lstStyle/>
          <a:p>
            <a:pPr marL="0" lvl="0" indent="0" algn="l" rtl="0">
              <a:spcBef>
                <a:spcPts val="360"/>
              </a:spcBef>
              <a:spcAft>
                <a:spcPts val="0"/>
              </a:spcAft>
              <a:buNone/>
            </a:pPr>
            <a:endParaRPr/>
          </a:p>
        </p:txBody>
      </p:sp>
      <p:sp>
        <p:nvSpPr>
          <p:cNvPr id="118" name="Google Shape;118;p3: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9248261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3:notes"/>
          <p:cNvSpPr txBox="1">
            <a:spLocks noGrp="1"/>
          </p:cNvSpPr>
          <p:nvPr>
            <p:ph type="body" idx="1"/>
          </p:nvPr>
        </p:nvSpPr>
        <p:spPr>
          <a:xfrm>
            <a:off x="974831" y="4560571"/>
            <a:ext cx="5365540" cy="4320540"/>
          </a:xfrm>
          <a:prstGeom prst="rect">
            <a:avLst/>
          </a:prstGeom>
        </p:spPr>
        <p:txBody>
          <a:bodyPr spcFirstLastPara="1" wrap="square" lIns="96650" tIns="48325" rIns="96650" bIns="48325" anchor="t" anchorCtr="0">
            <a:noAutofit/>
          </a:bodyPr>
          <a:lstStyle/>
          <a:p>
            <a:pPr marL="0" lvl="0" indent="0" algn="l" rtl="0">
              <a:spcBef>
                <a:spcPts val="360"/>
              </a:spcBef>
              <a:spcAft>
                <a:spcPts val="0"/>
              </a:spcAft>
              <a:buNone/>
            </a:pPr>
            <a:endParaRPr/>
          </a:p>
        </p:txBody>
      </p:sp>
      <p:sp>
        <p:nvSpPr>
          <p:cNvPr id="118" name="Google Shape;118;p3: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903370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algn="ctr"/>
            <a:fld id="{00000000-1234-1234-1234-123412341234}" type="slidenum">
              <a:rPr lang="en-US" smtClean="0"/>
              <a:pPr algn="ctr"/>
              <a:t>‹#›</a:t>
            </a:fld>
            <a:endParaRPr lang="en-US"/>
          </a:p>
        </p:txBody>
      </p:sp>
    </p:spTree>
    <p:extLst>
      <p:ext uri="{BB962C8B-B14F-4D97-AF65-F5344CB8AC3E}">
        <p14:creationId xmlns:p14="http://schemas.microsoft.com/office/powerpoint/2010/main" val="41487871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000000-1234-1234-1234-123412341234}" type="slidenum">
              <a:rPr lang="en-US" smtClean="0"/>
              <a:pPr/>
              <a:t>‹#›</a:t>
            </a:fld>
            <a:endParaRPr lang="en-US"/>
          </a:p>
        </p:txBody>
      </p:sp>
    </p:spTree>
    <p:extLst>
      <p:ext uri="{BB962C8B-B14F-4D97-AF65-F5344CB8AC3E}">
        <p14:creationId xmlns:p14="http://schemas.microsoft.com/office/powerpoint/2010/main" val="24616558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000000-1234-1234-1234-123412341234}" type="slidenum">
              <a:rPr lang="en-US" smtClean="0"/>
              <a:pPr/>
              <a:t>‹#›</a:t>
            </a:fld>
            <a:endParaRPr lang="en-US"/>
          </a:p>
        </p:txBody>
      </p:sp>
    </p:spTree>
    <p:extLst>
      <p:ext uri="{BB962C8B-B14F-4D97-AF65-F5344CB8AC3E}">
        <p14:creationId xmlns:p14="http://schemas.microsoft.com/office/powerpoint/2010/main" val="26224231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000000-1234-1234-1234-123412341234}" type="slidenum">
              <a:rPr lang="en-US" smtClean="0"/>
              <a:pPr/>
              <a:t>‹#›</a:t>
            </a:fld>
            <a:endParaRPr lang="en-US"/>
          </a:p>
        </p:txBody>
      </p:sp>
    </p:spTree>
    <p:extLst>
      <p:ext uri="{BB962C8B-B14F-4D97-AF65-F5344CB8AC3E}">
        <p14:creationId xmlns:p14="http://schemas.microsoft.com/office/powerpoint/2010/main" val="1215118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0000000-1234-1234-1234-123412341234}" type="slidenum">
              <a:rPr lang="en-US" smtClean="0"/>
              <a:pPr/>
              <a:t>‹#›</a:t>
            </a:fld>
            <a:endParaRPr lang="en-US"/>
          </a:p>
        </p:txBody>
      </p:sp>
    </p:spTree>
    <p:extLst>
      <p:ext uri="{BB962C8B-B14F-4D97-AF65-F5344CB8AC3E}">
        <p14:creationId xmlns:p14="http://schemas.microsoft.com/office/powerpoint/2010/main" val="13836307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0000000-1234-1234-1234-123412341234}" type="slidenum">
              <a:rPr lang="en-US" smtClean="0"/>
              <a:pPr/>
              <a:t>‹#›</a:t>
            </a:fld>
            <a:endParaRPr lang="en-US"/>
          </a:p>
        </p:txBody>
      </p:sp>
    </p:spTree>
    <p:extLst>
      <p:ext uri="{BB962C8B-B14F-4D97-AF65-F5344CB8AC3E}">
        <p14:creationId xmlns:p14="http://schemas.microsoft.com/office/powerpoint/2010/main" val="29161706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0000000-1234-1234-1234-123412341234}" type="slidenum">
              <a:rPr lang="en-US" smtClean="0"/>
              <a:pPr/>
              <a:t>‹#›</a:t>
            </a:fld>
            <a:endParaRPr lang="en-US"/>
          </a:p>
        </p:txBody>
      </p:sp>
    </p:spTree>
    <p:extLst>
      <p:ext uri="{BB962C8B-B14F-4D97-AF65-F5344CB8AC3E}">
        <p14:creationId xmlns:p14="http://schemas.microsoft.com/office/powerpoint/2010/main" val="7246720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000000-1234-1234-1234-123412341234}" type="slidenum">
              <a:rPr lang="en-US" smtClean="0"/>
              <a:pPr/>
              <a:t>‹#›</a:t>
            </a:fld>
            <a:endParaRPr lang="en-US"/>
          </a:p>
        </p:txBody>
      </p:sp>
    </p:spTree>
    <p:extLst>
      <p:ext uri="{BB962C8B-B14F-4D97-AF65-F5344CB8AC3E}">
        <p14:creationId xmlns:p14="http://schemas.microsoft.com/office/powerpoint/2010/main" val="28136391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000000-1234-1234-1234-123412341234}" type="slidenum">
              <a:rPr lang="en-US" smtClean="0"/>
              <a:pPr/>
              <a:t>‹#›</a:t>
            </a:fld>
            <a:endParaRPr lang="en-US"/>
          </a:p>
        </p:txBody>
      </p:sp>
    </p:spTree>
    <p:extLst>
      <p:ext uri="{BB962C8B-B14F-4D97-AF65-F5344CB8AC3E}">
        <p14:creationId xmlns:p14="http://schemas.microsoft.com/office/powerpoint/2010/main" val="72991303"/>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000000-1234-1234-1234-123412341234}" type="slidenum">
              <a:rPr lang="en-US" smtClean="0"/>
              <a:pPr/>
              <a:t>‹#›</a:t>
            </a:fld>
            <a:endParaRPr lang="en-US"/>
          </a:p>
        </p:txBody>
      </p:sp>
    </p:spTree>
    <p:extLst>
      <p:ext uri="{BB962C8B-B14F-4D97-AF65-F5344CB8AC3E}">
        <p14:creationId xmlns:p14="http://schemas.microsoft.com/office/powerpoint/2010/main" val="18792155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000000-1234-1234-1234-123412341234}" type="slidenum">
              <a:rPr lang="en-US" smtClean="0"/>
              <a:pPr/>
              <a:t>‹#›</a:t>
            </a:fld>
            <a:endParaRPr lang="en-US"/>
          </a:p>
        </p:txBody>
      </p:sp>
    </p:spTree>
    <p:extLst>
      <p:ext uri="{BB962C8B-B14F-4D97-AF65-F5344CB8AC3E}">
        <p14:creationId xmlns:p14="http://schemas.microsoft.com/office/powerpoint/2010/main" val="17770031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Arial" panose="020B0604020202020204" pitchFamily="34" charset="0"/>
                <a:cs typeface="Arial" panose="020B0604020202020204" pitchFamily="34" charset="0"/>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Arial" panose="020B0604020202020204" pitchFamily="34" charset="0"/>
                <a:cs typeface="Arial" panose="020B0604020202020204" pitchFamily="34" charset="0"/>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Arial" panose="020B0604020202020204" pitchFamily="34" charset="0"/>
                <a:cs typeface="Arial" panose="020B0604020202020204" pitchFamily="34" charset="0"/>
              </a:defRPr>
            </a:lvl1pPr>
          </a:lstStyle>
          <a:p>
            <a:fld id="{00000000-1234-1234-1234-123412341234}" type="slidenum">
              <a:rPr lang="en-US" smtClean="0"/>
              <a:pPr/>
              <a:t>‹#›</a:t>
            </a:fld>
            <a:endParaRPr lang="en-US"/>
          </a:p>
        </p:txBody>
      </p:sp>
    </p:spTree>
    <p:extLst>
      <p:ext uri="{BB962C8B-B14F-4D97-AF65-F5344CB8AC3E}">
        <p14:creationId xmlns:p14="http://schemas.microsoft.com/office/powerpoint/2010/main" val="15644192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l" defTabSz="914400" rtl="0" eaLnBrk="1" latinLnBrk="0" hangingPunct="1">
        <a:lnSpc>
          <a:spcPct val="90000"/>
        </a:lnSpc>
        <a:spcBef>
          <a:spcPct val="0"/>
        </a:spcBef>
        <a:buNone/>
        <a:defRPr sz="3600" b="1" kern="1200">
          <a:solidFill>
            <a:schemeClr val="tx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100000"/>
        </a:lnSpc>
        <a:spcBef>
          <a:spcPts val="1200"/>
        </a:spcBef>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1200"/>
        </a:spcBef>
        <a:buFont typeface="System Font Regular"/>
        <a:buChar char="−"/>
        <a:defRPr sz="1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hyperlink" Target="https://www.hiv.gov/federal-response/ending-the-hiv-epidemic/key-strategies" TargetMode="External"/><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5493"/>
                </a:solidFill>
              </a:rPr>
              <a:t>GENED 1079 Section 2</a:t>
            </a:r>
            <a:br>
              <a:rPr lang="en-US" b="1" dirty="0">
                <a:solidFill>
                  <a:srgbClr val="005493"/>
                </a:solidFill>
              </a:rPr>
            </a:br>
            <a:endParaRPr lang="en-US" b="1" dirty="0">
              <a:solidFill>
                <a:srgbClr val="005493"/>
              </a:solidFill>
            </a:endParaRPr>
          </a:p>
        </p:txBody>
      </p:sp>
      <p:sp>
        <p:nvSpPr>
          <p:cNvPr id="4" name="Slide Number Placeholder 3"/>
          <p:cNvSpPr>
            <a:spLocks noGrp="1"/>
          </p:cNvSpPr>
          <p:nvPr>
            <p:ph type="sldNum" sz="quarter" idx="12"/>
          </p:nvPr>
        </p:nvSpPr>
        <p:spPr/>
        <p:txBody>
          <a:bodyPr/>
          <a:lstStyle/>
          <a:p>
            <a:fld id="{171A6C5B-A11A-470F-8319-62E6F3F410BC}" type="slidenum">
              <a:rPr lang="en-US" smtClean="0"/>
              <a:pPr/>
              <a:t>1</a:t>
            </a:fld>
            <a:endParaRPr lang="en-US"/>
          </a:p>
        </p:txBody>
      </p:sp>
      <p:sp>
        <p:nvSpPr>
          <p:cNvPr id="10" name="Content Placeholder 2">
            <a:extLst>
              <a:ext uri="{FF2B5EF4-FFF2-40B4-BE49-F238E27FC236}">
                <a16:creationId xmlns:a16="http://schemas.microsoft.com/office/drawing/2014/main" id="{42E945AD-D3B0-4AFA-8BEC-A03664B236FD}"/>
              </a:ext>
            </a:extLst>
          </p:cNvPr>
          <p:cNvSpPr txBox="1">
            <a:spLocks/>
          </p:cNvSpPr>
          <p:nvPr/>
        </p:nvSpPr>
        <p:spPr>
          <a:xfrm>
            <a:off x="8382000" y="1676401"/>
            <a:ext cx="1828800" cy="4373563"/>
          </a:xfrm>
          <a:prstGeom prst="rect">
            <a:avLst/>
          </a:prstGeom>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400" kern="1200">
                <a:solidFill>
                  <a:schemeClr val="tx2"/>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2"/>
                </a:solidFill>
                <a:latin typeface="+mn-lt"/>
                <a:ea typeface="+mn-ea"/>
                <a:cs typeface="+mn-cs"/>
              </a:defRPr>
            </a:lvl2pPr>
            <a:lvl3pPr marL="914400" indent="-228600" algn="l" defTabSz="914400" rtl="0" eaLnBrk="1" latinLnBrk="0" hangingPunct="1">
              <a:spcBef>
                <a:spcPct val="20000"/>
              </a:spcBef>
              <a:buClr>
                <a:schemeClr val="accent3"/>
              </a:buClr>
              <a:buFont typeface="Arial" pitchFamily="34" charset="0"/>
              <a:buChar char="•"/>
              <a:defRPr sz="1800" kern="1200">
                <a:solidFill>
                  <a:schemeClr val="tx2"/>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2"/>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600" kern="1200" baseline="0">
                <a:solidFill>
                  <a:schemeClr val="tx2"/>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a:solidFill>
                  <a:schemeClr val="tx2"/>
                </a:solidFill>
                <a:latin typeface="+mn-lt"/>
                <a:ea typeface="+mn-ea"/>
                <a:cs typeface="+mn-cs"/>
              </a:defRPr>
            </a:lvl6pPr>
            <a:lvl7pPr marL="2011680" indent="-182880" algn="l" defTabSz="914400" rtl="0" eaLnBrk="1" latinLnBrk="0" hangingPunct="1">
              <a:spcBef>
                <a:spcPct val="20000"/>
              </a:spcBef>
              <a:buClr>
                <a:schemeClr val="accent2"/>
              </a:buClr>
              <a:buFont typeface="Arial" pitchFamily="34" charset="0"/>
              <a:buChar char="•"/>
              <a:defRPr sz="1400" kern="1200">
                <a:solidFill>
                  <a:schemeClr val="tx2"/>
                </a:solidFill>
                <a:latin typeface="+mn-lt"/>
                <a:ea typeface="+mn-ea"/>
                <a:cs typeface="+mn-cs"/>
              </a:defRPr>
            </a:lvl7pPr>
            <a:lvl8pPr marL="2194560" indent="-182880" algn="l" defTabSz="914400" rtl="0" eaLnBrk="1" latinLnBrk="0" hangingPunct="1">
              <a:spcBef>
                <a:spcPct val="20000"/>
              </a:spcBef>
              <a:buClr>
                <a:schemeClr val="accent3"/>
              </a:buClr>
              <a:buFont typeface="Arial" pitchFamily="34" charset="0"/>
              <a:buChar char="•"/>
              <a:defRPr sz="1400" kern="1200">
                <a:solidFill>
                  <a:schemeClr val="tx2"/>
                </a:solidFill>
                <a:latin typeface="+mn-lt"/>
                <a:ea typeface="+mn-ea"/>
                <a:cs typeface="+mn-cs"/>
              </a:defRPr>
            </a:lvl8pPr>
            <a:lvl9pPr marL="2377440" indent="-182880" algn="l" defTabSz="914400" rtl="0" eaLnBrk="1" latinLnBrk="0" hangingPunct="1">
              <a:spcBef>
                <a:spcPct val="20000"/>
              </a:spcBef>
              <a:buClr>
                <a:schemeClr val="accent4"/>
              </a:buClr>
              <a:buFont typeface="Arial" pitchFamily="34" charset="0"/>
              <a:buChar char="•"/>
              <a:defRPr sz="1400" kern="1200">
                <a:solidFill>
                  <a:schemeClr val="tx2"/>
                </a:solidFill>
                <a:latin typeface="+mn-lt"/>
                <a:ea typeface="+mn-ea"/>
                <a:cs typeface="+mn-cs"/>
              </a:defRPr>
            </a:lvl9pPr>
          </a:lstStyle>
          <a:p>
            <a:pPr fontAlgn="auto">
              <a:spcAft>
                <a:spcPts val="0"/>
              </a:spcAft>
            </a:pPr>
            <a:endParaRPr lang="en-US" dirty="0"/>
          </a:p>
        </p:txBody>
      </p:sp>
    </p:spTree>
    <p:extLst>
      <p:ext uri="{BB962C8B-B14F-4D97-AF65-F5344CB8AC3E}">
        <p14:creationId xmlns:p14="http://schemas.microsoft.com/office/powerpoint/2010/main" val="14642092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p24"/>
          <p:cNvSpPr txBox="1">
            <a:spLocks noGrp="1"/>
          </p:cNvSpPr>
          <p:nvPr>
            <p:ph type="title"/>
          </p:nvPr>
        </p:nvSpPr>
        <p:spPr/>
        <p:txBody>
          <a:bodyPr>
            <a:normAutofit/>
          </a:bodyPr>
          <a:lstStyle/>
          <a:p>
            <a:r>
              <a:rPr lang="en-US" sz="4000" dirty="0">
                <a:solidFill>
                  <a:srgbClr val="005493"/>
                </a:solidFill>
              </a:rPr>
              <a:t>Upcoming / Reminders</a:t>
            </a:r>
          </a:p>
        </p:txBody>
      </p:sp>
      <p:sp>
        <p:nvSpPr>
          <p:cNvPr id="4" name="Content Placeholder 3">
            <a:extLst>
              <a:ext uri="{FF2B5EF4-FFF2-40B4-BE49-F238E27FC236}">
                <a16:creationId xmlns:a16="http://schemas.microsoft.com/office/drawing/2014/main" id="{0CCDE234-F88C-27ED-56A1-A5B27A7F1E54}"/>
              </a:ext>
            </a:extLst>
          </p:cNvPr>
          <p:cNvSpPr>
            <a:spLocks noGrp="1"/>
          </p:cNvSpPr>
          <p:nvPr>
            <p:ph idx="1"/>
          </p:nvPr>
        </p:nvSpPr>
        <p:spPr/>
        <p:txBody>
          <a:bodyPr vert="horz" lIns="91440" tIns="45720" rIns="91440" bIns="45720" rtlCol="0" anchor="t">
            <a:normAutofit/>
          </a:bodyPr>
          <a:lstStyle/>
          <a:p>
            <a:pPr>
              <a:buClr>
                <a:schemeClr val="dk1"/>
              </a:buClr>
              <a:buSzPts val="1800"/>
            </a:pPr>
            <a:r>
              <a:rPr lang="en-US" sz="2000" dirty="0">
                <a:solidFill>
                  <a:schemeClr val="dk1"/>
                </a:solidFill>
                <a:latin typeface="Arial"/>
                <a:ea typeface="Century Gothic"/>
                <a:cs typeface="Arial"/>
                <a:sym typeface="Century Gothic"/>
              </a:rPr>
              <a:t>Janice’s office hour: TODAY 6-7pm @ Sever 104</a:t>
            </a:r>
          </a:p>
          <a:p>
            <a:pPr>
              <a:buClr>
                <a:schemeClr val="dk1"/>
              </a:buClr>
              <a:buSzPts val="1800"/>
            </a:pPr>
            <a:r>
              <a:rPr lang="en-US" sz="2000" dirty="0">
                <a:solidFill>
                  <a:schemeClr val="dk1"/>
                </a:solidFill>
                <a:latin typeface="Arial"/>
                <a:ea typeface="Century Gothic"/>
                <a:cs typeface="Arial"/>
                <a:sym typeface="Century Gothic"/>
              </a:rPr>
              <a:t>Problem set working space:</a:t>
            </a:r>
          </a:p>
          <a:p>
            <a:pPr lvl="1">
              <a:buClr>
                <a:schemeClr val="dk1"/>
              </a:buClr>
              <a:buSzPts val="1800"/>
            </a:pPr>
            <a:r>
              <a:rPr lang="en-US" sz="1800" dirty="0">
                <a:solidFill>
                  <a:schemeClr val="dk1"/>
                </a:solidFill>
                <a:latin typeface="Arial"/>
                <a:ea typeface="Century Gothic"/>
                <a:cs typeface="Arial"/>
                <a:sym typeface="Century Gothic"/>
              </a:rPr>
              <a:t>Sunday, Sept 20 at 10:00-11:00AM in Lamont Library 230</a:t>
            </a:r>
          </a:p>
          <a:p>
            <a:pPr lvl="1">
              <a:buClr>
                <a:schemeClr val="dk1"/>
              </a:buClr>
              <a:buSzPts val="1800"/>
            </a:pPr>
            <a:r>
              <a:rPr lang="en-US" sz="1800" dirty="0">
                <a:solidFill>
                  <a:schemeClr val="dk1"/>
                </a:solidFill>
                <a:latin typeface="Arial"/>
                <a:ea typeface="Century Gothic"/>
                <a:cs typeface="Arial"/>
                <a:sym typeface="Century Gothic"/>
              </a:rPr>
              <a:t>Sunday, Sept 20 at 7:00-8:00PM in Lamont Library 230 &amp; 240</a:t>
            </a:r>
          </a:p>
          <a:p>
            <a:pPr>
              <a:buClr>
                <a:schemeClr val="dk1"/>
              </a:buClr>
              <a:buSzPts val="1800"/>
            </a:pPr>
            <a:r>
              <a:rPr lang="en-US" sz="2000" dirty="0">
                <a:solidFill>
                  <a:schemeClr val="dk1"/>
                </a:solidFill>
                <a:latin typeface="Arial"/>
                <a:ea typeface="Century Gothic"/>
                <a:cs typeface="Arial"/>
                <a:sym typeface="Century Gothic"/>
              </a:rPr>
              <a:t>Problem Set 1: due Monday, Sept 21 at 5:00pm on Canvas</a:t>
            </a:r>
          </a:p>
          <a:p>
            <a:pPr>
              <a:buClr>
                <a:schemeClr val="dk1"/>
              </a:buClr>
              <a:buSzPts val="1800"/>
            </a:pPr>
            <a:r>
              <a:rPr lang="en-US" sz="2000" dirty="0">
                <a:solidFill>
                  <a:schemeClr val="dk1"/>
                </a:solidFill>
                <a:latin typeface="Arial"/>
                <a:ea typeface="Century Gothic"/>
                <a:cs typeface="Arial"/>
                <a:sym typeface="Century Gothic"/>
              </a:rPr>
              <a:t>Unit Assignment 1: due Sept 25 (Friday) at 5pm ET on Canvas </a:t>
            </a:r>
          </a:p>
          <a:p>
            <a:pPr>
              <a:buClr>
                <a:schemeClr val="dk1"/>
              </a:buClr>
              <a:buSzPts val="1800"/>
            </a:pPr>
            <a:endParaRPr lang="en-US" sz="2000" dirty="0">
              <a:solidFill>
                <a:schemeClr val="dk1"/>
              </a:solidFill>
              <a:latin typeface="Arial"/>
              <a:ea typeface="Century Gothic"/>
              <a:cs typeface="Arial"/>
              <a:sym typeface="Century Gothic"/>
            </a:endParaRPr>
          </a:p>
        </p:txBody>
      </p:sp>
      <p:sp>
        <p:nvSpPr>
          <p:cNvPr id="218" name="Google Shape;218;p24"/>
          <p:cNvSpPr txBox="1">
            <a:spLocks noGrp="1"/>
          </p:cNvSpPr>
          <p:nvPr>
            <p:ph type="sldNum" sz="quarter" idx="12"/>
          </p:nvPr>
        </p:nvSpPr>
        <p:spPr/>
        <p:txBody>
          <a:bodyPr/>
          <a:lstStyle/>
          <a:p>
            <a:fld id="{00000000-1234-1234-1234-123412341234}" type="slidenum">
              <a:rPr lang="en-US"/>
              <a:pPr/>
              <a:t>2</a:t>
            </a:fld>
            <a:endParaRPr lang="en-US"/>
          </a:p>
        </p:txBody>
      </p:sp>
      <p:sp>
        <p:nvSpPr>
          <p:cNvPr id="219" name="Google Shape;219;p24"/>
          <p:cNvSpPr txBox="1"/>
          <p:nvPr/>
        </p:nvSpPr>
        <p:spPr>
          <a:xfrm>
            <a:off x="9998676" y="1528120"/>
            <a:ext cx="1828800" cy="4373563"/>
          </a:xfrm>
          <a:prstGeom prst="rect">
            <a:avLst/>
          </a:prstGeom>
          <a:noFill/>
          <a:ln>
            <a:noFill/>
          </a:ln>
        </p:spPr>
        <p:txBody>
          <a:bodyPr spcFirstLastPara="1" wrap="square" lIns="91425" tIns="45700" rIns="91425" bIns="45700" anchor="t" anchorCtr="0">
            <a:noAutofit/>
          </a:bodyPr>
          <a:lstStyle/>
          <a:p>
            <a:pPr marL="342900" indent="-76200">
              <a:buClr>
                <a:schemeClr val="accent1"/>
              </a:buClr>
              <a:buSzPts val="2400"/>
            </a:pPr>
            <a:endParaRPr sz="2400">
              <a:solidFill>
                <a:schemeClr val="dk2"/>
              </a:solidFill>
              <a:latin typeface="Century Gothic"/>
              <a:ea typeface="Century Gothic"/>
              <a:cs typeface="Century Gothic"/>
              <a:sym typeface="Century Gothic"/>
            </a:endParaRPr>
          </a:p>
        </p:txBody>
      </p:sp>
      <p:sp>
        <p:nvSpPr>
          <p:cNvPr id="2" name="TextBox 1">
            <a:extLst>
              <a:ext uri="{FF2B5EF4-FFF2-40B4-BE49-F238E27FC236}">
                <a16:creationId xmlns:a16="http://schemas.microsoft.com/office/drawing/2014/main" id="{5B263105-6C38-1AA6-DAEB-106F955EEDC4}"/>
              </a:ext>
            </a:extLst>
          </p:cNvPr>
          <p:cNvSpPr txBox="1"/>
          <p:nvPr/>
        </p:nvSpPr>
        <p:spPr>
          <a:xfrm>
            <a:off x="9761838" y="3830595"/>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36371456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D1F0CC-841C-EEE2-F202-3811A1EFB1BF}"/>
              </a:ext>
            </a:extLst>
          </p:cNvPr>
          <p:cNvSpPr>
            <a:spLocks noGrp="1"/>
          </p:cNvSpPr>
          <p:nvPr>
            <p:ph type="title"/>
          </p:nvPr>
        </p:nvSpPr>
        <p:spPr/>
        <p:txBody>
          <a:bodyPr>
            <a:normAutofit/>
          </a:bodyPr>
          <a:lstStyle/>
          <a:p>
            <a:r>
              <a:rPr lang="en-US" sz="4000" dirty="0">
                <a:solidFill>
                  <a:srgbClr val="005493"/>
                </a:solidFill>
              </a:rPr>
              <a:t>Agenda</a:t>
            </a:r>
          </a:p>
        </p:txBody>
      </p:sp>
      <p:sp>
        <p:nvSpPr>
          <p:cNvPr id="4" name="Slide Number Placeholder 3">
            <a:extLst>
              <a:ext uri="{FF2B5EF4-FFF2-40B4-BE49-F238E27FC236}">
                <a16:creationId xmlns:a16="http://schemas.microsoft.com/office/drawing/2014/main" id="{80453C9E-8253-283D-5FB4-67FC13E4A314}"/>
              </a:ext>
            </a:extLst>
          </p:cNvPr>
          <p:cNvSpPr>
            <a:spLocks noGrp="1"/>
          </p:cNvSpPr>
          <p:nvPr>
            <p:ph type="sldNum" sz="quarter" idx="12"/>
          </p:nvPr>
        </p:nvSpPr>
        <p:spPr/>
        <p:txBody>
          <a:bodyPr/>
          <a:lstStyle/>
          <a:p>
            <a:fld id="{171A6C5B-A11A-470F-8319-62E6F3F410BC}" type="slidenum">
              <a:rPr lang="en-US" smtClean="0"/>
              <a:pPr/>
              <a:t>3</a:t>
            </a:fld>
            <a:endParaRPr lang="en-US"/>
          </a:p>
        </p:txBody>
      </p:sp>
      <p:sp>
        <p:nvSpPr>
          <p:cNvPr id="3" name="Content Placeholder 2">
            <a:extLst>
              <a:ext uri="{FF2B5EF4-FFF2-40B4-BE49-F238E27FC236}">
                <a16:creationId xmlns:a16="http://schemas.microsoft.com/office/drawing/2014/main" id="{08439984-9AC1-4E8C-19B6-CFD23F10E1D7}"/>
              </a:ext>
            </a:extLst>
          </p:cNvPr>
          <p:cNvSpPr>
            <a:spLocks noGrp="1"/>
          </p:cNvSpPr>
          <p:nvPr>
            <p:ph idx="4294967295"/>
          </p:nvPr>
        </p:nvSpPr>
        <p:spPr>
          <a:xfrm>
            <a:off x="838200" y="1690688"/>
            <a:ext cx="10515600" cy="4119563"/>
          </a:xfrm>
        </p:spPr>
        <p:txBody>
          <a:bodyPr>
            <a:normAutofit/>
          </a:bodyPr>
          <a:lstStyle/>
          <a:p>
            <a:pPr marL="0" indent="0">
              <a:lnSpc>
                <a:spcPct val="100000"/>
              </a:lnSpc>
              <a:spcBef>
                <a:spcPts val="2200"/>
              </a:spcBef>
              <a:buNone/>
            </a:pPr>
            <a:r>
              <a:rPr lang="en-US" sz="2400" dirty="0"/>
              <a:t>Review SIR Model</a:t>
            </a:r>
          </a:p>
          <a:p>
            <a:pPr marL="0" indent="0">
              <a:lnSpc>
                <a:spcPct val="100000"/>
              </a:lnSpc>
              <a:spcBef>
                <a:spcPts val="2200"/>
              </a:spcBef>
              <a:buNone/>
            </a:pPr>
            <a:r>
              <a:rPr lang="en-US" sz="2400" dirty="0"/>
              <a:t>Infectious diseases around the world </a:t>
            </a:r>
          </a:p>
          <a:p>
            <a:pPr marL="0" indent="0">
              <a:lnSpc>
                <a:spcPct val="100000"/>
              </a:lnSpc>
              <a:spcBef>
                <a:spcPts val="2200"/>
              </a:spcBef>
              <a:buNone/>
            </a:pPr>
            <a:r>
              <a:rPr lang="en-US" sz="2400" dirty="0">
                <a:latin typeface="Arial"/>
                <a:cs typeface="Arial"/>
              </a:rPr>
              <a:t>Unit assignment: What makes a good slide? </a:t>
            </a:r>
          </a:p>
          <a:p>
            <a:pPr marL="0" indent="0">
              <a:lnSpc>
                <a:spcPct val="100000"/>
              </a:lnSpc>
              <a:spcBef>
                <a:spcPts val="2200"/>
              </a:spcBef>
              <a:buNone/>
            </a:pPr>
            <a:r>
              <a:rPr lang="en-US" sz="2400" dirty="0"/>
              <a:t>Brainstorm and present domestic HIV/AIDS policy proposals</a:t>
            </a:r>
            <a:endParaRPr lang="en-US" sz="2400" b="1" dirty="0"/>
          </a:p>
          <a:p>
            <a:pPr marL="0" indent="0">
              <a:lnSpc>
                <a:spcPct val="100000"/>
              </a:lnSpc>
              <a:spcBef>
                <a:spcPts val="2200"/>
              </a:spcBef>
              <a:buNone/>
            </a:pPr>
            <a:endParaRPr lang="en-US" sz="2400" dirty="0"/>
          </a:p>
        </p:txBody>
      </p:sp>
    </p:spTree>
    <p:extLst>
      <p:ext uri="{BB962C8B-B14F-4D97-AF65-F5344CB8AC3E}">
        <p14:creationId xmlns:p14="http://schemas.microsoft.com/office/powerpoint/2010/main" val="15170373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D1F0CC-841C-EEE2-F202-3811A1EFB1BF}"/>
              </a:ext>
            </a:extLst>
          </p:cNvPr>
          <p:cNvSpPr>
            <a:spLocks noGrp="1"/>
          </p:cNvSpPr>
          <p:nvPr>
            <p:ph type="title"/>
          </p:nvPr>
        </p:nvSpPr>
        <p:spPr/>
        <p:txBody>
          <a:bodyPr>
            <a:normAutofit/>
          </a:bodyPr>
          <a:lstStyle/>
          <a:p>
            <a:r>
              <a:rPr lang="en-US" sz="4000" dirty="0">
                <a:solidFill>
                  <a:srgbClr val="005493"/>
                </a:solidFill>
              </a:rPr>
              <a:t>Agenda</a:t>
            </a:r>
          </a:p>
        </p:txBody>
      </p:sp>
      <p:sp>
        <p:nvSpPr>
          <p:cNvPr id="4" name="Slide Number Placeholder 3">
            <a:extLst>
              <a:ext uri="{FF2B5EF4-FFF2-40B4-BE49-F238E27FC236}">
                <a16:creationId xmlns:a16="http://schemas.microsoft.com/office/drawing/2014/main" id="{80453C9E-8253-283D-5FB4-67FC13E4A314}"/>
              </a:ext>
            </a:extLst>
          </p:cNvPr>
          <p:cNvSpPr>
            <a:spLocks noGrp="1"/>
          </p:cNvSpPr>
          <p:nvPr>
            <p:ph type="sldNum" sz="quarter" idx="12"/>
          </p:nvPr>
        </p:nvSpPr>
        <p:spPr/>
        <p:txBody>
          <a:bodyPr/>
          <a:lstStyle/>
          <a:p>
            <a:fld id="{171A6C5B-A11A-470F-8319-62E6F3F410BC}" type="slidenum">
              <a:rPr lang="en-US" smtClean="0"/>
              <a:pPr/>
              <a:t>4</a:t>
            </a:fld>
            <a:endParaRPr lang="en-US"/>
          </a:p>
        </p:txBody>
      </p:sp>
      <p:sp>
        <p:nvSpPr>
          <p:cNvPr id="3" name="Content Placeholder 2">
            <a:extLst>
              <a:ext uri="{FF2B5EF4-FFF2-40B4-BE49-F238E27FC236}">
                <a16:creationId xmlns:a16="http://schemas.microsoft.com/office/drawing/2014/main" id="{08439984-9AC1-4E8C-19B6-CFD23F10E1D7}"/>
              </a:ext>
            </a:extLst>
          </p:cNvPr>
          <p:cNvSpPr>
            <a:spLocks noGrp="1"/>
          </p:cNvSpPr>
          <p:nvPr>
            <p:ph idx="4294967295"/>
          </p:nvPr>
        </p:nvSpPr>
        <p:spPr>
          <a:xfrm>
            <a:off x="838200" y="1690688"/>
            <a:ext cx="10515600" cy="4119563"/>
          </a:xfrm>
        </p:spPr>
        <p:txBody>
          <a:bodyPr>
            <a:normAutofit/>
          </a:bodyPr>
          <a:lstStyle/>
          <a:p>
            <a:pPr marL="0" indent="0">
              <a:lnSpc>
                <a:spcPct val="100000"/>
              </a:lnSpc>
              <a:spcBef>
                <a:spcPts val="2200"/>
              </a:spcBef>
              <a:buNone/>
            </a:pPr>
            <a:r>
              <a:rPr lang="en-US" sz="2400" b="1" dirty="0"/>
              <a:t>Review SIR Model</a:t>
            </a:r>
          </a:p>
          <a:p>
            <a:pPr marL="0" indent="0">
              <a:lnSpc>
                <a:spcPct val="100000"/>
              </a:lnSpc>
              <a:spcBef>
                <a:spcPts val="2200"/>
              </a:spcBef>
              <a:buNone/>
            </a:pPr>
            <a:r>
              <a:rPr lang="en-US" sz="2400" dirty="0">
                <a:solidFill>
                  <a:schemeClr val="tx1">
                    <a:lumMod val="50000"/>
                    <a:lumOff val="50000"/>
                  </a:schemeClr>
                </a:solidFill>
                <a:latin typeface="Arial"/>
                <a:cs typeface="Arial"/>
              </a:rPr>
              <a:t>Infectious diseases around the world </a:t>
            </a:r>
          </a:p>
          <a:p>
            <a:pPr marL="0" indent="0">
              <a:lnSpc>
                <a:spcPct val="100000"/>
              </a:lnSpc>
              <a:spcBef>
                <a:spcPts val="2200"/>
              </a:spcBef>
              <a:buNone/>
            </a:pPr>
            <a:r>
              <a:rPr lang="en-US" sz="2400" dirty="0">
                <a:solidFill>
                  <a:schemeClr val="tx1">
                    <a:lumMod val="50000"/>
                    <a:lumOff val="50000"/>
                  </a:schemeClr>
                </a:solidFill>
                <a:latin typeface="Arial"/>
                <a:cs typeface="Arial"/>
              </a:rPr>
              <a:t>Unit assignment: What makes a good slide? </a:t>
            </a:r>
          </a:p>
          <a:p>
            <a:pPr marL="0" indent="0">
              <a:lnSpc>
                <a:spcPct val="100000"/>
              </a:lnSpc>
              <a:spcBef>
                <a:spcPts val="2200"/>
              </a:spcBef>
              <a:buNone/>
            </a:pPr>
            <a:r>
              <a:rPr lang="en-US" sz="2400" dirty="0">
                <a:solidFill>
                  <a:schemeClr val="tx1">
                    <a:lumMod val="50000"/>
                    <a:lumOff val="50000"/>
                  </a:schemeClr>
                </a:solidFill>
              </a:rPr>
              <a:t>Brainstorm and present domestic HIV/AIDS policy proposals</a:t>
            </a:r>
            <a:endParaRPr lang="en-US" sz="2400" b="1" dirty="0">
              <a:solidFill>
                <a:schemeClr val="tx1">
                  <a:lumMod val="50000"/>
                  <a:lumOff val="50000"/>
                </a:schemeClr>
              </a:solidFill>
            </a:endParaRPr>
          </a:p>
          <a:p>
            <a:pPr marL="0" indent="0">
              <a:lnSpc>
                <a:spcPct val="100000"/>
              </a:lnSpc>
              <a:spcBef>
                <a:spcPts val="2200"/>
              </a:spcBef>
              <a:buNone/>
            </a:pPr>
            <a:endParaRPr lang="en-US" sz="2400" dirty="0"/>
          </a:p>
        </p:txBody>
      </p:sp>
    </p:spTree>
    <p:extLst>
      <p:ext uri="{BB962C8B-B14F-4D97-AF65-F5344CB8AC3E}">
        <p14:creationId xmlns:p14="http://schemas.microsoft.com/office/powerpoint/2010/main" val="28050512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solidFill>
                  <a:srgbClr val="005493"/>
                </a:solidFill>
              </a:rPr>
              <a:t>When will disease spread? - Refresher</a:t>
            </a:r>
          </a:p>
        </p:txBody>
      </p:sp>
      <p:sp>
        <p:nvSpPr>
          <p:cNvPr id="3" name="Content Placeholder 2"/>
          <p:cNvSpPr>
            <a:spLocks noGrp="1"/>
          </p:cNvSpPr>
          <p:nvPr>
            <p:ph idx="1"/>
          </p:nvPr>
        </p:nvSpPr>
        <p:spPr>
          <a:xfrm>
            <a:off x="838200" y="2057399"/>
            <a:ext cx="10515600" cy="4119563"/>
          </a:xfrm>
        </p:spPr>
        <p:txBody>
          <a:bodyPr>
            <a:normAutofit/>
          </a:bodyPr>
          <a:lstStyle/>
          <a:p>
            <a:pPr>
              <a:lnSpc>
                <a:spcPct val="90000"/>
              </a:lnSpc>
              <a:spcBef>
                <a:spcPts val="1000"/>
              </a:spcBef>
            </a:pPr>
            <a:r>
              <a:rPr lang="en-US" sz="2800" dirty="0"/>
              <a:t>Change in           =       Inflow    -    Outflow</a:t>
            </a:r>
          </a:p>
          <a:p>
            <a:pPr marL="114300" indent="0">
              <a:lnSpc>
                <a:spcPct val="90000"/>
              </a:lnSpc>
              <a:spcBef>
                <a:spcPts val="0"/>
              </a:spcBef>
              <a:buNone/>
            </a:pPr>
            <a:r>
              <a:rPr lang="en-US" sz="2800" dirty="0"/>
              <a:t>   prevalence</a:t>
            </a:r>
          </a:p>
          <a:p>
            <a:pPr marL="114300" indent="0">
              <a:lnSpc>
                <a:spcPct val="90000"/>
              </a:lnSpc>
              <a:spcBef>
                <a:spcPts val="1000"/>
              </a:spcBef>
              <a:buNone/>
            </a:pPr>
            <a:r>
              <a:rPr lang="en-US" sz="2800" dirty="0"/>
              <a:t>				</a:t>
            </a:r>
            <a:r>
              <a:rPr lang="el-GR" sz="2800" dirty="0"/>
              <a:t>β</a:t>
            </a:r>
            <a:r>
              <a:rPr lang="en-US" sz="2800" dirty="0"/>
              <a:t> ∙ N ∙ s ∙ i       -        </a:t>
            </a:r>
            <a:r>
              <a:rPr lang="el-GR" sz="2800" dirty="0"/>
              <a:t>δ</a:t>
            </a:r>
            <a:r>
              <a:rPr lang="en-US" sz="2800" dirty="0"/>
              <a:t> ∙ i</a:t>
            </a:r>
          </a:p>
          <a:p>
            <a:pPr lvl="1">
              <a:lnSpc>
                <a:spcPct val="90000"/>
              </a:lnSpc>
              <a:spcBef>
                <a:spcPts val="1000"/>
              </a:spcBef>
            </a:pPr>
            <a:endParaRPr lang="en-US" sz="2000" dirty="0"/>
          </a:p>
          <a:p>
            <a:pPr lvl="1">
              <a:lnSpc>
                <a:spcPct val="90000"/>
              </a:lnSpc>
              <a:spcBef>
                <a:spcPts val="1000"/>
              </a:spcBef>
            </a:pPr>
            <a:endParaRPr lang="en-US" sz="2000" dirty="0"/>
          </a:p>
          <a:p>
            <a:pPr>
              <a:lnSpc>
                <a:spcPct val="90000"/>
              </a:lnSpc>
              <a:spcBef>
                <a:spcPts val="1000"/>
              </a:spcBef>
            </a:pPr>
            <a:endParaRPr lang="en-US" sz="2400" dirty="0"/>
          </a:p>
          <a:p>
            <a:pPr>
              <a:lnSpc>
                <a:spcPct val="90000"/>
              </a:lnSpc>
              <a:spcBef>
                <a:spcPts val="1000"/>
              </a:spcBef>
            </a:pPr>
            <a:r>
              <a:rPr lang="en-US" sz="2800" dirty="0"/>
              <a:t>At the start of an epidemic, s ≈ 1.  Thus, the change in prevalence is positive if:</a:t>
            </a:r>
          </a:p>
          <a:p>
            <a:pPr marL="114300" indent="0">
              <a:lnSpc>
                <a:spcPct val="90000"/>
              </a:lnSpc>
              <a:spcBef>
                <a:spcPts val="1000"/>
              </a:spcBef>
              <a:buNone/>
            </a:pPr>
            <a:r>
              <a:rPr lang="en-US" sz="2800" dirty="0"/>
              <a:t>		 </a:t>
            </a:r>
            <a:r>
              <a:rPr lang="el-GR" sz="2800" dirty="0"/>
              <a:t>β</a:t>
            </a:r>
            <a:r>
              <a:rPr lang="en-US" sz="2800" dirty="0"/>
              <a:t> ∙ N / </a:t>
            </a:r>
            <a:r>
              <a:rPr lang="el-GR" sz="2800" dirty="0"/>
              <a:t>δ</a:t>
            </a:r>
            <a:r>
              <a:rPr lang="en-US" sz="2800" dirty="0"/>
              <a:t>   ≡     R</a:t>
            </a:r>
            <a:r>
              <a:rPr lang="en-US" sz="2800" baseline="-25000" dirty="0"/>
              <a:t>0</a:t>
            </a:r>
            <a:r>
              <a:rPr lang="en-US" sz="2800" dirty="0"/>
              <a:t>    &gt;    1</a:t>
            </a:r>
          </a:p>
          <a:p>
            <a:pPr marL="411480" lvl="1" indent="0">
              <a:lnSpc>
                <a:spcPct val="90000"/>
              </a:lnSpc>
              <a:spcBef>
                <a:spcPts val="1000"/>
              </a:spcBef>
              <a:buNone/>
            </a:pPr>
            <a:endParaRPr lang="en-US" sz="2000" dirty="0"/>
          </a:p>
        </p:txBody>
      </p:sp>
      <p:sp>
        <p:nvSpPr>
          <p:cNvPr id="4" name="Slide Number Placeholder 3"/>
          <p:cNvSpPr>
            <a:spLocks noGrp="1"/>
          </p:cNvSpPr>
          <p:nvPr>
            <p:ph type="sldNum" sz="quarter" idx="12"/>
          </p:nvPr>
        </p:nvSpPr>
        <p:spPr/>
        <p:txBody>
          <a:bodyPr/>
          <a:lstStyle/>
          <a:p>
            <a:fld id="{171A6C5B-A11A-470F-8319-62E6F3F410BC}" type="slidenum">
              <a:rPr lang="en-US" smtClean="0"/>
              <a:pPr/>
              <a:t>5</a:t>
            </a:fld>
            <a:endParaRPr lang="en-US"/>
          </a:p>
        </p:txBody>
      </p:sp>
      <p:sp>
        <p:nvSpPr>
          <p:cNvPr id="5" name="Rectangle: Rounded Corners 4"/>
          <p:cNvSpPr/>
          <p:nvPr/>
        </p:nvSpPr>
        <p:spPr>
          <a:xfrm>
            <a:off x="4562171" y="2994286"/>
            <a:ext cx="1874286" cy="425143"/>
          </a:xfrm>
          <a:prstGeom prst="round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p:cNvSpPr/>
          <p:nvPr/>
        </p:nvSpPr>
        <p:spPr>
          <a:xfrm>
            <a:off x="7755143" y="2994286"/>
            <a:ext cx="854857" cy="425143"/>
          </a:xfrm>
          <a:prstGeom prst="roundRect">
            <a:avLst/>
          </a:prstGeom>
          <a:no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5">
                  <a:lumMod val="75000"/>
                </a:schemeClr>
              </a:solidFill>
            </a:endParaRPr>
          </a:p>
        </p:txBody>
      </p:sp>
      <p:sp>
        <p:nvSpPr>
          <p:cNvPr id="7" name="TextBox 6"/>
          <p:cNvSpPr txBox="1"/>
          <p:nvPr/>
        </p:nvSpPr>
        <p:spPr>
          <a:xfrm>
            <a:off x="4560277" y="6472651"/>
            <a:ext cx="1219200" cy="369332"/>
          </a:xfrm>
          <a:prstGeom prst="rect">
            <a:avLst/>
          </a:prstGeom>
          <a:noFill/>
        </p:spPr>
        <p:txBody>
          <a:bodyPr wrap="square" rtlCol="0">
            <a:spAutoFit/>
          </a:bodyPr>
          <a:lstStyle/>
          <a:p>
            <a:r>
              <a:rPr lang="en-US" dirty="0"/>
              <a:t>R-naught</a:t>
            </a:r>
          </a:p>
        </p:txBody>
      </p:sp>
      <p:sp>
        <p:nvSpPr>
          <p:cNvPr id="8" name="Rectangle 7"/>
          <p:cNvSpPr/>
          <p:nvPr/>
        </p:nvSpPr>
        <p:spPr>
          <a:xfrm>
            <a:off x="2829714" y="5677714"/>
            <a:ext cx="4096000" cy="489143"/>
          </a:xfrm>
          <a:prstGeom prst="rect">
            <a:avLst/>
          </a:prstGeom>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9" name="Right Brace 8"/>
          <p:cNvSpPr/>
          <p:nvPr/>
        </p:nvSpPr>
        <p:spPr>
          <a:xfrm rot="5400000">
            <a:off x="4868256" y="6113490"/>
            <a:ext cx="257411" cy="521676"/>
          </a:xfrm>
          <a:prstGeom prst="righ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 name="TextBox 9"/>
          <p:cNvSpPr txBox="1"/>
          <p:nvPr/>
        </p:nvSpPr>
        <p:spPr>
          <a:xfrm>
            <a:off x="2908514" y="3491164"/>
            <a:ext cx="1981200" cy="369332"/>
          </a:xfrm>
          <a:prstGeom prst="rect">
            <a:avLst/>
          </a:prstGeom>
          <a:noFill/>
        </p:spPr>
        <p:txBody>
          <a:bodyPr wrap="square" rtlCol="0">
            <a:spAutoFit/>
          </a:bodyPr>
          <a:lstStyle/>
          <a:p>
            <a:r>
              <a:rPr lang="en-US" dirty="0">
                <a:solidFill>
                  <a:srgbClr val="0070C0"/>
                </a:solidFill>
              </a:rPr>
              <a:t>Transmission</a:t>
            </a:r>
          </a:p>
        </p:txBody>
      </p:sp>
      <p:sp>
        <p:nvSpPr>
          <p:cNvPr id="11" name="TextBox 10"/>
          <p:cNvSpPr txBox="1"/>
          <p:nvPr/>
        </p:nvSpPr>
        <p:spPr>
          <a:xfrm>
            <a:off x="7306271" y="3659697"/>
            <a:ext cx="2743200" cy="369332"/>
          </a:xfrm>
          <a:prstGeom prst="rect">
            <a:avLst/>
          </a:prstGeom>
          <a:noFill/>
        </p:spPr>
        <p:txBody>
          <a:bodyPr wrap="square" rtlCol="0">
            <a:spAutoFit/>
          </a:bodyPr>
          <a:lstStyle/>
          <a:p>
            <a:r>
              <a:rPr lang="en-US" dirty="0">
                <a:solidFill>
                  <a:schemeClr val="accent5">
                    <a:lumMod val="75000"/>
                  </a:schemeClr>
                </a:solidFill>
              </a:rPr>
              <a:t>Recover/remove</a:t>
            </a:r>
          </a:p>
        </p:txBody>
      </p:sp>
      <p:cxnSp>
        <p:nvCxnSpPr>
          <p:cNvPr id="13" name="Connector: Elbow 12"/>
          <p:cNvCxnSpPr>
            <a:cxnSpLocks/>
          </p:cNvCxnSpPr>
          <p:nvPr/>
        </p:nvCxnSpPr>
        <p:spPr>
          <a:xfrm rot="10800000" flipV="1">
            <a:off x="3746716" y="3190829"/>
            <a:ext cx="838199" cy="300335"/>
          </a:xfrm>
          <a:prstGeom prst="bentConnector2">
            <a:avLst/>
          </a:prstGeom>
          <a:ln>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a:off x="8182571" y="3419430"/>
            <a:ext cx="0" cy="267493"/>
          </a:xfrm>
          <a:prstGeom prst="straightConnector1">
            <a:avLst/>
          </a:prstGeom>
          <a:ln>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solidFill>
                  <a:srgbClr val="005493"/>
                </a:solidFill>
              </a:rPr>
              <a:t>Breakout groups: Let’s parameterize a single group model. Here is some information to do so.</a:t>
            </a:r>
          </a:p>
        </p:txBody>
      </p:sp>
      <p:sp>
        <p:nvSpPr>
          <p:cNvPr id="3" name="Content Placeholder 2"/>
          <p:cNvSpPr>
            <a:spLocks noGrp="1"/>
          </p:cNvSpPr>
          <p:nvPr>
            <p:ph idx="1"/>
          </p:nvPr>
        </p:nvSpPr>
        <p:spPr/>
        <p:txBody>
          <a:bodyPr>
            <a:normAutofit/>
          </a:bodyPr>
          <a:lstStyle/>
          <a:p>
            <a:pPr marL="0" indent="0">
              <a:buNone/>
            </a:pPr>
            <a:r>
              <a:rPr lang="en-US" sz="2000" b="0" i="0" dirty="0">
                <a:solidFill>
                  <a:srgbClr val="202020"/>
                </a:solidFill>
                <a:effectLst/>
              </a:rPr>
              <a:t>“Whenever a susceptible individual comes into contact with an infectious individual on a given day, transmission of the virus occurs with probability 1.6%. For a well-mixed population, each individual has an average of 20 contacts per day.”</a:t>
            </a:r>
          </a:p>
          <a:p>
            <a:pPr marL="0" indent="0">
              <a:buNone/>
            </a:pPr>
            <a:endParaRPr lang="en-US" sz="2000" dirty="0">
              <a:solidFill>
                <a:srgbClr val="202020"/>
              </a:solidFill>
            </a:endParaRPr>
          </a:p>
          <a:p>
            <a:pPr marL="0" indent="0">
              <a:buNone/>
            </a:pPr>
            <a:r>
              <a:rPr lang="en-US" sz="2000" dirty="0">
                <a:solidFill>
                  <a:srgbClr val="202020"/>
                </a:solidFill>
              </a:rPr>
              <a:t>“The probability that a person who has COVID dies in a given day is one-half of one percent. The probability that they recover is 14 percent per day.”</a:t>
            </a:r>
          </a:p>
          <a:p>
            <a:pPr marL="0" indent="0">
              <a:buNone/>
            </a:pPr>
            <a:endParaRPr lang="en-US" sz="2000" dirty="0">
              <a:solidFill>
                <a:srgbClr val="202020"/>
              </a:solidFill>
            </a:endParaRPr>
          </a:p>
          <a:p>
            <a:pPr marL="0" indent="0">
              <a:buNone/>
            </a:pPr>
            <a:r>
              <a:rPr lang="en-US" sz="2000" dirty="0">
                <a:solidFill>
                  <a:srgbClr val="202020"/>
                </a:solidFill>
              </a:rPr>
              <a:t>“No one is wearing a mask.”</a:t>
            </a:r>
          </a:p>
          <a:p>
            <a:pPr marL="0" indent="0">
              <a:buNone/>
            </a:pPr>
            <a:endParaRPr lang="en-US" sz="2000" dirty="0">
              <a:solidFill>
                <a:srgbClr val="202020"/>
              </a:solidFill>
            </a:endParaRPr>
          </a:p>
          <a:p>
            <a:pPr marL="0" indent="0">
              <a:buNone/>
            </a:pPr>
            <a:r>
              <a:rPr lang="en-US" sz="2000" dirty="0">
                <a:solidFill>
                  <a:srgbClr val="202020"/>
                </a:solidFill>
              </a:rPr>
              <a:t>What is R</a:t>
            </a:r>
            <a:r>
              <a:rPr lang="en-US" sz="2000" baseline="-25000" dirty="0">
                <a:solidFill>
                  <a:srgbClr val="202020"/>
                </a:solidFill>
              </a:rPr>
              <a:t>0</a:t>
            </a:r>
            <a:r>
              <a:rPr lang="en-US" sz="2000" dirty="0">
                <a:solidFill>
                  <a:srgbClr val="202020"/>
                </a:solidFill>
              </a:rPr>
              <a:t>?</a:t>
            </a:r>
          </a:p>
        </p:txBody>
      </p:sp>
      <p:sp>
        <p:nvSpPr>
          <p:cNvPr id="4" name="Slide Number Placeholder 3"/>
          <p:cNvSpPr>
            <a:spLocks noGrp="1"/>
          </p:cNvSpPr>
          <p:nvPr>
            <p:ph type="sldNum" sz="quarter" idx="12"/>
          </p:nvPr>
        </p:nvSpPr>
        <p:spPr/>
        <p:txBody>
          <a:bodyPr/>
          <a:lstStyle/>
          <a:p>
            <a:fld id="{171A6C5B-A11A-470F-8319-62E6F3F410BC}" type="slidenum">
              <a:rPr lang="en-US" smtClean="0"/>
              <a:pPr/>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BAECA4-0AE2-27A9-744D-EA60CCF3BC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7B6CFF-00E2-58CB-D380-9E12293E502E}"/>
              </a:ext>
            </a:extLst>
          </p:cNvPr>
          <p:cNvSpPr>
            <a:spLocks noGrp="1"/>
          </p:cNvSpPr>
          <p:nvPr>
            <p:ph type="title"/>
          </p:nvPr>
        </p:nvSpPr>
        <p:spPr/>
        <p:txBody>
          <a:bodyPr>
            <a:normAutofit/>
          </a:bodyPr>
          <a:lstStyle/>
          <a:p>
            <a:r>
              <a:rPr lang="en-US" sz="2800" dirty="0">
                <a:solidFill>
                  <a:srgbClr val="005493"/>
                </a:solidFill>
              </a:rPr>
              <a:t>Breakout groups: Let’s parameterize a single group model. Here is some information to do so.</a:t>
            </a:r>
          </a:p>
        </p:txBody>
      </p:sp>
      <p:sp>
        <p:nvSpPr>
          <p:cNvPr id="3" name="Content Placeholder 2">
            <a:extLst>
              <a:ext uri="{FF2B5EF4-FFF2-40B4-BE49-F238E27FC236}">
                <a16:creationId xmlns:a16="http://schemas.microsoft.com/office/drawing/2014/main" id="{D229FBC4-C5D8-EFFE-83EF-D2ADBAD9491F}"/>
              </a:ext>
            </a:extLst>
          </p:cNvPr>
          <p:cNvSpPr>
            <a:spLocks noGrp="1"/>
          </p:cNvSpPr>
          <p:nvPr>
            <p:ph idx="1"/>
          </p:nvPr>
        </p:nvSpPr>
        <p:spPr/>
        <p:txBody>
          <a:bodyPr>
            <a:normAutofit/>
          </a:bodyPr>
          <a:lstStyle/>
          <a:p>
            <a:pPr marL="0" indent="0">
              <a:buNone/>
            </a:pPr>
            <a:r>
              <a:rPr lang="en-US" sz="2000" b="0" i="0" dirty="0">
                <a:solidFill>
                  <a:srgbClr val="202020"/>
                </a:solidFill>
                <a:effectLst/>
              </a:rPr>
              <a:t>“Whenever a susceptible individual comes into contact with an infectious individual on a given day, transmission of the virus occurs with probability 1.6%. For a well-mixed population, each individual has an average of 20 contacts per day.”</a:t>
            </a:r>
          </a:p>
          <a:p>
            <a:pPr marL="0" indent="0">
              <a:buNone/>
            </a:pPr>
            <a:endParaRPr lang="en-US" sz="2000" dirty="0">
              <a:solidFill>
                <a:srgbClr val="202020"/>
              </a:solidFill>
            </a:endParaRPr>
          </a:p>
          <a:p>
            <a:pPr marL="0" indent="0">
              <a:buNone/>
            </a:pPr>
            <a:r>
              <a:rPr lang="en-US" sz="2000" dirty="0">
                <a:solidFill>
                  <a:srgbClr val="202020"/>
                </a:solidFill>
              </a:rPr>
              <a:t>“The probability that a person who has COVID dies in a given day is one-half of one percent. The probability that they recover is 14 percent per day.”</a:t>
            </a:r>
          </a:p>
          <a:p>
            <a:pPr marL="0" indent="0">
              <a:buNone/>
            </a:pPr>
            <a:endParaRPr lang="en-US" sz="2000" dirty="0">
              <a:solidFill>
                <a:srgbClr val="202020"/>
              </a:solidFill>
            </a:endParaRPr>
          </a:p>
          <a:p>
            <a:pPr marL="0" indent="0">
              <a:buNone/>
            </a:pPr>
            <a:r>
              <a:rPr lang="en-US" sz="2000" dirty="0">
                <a:solidFill>
                  <a:srgbClr val="202020"/>
                </a:solidFill>
              </a:rPr>
              <a:t>“No one is wearing a mask.”</a:t>
            </a:r>
          </a:p>
          <a:p>
            <a:pPr marL="0" indent="0">
              <a:buNone/>
            </a:pPr>
            <a:endParaRPr lang="en-US" sz="2000" dirty="0">
              <a:solidFill>
                <a:srgbClr val="202020"/>
              </a:solidFill>
            </a:endParaRPr>
          </a:p>
          <a:p>
            <a:pPr marL="0" indent="0">
              <a:buNone/>
            </a:pPr>
            <a:r>
              <a:rPr lang="en-US" sz="2000" dirty="0">
                <a:solidFill>
                  <a:srgbClr val="202020"/>
                </a:solidFill>
              </a:rPr>
              <a:t>What is R</a:t>
            </a:r>
            <a:r>
              <a:rPr lang="en-US" sz="2000" baseline="-25000" dirty="0">
                <a:solidFill>
                  <a:srgbClr val="202020"/>
                </a:solidFill>
              </a:rPr>
              <a:t>0</a:t>
            </a:r>
            <a:r>
              <a:rPr lang="en-US" sz="2000" dirty="0">
                <a:solidFill>
                  <a:srgbClr val="202020"/>
                </a:solidFill>
              </a:rPr>
              <a:t>? </a:t>
            </a:r>
            <a:r>
              <a:rPr lang="en-US" sz="2000" dirty="0">
                <a:solidFill>
                  <a:srgbClr val="FF0000"/>
                </a:solidFill>
              </a:rPr>
              <a:t>R</a:t>
            </a:r>
            <a:r>
              <a:rPr lang="en-US" sz="2000" baseline="-25000" dirty="0">
                <a:solidFill>
                  <a:srgbClr val="FF0000"/>
                </a:solidFill>
              </a:rPr>
              <a:t>0</a:t>
            </a:r>
            <a:r>
              <a:rPr lang="en-US" sz="2000" dirty="0">
                <a:solidFill>
                  <a:srgbClr val="FF0000"/>
                </a:solidFill>
              </a:rPr>
              <a:t>=2.207 </a:t>
            </a:r>
            <a:r>
              <a:rPr lang="en-US" sz="2000" dirty="0">
                <a:solidFill>
                  <a:srgbClr val="FF0000"/>
                </a:solidFill>
                <a:sym typeface="Wingdings" pitchFamily="2" charset="2"/>
              </a:rPr>
              <a:t> disease spread is growing</a:t>
            </a:r>
            <a:endParaRPr lang="en-US" sz="2000" dirty="0">
              <a:solidFill>
                <a:srgbClr val="202020"/>
              </a:solidFill>
            </a:endParaRPr>
          </a:p>
        </p:txBody>
      </p:sp>
      <p:sp>
        <p:nvSpPr>
          <p:cNvPr id="4" name="Slide Number Placeholder 3">
            <a:extLst>
              <a:ext uri="{FF2B5EF4-FFF2-40B4-BE49-F238E27FC236}">
                <a16:creationId xmlns:a16="http://schemas.microsoft.com/office/drawing/2014/main" id="{4B026553-797A-CC2C-A0CA-DD232A5B1EA5}"/>
              </a:ext>
            </a:extLst>
          </p:cNvPr>
          <p:cNvSpPr>
            <a:spLocks noGrp="1"/>
          </p:cNvSpPr>
          <p:nvPr>
            <p:ph type="sldNum" sz="quarter" idx="12"/>
          </p:nvPr>
        </p:nvSpPr>
        <p:spPr/>
        <p:txBody>
          <a:bodyPr/>
          <a:lstStyle/>
          <a:p>
            <a:fld id="{171A6C5B-A11A-470F-8319-62E6F3F410BC}" type="slidenum">
              <a:rPr lang="en-US" smtClean="0"/>
              <a:pPr/>
              <a:t>7</a:t>
            </a:fld>
            <a:endParaRPr lang="en-US"/>
          </a:p>
        </p:txBody>
      </p:sp>
    </p:spTree>
    <p:extLst>
      <p:ext uri="{BB962C8B-B14F-4D97-AF65-F5344CB8AC3E}">
        <p14:creationId xmlns:p14="http://schemas.microsoft.com/office/powerpoint/2010/main" val="734710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a:solidFill>
                  <a:srgbClr val="005493"/>
                </a:solidFill>
              </a:rPr>
              <a:t>Spreadsheet Questions – Part 1</a:t>
            </a:r>
          </a:p>
        </p:txBody>
      </p:sp>
      <p:sp>
        <p:nvSpPr>
          <p:cNvPr id="3" name="Content Placeholder 2"/>
          <p:cNvSpPr>
            <a:spLocks noGrp="1"/>
          </p:cNvSpPr>
          <p:nvPr>
            <p:ph idx="1"/>
          </p:nvPr>
        </p:nvSpPr>
        <p:spPr/>
        <p:txBody>
          <a:bodyPr>
            <a:normAutofit/>
          </a:bodyPr>
          <a:lstStyle/>
          <a:p>
            <a:pPr marL="514350" indent="-514350">
              <a:buFont typeface="+mj-lt"/>
              <a:buAutoNum type="arabicPeriod" startAt="2"/>
            </a:pPr>
            <a:r>
              <a:rPr lang="en-US" sz="1800" dirty="0"/>
              <a:t>Consider two policies. Define a successful policy as 10 or fewer total cases between day 0 and day 75 (the population size is 100). How many people would need to adhere to the policy to be successful?</a:t>
            </a:r>
          </a:p>
          <a:p>
            <a:pPr marL="971550" lvl="1" indent="-514350">
              <a:buFont typeface="+mj-lt"/>
              <a:buAutoNum type="arabicPeriod"/>
            </a:pPr>
            <a:r>
              <a:rPr lang="en-US" sz="1800" dirty="0"/>
              <a:t>Mask wearing – assume that wearing a mask makes a person 70% less likely to contract COVID after contact with a COVID+ person </a:t>
            </a:r>
          </a:p>
          <a:p>
            <a:pPr marL="971550" lvl="1" indent="-514350">
              <a:buFont typeface="+mj-lt"/>
              <a:buAutoNum type="arabicPeriod"/>
            </a:pPr>
            <a:r>
              <a:rPr lang="en-US" sz="1800" dirty="0"/>
              <a:t>Vaccination – assume that a COVID vaccination is 95% effective</a:t>
            </a:r>
          </a:p>
        </p:txBody>
      </p:sp>
      <p:sp>
        <p:nvSpPr>
          <p:cNvPr id="4" name="Slide Number Placeholder 3"/>
          <p:cNvSpPr>
            <a:spLocks noGrp="1"/>
          </p:cNvSpPr>
          <p:nvPr>
            <p:ph type="sldNum" sz="quarter" idx="12"/>
          </p:nvPr>
        </p:nvSpPr>
        <p:spPr/>
        <p:txBody>
          <a:bodyPr/>
          <a:lstStyle/>
          <a:p>
            <a:fld id="{171A6C5B-A11A-470F-8319-62E6F3F410BC}" type="slidenum">
              <a:rPr lang="en-US" smtClean="0"/>
              <a:pPr/>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55AA8D-2450-D05A-3518-208ECCD2C1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F18A96-879C-46FA-93C0-0EFF2B52E6B7}"/>
              </a:ext>
            </a:extLst>
          </p:cNvPr>
          <p:cNvSpPr>
            <a:spLocks noGrp="1"/>
          </p:cNvSpPr>
          <p:nvPr>
            <p:ph type="title"/>
          </p:nvPr>
        </p:nvSpPr>
        <p:spPr/>
        <p:txBody>
          <a:bodyPr/>
          <a:lstStyle/>
          <a:p>
            <a:r>
              <a:rPr lang="en-US" sz="4000" dirty="0">
                <a:solidFill>
                  <a:srgbClr val="005493"/>
                </a:solidFill>
              </a:rPr>
              <a:t>Questions – Part 1</a:t>
            </a:r>
          </a:p>
        </p:txBody>
      </p:sp>
      <p:sp>
        <p:nvSpPr>
          <p:cNvPr id="3" name="Content Placeholder 2">
            <a:extLst>
              <a:ext uri="{FF2B5EF4-FFF2-40B4-BE49-F238E27FC236}">
                <a16:creationId xmlns:a16="http://schemas.microsoft.com/office/drawing/2014/main" id="{C7E4BC8F-2495-19A0-4999-03E9B00904E0}"/>
              </a:ext>
            </a:extLst>
          </p:cNvPr>
          <p:cNvSpPr>
            <a:spLocks noGrp="1"/>
          </p:cNvSpPr>
          <p:nvPr>
            <p:ph idx="1"/>
          </p:nvPr>
        </p:nvSpPr>
        <p:spPr/>
        <p:txBody>
          <a:bodyPr>
            <a:normAutofit/>
          </a:bodyPr>
          <a:lstStyle/>
          <a:p>
            <a:pPr marL="514350" indent="-514350">
              <a:buFont typeface="+mj-lt"/>
              <a:buAutoNum type="arabicPeriod" startAt="2"/>
            </a:pPr>
            <a:r>
              <a:rPr lang="en-US" sz="1800" dirty="0"/>
              <a:t>Consider two policies. Define a successful policy as 10 or fewer total cases between day 0 and day 75 (the population size is 100). How many people would need to adhere to the policy to be successful?</a:t>
            </a:r>
          </a:p>
          <a:p>
            <a:pPr marL="971550" lvl="1" indent="-514350">
              <a:buFont typeface="+mj-lt"/>
              <a:buAutoNum type="arabicPeriod"/>
            </a:pPr>
            <a:r>
              <a:rPr lang="en-US" sz="1800" dirty="0"/>
              <a:t>Mask wearing – assume that wearing a mask makes a person 70% less likely to contract COVID after contact with a COVID+ person </a:t>
            </a:r>
          </a:p>
          <a:p>
            <a:pPr marL="914400" lvl="2" indent="0">
              <a:buNone/>
            </a:pPr>
            <a:r>
              <a:rPr lang="en-US" sz="2400" dirty="0">
                <a:solidFill>
                  <a:srgbClr val="FF0000"/>
                </a:solidFill>
              </a:rPr>
              <a:t>~ 73% or 73 people</a:t>
            </a:r>
          </a:p>
          <a:p>
            <a:pPr marL="971550" lvl="1" indent="-514350">
              <a:buFont typeface="+mj-lt"/>
              <a:buAutoNum type="arabicPeriod"/>
            </a:pPr>
            <a:r>
              <a:rPr lang="en-US" sz="1800" dirty="0"/>
              <a:t>Vaccination – assume that a COVID vaccination is 95% effective</a:t>
            </a:r>
          </a:p>
          <a:p>
            <a:pPr marL="914400" lvl="2" indent="0">
              <a:buNone/>
            </a:pPr>
            <a:r>
              <a:rPr lang="en-US" sz="2400" dirty="0">
                <a:solidFill>
                  <a:srgbClr val="FF0000"/>
                </a:solidFill>
              </a:rPr>
              <a:t>~ 52% or 52 people</a:t>
            </a:r>
          </a:p>
        </p:txBody>
      </p:sp>
      <p:sp>
        <p:nvSpPr>
          <p:cNvPr id="4" name="Slide Number Placeholder 3">
            <a:extLst>
              <a:ext uri="{FF2B5EF4-FFF2-40B4-BE49-F238E27FC236}">
                <a16:creationId xmlns:a16="http://schemas.microsoft.com/office/drawing/2014/main" id="{811032F7-D567-6CB4-F578-DFDF8B6F2CE1}"/>
              </a:ext>
            </a:extLst>
          </p:cNvPr>
          <p:cNvSpPr>
            <a:spLocks noGrp="1"/>
          </p:cNvSpPr>
          <p:nvPr>
            <p:ph type="sldNum" sz="quarter" idx="12"/>
          </p:nvPr>
        </p:nvSpPr>
        <p:spPr/>
        <p:txBody>
          <a:bodyPr/>
          <a:lstStyle/>
          <a:p>
            <a:fld id="{171A6C5B-A11A-470F-8319-62E6F3F410BC}" type="slidenum">
              <a:rPr lang="en-US" smtClean="0"/>
              <a:pPr/>
              <a:t>9</a:t>
            </a:fld>
            <a:endParaRPr lang="en-US"/>
          </a:p>
        </p:txBody>
      </p:sp>
    </p:spTree>
    <p:extLst>
      <p:ext uri="{BB962C8B-B14F-4D97-AF65-F5344CB8AC3E}">
        <p14:creationId xmlns:p14="http://schemas.microsoft.com/office/powerpoint/2010/main" val="31019832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a:solidFill>
                  <a:srgbClr val="005493"/>
                </a:solidFill>
              </a:rPr>
              <a:t>Questions – Part 2</a:t>
            </a:r>
          </a:p>
        </p:txBody>
      </p:sp>
      <p:sp>
        <p:nvSpPr>
          <p:cNvPr id="3" name="Content Placeholder 2"/>
          <p:cNvSpPr>
            <a:spLocks noGrp="1"/>
          </p:cNvSpPr>
          <p:nvPr>
            <p:ph idx="1"/>
          </p:nvPr>
        </p:nvSpPr>
        <p:spPr/>
        <p:txBody>
          <a:bodyPr/>
          <a:lstStyle/>
          <a:p>
            <a:pPr marL="514350" indent="-514350">
              <a:buFont typeface="+mj-lt"/>
              <a:buAutoNum type="arabicPeriod" startAt="3"/>
            </a:pPr>
            <a:r>
              <a:rPr lang="en-US" sz="1800" dirty="0"/>
              <a:t>A new variant of COVID-19 is about 3 times as communicable as the original variant. How would your answers to the questions in part 1 change for this new variant?</a:t>
            </a:r>
          </a:p>
        </p:txBody>
      </p:sp>
      <p:sp>
        <p:nvSpPr>
          <p:cNvPr id="4" name="Slide Number Placeholder 3"/>
          <p:cNvSpPr>
            <a:spLocks noGrp="1"/>
          </p:cNvSpPr>
          <p:nvPr>
            <p:ph type="sldNum" sz="quarter" idx="12"/>
          </p:nvPr>
        </p:nvSpPr>
        <p:spPr/>
        <p:txBody>
          <a:bodyPr/>
          <a:lstStyle/>
          <a:p>
            <a:fld id="{171A6C5B-A11A-470F-8319-62E6F3F410BC}" type="slidenum">
              <a:rPr lang="en-US" smtClean="0"/>
              <a:pPr/>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327915-EE71-AEAE-97C8-9888B0D115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32BB8E-626E-22B5-8D00-B312758A96A8}"/>
              </a:ext>
            </a:extLst>
          </p:cNvPr>
          <p:cNvSpPr>
            <a:spLocks noGrp="1"/>
          </p:cNvSpPr>
          <p:nvPr>
            <p:ph type="title"/>
          </p:nvPr>
        </p:nvSpPr>
        <p:spPr/>
        <p:txBody>
          <a:bodyPr/>
          <a:lstStyle/>
          <a:p>
            <a:r>
              <a:rPr lang="en-US" sz="4000" dirty="0">
                <a:solidFill>
                  <a:srgbClr val="005493"/>
                </a:solidFill>
              </a:rPr>
              <a:t>Questions – Part 2</a:t>
            </a:r>
          </a:p>
        </p:txBody>
      </p:sp>
      <p:sp>
        <p:nvSpPr>
          <p:cNvPr id="3" name="Content Placeholder 2">
            <a:extLst>
              <a:ext uri="{FF2B5EF4-FFF2-40B4-BE49-F238E27FC236}">
                <a16:creationId xmlns:a16="http://schemas.microsoft.com/office/drawing/2014/main" id="{02C71D78-1AAD-A444-36B5-9024892EB711}"/>
              </a:ext>
            </a:extLst>
          </p:cNvPr>
          <p:cNvSpPr>
            <a:spLocks noGrp="1"/>
          </p:cNvSpPr>
          <p:nvPr>
            <p:ph idx="1"/>
          </p:nvPr>
        </p:nvSpPr>
        <p:spPr/>
        <p:txBody>
          <a:bodyPr/>
          <a:lstStyle/>
          <a:p>
            <a:pPr marL="514350" indent="-514350">
              <a:buFont typeface="+mj-lt"/>
              <a:buAutoNum type="arabicPeriod" startAt="3"/>
            </a:pPr>
            <a:r>
              <a:rPr lang="en-US" sz="1800" dirty="0"/>
              <a:t>A new variant of COVID-19 is about 3 times as communicable as the original variant. How would your answers to the questions in part 1 change for this new variant?</a:t>
            </a:r>
          </a:p>
          <a:p>
            <a:pPr lvl="1"/>
            <a:r>
              <a:rPr lang="en-US" sz="1600" dirty="0">
                <a:solidFill>
                  <a:srgbClr val="FF0000"/>
                </a:solidFill>
              </a:rPr>
              <a:t>3 * 0.016 = 0.048</a:t>
            </a:r>
          </a:p>
          <a:p>
            <a:pPr lvl="1"/>
            <a:r>
              <a:rPr lang="en-US" sz="1600" dirty="0">
                <a:solidFill>
                  <a:srgbClr val="FF0000"/>
                </a:solidFill>
              </a:rPr>
              <a:t>Mask Wearing: The whole population could be masked and would not be a ”successful” policy</a:t>
            </a:r>
          </a:p>
          <a:p>
            <a:pPr lvl="1"/>
            <a:r>
              <a:rPr lang="en-US" sz="1600" dirty="0">
                <a:solidFill>
                  <a:srgbClr val="FF0000"/>
                </a:solidFill>
              </a:rPr>
              <a:t>Vaccination: ~ 84% or 84 people vaccinated</a:t>
            </a:r>
          </a:p>
          <a:p>
            <a:pPr lvl="1"/>
            <a:endParaRPr lang="en-US" sz="1600" dirty="0">
              <a:solidFill>
                <a:srgbClr val="FF0000"/>
              </a:solidFill>
            </a:endParaRPr>
          </a:p>
        </p:txBody>
      </p:sp>
      <p:sp>
        <p:nvSpPr>
          <p:cNvPr id="4" name="Slide Number Placeholder 3">
            <a:extLst>
              <a:ext uri="{FF2B5EF4-FFF2-40B4-BE49-F238E27FC236}">
                <a16:creationId xmlns:a16="http://schemas.microsoft.com/office/drawing/2014/main" id="{A712123A-A35A-1E32-BF26-FB5ABB832E44}"/>
              </a:ext>
            </a:extLst>
          </p:cNvPr>
          <p:cNvSpPr>
            <a:spLocks noGrp="1"/>
          </p:cNvSpPr>
          <p:nvPr>
            <p:ph type="sldNum" sz="quarter" idx="12"/>
          </p:nvPr>
        </p:nvSpPr>
        <p:spPr/>
        <p:txBody>
          <a:bodyPr/>
          <a:lstStyle/>
          <a:p>
            <a:fld id="{171A6C5B-A11A-470F-8319-62E6F3F410BC}" type="slidenum">
              <a:rPr lang="en-US" smtClean="0"/>
              <a:pPr/>
              <a:t>11</a:t>
            </a:fld>
            <a:endParaRPr lang="en-US"/>
          </a:p>
        </p:txBody>
      </p:sp>
    </p:spTree>
    <p:extLst>
      <p:ext uri="{BB962C8B-B14F-4D97-AF65-F5344CB8AC3E}">
        <p14:creationId xmlns:p14="http://schemas.microsoft.com/office/powerpoint/2010/main" val="15778233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a:solidFill>
                  <a:srgbClr val="005493"/>
                </a:solidFill>
              </a:rPr>
              <a:t>Questions – Part 3</a:t>
            </a:r>
          </a:p>
        </p:txBody>
      </p:sp>
      <p:sp>
        <p:nvSpPr>
          <p:cNvPr id="3" name="Content Placeholder 2"/>
          <p:cNvSpPr>
            <a:spLocks noGrp="1"/>
          </p:cNvSpPr>
          <p:nvPr>
            <p:ph idx="1"/>
          </p:nvPr>
        </p:nvSpPr>
        <p:spPr/>
        <p:txBody>
          <a:bodyPr>
            <a:normAutofit/>
          </a:bodyPr>
          <a:lstStyle/>
          <a:p>
            <a:pPr marL="514350" indent="-514350">
              <a:buFont typeface="+mj-lt"/>
              <a:buAutoNum type="arabicPeriod" startAt="4"/>
            </a:pPr>
            <a:r>
              <a:rPr lang="en-US" sz="1800" dirty="0"/>
              <a:t>In Louisiana, 55% of people are fully vaccinated. In Massachusetts, it is 85%. No data exist on the share of people who wear a mask by state.</a:t>
            </a:r>
          </a:p>
          <a:p>
            <a:endParaRPr lang="en-US" sz="1800" dirty="0"/>
          </a:p>
          <a:p>
            <a:r>
              <a:rPr lang="en-US" sz="1800" dirty="0"/>
              <a:t>Would increasing the vaccination rate in LA materially reduce the number of COVID infections in MA? </a:t>
            </a:r>
          </a:p>
          <a:p>
            <a:pPr lvl="1"/>
            <a:r>
              <a:rPr lang="en-US" sz="1800" dirty="0"/>
              <a:t>Use the heterogeneous agent model to make a determination, including what “materially reduce” might mean.</a:t>
            </a:r>
          </a:p>
          <a:p>
            <a:pPr lvl="1"/>
            <a:r>
              <a:rPr lang="en-US" sz="1800" dirty="0"/>
              <a:t>You should decide what other parameters you think are sensible.</a:t>
            </a:r>
          </a:p>
        </p:txBody>
      </p:sp>
      <p:sp>
        <p:nvSpPr>
          <p:cNvPr id="4" name="Slide Number Placeholder 3"/>
          <p:cNvSpPr>
            <a:spLocks noGrp="1"/>
          </p:cNvSpPr>
          <p:nvPr>
            <p:ph type="sldNum" sz="quarter" idx="12"/>
          </p:nvPr>
        </p:nvSpPr>
        <p:spPr/>
        <p:txBody>
          <a:bodyPr/>
          <a:lstStyle/>
          <a:p>
            <a:fld id="{171A6C5B-A11A-470F-8319-62E6F3F410BC}" type="slidenum">
              <a:rPr lang="en-US" smtClean="0"/>
              <a:pPr/>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B682FD-1325-8A41-54A1-FD3E5C0B59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EF3C43-57B9-E9B9-D1A2-D9F336EE578E}"/>
              </a:ext>
            </a:extLst>
          </p:cNvPr>
          <p:cNvSpPr>
            <a:spLocks noGrp="1"/>
          </p:cNvSpPr>
          <p:nvPr>
            <p:ph type="title"/>
          </p:nvPr>
        </p:nvSpPr>
        <p:spPr/>
        <p:txBody>
          <a:bodyPr/>
          <a:lstStyle/>
          <a:p>
            <a:r>
              <a:rPr lang="en-US" sz="4000" dirty="0">
                <a:solidFill>
                  <a:srgbClr val="005493"/>
                </a:solidFill>
              </a:rPr>
              <a:t>Questions – Part 3</a:t>
            </a:r>
          </a:p>
        </p:txBody>
      </p:sp>
      <p:sp>
        <p:nvSpPr>
          <p:cNvPr id="3" name="Content Placeholder 2">
            <a:extLst>
              <a:ext uri="{FF2B5EF4-FFF2-40B4-BE49-F238E27FC236}">
                <a16:creationId xmlns:a16="http://schemas.microsoft.com/office/drawing/2014/main" id="{C675B16D-B499-7B41-EEC6-06651F4A464B}"/>
              </a:ext>
            </a:extLst>
          </p:cNvPr>
          <p:cNvSpPr>
            <a:spLocks noGrp="1"/>
          </p:cNvSpPr>
          <p:nvPr>
            <p:ph idx="1"/>
          </p:nvPr>
        </p:nvSpPr>
        <p:spPr/>
        <p:txBody>
          <a:bodyPr>
            <a:normAutofit fontScale="92500"/>
          </a:bodyPr>
          <a:lstStyle/>
          <a:p>
            <a:pPr marL="514350" indent="-514350">
              <a:buFont typeface="+mj-lt"/>
              <a:buAutoNum type="arabicPeriod" startAt="4"/>
            </a:pPr>
            <a:r>
              <a:rPr lang="en-US" sz="1800" dirty="0"/>
              <a:t>In Louisiana, 55% of people are fully vaccinated. In Massachusetts, it is 85%. No data exist on the share of people who wear a mask by state.</a:t>
            </a:r>
          </a:p>
          <a:p>
            <a:r>
              <a:rPr lang="en-US" sz="1800" dirty="0"/>
              <a:t>Would increasing the vaccination rate in LA materially reduce the number of COVID infections in MA? </a:t>
            </a:r>
          </a:p>
          <a:p>
            <a:pPr lvl="1"/>
            <a:r>
              <a:rPr lang="en-US" sz="1800" dirty="0"/>
              <a:t>Use the heterogeneous agent model to make a determination, including what “materially reduce” might mean.</a:t>
            </a:r>
          </a:p>
          <a:p>
            <a:pPr lvl="1"/>
            <a:r>
              <a:rPr lang="en-US" sz="1800" dirty="0"/>
              <a:t>You should decide what other parameters you think are sensible.</a:t>
            </a:r>
          </a:p>
          <a:p>
            <a:pPr marL="0" indent="0">
              <a:buNone/>
            </a:pPr>
            <a:r>
              <a:rPr lang="en-US" sz="2000" dirty="0">
                <a:solidFill>
                  <a:srgbClr val="FF0000"/>
                </a:solidFill>
              </a:rPr>
              <a:t>Set the proportion of population vaccinated to the specified amounts.</a:t>
            </a:r>
          </a:p>
          <a:p>
            <a:pPr marL="0" indent="0">
              <a:buNone/>
            </a:pPr>
            <a:r>
              <a:rPr lang="en-US" sz="2000" dirty="0">
                <a:solidFill>
                  <a:srgbClr val="FF0000"/>
                </a:solidFill>
              </a:rPr>
              <a:t>Assume no one mask.</a:t>
            </a:r>
          </a:p>
          <a:p>
            <a:pPr marL="0" indent="0">
              <a:buNone/>
            </a:pPr>
            <a:r>
              <a:rPr lang="en-US" sz="2000" dirty="0">
                <a:solidFill>
                  <a:srgbClr val="FF0000"/>
                </a:solidFill>
              </a:rPr>
              <a:t>Now adjust the vaccination rate of Louisiana to see if # of infections go down in Massachusetts. </a:t>
            </a:r>
          </a:p>
          <a:p>
            <a:pPr marL="0" indent="0">
              <a:buNone/>
            </a:pPr>
            <a:r>
              <a:rPr lang="en-US" sz="2000" dirty="0">
                <a:solidFill>
                  <a:srgbClr val="FF0000"/>
                </a:solidFill>
              </a:rPr>
              <a:t>Sensible Parameters: contacts between groups and probability of becoming infected if come in contact with the other group.</a:t>
            </a:r>
          </a:p>
        </p:txBody>
      </p:sp>
      <p:sp>
        <p:nvSpPr>
          <p:cNvPr id="4" name="Slide Number Placeholder 3">
            <a:extLst>
              <a:ext uri="{FF2B5EF4-FFF2-40B4-BE49-F238E27FC236}">
                <a16:creationId xmlns:a16="http://schemas.microsoft.com/office/drawing/2014/main" id="{DBE0694A-00E7-2B0D-E4CC-66FCD9181E44}"/>
              </a:ext>
            </a:extLst>
          </p:cNvPr>
          <p:cNvSpPr>
            <a:spLocks noGrp="1"/>
          </p:cNvSpPr>
          <p:nvPr>
            <p:ph type="sldNum" sz="quarter" idx="12"/>
          </p:nvPr>
        </p:nvSpPr>
        <p:spPr/>
        <p:txBody>
          <a:bodyPr/>
          <a:lstStyle/>
          <a:p>
            <a:fld id="{171A6C5B-A11A-470F-8319-62E6F3F410BC}" type="slidenum">
              <a:rPr lang="en-US" smtClean="0"/>
              <a:pPr/>
              <a:t>13</a:t>
            </a:fld>
            <a:endParaRPr lang="en-US"/>
          </a:p>
        </p:txBody>
      </p:sp>
    </p:spTree>
    <p:extLst>
      <p:ext uri="{BB962C8B-B14F-4D97-AF65-F5344CB8AC3E}">
        <p14:creationId xmlns:p14="http://schemas.microsoft.com/office/powerpoint/2010/main" val="8700808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a:solidFill>
                  <a:srgbClr val="005493"/>
                </a:solidFill>
              </a:rPr>
              <a:t>Review of 9/10 Class Activity</a:t>
            </a:r>
          </a:p>
        </p:txBody>
      </p:sp>
      <p:sp>
        <p:nvSpPr>
          <p:cNvPr id="4" name="Slide Number Placeholder 3"/>
          <p:cNvSpPr>
            <a:spLocks noGrp="1"/>
          </p:cNvSpPr>
          <p:nvPr>
            <p:ph type="sldNum" sz="quarter" idx="12"/>
          </p:nvPr>
        </p:nvSpPr>
        <p:spPr/>
        <p:txBody>
          <a:bodyPr/>
          <a:lstStyle/>
          <a:p>
            <a:fld id="{171A6C5B-A11A-470F-8319-62E6F3F410BC}" type="slidenum">
              <a:rPr lang="en-US" smtClean="0"/>
              <a:pPr/>
              <a:t>14</a:t>
            </a:fld>
            <a:endParaRPr lang="en-US"/>
          </a:p>
        </p:txBody>
      </p:sp>
      <mc:AlternateContent xmlns:mc="http://schemas.openxmlformats.org/markup-compatibility/2006" xmlns:a14="http://schemas.microsoft.com/office/drawing/2010/main">
        <mc:Choice Requires="a14">
          <p:sp>
            <p:nvSpPr>
              <p:cNvPr id="14" name="TextBox 13"/>
              <p:cNvSpPr txBox="1"/>
              <p:nvPr/>
            </p:nvSpPr>
            <p:spPr>
              <a:xfrm>
                <a:off x="838200" y="1676401"/>
                <a:ext cx="10515600" cy="4247317"/>
              </a:xfrm>
              <a:prstGeom prst="rect">
                <a:avLst/>
              </a:prstGeom>
              <a:noFill/>
            </p:spPr>
            <p:txBody>
              <a:bodyPr wrap="square" rtlCol="0">
                <a:spAutoFit/>
              </a:bodyPr>
              <a:lstStyle/>
              <a:p>
                <a:pPr marL="285750" indent="-285750">
                  <a:buFont typeface="Arial" panose="020B0604020202020204" pitchFamily="34" charset="0"/>
                  <a:buChar char="•"/>
                </a:pPr>
                <a:r>
                  <a:rPr lang="en-US" b="1" dirty="0">
                    <a:latin typeface="Arial" panose="020B0604020202020204" pitchFamily="34" charset="0"/>
                    <a:cs typeface="Arial" panose="020B0604020202020204" pitchFamily="34" charset="0"/>
                  </a:rPr>
                  <a:t>When asked to calculate </a:t>
                </a:r>
                <a14:m>
                  <m:oMath xmlns:m="http://schemas.openxmlformats.org/officeDocument/2006/math">
                    <m:sSub>
                      <m:sSubPr>
                        <m:ctrlPr>
                          <a:rPr lang="en-US" b="1" i="1">
                            <a:latin typeface="Cambria Math" panose="02040503050406030204" pitchFamily="18" charset="0"/>
                          </a:rPr>
                        </m:ctrlPr>
                      </m:sSubPr>
                      <m:e>
                        <m:r>
                          <a:rPr lang="en-US" b="1" i="1">
                            <a:latin typeface="Cambria Math" panose="02040503050406030204" pitchFamily="18" charset="0"/>
                          </a:rPr>
                          <m:t>𝑹</m:t>
                        </m:r>
                      </m:e>
                      <m:sub>
                        <m:r>
                          <a:rPr lang="en-US" b="1" i="1">
                            <a:latin typeface="Cambria Math" panose="02040503050406030204" pitchFamily="18" charset="0"/>
                          </a:rPr>
                          <m:t>𝟎</m:t>
                        </m:r>
                      </m:sub>
                    </m:sSub>
                  </m:oMath>
                </a14:m>
                <a:r>
                  <a:rPr lang="en-US" b="1" dirty="0">
                    <a:latin typeface="Arial" panose="020B0604020202020204" pitchFamily="34" charset="0"/>
                    <a:cs typeface="Arial" panose="020B0604020202020204" pitchFamily="34" charset="0"/>
                  </a:rPr>
                  <a:t> </a:t>
                </a:r>
              </a:p>
              <a:p>
                <a:pPr marL="742950" lvl="1" indent="-285750">
                  <a:buFont typeface="Courier New" panose="02070309020205020404" pitchFamily="49" charset="0"/>
                  <a:buChar char="o"/>
                </a:pPr>
                <a:r>
                  <a:rPr lang="en-US" dirty="0">
                    <a:latin typeface="Arial" panose="020B0604020202020204" pitchFamily="34" charset="0"/>
                    <a:cs typeface="Arial" panose="020B0604020202020204" pitchFamily="34" charset="0"/>
                  </a:rPr>
                  <a:t>Use formula (spreadsheet won’t give you this)</a:t>
                </a:r>
              </a:p>
              <a:p>
                <a:pPr marL="742950" lvl="1" indent="-285750">
                  <a:buFont typeface="Arial" panose="020B0604020202020204" pitchFamily="34" charset="0"/>
                  <a:buChar char="•"/>
                </a:pPr>
                <a:endParaRPr lang="en-U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b="1" dirty="0">
                    <a:latin typeface="Arial" panose="020B0604020202020204" pitchFamily="34" charset="0"/>
                    <a:cs typeface="Arial" panose="020B0604020202020204" pitchFamily="34" charset="0"/>
                  </a:rPr>
                  <a:t>When asked to find what % masking and vaccination are needed</a:t>
                </a:r>
              </a:p>
              <a:p>
                <a:pPr marL="742950" lvl="1" indent="-285750">
                  <a:buFont typeface="Courier New" panose="02070309020205020404" pitchFamily="49" charset="0"/>
                  <a:buChar char="o"/>
                </a:pPr>
                <a:r>
                  <a:rPr lang="en-US" dirty="0">
                    <a:latin typeface="Arial" panose="020B0604020202020204" pitchFamily="34" charset="0"/>
                    <a:cs typeface="Arial" panose="020B0604020202020204" pitchFamily="34" charset="0"/>
                  </a:rPr>
                  <a:t>Use SIR spreadsheet simulation</a:t>
                </a:r>
              </a:p>
              <a:p>
                <a:pPr marL="742950" lvl="1" indent="-285750">
                  <a:buFont typeface="Courier New" panose="02070309020205020404" pitchFamily="49" charset="0"/>
                  <a:buChar char="o"/>
                </a:pPr>
                <a:r>
                  <a:rPr lang="en-US" dirty="0">
                    <a:latin typeface="Arial" panose="020B0604020202020204" pitchFamily="34" charset="0"/>
                    <a:cs typeface="Arial" panose="020B0604020202020204" pitchFamily="34" charset="0"/>
                  </a:rPr>
                  <a:t>Trial and error</a:t>
                </a:r>
              </a:p>
              <a:p>
                <a:pPr marL="285750" indent="-285750">
                  <a:buFont typeface="Arial" panose="020B0604020202020204" pitchFamily="34" charset="0"/>
                  <a:buChar char="•"/>
                </a:pPr>
                <a:endParaRPr lang="en-U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b="1" dirty="0">
                    <a:latin typeface="Arial" panose="020B0604020202020204" pitchFamily="34" charset="0"/>
                    <a:cs typeface="Arial" panose="020B0604020202020204" pitchFamily="34" charset="0"/>
                  </a:rPr>
                  <a:t>Common issues:</a:t>
                </a:r>
              </a:p>
              <a:p>
                <a:pPr marL="742950" lvl="1" indent="-285750">
                  <a:buFont typeface="Courier New" panose="02070309020205020404" pitchFamily="49" charset="0"/>
                  <a:buChar char="o"/>
                </a:pPr>
                <a:r>
                  <a:rPr lang="el-GR" dirty="0"/>
                  <a:t>δ</a:t>
                </a:r>
                <a:r>
                  <a:rPr lang="en-US" dirty="0">
                    <a:latin typeface="Arial" panose="020B0604020202020204" pitchFamily="34" charset="0"/>
                    <a:cs typeface="Arial" panose="020B0604020202020204" pitchFamily="34" charset="0"/>
                  </a:rPr>
                  <a:t> is the rate of exit from infection, which includes death </a:t>
                </a:r>
                <a:r>
                  <a:rPr lang="en-US" b="1" dirty="0">
                    <a:latin typeface="Arial" panose="020B0604020202020204" pitchFamily="34" charset="0"/>
                    <a:cs typeface="Arial" panose="020B0604020202020204" pitchFamily="34" charset="0"/>
                  </a:rPr>
                  <a:t>or</a:t>
                </a:r>
                <a:r>
                  <a:rPr lang="en-US" dirty="0">
                    <a:latin typeface="Arial" panose="020B0604020202020204" pitchFamily="34" charset="0"/>
                    <a:cs typeface="Arial" panose="020B0604020202020204" pitchFamily="34" charset="0"/>
                  </a:rPr>
                  <a:t> recovery</a:t>
                </a:r>
              </a:p>
              <a:p>
                <a:pPr marL="1200150" lvl="2" indent="-285750">
                  <a:buFont typeface="Wingdings" panose="05000000000000000000" pitchFamily="2" charset="2"/>
                  <a:buChar char="§"/>
                </a:pPr>
                <a:r>
                  <a:rPr lang="en-US" dirty="0">
                    <a:latin typeface="Arial" panose="020B0604020202020204" pitchFamily="34" charset="0"/>
                    <a:cs typeface="Arial" panose="020B0604020202020204" pitchFamily="34" charset="0"/>
                  </a:rPr>
                  <a:t>That means adding the two probabilities</a:t>
                </a:r>
              </a:p>
              <a:p>
                <a:pPr marL="1200150" lvl="2" indent="-285750">
                  <a:buFont typeface="Wingdings" panose="05000000000000000000" pitchFamily="2" charset="2"/>
                  <a:buChar char="§"/>
                </a:pPr>
                <a:r>
                  <a:rPr lang="en-US" dirty="0">
                    <a:latin typeface="Arial" panose="020B0604020202020204" pitchFamily="34" charset="0"/>
                    <a:cs typeface="Arial" panose="020B0604020202020204" pitchFamily="34" charset="0"/>
                  </a:rPr>
                  <a:t>Half of 1 percent = 0.005, not 0.05</a:t>
                </a:r>
              </a:p>
              <a:p>
                <a:pPr marL="742950" lvl="1" indent="-285750">
                  <a:buFont typeface="Courier New" panose="02070309020205020404" pitchFamily="49" charset="0"/>
                  <a:buChar char="o"/>
                </a:pPr>
                <a:r>
                  <a:rPr lang="en-US" dirty="0">
                    <a:latin typeface="Arial" panose="020B0604020202020204" pitchFamily="34" charset="0"/>
                    <a:cs typeface="Arial" panose="020B0604020202020204" pitchFamily="34" charset="0"/>
                  </a:rPr>
                  <a:t>Total who ever got infected by day 75 </a:t>
                </a:r>
              </a:p>
              <a:p>
                <a:pPr lvl="2"/>
                <a:r>
                  <a:rPr lang="en-US" dirty="0">
                    <a:latin typeface="Arial" panose="020B0604020202020204" pitchFamily="34" charset="0"/>
                    <a:cs typeface="Arial" panose="020B0604020202020204" pitchFamily="34" charset="0"/>
                  </a:rPr>
                  <a:t>= Total recovered on day 75 + Total dead-on day 75 + Total sick on day 75 </a:t>
                </a:r>
              </a:p>
              <a:p>
                <a:pPr lvl="2"/>
                <a:r>
                  <a:rPr lang="en-US" dirty="0">
                    <a:latin typeface="Arial" panose="020B0604020202020204" pitchFamily="34" charset="0"/>
                    <a:cs typeface="Arial" panose="020B0604020202020204" pitchFamily="34" charset="0"/>
                  </a:rPr>
                  <a:t>= Total population – (Total susceptible on day 75 + Total effectively vaccinated on day 75)</a:t>
                </a:r>
              </a:p>
              <a:p>
                <a:pPr marL="742950" lvl="1" indent="-285750">
                  <a:buFont typeface="Courier New" panose="02070309020205020404" pitchFamily="49" charset="0"/>
                  <a:buChar char="o"/>
                </a:pPr>
                <a:r>
                  <a:rPr lang="en-US" dirty="0">
                    <a:latin typeface="Arial" panose="020B0604020202020204" pitchFamily="34" charset="0"/>
                    <a:cs typeface="Arial" panose="020B0604020202020204" pitchFamily="34" charset="0"/>
                  </a:rPr>
                  <a:t>Efficacy rate of masks is built into the model</a:t>
                </a:r>
              </a:p>
            </p:txBody>
          </p:sp>
        </mc:Choice>
        <mc:Fallback xmlns="">
          <p:sp>
            <p:nvSpPr>
              <p:cNvPr id="14" name="TextBox 13"/>
              <p:cNvSpPr txBox="1">
                <a:spLocks noRot="1" noChangeAspect="1" noMove="1" noResize="1" noEditPoints="1" noAdjustHandles="1" noChangeArrowheads="1" noChangeShapeType="1" noTextEdit="1"/>
              </p:cNvSpPr>
              <p:nvPr/>
            </p:nvSpPr>
            <p:spPr>
              <a:xfrm>
                <a:off x="838200" y="1676401"/>
                <a:ext cx="10515600" cy="4247317"/>
              </a:xfrm>
              <a:prstGeom prst="rect">
                <a:avLst/>
              </a:prstGeom>
              <a:blipFill>
                <a:blip r:embed="rId2"/>
                <a:stretch>
                  <a:fillRect l="-483" t="-597" b="-1194"/>
                </a:stretch>
              </a:blipFill>
            </p:spPr>
            <p:txBody>
              <a:bodyPr/>
              <a:lstStyle/>
              <a:p>
                <a:r>
                  <a:rPr lang="en-US">
                    <a:noFill/>
                  </a:rPr>
                  <a:t> </a:t>
                </a:r>
              </a:p>
            </p:txBody>
          </p:sp>
        </mc:Fallback>
      </mc:AlternateContent>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7BCCC0-C5B1-1C81-3851-F51114656E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A86BA3-D08F-C0CD-E84F-B20E4065F5CD}"/>
              </a:ext>
            </a:extLst>
          </p:cNvPr>
          <p:cNvSpPr>
            <a:spLocks noGrp="1"/>
          </p:cNvSpPr>
          <p:nvPr>
            <p:ph type="title"/>
          </p:nvPr>
        </p:nvSpPr>
        <p:spPr/>
        <p:txBody>
          <a:bodyPr>
            <a:normAutofit/>
          </a:bodyPr>
          <a:lstStyle/>
          <a:p>
            <a:r>
              <a:rPr lang="en-US" sz="4000" dirty="0">
                <a:solidFill>
                  <a:srgbClr val="005493"/>
                </a:solidFill>
              </a:rPr>
              <a:t>Agenda</a:t>
            </a:r>
          </a:p>
        </p:txBody>
      </p:sp>
      <p:sp>
        <p:nvSpPr>
          <p:cNvPr id="4" name="Slide Number Placeholder 3">
            <a:extLst>
              <a:ext uri="{FF2B5EF4-FFF2-40B4-BE49-F238E27FC236}">
                <a16:creationId xmlns:a16="http://schemas.microsoft.com/office/drawing/2014/main" id="{8B741F8B-7EAD-B512-CC88-E037BE5555C0}"/>
              </a:ext>
            </a:extLst>
          </p:cNvPr>
          <p:cNvSpPr>
            <a:spLocks noGrp="1"/>
          </p:cNvSpPr>
          <p:nvPr>
            <p:ph type="sldNum" sz="quarter" idx="12"/>
          </p:nvPr>
        </p:nvSpPr>
        <p:spPr/>
        <p:txBody>
          <a:bodyPr/>
          <a:lstStyle/>
          <a:p>
            <a:fld id="{171A6C5B-A11A-470F-8319-62E6F3F410BC}" type="slidenum">
              <a:rPr lang="en-US" smtClean="0"/>
              <a:pPr/>
              <a:t>15</a:t>
            </a:fld>
            <a:endParaRPr lang="en-US"/>
          </a:p>
        </p:txBody>
      </p:sp>
      <p:sp>
        <p:nvSpPr>
          <p:cNvPr id="3" name="Content Placeholder 2">
            <a:extLst>
              <a:ext uri="{FF2B5EF4-FFF2-40B4-BE49-F238E27FC236}">
                <a16:creationId xmlns:a16="http://schemas.microsoft.com/office/drawing/2014/main" id="{8D63EEDB-7B6B-E1C2-749F-0047C8A2084D}"/>
              </a:ext>
            </a:extLst>
          </p:cNvPr>
          <p:cNvSpPr>
            <a:spLocks noGrp="1"/>
          </p:cNvSpPr>
          <p:nvPr>
            <p:ph idx="4294967295"/>
          </p:nvPr>
        </p:nvSpPr>
        <p:spPr>
          <a:xfrm>
            <a:off x="838200" y="1690688"/>
            <a:ext cx="10515600" cy="4119563"/>
          </a:xfrm>
        </p:spPr>
        <p:txBody>
          <a:bodyPr>
            <a:normAutofit/>
          </a:bodyPr>
          <a:lstStyle/>
          <a:p>
            <a:pPr marL="0" indent="0">
              <a:lnSpc>
                <a:spcPct val="100000"/>
              </a:lnSpc>
              <a:spcBef>
                <a:spcPts val="2200"/>
              </a:spcBef>
              <a:buNone/>
            </a:pPr>
            <a:r>
              <a:rPr lang="en-US" sz="2400" dirty="0">
                <a:solidFill>
                  <a:schemeClr val="tx1">
                    <a:lumMod val="50000"/>
                    <a:lumOff val="50000"/>
                  </a:schemeClr>
                </a:solidFill>
                <a:latin typeface="Arial"/>
                <a:cs typeface="Arial"/>
              </a:rPr>
              <a:t>Review SIR Model</a:t>
            </a:r>
          </a:p>
          <a:p>
            <a:pPr marL="0" indent="0">
              <a:lnSpc>
                <a:spcPct val="100000"/>
              </a:lnSpc>
              <a:spcBef>
                <a:spcPts val="2200"/>
              </a:spcBef>
              <a:buNone/>
            </a:pPr>
            <a:r>
              <a:rPr lang="en-US" sz="2400" b="1" dirty="0">
                <a:latin typeface="Arial"/>
                <a:cs typeface="Arial"/>
              </a:rPr>
              <a:t>Infectious diseases around the world </a:t>
            </a:r>
          </a:p>
          <a:p>
            <a:pPr marL="0" indent="0">
              <a:lnSpc>
                <a:spcPct val="100000"/>
              </a:lnSpc>
              <a:spcBef>
                <a:spcPts val="2200"/>
              </a:spcBef>
              <a:buNone/>
            </a:pPr>
            <a:r>
              <a:rPr lang="en-US" sz="2400" dirty="0">
                <a:solidFill>
                  <a:schemeClr val="tx1">
                    <a:lumMod val="50000"/>
                    <a:lumOff val="50000"/>
                  </a:schemeClr>
                </a:solidFill>
                <a:latin typeface="Arial"/>
                <a:cs typeface="Arial"/>
              </a:rPr>
              <a:t>Unit assignment: What makes a good slide? </a:t>
            </a:r>
          </a:p>
          <a:p>
            <a:pPr marL="0" indent="0">
              <a:lnSpc>
                <a:spcPct val="100000"/>
              </a:lnSpc>
              <a:spcBef>
                <a:spcPts val="2200"/>
              </a:spcBef>
              <a:buNone/>
            </a:pPr>
            <a:r>
              <a:rPr lang="en-US" sz="2400" dirty="0">
                <a:solidFill>
                  <a:schemeClr val="tx1">
                    <a:lumMod val="50000"/>
                    <a:lumOff val="50000"/>
                  </a:schemeClr>
                </a:solidFill>
              </a:rPr>
              <a:t>Brainstorm and present domestic HIV/AIDS policy proposals</a:t>
            </a:r>
            <a:endParaRPr lang="en-US" sz="2400" b="1" dirty="0">
              <a:solidFill>
                <a:schemeClr val="tx1">
                  <a:lumMod val="50000"/>
                  <a:lumOff val="50000"/>
                </a:schemeClr>
              </a:solidFill>
            </a:endParaRPr>
          </a:p>
          <a:p>
            <a:pPr marL="0" indent="0">
              <a:lnSpc>
                <a:spcPct val="100000"/>
              </a:lnSpc>
              <a:spcBef>
                <a:spcPts val="2200"/>
              </a:spcBef>
              <a:buNone/>
            </a:pPr>
            <a:endParaRPr lang="en-US" sz="2400" dirty="0"/>
          </a:p>
        </p:txBody>
      </p:sp>
    </p:spTree>
    <p:extLst>
      <p:ext uri="{BB962C8B-B14F-4D97-AF65-F5344CB8AC3E}">
        <p14:creationId xmlns:p14="http://schemas.microsoft.com/office/powerpoint/2010/main" val="18941088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solidFill>
                  <a:srgbClr val="005493"/>
                </a:solidFill>
              </a:rPr>
              <a:t>Infectious Diseases Around the World</a:t>
            </a:r>
          </a:p>
        </p:txBody>
      </p:sp>
      <p:sp>
        <p:nvSpPr>
          <p:cNvPr id="6" name="Content Placeholder 5">
            <a:extLst>
              <a:ext uri="{FF2B5EF4-FFF2-40B4-BE49-F238E27FC236}">
                <a16:creationId xmlns:a16="http://schemas.microsoft.com/office/drawing/2014/main" id="{24DB531D-750D-90C5-9E4E-1B444725B452}"/>
              </a:ext>
            </a:extLst>
          </p:cNvPr>
          <p:cNvSpPr>
            <a:spLocks noGrp="1"/>
          </p:cNvSpPr>
          <p:nvPr>
            <p:ph idx="1"/>
          </p:nvPr>
        </p:nvSpPr>
        <p:spPr>
          <a:xfrm>
            <a:off x="838200" y="1825625"/>
            <a:ext cx="10515600" cy="4667250"/>
          </a:xfrm>
        </p:spPr>
        <p:txBody>
          <a:bodyPr>
            <a:normAutofit lnSpcReduction="10000"/>
          </a:bodyPr>
          <a:lstStyle/>
          <a:p>
            <a:pPr marL="0" indent="0">
              <a:lnSpc>
                <a:spcPct val="120000"/>
              </a:lnSpc>
              <a:spcBef>
                <a:spcPts val="0"/>
              </a:spcBef>
              <a:spcAft>
                <a:spcPts val="1800"/>
              </a:spcAft>
              <a:buNone/>
            </a:pPr>
            <a:r>
              <a:rPr lang="en-US" sz="2000" dirty="0"/>
              <a:t>For your state or country, please research the following:</a:t>
            </a:r>
          </a:p>
          <a:p>
            <a:pPr lvl="1">
              <a:lnSpc>
                <a:spcPct val="120000"/>
              </a:lnSpc>
              <a:spcBef>
                <a:spcPts val="0"/>
              </a:spcBef>
              <a:spcAft>
                <a:spcPts val="1800"/>
              </a:spcAft>
            </a:pPr>
            <a:r>
              <a:rPr lang="en-US" sz="1800" dirty="0"/>
              <a:t>What</a:t>
            </a:r>
            <a:r>
              <a:rPr lang="en-US" sz="1800" b="1" dirty="0"/>
              <a:t> infectious disease </a:t>
            </a:r>
            <a:r>
              <a:rPr lang="en-US" sz="1800" dirty="0"/>
              <a:t>poses a threat to public health? (Can be Covid-19, can be something else)</a:t>
            </a:r>
          </a:p>
          <a:p>
            <a:pPr lvl="1">
              <a:lnSpc>
                <a:spcPct val="120000"/>
              </a:lnSpc>
              <a:spcBef>
                <a:spcPts val="0"/>
              </a:spcBef>
              <a:spcAft>
                <a:spcPts val="1800"/>
              </a:spcAft>
            </a:pPr>
            <a:r>
              <a:rPr lang="en-US" sz="1800" dirty="0"/>
              <a:t>What are the </a:t>
            </a:r>
            <a:r>
              <a:rPr lang="en-US" sz="1800" b="1" dirty="0"/>
              <a:t>incidence, prevalence, and mortality rate </a:t>
            </a:r>
            <a:r>
              <a:rPr lang="en-US" sz="1800" dirty="0"/>
              <a:t>(per 100,000 population) for this infectious disease? (use the most recent data you can find) </a:t>
            </a:r>
          </a:p>
          <a:p>
            <a:pPr lvl="1">
              <a:lnSpc>
                <a:spcPct val="120000"/>
              </a:lnSpc>
              <a:spcBef>
                <a:spcPts val="0"/>
              </a:spcBef>
              <a:spcAft>
                <a:spcPts val="1800"/>
              </a:spcAft>
            </a:pPr>
            <a:r>
              <a:rPr lang="en-US" sz="1800" dirty="0"/>
              <a:t>What </a:t>
            </a:r>
            <a:r>
              <a:rPr lang="en-US" sz="1800" b="1" dirty="0"/>
              <a:t>mitigation policies </a:t>
            </a:r>
            <a:r>
              <a:rPr lang="en-US" sz="1800" dirty="0"/>
              <a:t>for this infectious disease are and are not currently in place? Are </a:t>
            </a:r>
            <a:r>
              <a:rPr lang="en-US" sz="1800" b="1" dirty="0"/>
              <a:t>vaccinations</a:t>
            </a:r>
            <a:r>
              <a:rPr lang="en-US" sz="1800" dirty="0"/>
              <a:t> available? What percent of the population is or is not vaccinated?</a:t>
            </a:r>
          </a:p>
          <a:p>
            <a:pPr lvl="1">
              <a:lnSpc>
                <a:spcPct val="120000"/>
              </a:lnSpc>
              <a:spcBef>
                <a:spcPts val="0"/>
              </a:spcBef>
              <a:spcAft>
                <a:spcPts val="1800"/>
              </a:spcAft>
            </a:pPr>
            <a:r>
              <a:rPr lang="en-US" sz="1800" dirty="0"/>
              <a:t>Is your state or country doing a good job with this infectious disease? Why or why not? What are the most pressing issues? </a:t>
            </a:r>
          </a:p>
          <a:p>
            <a:pPr marL="0" indent="0">
              <a:lnSpc>
                <a:spcPct val="120000"/>
              </a:lnSpc>
              <a:spcBef>
                <a:spcPts val="0"/>
              </a:spcBef>
              <a:spcAft>
                <a:spcPts val="1800"/>
              </a:spcAft>
              <a:buNone/>
            </a:pPr>
            <a:r>
              <a:rPr lang="en-US" sz="2000" dirty="0"/>
              <a:t>Nominate the person who woke up the latest this morning to summarize what you found in 3-5 minutes. </a:t>
            </a:r>
          </a:p>
        </p:txBody>
      </p:sp>
      <p:sp>
        <p:nvSpPr>
          <p:cNvPr id="4" name="Slide Number Placeholder 3"/>
          <p:cNvSpPr>
            <a:spLocks noGrp="1"/>
          </p:cNvSpPr>
          <p:nvPr>
            <p:ph type="sldNum" sz="quarter" idx="12"/>
          </p:nvPr>
        </p:nvSpPr>
        <p:spPr/>
        <p:txBody>
          <a:bodyPr/>
          <a:lstStyle/>
          <a:p>
            <a:fld id="{171A6C5B-A11A-470F-8319-62E6F3F410BC}" type="slidenum">
              <a:rPr lang="en-US" smtClean="0"/>
              <a:pPr/>
              <a:t>16</a:t>
            </a:fld>
            <a:endParaRPr lang="en-US"/>
          </a:p>
        </p:txBody>
      </p:sp>
      <p:sp>
        <p:nvSpPr>
          <p:cNvPr id="10" name="Content Placeholder 2">
            <a:extLst>
              <a:ext uri="{FF2B5EF4-FFF2-40B4-BE49-F238E27FC236}">
                <a16:creationId xmlns:a16="http://schemas.microsoft.com/office/drawing/2014/main" id="{42E945AD-D3B0-4AFA-8BEC-A03664B236FD}"/>
              </a:ext>
            </a:extLst>
          </p:cNvPr>
          <p:cNvSpPr txBox="1">
            <a:spLocks/>
          </p:cNvSpPr>
          <p:nvPr/>
        </p:nvSpPr>
        <p:spPr>
          <a:xfrm>
            <a:off x="8382000" y="1676401"/>
            <a:ext cx="1828800" cy="4373563"/>
          </a:xfrm>
          <a:prstGeom prst="rect">
            <a:avLst/>
          </a:prstGeom>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400" kern="1200">
                <a:solidFill>
                  <a:schemeClr val="tx2"/>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2"/>
                </a:solidFill>
                <a:latin typeface="+mn-lt"/>
                <a:ea typeface="+mn-ea"/>
                <a:cs typeface="+mn-cs"/>
              </a:defRPr>
            </a:lvl2pPr>
            <a:lvl3pPr marL="914400" indent="-228600" algn="l" defTabSz="914400" rtl="0" eaLnBrk="1" latinLnBrk="0" hangingPunct="1">
              <a:spcBef>
                <a:spcPct val="20000"/>
              </a:spcBef>
              <a:buClr>
                <a:schemeClr val="accent3"/>
              </a:buClr>
              <a:buFont typeface="Arial" pitchFamily="34" charset="0"/>
              <a:buChar char="•"/>
              <a:defRPr sz="1800" kern="1200">
                <a:solidFill>
                  <a:schemeClr val="tx2"/>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2"/>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600" kern="1200" baseline="0">
                <a:solidFill>
                  <a:schemeClr val="tx2"/>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a:solidFill>
                  <a:schemeClr val="tx2"/>
                </a:solidFill>
                <a:latin typeface="+mn-lt"/>
                <a:ea typeface="+mn-ea"/>
                <a:cs typeface="+mn-cs"/>
              </a:defRPr>
            </a:lvl6pPr>
            <a:lvl7pPr marL="2011680" indent="-182880" algn="l" defTabSz="914400" rtl="0" eaLnBrk="1" latinLnBrk="0" hangingPunct="1">
              <a:spcBef>
                <a:spcPct val="20000"/>
              </a:spcBef>
              <a:buClr>
                <a:schemeClr val="accent2"/>
              </a:buClr>
              <a:buFont typeface="Arial" pitchFamily="34" charset="0"/>
              <a:buChar char="•"/>
              <a:defRPr sz="1400" kern="1200">
                <a:solidFill>
                  <a:schemeClr val="tx2"/>
                </a:solidFill>
                <a:latin typeface="+mn-lt"/>
                <a:ea typeface="+mn-ea"/>
                <a:cs typeface="+mn-cs"/>
              </a:defRPr>
            </a:lvl7pPr>
            <a:lvl8pPr marL="2194560" indent="-182880" algn="l" defTabSz="914400" rtl="0" eaLnBrk="1" latinLnBrk="0" hangingPunct="1">
              <a:spcBef>
                <a:spcPct val="20000"/>
              </a:spcBef>
              <a:buClr>
                <a:schemeClr val="accent3"/>
              </a:buClr>
              <a:buFont typeface="Arial" pitchFamily="34" charset="0"/>
              <a:buChar char="•"/>
              <a:defRPr sz="1400" kern="1200">
                <a:solidFill>
                  <a:schemeClr val="tx2"/>
                </a:solidFill>
                <a:latin typeface="+mn-lt"/>
                <a:ea typeface="+mn-ea"/>
                <a:cs typeface="+mn-cs"/>
              </a:defRPr>
            </a:lvl8pPr>
            <a:lvl9pPr marL="2377440" indent="-182880" algn="l" defTabSz="914400" rtl="0" eaLnBrk="1" latinLnBrk="0" hangingPunct="1">
              <a:spcBef>
                <a:spcPct val="20000"/>
              </a:spcBef>
              <a:buClr>
                <a:schemeClr val="accent4"/>
              </a:buClr>
              <a:buFont typeface="Arial" pitchFamily="34" charset="0"/>
              <a:buChar char="•"/>
              <a:defRPr sz="1400" kern="1200">
                <a:solidFill>
                  <a:schemeClr val="tx2"/>
                </a:solidFill>
                <a:latin typeface="+mn-lt"/>
                <a:ea typeface="+mn-ea"/>
                <a:cs typeface="+mn-cs"/>
              </a:defRPr>
            </a:lvl9pPr>
          </a:lstStyle>
          <a:p>
            <a:pPr fontAlgn="auto">
              <a:spcAft>
                <a:spcPts val="0"/>
              </a:spcAft>
            </a:pPr>
            <a:endParaRPr lang="en-US" dirty="0"/>
          </a:p>
        </p:txBody>
      </p:sp>
      <p:sp>
        <p:nvSpPr>
          <p:cNvPr id="3" name="Rectangle 2">
            <a:extLst>
              <a:ext uri="{FF2B5EF4-FFF2-40B4-BE49-F238E27FC236}">
                <a16:creationId xmlns:a16="http://schemas.microsoft.com/office/drawing/2014/main" id="{23BD6C9C-A7D7-8084-13DC-83FD3A5DDC9E}"/>
              </a:ext>
            </a:extLst>
          </p:cNvPr>
          <p:cNvSpPr/>
          <p:nvPr/>
        </p:nvSpPr>
        <p:spPr>
          <a:xfrm>
            <a:off x="9300754" y="0"/>
            <a:ext cx="2891246" cy="365125"/>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i="1" dirty="0">
                <a:solidFill>
                  <a:schemeClr val="bg2"/>
                </a:solidFill>
              </a:rPr>
              <a:t>Option to skip</a:t>
            </a:r>
          </a:p>
        </p:txBody>
      </p:sp>
    </p:spTree>
    <p:extLst>
      <p:ext uri="{BB962C8B-B14F-4D97-AF65-F5344CB8AC3E}">
        <p14:creationId xmlns:p14="http://schemas.microsoft.com/office/powerpoint/2010/main" val="17049891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422C3A-1B32-C904-C3FC-707AF29362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C708CB-08FC-9091-B1E0-5A2BA54C732E}"/>
              </a:ext>
            </a:extLst>
          </p:cNvPr>
          <p:cNvSpPr>
            <a:spLocks noGrp="1"/>
          </p:cNvSpPr>
          <p:nvPr>
            <p:ph type="title"/>
          </p:nvPr>
        </p:nvSpPr>
        <p:spPr/>
        <p:txBody>
          <a:bodyPr>
            <a:normAutofit/>
          </a:bodyPr>
          <a:lstStyle/>
          <a:p>
            <a:r>
              <a:rPr lang="en-US" sz="4000" dirty="0">
                <a:solidFill>
                  <a:srgbClr val="005493"/>
                </a:solidFill>
              </a:rPr>
              <a:t>Agenda</a:t>
            </a:r>
          </a:p>
        </p:txBody>
      </p:sp>
      <p:sp>
        <p:nvSpPr>
          <p:cNvPr id="4" name="Slide Number Placeholder 3">
            <a:extLst>
              <a:ext uri="{FF2B5EF4-FFF2-40B4-BE49-F238E27FC236}">
                <a16:creationId xmlns:a16="http://schemas.microsoft.com/office/drawing/2014/main" id="{95300B7B-93BE-4BDC-9420-D0EBE38D967C}"/>
              </a:ext>
            </a:extLst>
          </p:cNvPr>
          <p:cNvSpPr>
            <a:spLocks noGrp="1"/>
          </p:cNvSpPr>
          <p:nvPr>
            <p:ph type="sldNum" sz="quarter" idx="12"/>
          </p:nvPr>
        </p:nvSpPr>
        <p:spPr/>
        <p:txBody>
          <a:bodyPr/>
          <a:lstStyle/>
          <a:p>
            <a:fld id="{171A6C5B-A11A-470F-8319-62E6F3F410BC}" type="slidenum">
              <a:rPr lang="en-US" smtClean="0"/>
              <a:pPr/>
              <a:t>17</a:t>
            </a:fld>
            <a:endParaRPr lang="en-US"/>
          </a:p>
        </p:txBody>
      </p:sp>
      <p:sp>
        <p:nvSpPr>
          <p:cNvPr id="3" name="Content Placeholder 2">
            <a:extLst>
              <a:ext uri="{FF2B5EF4-FFF2-40B4-BE49-F238E27FC236}">
                <a16:creationId xmlns:a16="http://schemas.microsoft.com/office/drawing/2014/main" id="{88A51BF7-E478-5532-6E0F-3F3A904C7BBE}"/>
              </a:ext>
            </a:extLst>
          </p:cNvPr>
          <p:cNvSpPr>
            <a:spLocks noGrp="1"/>
          </p:cNvSpPr>
          <p:nvPr>
            <p:ph idx="4294967295"/>
          </p:nvPr>
        </p:nvSpPr>
        <p:spPr>
          <a:xfrm>
            <a:off x="838200" y="1690688"/>
            <a:ext cx="10515600" cy="4119563"/>
          </a:xfrm>
        </p:spPr>
        <p:txBody>
          <a:bodyPr>
            <a:normAutofit/>
          </a:bodyPr>
          <a:lstStyle/>
          <a:p>
            <a:pPr marL="0" indent="0">
              <a:lnSpc>
                <a:spcPct val="100000"/>
              </a:lnSpc>
              <a:spcBef>
                <a:spcPts val="2200"/>
              </a:spcBef>
              <a:buNone/>
            </a:pPr>
            <a:r>
              <a:rPr lang="en-US" sz="2400" dirty="0">
                <a:solidFill>
                  <a:schemeClr val="tx1">
                    <a:lumMod val="50000"/>
                    <a:lumOff val="50000"/>
                  </a:schemeClr>
                </a:solidFill>
                <a:latin typeface="Arial"/>
                <a:cs typeface="Arial"/>
              </a:rPr>
              <a:t>Review SIR Model</a:t>
            </a:r>
          </a:p>
          <a:p>
            <a:pPr marL="0" indent="0">
              <a:lnSpc>
                <a:spcPct val="100000"/>
              </a:lnSpc>
              <a:spcBef>
                <a:spcPts val="2200"/>
              </a:spcBef>
              <a:buNone/>
            </a:pPr>
            <a:r>
              <a:rPr lang="en-US" sz="2400" dirty="0">
                <a:solidFill>
                  <a:schemeClr val="tx1">
                    <a:lumMod val="50000"/>
                    <a:lumOff val="50000"/>
                  </a:schemeClr>
                </a:solidFill>
                <a:latin typeface="Arial"/>
                <a:cs typeface="Arial"/>
              </a:rPr>
              <a:t>Infectious diseases around the world </a:t>
            </a:r>
          </a:p>
          <a:p>
            <a:pPr marL="0" indent="0">
              <a:lnSpc>
                <a:spcPct val="100000"/>
              </a:lnSpc>
              <a:spcBef>
                <a:spcPts val="2200"/>
              </a:spcBef>
              <a:buNone/>
            </a:pPr>
            <a:r>
              <a:rPr lang="en-US" sz="2400" b="1" dirty="0">
                <a:latin typeface="Arial"/>
                <a:cs typeface="Arial"/>
              </a:rPr>
              <a:t>Unit assignment: What makes a good slide? </a:t>
            </a:r>
          </a:p>
          <a:p>
            <a:pPr marL="0" indent="0">
              <a:lnSpc>
                <a:spcPct val="100000"/>
              </a:lnSpc>
              <a:spcBef>
                <a:spcPts val="2200"/>
              </a:spcBef>
              <a:buNone/>
            </a:pPr>
            <a:r>
              <a:rPr lang="en-US" sz="2400" dirty="0">
                <a:solidFill>
                  <a:schemeClr val="tx1">
                    <a:lumMod val="50000"/>
                    <a:lumOff val="50000"/>
                  </a:schemeClr>
                </a:solidFill>
              </a:rPr>
              <a:t>Brainstorm and present domestic HIV/AIDS policy proposals</a:t>
            </a:r>
            <a:endParaRPr lang="en-US" sz="2400" b="1" dirty="0">
              <a:solidFill>
                <a:schemeClr val="tx1">
                  <a:lumMod val="50000"/>
                  <a:lumOff val="50000"/>
                </a:schemeClr>
              </a:solidFill>
            </a:endParaRPr>
          </a:p>
          <a:p>
            <a:pPr marL="0" indent="0">
              <a:lnSpc>
                <a:spcPct val="100000"/>
              </a:lnSpc>
              <a:spcBef>
                <a:spcPts val="2200"/>
              </a:spcBef>
              <a:buNone/>
            </a:pPr>
            <a:endParaRPr lang="en-US" sz="2400" dirty="0"/>
          </a:p>
        </p:txBody>
      </p:sp>
    </p:spTree>
    <p:extLst>
      <p:ext uri="{BB962C8B-B14F-4D97-AF65-F5344CB8AC3E}">
        <p14:creationId xmlns:p14="http://schemas.microsoft.com/office/powerpoint/2010/main" val="16635939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82807-F2D5-4C3B-21FD-2A55D54FDE68}"/>
              </a:ext>
            </a:extLst>
          </p:cNvPr>
          <p:cNvSpPr>
            <a:spLocks noGrp="1"/>
          </p:cNvSpPr>
          <p:nvPr>
            <p:ph type="title"/>
          </p:nvPr>
        </p:nvSpPr>
        <p:spPr/>
        <p:txBody>
          <a:bodyPr>
            <a:normAutofit/>
          </a:bodyPr>
          <a:lstStyle/>
          <a:p>
            <a:r>
              <a:rPr lang="en-US" sz="4000" dirty="0">
                <a:solidFill>
                  <a:srgbClr val="005493"/>
                </a:solidFill>
              </a:rPr>
              <a:t>What makes a “good” slide?</a:t>
            </a:r>
          </a:p>
        </p:txBody>
      </p:sp>
      <p:sp>
        <p:nvSpPr>
          <p:cNvPr id="3" name="Content Placeholder 2">
            <a:extLst>
              <a:ext uri="{FF2B5EF4-FFF2-40B4-BE49-F238E27FC236}">
                <a16:creationId xmlns:a16="http://schemas.microsoft.com/office/drawing/2014/main" id="{37394073-6E41-EBD2-2873-4BFDE7E02EB5}"/>
              </a:ext>
            </a:extLst>
          </p:cNvPr>
          <p:cNvSpPr>
            <a:spLocks noGrp="1"/>
          </p:cNvSpPr>
          <p:nvPr>
            <p:ph idx="1"/>
          </p:nvPr>
        </p:nvSpPr>
        <p:spPr>
          <a:xfrm>
            <a:off x="838200" y="1825625"/>
            <a:ext cx="10663238" cy="4667250"/>
          </a:xfrm>
        </p:spPr>
        <p:txBody>
          <a:bodyPr>
            <a:normAutofit/>
          </a:bodyPr>
          <a:lstStyle/>
          <a:p>
            <a:pPr>
              <a:spcBef>
                <a:spcPts val="1800"/>
              </a:spcBef>
            </a:pPr>
            <a:r>
              <a:rPr lang="en-US" sz="1800" dirty="0"/>
              <a:t>For the unit 1 assignment, the rubric section on structure and clarity has three components. The slides:</a:t>
            </a:r>
          </a:p>
          <a:p>
            <a:pPr lvl="1">
              <a:spcBef>
                <a:spcPts val="1800"/>
              </a:spcBef>
            </a:pPr>
            <a:r>
              <a:rPr lang="en-US" sz="1800" dirty="0"/>
              <a:t>Are </a:t>
            </a:r>
            <a:r>
              <a:rPr lang="en-US" sz="1800" b="1" dirty="0"/>
              <a:t>well-organized</a:t>
            </a:r>
            <a:r>
              <a:rPr lang="en-US" sz="1800" dirty="0"/>
              <a:t>, </a:t>
            </a:r>
            <a:r>
              <a:rPr lang="en-US" sz="1800" b="1" dirty="0"/>
              <a:t>readable</a:t>
            </a:r>
            <a:r>
              <a:rPr lang="en-US" sz="1800" dirty="0"/>
              <a:t>, and </a:t>
            </a:r>
            <a:r>
              <a:rPr lang="en-US" sz="1800" b="1" dirty="0"/>
              <a:t>not too busy</a:t>
            </a:r>
            <a:r>
              <a:rPr lang="en-US" sz="1800" dirty="0"/>
              <a:t>. </a:t>
            </a:r>
          </a:p>
          <a:p>
            <a:pPr lvl="1">
              <a:spcBef>
                <a:spcPts val="1800"/>
              </a:spcBef>
            </a:pPr>
            <a:r>
              <a:rPr lang="en-US" sz="1800" dirty="0"/>
              <a:t>Contain writing that is </a:t>
            </a:r>
            <a:r>
              <a:rPr lang="en-US" sz="1800" b="1" dirty="0"/>
              <a:t>succinct</a:t>
            </a:r>
            <a:r>
              <a:rPr lang="en-US" sz="1800" dirty="0"/>
              <a:t> and </a:t>
            </a:r>
            <a:r>
              <a:rPr lang="en-US" sz="1800" b="1" dirty="0"/>
              <a:t>clear</a:t>
            </a:r>
            <a:r>
              <a:rPr lang="en-US" sz="1800" dirty="0"/>
              <a:t> with minimal typos. </a:t>
            </a:r>
          </a:p>
          <a:p>
            <a:pPr lvl="1">
              <a:spcBef>
                <a:spcPts val="1800"/>
              </a:spcBef>
            </a:pPr>
            <a:r>
              <a:rPr lang="en-US" sz="1800" dirty="0"/>
              <a:t>Do not exceed 7 slides (including title slide and references).</a:t>
            </a:r>
          </a:p>
          <a:p>
            <a:pPr>
              <a:spcBef>
                <a:spcPts val="1800"/>
              </a:spcBef>
            </a:pPr>
            <a:r>
              <a:rPr lang="en-US" sz="1800" dirty="0"/>
              <a:t>The goal of this activity is to talk through </a:t>
            </a:r>
            <a:r>
              <a:rPr lang="en-US" sz="1800" b="1" dirty="0"/>
              <a:t>what makes a well-organized, readable, and not-too-busy slide deck</a:t>
            </a:r>
          </a:p>
          <a:p>
            <a:pPr>
              <a:spcBef>
                <a:spcPts val="1800"/>
              </a:spcBef>
            </a:pPr>
            <a:r>
              <a:rPr lang="en-US" sz="1800" dirty="0"/>
              <a:t>We will go through sample slides describing HIV/AIDS activism. For each slide, think about:</a:t>
            </a:r>
          </a:p>
          <a:p>
            <a:pPr lvl="1">
              <a:spcBef>
                <a:spcPts val="1800"/>
              </a:spcBef>
            </a:pPr>
            <a:r>
              <a:rPr lang="en-US" sz="1800" dirty="0"/>
              <a:t>What helps you understand the content on the slide?</a:t>
            </a:r>
          </a:p>
          <a:p>
            <a:pPr lvl="1">
              <a:spcBef>
                <a:spcPts val="1800"/>
              </a:spcBef>
            </a:pPr>
            <a:r>
              <a:rPr lang="en-US" sz="1800" dirty="0"/>
              <a:t>What do you find confusing or difficult to read/understand?</a:t>
            </a:r>
          </a:p>
        </p:txBody>
      </p:sp>
      <p:sp>
        <p:nvSpPr>
          <p:cNvPr id="4" name="Slide Number Placeholder 3">
            <a:extLst>
              <a:ext uri="{FF2B5EF4-FFF2-40B4-BE49-F238E27FC236}">
                <a16:creationId xmlns:a16="http://schemas.microsoft.com/office/drawing/2014/main" id="{756BD801-E84F-9922-1079-70D0B33BABE3}"/>
              </a:ext>
            </a:extLst>
          </p:cNvPr>
          <p:cNvSpPr>
            <a:spLocks noGrp="1"/>
          </p:cNvSpPr>
          <p:nvPr>
            <p:ph type="sldNum" sz="quarter" idx="12"/>
          </p:nvPr>
        </p:nvSpPr>
        <p:spPr/>
        <p:txBody>
          <a:bodyPr/>
          <a:lstStyle/>
          <a:p>
            <a:fld id="{00000000-1234-1234-1234-123412341234}" type="slidenum">
              <a:rPr lang="en-US" smtClean="0"/>
              <a:pPr/>
              <a:t>18</a:t>
            </a:fld>
            <a:endParaRPr lang="en-US"/>
          </a:p>
        </p:txBody>
      </p:sp>
    </p:spTree>
    <p:extLst>
      <p:ext uri="{BB962C8B-B14F-4D97-AF65-F5344CB8AC3E}">
        <p14:creationId xmlns:p14="http://schemas.microsoft.com/office/powerpoint/2010/main" val="39303932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7F9351-E06C-FF7F-E3D7-BA2F11FB21D5}"/>
              </a:ext>
            </a:extLst>
          </p:cNvPr>
          <p:cNvSpPr>
            <a:spLocks noGrp="1"/>
          </p:cNvSpPr>
          <p:nvPr>
            <p:ph type="title"/>
          </p:nvPr>
        </p:nvSpPr>
        <p:spPr/>
        <p:txBody>
          <a:bodyPr>
            <a:normAutofit/>
          </a:bodyPr>
          <a:lstStyle/>
          <a:p>
            <a:r>
              <a:rPr lang="en-US" sz="4000" dirty="0">
                <a:solidFill>
                  <a:srgbClr val="005493"/>
                </a:solidFill>
              </a:rPr>
              <a:t>A few caveats…</a:t>
            </a:r>
          </a:p>
        </p:txBody>
      </p:sp>
      <p:sp>
        <p:nvSpPr>
          <p:cNvPr id="3" name="Content Placeholder 2">
            <a:extLst>
              <a:ext uri="{FF2B5EF4-FFF2-40B4-BE49-F238E27FC236}">
                <a16:creationId xmlns:a16="http://schemas.microsoft.com/office/drawing/2014/main" id="{1CB9D3EB-B369-886C-7F1F-6C63A3B12DBF}"/>
              </a:ext>
            </a:extLst>
          </p:cNvPr>
          <p:cNvSpPr>
            <a:spLocks noGrp="1"/>
          </p:cNvSpPr>
          <p:nvPr>
            <p:ph idx="1"/>
          </p:nvPr>
        </p:nvSpPr>
        <p:spPr/>
        <p:txBody>
          <a:bodyPr>
            <a:normAutofit/>
          </a:bodyPr>
          <a:lstStyle/>
          <a:p>
            <a:pPr>
              <a:spcBef>
                <a:spcPts val="2400"/>
              </a:spcBef>
            </a:pPr>
            <a:r>
              <a:rPr lang="en-US" sz="1800" b="1" dirty="0"/>
              <a:t>None of these example slides are perfect</a:t>
            </a:r>
            <a:r>
              <a:rPr lang="en-US" sz="1800" dirty="0"/>
              <a:t>; they are all meant to prompt discussion about what makes a slide easy to read and understand. </a:t>
            </a:r>
          </a:p>
          <a:p>
            <a:pPr>
              <a:spcBef>
                <a:spcPts val="2400"/>
              </a:spcBef>
            </a:pPr>
            <a:r>
              <a:rPr lang="en-US" sz="1800" dirty="0"/>
              <a:t>There are also many more ways to organize slides well than are shown here, so </a:t>
            </a:r>
            <a:r>
              <a:rPr lang="en-US" sz="1800" b="1" dirty="0"/>
              <a:t>don’t limit yourself to these formats. </a:t>
            </a:r>
          </a:p>
          <a:p>
            <a:pPr lvl="1">
              <a:spcBef>
                <a:spcPts val="2400"/>
              </a:spcBef>
            </a:pPr>
            <a:r>
              <a:rPr lang="en-US" sz="1800" dirty="0"/>
              <a:t>For example, these slides don’t use images/color, but images and color can be very helpful! </a:t>
            </a:r>
            <a:endParaRPr lang="en-US" sz="1600" dirty="0"/>
          </a:p>
          <a:p>
            <a:pPr>
              <a:spcBef>
                <a:spcPts val="2400"/>
              </a:spcBef>
            </a:pPr>
            <a:r>
              <a:rPr lang="en-US" sz="1800" dirty="0"/>
              <a:t>This advice applies to slide decks that are meant to be read. In other contexts, when you’re presenting, you might have less content on slides because you can speak some of the content. </a:t>
            </a:r>
          </a:p>
          <a:p>
            <a:pPr>
              <a:spcBef>
                <a:spcPts val="2400"/>
              </a:spcBef>
            </a:pPr>
            <a:r>
              <a:rPr lang="en-US" sz="1800" dirty="0"/>
              <a:t>Also remember: the point of these slides is not the content! It’s </a:t>
            </a:r>
            <a:r>
              <a:rPr lang="en-US" sz="1800" i="1" dirty="0"/>
              <a:t>how</a:t>
            </a:r>
            <a:r>
              <a:rPr lang="en-US" sz="1800" dirty="0"/>
              <a:t> the content is presented. Your slides for the unit assignment will have different goals and therefore different types of content. </a:t>
            </a:r>
          </a:p>
          <a:p>
            <a:pPr>
              <a:spcBef>
                <a:spcPts val="2400"/>
              </a:spcBef>
            </a:pPr>
            <a:endParaRPr lang="en-US" sz="1800" dirty="0"/>
          </a:p>
        </p:txBody>
      </p:sp>
      <p:sp>
        <p:nvSpPr>
          <p:cNvPr id="4" name="Slide Number Placeholder 3">
            <a:extLst>
              <a:ext uri="{FF2B5EF4-FFF2-40B4-BE49-F238E27FC236}">
                <a16:creationId xmlns:a16="http://schemas.microsoft.com/office/drawing/2014/main" id="{676B9A33-8C9B-8078-BB55-57128CFBE3B8}"/>
              </a:ext>
            </a:extLst>
          </p:cNvPr>
          <p:cNvSpPr>
            <a:spLocks noGrp="1"/>
          </p:cNvSpPr>
          <p:nvPr>
            <p:ph type="sldNum" sz="quarter" idx="12"/>
          </p:nvPr>
        </p:nvSpPr>
        <p:spPr/>
        <p:txBody>
          <a:bodyPr/>
          <a:lstStyle/>
          <a:p>
            <a:fld id="{00000000-1234-1234-1234-123412341234}" type="slidenum">
              <a:rPr lang="en-US" smtClean="0"/>
              <a:pPr/>
              <a:t>19</a:t>
            </a:fld>
            <a:endParaRPr lang="en-US"/>
          </a:p>
        </p:txBody>
      </p:sp>
    </p:spTree>
    <p:extLst>
      <p:ext uri="{BB962C8B-B14F-4D97-AF65-F5344CB8AC3E}">
        <p14:creationId xmlns:p14="http://schemas.microsoft.com/office/powerpoint/2010/main" val="24236864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4A24AFB-357A-617A-F232-31C0B2B0FB80}"/>
              </a:ext>
            </a:extLst>
          </p:cNvPr>
          <p:cNvSpPr/>
          <p:nvPr/>
        </p:nvSpPr>
        <p:spPr>
          <a:xfrm>
            <a:off x="0" y="0"/>
            <a:ext cx="12192000" cy="365125"/>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097FA33-B7F0-D5D9-247A-00119B5900E2}"/>
              </a:ext>
            </a:extLst>
          </p:cNvPr>
          <p:cNvSpPr>
            <a:spLocks noGrp="1"/>
          </p:cNvSpPr>
          <p:nvPr>
            <p:ph type="title"/>
          </p:nvPr>
        </p:nvSpPr>
        <p:spPr/>
        <p:txBody>
          <a:bodyPr/>
          <a:lstStyle/>
          <a:p>
            <a:r>
              <a:rPr lang="en-US" dirty="0"/>
              <a:t>Activism</a:t>
            </a:r>
          </a:p>
        </p:txBody>
      </p:sp>
      <p:sp>
        <p:nvSpPr>
          <p:cNvPr id="3" name="Content Placeholder 2">
            <a:extLst>
              <a:ext uri="{FF2B5EF4-FFF2-40B4-BE49-F238E27FC236}">
                <a16:creationId xmlns:a16="http://schemas.microsoft.com/office/drawing/2014/main" id="{474A8925-CD2E-432B-EAC0-26279802426E}"/>
              </a:ext>
            </a:extLst>
          </p:cNvPr>
          <p:cNvSpPr>
            <a:spLocks noGrp="1"/>
          </p:cNvSpPr>
          <p:nvPr>
            <p:ph idx="1"/>
          </p:nvPr>
        </p:nvSpPr>
        <p:spPr/>
        <p:txBody>
          <a:bodyPr>
            <a:normAutofit/>
          </a:bodyPr>
          <a:lstStyle/>
          <a:p>
            <a:r>
              <a:rPr lang="en-US" sz="2400" b="1" dirty="0"/>
              <a:t>Community-based health organizations </a:t>
            </a:r>
            <a:r>
              <a:rPr lang="en-US" sz="2400" dirty="0"/>
              <a:t>provided care such as crisis counseling and legal aid</a:t>
            </a:r>
            <a:r>
              <a:rPr lang="en-US" sz="2400" baseline="30000" dirty="0"/>
              <a:t>1</a:t>
            </a:r>
          </a:p>
          <a:p>
            <a:endParaRPr lang="en-US" sz="2400" dirty="0"/>
          </a:p>
          <a:p>
            <a:r>
              <a:rPr lang="en-US" sz="2400" b="1" dirty="0"/>
              <a:t>Civil disobedience </a:t>
            </a:r>
            <a:r>
              <a:rPr lang="en-US" sz="2400" dirty="0"/>
              <a:t>brought attention to the inequities in funding and access to care</a:t>
            </a:r>
            <a:r>
              <a:rPr lang="en-US" sz="2400" baseline="30000" dirty="0"/>
              <a:t>2</a:t>
            </a:r>
            <a:endParaRPr lang="en-US" sz="2400" b="1" baseline="30000" dirty="0"/>
          </a:p>
          <a:p>
            <a:endParaRPr lang="en-US" sz="2400" dirty="0"/>
          </a:p>
          <a:p>
            <a:r>
              <a:rPr lang="en-US" sz="2400" b="1" dirty="0"/>
              <a:t>Science activism </a:t>
            </a:r>
            <a:r>
              <a:rPr lang="en-US" sz="2400" dirty="0"/>
              <a:t>resulted in faster clinical trials and greater funding for research</a:t>
            </a:r>
            <a:r>
              <a:rPr lang="en-US" sz="2400" baseline="30000" dirty="0"/>
              <a:t>3</a:t>
            </a:r>
            <a:endParaRPr lang="en-US" sz="2400" b="1" baseline="30000" dirty="0"/>
          </a:p>
        </p:txBody>
      </p:sp>
      <p:sp>
        <p:nvSpPr>
          <p:cNvPr id="4" name="Slide Number Placeholder 3">
            <a:extLst>
              <a:ext uri="{FF2B5EF4-FFF2-40B4-BE49-F238E27FC236}">
                <a16:creationId xmlns:a16="http://schemas.microsoft.com/office/drawing/2014/main" id="{BA345D36-5624-A08C-2168-B69490B3EA2E}"/>
              </a:ext>
            </a:extLst>
          </p:cNvPr>
          <p:cNvSpPr>
            <a:spLocks noGrp="1"/>
          </p:cNvSpPr>
          <p:nvPr>
            <p:ph type="sldNum" sz="quarter" idx="12"/>
          </p:nvPr>
        </p:nvSpPr>
        <p:spPr/>
        <p:txBody>
          <a:bodyPr/>
          <a:lstStyle/>
          <a:p>
            <a:fld id="{00000000-1234-1234-1234-123412341234}" type="slidenum">
              <a:rPr lang="en-US" smtClean="0"/>
              <a:pPr/>
              <a:t>20</a:t>
            </a:fld>
            <a:endParaRPr lang="en-US"/>
          </a:p>
        </p:txBody>
      </p:sp>
      <p:sp>
        <p:nvSpPr>
          <p:cNvPr id="5" name="TextBox 4">
            <a:extLst>
              <a:ext uri="{FF2B5EF4-FFF2-40B4-BE49-F238E27FC236}">
                <a16:creationId xmlns:a16="http://schemas.microsoft.com/office/drawing/2014/main" id="{6D2000F3-4C73-7938-51E4-E5084C194D56}"/>
              </a:ext>
            </a:extLst>
          </p:cNvPr>
          <p:cNvSpPr txBox="1"/>
          <p:nvPr/>
        </p:nvSpPr>
        <p:spPr>
          <a:xfrm>
            <a:off x="95534" y="26571"/>
            <a:ext cx="1725152" cy="338554"/>
          </a:xfrm>
          <a:prstGeom prst="rect">
            <a:avLst/>
          </a:prstGeom>
          <a:noFill/>
        </p:spPr>
        <p:txBody>
          <a:bodyPr wrap="none" rtlCol="0">
            <a:spAutoFit/>
          </a:bodyPr>
          <a:lstStyle/>
          <a:p>
            <a:r>
              <a:rPr lang="en-US" sz="1600" b="1" i="1" dirty="0">
                <a:solidFill>
                  <a:srgbClr val="C00000"/>
                </a:solidFill>
                <a:latin typeface="Arial" panose="020B0604020202020204" pitchFamily="34" charset="0"/>
                <a:cs typeface="Arial" panose="020B0604020202020204" pitchFamily="34" charset="0"/>
              </a:rPr>
              <a:t>Example slide 1</a:t>
            </a:r>
          </a:p>
        </p:txBody>
      </p:sp>
    </p:spTree>
    <p:extLst>
      <p:ext uri="{BB962C8B-B14F-4D97-AF65-F5344CB8AC3E}">
        <p14:creationId xmlns:p14="http://schemas.microsoft.com/office/powerpoint/2010/main" val="35890226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94F395-9DE3-DEA2-DEF4-76AF2B76F64F}"/>
              </a:ext>
            </a:extLst>
          </p:cNvPr>
          <p:cNvSpPr>
            <a:spLocks noGrp="1"/>
          </p:cNvSpPr>
          <p:nvPr>
            <p:ph type="title"/>
          </p:nvPr>
        </p:nvSpPr>
        <p:spPr/>
        <p:txBody>
          <a:bodyPr/>
          <a:lstStyle/>
          <a:p>
            <a:r>
              <a:rPr lang="en-US" dirty="0"/>
              <a:t>Activists responded to the HIV/AIDS crisis in three main ways</a:t>
            </a:r>
          </a:p>
        </p:txBody>
      </p:sp>
      <p:sp>
        <p:nvSpPr>
          <p:cNvPr id="4" name="Slide Number Placeholder 3">
            <a:extLst>
              <a:ext uri="{FF2B5EF4-FFF2-40B4-BE49-F238E27FC236}">
                <a16:creationId xmlns:a16="http://schemas.microsoft.com/office/drawing/2014/main" id="{34D0882E-F686-59FA-A87C-5343BB15C24F}"/>
              </a:ext>
            </a:extLst>
          </p:cNvPr>
          <p:cNvSpPr>
            <a:spLocks noGrp="1"/>
          </p:cNvSpPr>
          <p:nvPr>
            <p:ph type="sldNum" sz="quarter" idx="12"/>
          </p:nvPr>
        </p:nvSpPr>
        <p:spPr>
          <a:xfrm>
            <a:off x="9272516" y="6550926"/>
            <a:ext cx="2743200" cy="365125"/>
          </a:xfrm>
        </p:spPr>
        <p:txBody>
          <a:bodyPr/>
          <a:lstStyle/>
          <a:p>
            <a:fld id="{00000000-1234-1234-1234-123412341234}" type="slidenum">
              <a:rPr lang="en-US" smtClean="0"/>
              <a:pPr/>
              <a:t>21</a:t>
            </a:fld>
            <a:endParaRPr lang="en-US" dirty="0"/>
          </a:p>
        </p:txBody>
      </p:sp>
      <p:sp>
        <p:nvSpPr>
          <p:cNvPr id="5" name="Rectangle 4">
            <a:extLst>
              <a:ext uri="{FF2B5EF4-FFF2-40B4-BE49-F238E27FC236}">
                <a16:creationId xmlns:a16="http://schemas.microsoft.com/office/drawing/2014/main" id="{FB58E856-0BE2-6AB4-3274-40F4CB06204A}"/>
              </a:ext>
            </a:extLst>
          </p:cNvPr>
          <p:cNvSpPr/>
          <p:nvPr/>
        </p:nvSpPr>
        <p:spPr>
          <a:xfrm>
            <a:off x="0" y="0"/>
            <a:ext cx="12192000" cy="365125"/>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0474A666-5857-DF8D-9E85-9D3596C58663}"/>
              </a:ext>
            </a:extLst>
          </p:cNvPr>
          <p:cNvSpPr txBox="1"/>
          <p:nvPr/>
        </p:nvSpPr>
        <p:spPr>
          <a:xfrm>
            <a:off x="95534" y="26571"/>
            <a:ext cx="1725152" cy="338554"/>
          </a:xfrm>
          <a:prstGeom prst="rect">
            <a:avLst/>
          </a:prstGeom>
          <a:noFill/>
        </p:spPr>
        <p:txBody>
          <a:bodyPr wrap="none" rtlCol="0">
            <a:spAutoFit/>
          </a:bodyPr>
          <a:lstStyle/>
          <a:p>
            <a:r>
              <a:rPr lang="en-US" sz="1600" b="1" i="1" dirty="0">
                <a:solidFill>
                  <a:srgbClr val="C00000"/>
                </a:solidFill>
                <a:latin typeface="Arial" panose="020B0604020202020204" pitchFamily="34" charset="0"/>
                <a:cs typeface="Arial" panose="020B0604020202020204" pitchFamily="34" charset="0"/>
              </a:rPr>
              <a:t>Example slide 2</a:t>
            </a:r>
          </a:p>
        </p:txBody>
      </p:sp>
      <p:sp>
        <p:nvSpPr>
          <p:cNvPr id="7" name="Rectangle 6">
            <a:extLst>
              <a:ext uri="{FF2B5EF4-FFF2-40B4-BE49-F238E27FC236}">
                <a16:creationId xmlns:a16="http://schemas.microsoft.com/office/drawing/2014/main" id="{5A3B5B5B-D5C3-D754-5877-59F3A6D6762A}"/>
              </a:ext>
            </a:extLst>
          </p:cNvPr>
          <p:cNvSpPr/>
          <p:nvPr/>
        </p:nvSpPr>
        <p:spPr>
          <a:xfrm>
            <a:off x="845350" y="1892039"/>
            <a:ext cx="3528757" cy="354842"/>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b="1" dirty="0">
                <a:latin typeface="Arial" panose="020B0604020202020204" pitchFamily="34" charset="0"/>
                <a:cs typeface="Arial" panose="020B0604020202020204" pitchFamily="34" charset="0"/>
              </a:rPr>
              <a:t>Community-Based Health Organizations</a:t>
            </a:r>
          </a:p>
        </p:txBody>
      </p:sp>
      <p:sp>
        <p:nvSpPr>
          <p:cNvPr id="8" name="Rectangle 7">
            <a:extLst>
              <a:ext uri="{FF2B5EF4-FFF2-40B4-BE49-F238E27FC236}">
                <a16:creationId xmlns:a16="http://schemas.microsoft.com/office/drawing/2014/main" id="{E4C160AE-DFF3-8957-E52B-F262E7D129AE}"/>
              </a:ext>
            </a:extLst>
          </p:cNvPr>
          <p:cNvSpPr/>
          <p:nvPr/>
        </p:nvSpPr>
        <p:spPr>
          <a:xfrm>
            <a:off x="4640239" y="1892039"/>
            <a:ext cx="3529584" cy="363491"/>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latin typeface="Arial" panose="020B0604020202020204" pitchFamily="34" charset="0"/>
                <a:cs typeface="Arial" panose="020B0604020202020204" pitchFamily="34" charset="0"/>
              </a:rPr>
              <a:t>Civil Disobedience</a:t>
            </a:r>
          </a:p>
        </p:txBody>
      </p:sp>
      <p:sp>
        <p:nvSpPr>
          <p:cNvPr id="9" name="Rectangle 8">
            <a:extLst>
              <a:ext uri="{FF2B5EF4-FFF2-40B4-BE49-F238E27FC236}">
                <a16:creationId xmlns:a16="http://schemas.microsoft.com/office/drawing/2014/main" id="{D8BAE88B-E06C-22A9-2E1B-856D034D4F25}"/>
              </a:ext>
            </a:extLst>
          </p:cNvPr>
          <p:cNvSpPr/>
          <p:nvPr/>
        </p:nvSpPr>
        <p:spPr>
          <a:xfrm>
            <a:off x="8399059" y="1878392"/>
            <a:ext cx="3529584" cy="354842"/>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latin typeface="Arial" panose="020B0604020202020204" pitchFamily="34" charset="0"/>
                <a:cs typeface="Arial" panose="020B0604020202020204" pitchFamily="34" charset="0"/>
              </a:rPr>
              <a:t>Science Activism</a:t>
            </a:r>
          </a:p>
        </p:txBody>
      </p:sp>
      <p:sp>
        <p:nvSpPr>
          <p:cNvPr id="10" name="TextBox 9">
            <a:extLst>
              <a:ext uri="{FF2B5EF4-FFF2-40B4-BE49-F238E27FC236}">
                <a16:creationId xmlns:a16="http://schemas.microsoft.com/office/drawing/2014/main" id="{AAE286A9-F789-9A4D-4F39-5601434FD901}"/>
              </a:ext>
            </a:extLst>
          </p:cNvPr>
          <p:cNvSpPr txBox="1"/>
          <p:nvPr/>
        </p:nvSpPr>
        <p:spPr>
          <a:xfrm>
            <a:off x="838200" y="2388358"/>
            <a:ext cx="3535907" cy="4154984"/>
          </a:xfrm>
          <a:prstGeom prst="rect">
            <a:avLst/>
          </a:prstGeom>
          <a:noFill/>
        </p:spPr>
        <p:txBody>
          <a:bodyPr wrap="square" rtlCol="0">
            <a:spAutoFit/>
          </a:bodyPr>
          <a:lstStyle/>
          <a:p>
            <a:pPr marL="285750" indent="-285750">
              <a:spcBef>
                <a:spcPts val="600"/>
              </a:spcBef>
              <a:buFont typeface="Arial" panose="020B0604020202020204" pitchFamily="34" charset="0"/>
              <a:buChar char="•"/>
            </a:pPr>
            <a:r>
              <a:rPr lang="en-US" sz="1400" b="1" dirty="0">
                <a:latin typeface="Arial" panose="020B0604020202020204" pitchFamily="34" charset="0"/>
                <a:cs typeface="Arial" panose="020B0604020202020204" pitchFamily="34" charset="0"/>
              </a:rPr>
              <a:t>Community-based health organizations </a:t>
            </a:r>
            <a:r>
              <a:rPr lang="en-US" sz="1400" dirty="0">
                <a:latin typeface="Arial" panose="020B0604020202020204" pitchFamily="34" charset="0"/>
                <a:cs typeface="Arial" panose="020B0604020202020204" pitchFamily="34" charset="0"/>
              </a:rPr>
              <a:t>offered services like:</a:t>
            </a:r>
          </a:p>
          <a:p>
            <a:pPr marL="742950" lvl="1" indent="-285750">
              <a:spcBef>
                <a:spcPts val="600"/>
              </a:spcBef>
              <a:buFont typeface="System Font Regular"/>
              <a:buChar char="−"/>
            </a:pPr>
            <a:r>
              <a:rPr lang="en-US" sz="1400" dirty="0">
                <a:latin typeface="Arial" panose="020B0604020202020204" pitchFamily="34" charset="0"/>
                <a:cs typeface="Arial" panose="020B0604020202020204" pitchFamily="34" charset="0"/>
              </a:rPr>
              <a:t>Legal aid</a:t>
            </a:r>
          </a:p>
          <a:p>
            <a:pPr marL="742950" lvl="1" indent="-285750">
              <a:spcBef>
                <a:spcPts val="600"/>
              </a:spcBef>
              <a:buFont typeface="System Font Regular"/>
              <a:buChar char="−"/>
            </a:pPr>
            <a:r>
              <a:rPr lang="en-US" sz="1400" dirty="0">
                <a:latin typeface="Arial" panose="020B0604020202020204" pitchFamily="34" charset="0"/>
                <a:cs typeface="Arial" panose="020B0604020202020204" pitchFamily="34" charset="0"/>
              </a:rPr>
              <a:t>Crisis counseling</a:t>
            </a:r>
          </a:p>
          <a:p>
            <a:pPr marL="742950" lvl="1" indent="-285750">
              <a:spcBef>
                <a:spcPts val="600"/>
              </a:spcBef>
              <a:buFont typeface="System Font Regular"/>
              <a:buChar char="−"/>
            </a:pPr>
            <a:r>
              <a:rPr lang="en-US" sz="1400" dirty="0">
                <a:latin typeface="Arial" panose="020B0604020202020204" pitchFamily="34" charset="0"/>
                <a:cs typeface="Arial" panose="020B0604020202020204" pitchFamily="34" charset="0"/>
              </a:rPr>
              <a:t>Social workers</a:t>
            </a:r>
            <a:r>
              <a:rPr lang="en-US" sz="1400" baseline="30000" dirty="0">
                <a:latin typeface="Arial" panose="020B0604020202020204" pitchFamily="34" charset="0"/>
                <a:cs typeface="Arial" panose="020B0604020202020204" pitchFamily="34" charset="0"/>
              </a:rPr>
              <a:t>1</a:t>
            </a:r>
          </a:p>
          <a:p>
            <a:pPr marL="285750" indent="-285750">
              <a:spcBef>
                <a:spcPts val="600"/>
              </a:spcBef>
              <a:buFont typeface="Arial" panose="020B0604020202020204" pitchFamily="34" charset="0"/>
              <a:buChar char="•"/>
            </a:pPr>
            <a:r>
              <a:rPr lang="en-US" sz="1400" dirty="0">
                <a:latin typeface="Arial" panose="020B0604020202020204" pitchFamily="34" charset="0"/>
                <a:cs typeface="Arial" panose="020B0604020202020204" pitchFamily="34" charset="0"/>
              </a:rPr>
              <a:t>These organizations helped improve HIV/AIDS care and continue to do so in the present day.  </a:t>
            </a:r>
          </a:p>
          <a:p>
            <a:pPr marL="285750" indent="-285750">
              <a:spcBef>
                <a:spcPts val="600"/>
              </a:spcBef>
              <a:buFont typeface="Arial" panose="020B0604020202020204" pitchFamily="34" charset="0"/>
              <a:buChar char="•"/>
            </a:pPr>
            <a:r>
              <a:rPr lang="en-US" sz="1400" dirty="0">
                <a:latin typeface="Arial" panose="020B0604020202020204" pitchFamily="34" charset="0"/>
                <a:cs typeface="Arial" panose="020B0604020202020204" pitchFamily="34" charset="0"/>
              </a:rPr>
              <a:t>For example, at the Gay Men’s Health Crisis in New York City:</a:t>
            </a:r>
          </a:p>
          <a:p>
            <a:pPr marL="742950" lvl="1" indent="-285750">
              <a:spcBef>
                <a:spcPts val="600"/>
              </a:spcBef>
              <a:buFont typeface="System Font Regular"/>
              <a:buChar char="−"/>
            </a:pPr>
            <a:r>
              <a:rPr lang="en-US" sz="1400" dirty="0">
                <a:latin typeface="Arial" panose="020B0604020202020204" pitchFamily="34" charset="0"/>
                <a:cs typeface="Arial" panose="020B0604020202020204" pitchFamily="34" charset="0"/>
              </a:rPr>
              <a:t>91% of patients who test positive are linked to care</a:t>
            </a:r>
            <a:endParaRPr lang="en-US" sz="1400" baseline="30000" dirty="0">
              <a:latin typeface="Arial" panose="020B0604020202020204" pitchFamily="34" charset="0"/>
              <a:cs typeface="Arial" panose="020B0604020202020204" pitchFamily="34" charset="0"/>
            </a:endParaRPr>
          </a:p>
          <a:p>
            <a:pPr marL="742950" lvl="1" indent="-285750">
              <a:spcBef>
                <a:spcPts val="600"/>
              </a:spcBef>
              <a:buFont typeface="System Font Regular"/>
              <a:buChar char="−"/>
            </a:pPr>
            <a:r>
              <a:rPr lang="en-US" sz="1400" dirty="0">
                <a:latin typeface="Arial" panose="020B0604020202020204" pitchFamily="34" charset="0"/>
                <a:cs typeface="Arial" panose="020B0604020202020204" pitchFamily="34" charset="0"/>
              </a:rPr>
              <a:t>89% of clients are adherent to their HIV medications</a:t>
            </a:r>
          </a:p>
          <a:p>
            <a:pPr marL="742950" lvl="1" indent="-285750">
              <a:spcBef>
                <a:spcPts val="600"/>
              </a:spcBef>
              <a:buFont typeface="System Font Regular"/>
              <a:buChar char="−"/>
            </a:pPr>
            <a:r>
              <a:rPr lang="en-US" sz="1400" dirty="0">
                <a:latin typeface="Arial" panose="020B0604020202020204" pitchFamily="34" charset="0"/>
                <a:cs typeface="Arial" panose="020B0604020202020204" pitchFamily="34" charset="0"/>
              </a:rPr>
              <a:t>94% of clients are virally supressed</a:t>
            </a:r>
            <a:r>
              <a:rPr lang="en-US" sz="1400" baseline="30000" dirty="0">
                <a:latin typeface="Arial" panose="020B0604020202020204" pitchFamily="34" charset="0"/>
                <a:cs typeface="Arial" panose="020B0604020202020204" pitchFamily="34" charset="0"/>
              </a:rPr>
              <a:t>2</a:t>
            </a:r>
            <a:endParaRPr lang="en-US" sz="1400" dirty="0">
              <a:latin typeface="Arial" panose="020B0604020202020204" pitchFamily="34" charset="0"/>
              <a:cs typeface="Arial" panose="020B0604020202020204" pitchFamily="34" charset="0"/>
            </a:endParaRPr>
          </a:p>
        </p:txBody>
      </p:sp>
      <p:sp>
        <p:nvSpPr>
          <p:cNvPr id="14" name="Rectangle 13">
            <a:extLst>
              <a:ext uri="{FF2B5EF4-FFF2-40B4-BE49-F238E27FC236}">
                <a16:creationId xmlns:a16="http://schemas.microsoft.com/office/drawing/2014/main" id="{DBD5086B-F2E2-D108-ADAF-D3616453BC42}"/>
              </a:ext>
            </a:extLst>
          </p:cNvPr>
          <p:cNvSpPr/>
          <p:nvPr/>
        </p:nvSpPr>
        <p:spPr>
          <a:xfrm>
            <a:off x="838200" y="1892039"/>
            <a:ext cx="3535907" cy="467253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1ADB1A7A-AFC2-3617-BF03-E08548E95043}"/>
              </a:ext>
            </a:extLst>
          </p:cNvPr>
          <p:cNvSpPr txBox="1"/>
          <p:nvPr/>
        </p:nvSpPr>
        <p:spPr>
          <a:xfrm>
            <a:off x="4633089" y="2388358"/>
            <a:ext cx="3536734" cy="4093428"/>
          </a:xfrm>
          <a:prstGeom prst="rect">
            <a:avLst/>
          </a:prstGeom>
          <a:noFill/>
        </p:spPr>
        <p:txBody>
          <a:bodyPr wrap="square" rtlCol="0">
            <a:spAutoFit/>
          </a:bodyPr>
          <a:lstStyle/>
          <a:p>
            <a:pPr marL="285750" indent="-285750">
              <a:spcBef>
                <a:spcPts val="1200"/>
              </a:spcBef>
              <a:buFont typeface="Arial" panose="020B0604020202020204" pitchFamily="34" charset="0"/>
              <a:buChar char="•"/>
            </a:pPr>
            <a:r>
              <a:rPr lang="en-US" sz="1400" b="1" dirty="0">
                <a:latin typeface="Arial" panose="020B0604020202020204" pitchFamily="34" charset="0"/>
                <a:cs typeface="Arial" panose="020B0604020202020204" pitchFamily="34" charset="0"/>
              </a:rPr>
              <a:t>Protesting</a:t>
            </a:r>
            <a:r>
              <a:rPr lang="en-US" sz="1400" dirty="0">
                <a:latin typeface="Arial" panose="020B0604020202020204" pitchFamily="34" charset="0"/>
                <a:cs typeface="Arial" panose="020B0604020202020204" pitchFamily="34" charset="0"/>
              </a:rPr>
              <a:t> brought attention to the government’s slow response to HIV/AIDS</a:t>
            </a:r>
          </a:p>
          <a:p>
            <a:pPr marL="285750" indent="-285750">
              <a:spcBef>
                <a:spcPts val="1200"/>
              </a:spcBef>
              <a:buFont typeface="Arial" panose="020B0604020202020204" pitchFamily="34" charset="0"/>
              <a:buChar char="•"/>
            </a:pPr>
            <a:r>
              <a:rPr lang="en-US" sz="1400" dirty="0">
                <a:latin typeface="Arial" panose="020B0604020202020204" pitchFamily="34" charset="0"/>
                <a:cs typeface="Arial" panose="020B0604020202020204" pitchFamily="34" charset="0"/>
              </a:rPr>
              <a:t>Activists targeted:</a:t>
            </a:r>
          </a:p>
          <a:p>
            <a:pPr marL="742950" lvl="1" indent="-285750">
              <a:spcBef>
                <a:spcPts val="1200"/>
              </a:spcBef>
              <a:buFont typeface="System Font Regular"/>
              <a:buChar char="-"/>
            </a:pPr>
            <a:r>
              <a:rPr lang="en-US" sz="1400" b="1" dirty="0">
                <a:latin typeface="Arial" panose="020B0604020202020204" pitchFamily="34" charset="0"/>
                <a:cs typeface="Arial" panose="020B0604020202020204" pitchFamily="34" charset="0"/>
              </a:rPr>
              <a:t>Wall Street</a:t>
            </a:r>
            <a:r>
              <a:rPr lang="en-US" sz="1400" dirty="0">
                <a:latin typeface="Arial" panose="020B0604020202020204" pitchFamily="34" charset="0"/>
                <a:cs typeface="Arial" panose="020B0604020202020204" pitchFamily="34" charset="0"/>
              </a:rPr>
              <a:t>: to encourage private companies to research treatments</a:t>
            </a:r>
          </a:p>
          <a:p>
            <a:pPr marL="742950" lvl="1" indent="-285750">
              <a:spcBef>
                <a:spcPts val="1200"/>
              </a:spcBef>
              <a:buFont typeface="System Font Regular"/>
              <a:buChar char="-"/>
            </a:pPr>
            <a:r>
              <a:rPr lang="en-US" sz="1400" b="1" dirty="0">
                <a:latin typeface="Arial" panose="020B0604020202020204" pitchFamily="34" charset="0"/>
                <a:cs typeface="Arial" panose="020B0604020202020204" pitchFamily="34" charset="0"/>
              </a:rPr>
              <a:t>FDA</a:t>
            </a:r>
            <a:r>
              <a:rPr lang="en-US" sz="1400" dirty="0">
                <a:latin typeface="Arial" panose="020B0604020202020204" pitchFamily="34" charset="0"/>
                <a:cs typeface="Arial" panose="020B0604020202020204" pitchFamily="34" charset="0"/>
              </a:rPr>
              <a:t>: to push FDA to approve treatments more quickly</a:t>
            </a:r>
          </a:p>
          <a:p>
            <a:pPr marL="742950" lvl="1" indent="-285750">
              <a:spcBef>
                <a:spcPts val="1200"/>
              </a:spcBef>
              <a:buFont typeface="System Font Regular"/>
              <a:buChar char="-"/>
            </a:pPr>
            <a:r>
              <a:rPr lang="en-US" sz="1400" b="1" dirty="0">
                <a:latin typeface="Arial" panose="020B0604020202020204" pitchFamily="34" charset="0"/>
                <a:cs typeface="Arial" panose="020B0604020202020204" pitchFamily="34" charset="0"/>
              </a:rPr>
              <a:t>NIH</a:t>
            </a:r>
            <a:r>
              <a:rPr lang="en-US" sz="1400" dirty="0">
                <a:latin typeface="Arial" panose="020B0604020202020204" pitchFamily="34" charset="0"/>
                <a:cs typeface="Arial" panose="020B0604020202020204" pitchFamily="34" charset="0"/>
              </a:rPr>
              <a:t>: to encourage the NIH to fund more research into HIV/AIDS treatment</a:t>
            </a:r>
          </a:p>
          <a:p>
            <a:pPr marL="742950" lvl="1" indent="-285750">
              <a:spcBef>
                <a:spcPts val="1200"/>
              </a:spcBef>
              <a:buFont typeface="System Font Regular"/>
              <a:buChar char="-"/>
            </a:pPr>
            <a:r>
              <a:rPr lang="en-US" sz="1400" b="1" dirty="0">
                <a:latin typeface="Arial" panose="020B0604020202020204" pitchFamily="34" charset="0"/>
                <a:cs typeface="Arial" panose="020B0604020202020204" pitchFamily="34" charset="0"/>
              </a:rPr>
              <a:t>Catholic Church</a:t>
            </a:r>
            <a:r>
              <a:rPr lang="en-US" sz="1400" dirty="0">
                <a:latin typeface="Arial" panose="020B0604020202020204" pitchFamily="34" charset="0"/>
                <a:cs typeface="Arial" panose="020B0604020202020204" pitchFamily="34" charset="0"/>
              </a:rPr>
              <a:t>: to protest opposition to condom distribution</a:t>
            </a:r>
            <a:r>
              <a:rPr lang="en-US" sz="1400" baseline="30000" dirty="0">
                <a:latin typeface="Arial" panose="020B0604020202020204" pitchFamily="34" charset="0"/>
                <a:cs typeface="Arial" panose="020B0604020202020204" pitchFamily="34" charset="0"/>
              </a:rPr>
              <a:t>3</a:t>
            </a:r>
            <a:endParaRPr lang="en-US" sz="1400" b="1" baseline="30000" dirty="0">
              <a:latin typeface="Arial" panose="020B0604020202020204" pitchFamily="34" charset="0"/>
              <a:cs typeface="Arial" panose="020B0604020202020204" pitchFamily="34" charset="0"/>
            </a:endParaRPr>
          </a:p>
        </p:txBody>
      </p:sp>
      <p:sp>
        <p:nvSpPr>
          <p:cNvPr id="17" name="Rectangle 16">
            <a:extLst>
              <a:ext uri="{FF2B5EF4-FFF2-40B4-BE49-F238E27FC236}">
                <a16:creationId xmlns:a16="http://schemas.microsoft.com/office/drawing/2014/main" id="{A9D6A303-AC1D-81DC-8CF6-9FAFA7491524}"/>
              </a:ext>
            </a:extLst>
          </p:cNvPr>
          <p:cNvSpPr/>
          <p:nvPr/>
        </p:nvSpPr>
        <p:spPr>
          <a:xfrm>
            <a:off x="4633090" y="1892039"/>
            <a:ext cx="3536734" cy="467253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30F5FB2F-70A9-3188-235C-28BE0012FBDA}"/>
              </a:ext>
            </a:extLst>
          </p:cNvPr>
          <p:cNvSpPr txBox="1"/>
          <p:nvPr/>
        </p:nvSpPr>
        <p:spPr>
          <a:xfrm>
            <a:off x="8391910" y="2374711"/>
            <a:ext cx="3536734" cy="4093428"/>
          </a:xfrm>
          <a:prstGeom prst="rect">
            <a:avLst/>
          </a:prstGeom>
          <a:noFill/>
        </p:spPr>
        <p:txBody>
          <a:bodyPr wrap="square" rtlCol="0">
            <a:spAutoFit/>
          </a:bodyPr>
          <a:lstStyle/>
          <a:p>
            <a:pPr marL="285750" indent="-285750">
              <a:spcBef>
                <a:spcPts val="1200"/>
              </a:spcBef>
              <a:buFont typeface="Arial" panose="020B0604020202020204" pitchFamily="34" charset="0"/>
              <a:buChar char="•"/>
            </a:pPr>
            <a:r>
              <a:rPr lang="en-US" sz="1400" dirty="0">
                <a:latin typeface="Arial" panose="020B0604020202020204" pitchFamily="34" charset="0"/>
                <a:cs typeface="Arial" panose="020B0604020202020204" pitchFamily="34" charset="0"/>
              </a:rPr>
              <a:t>Activists became </a:t>
            </a:r>
            <a:r>
              <a:rPr lang="en-US" sz="1400" b="1" dirty="0">
                <a:latin typeface="Arial" panose="020B0604020202020204" pitchFamily="34" charset="0"/>
                <a:cs typeface="Arial" panose="020B0604020202020204" pitchFamily="34" charset="0"/>
              </a:rPr>
              <a:t>involved in the research process. </a:t>
            </a:r>
            <a:r>
              <a:rPr lang="en-US" sz="1400" dirty="0">
                <a:latin typeface="Arial" panose="020B0604020202020204" pitchFamily="34" charset="0"/>
                <a:cs typeface="Arial" panose="020B0604020202020204" pitchFamily="34" charset="0"/>
              </a:rPr>
              <a:t>They were no longer leaving science to the scientists. </a:t>
            </a:r>
          </a:p>
          <a:p>
            <a:pPr marL="285750" indent="-285750">
              <a:spcBef>
                <a:spcPts val="1200"/>
              </a:spcBef>
              <a:buFont typeface="Arial" panose="020B0604020202020204" pitchFamily="34" charset="0"/>
              <a:buChar char="•"/>
            </a:pPr>
            <a:r>
              <a:rPr lang="en-US" sz="1400" dirty="0">
                <a:latin typeface="Arial" panose="020B0604020202020204" pitchFamily="34" charset="0"/>
                <a:cs typeface="Arial" panose="020B0604020202020204" pitchFamily="34" charset="0"/>
              </a:rPr>
              <a:t>Celebrities, like Rock Hudson and Elizabeth Taylor, funded research into HIV/AIDS treatment.</a:t>
            </a:r>
            <a:r>
              <a:rPr lang="en-US" sz="1400" baseline="30000" dirty="0">
                <a:latin typeface="Arial" panose="020B0604020202020204" pitchFamily="34" charset="0"/>
                <a:cs typeface="Arial" panose="020B0604020202020204" pitchFamily="34" charset="0"/>
              </a:rPr>
              <a:t>4</a:t>
            </a:r>
          </a:p>
          <a:p>
            <a:pPr marL="742950" lvl="1" indent="-285750">
              <a:spcBef>
                <a:spcPts val="1200"/>
              </a:spcBef>
              <a:buFont typeface="System Font Regular"/>
              <a:buChar char="-"/>
            </a:pPr>
            <a:r>
              <a:rPr lang="en-US" sz="1400" dirty="0">
                <a:latin typeface="Arial" panose="020B0604020202020204" pitchFamily="34" charset="0"/>
                <a:cs typeface="Arial" panose="020B0604020202020204" pitchFamily="34" charset="0"/>
              </a:rPr>
              <a:t>This reduced HIV/AIDS stigma</a:t>
            </a:r>
            <a:r>
              <a:rPr lang="en-US" sz="1400" baseline="30000" dirty="0">
                <a:latin typeface="Arial" panose="020B0604020202020204" pitchFamily="34" charset="0"/>
                <a:cs typeface="Arial" panose="020B0604020202020204" pitchFamily="34" charset="0"/>
              </a:rPr>
              <a:t>5</a:t>
            </a:r>
            <a:r>
              <a:rPr lang="en-US" sz="1400" dirty="0">
                <a:latin typeface="Arial" panose="020B0604020202020204" pitchFamily="34" charset="0"/>
                <a:cs typeface="Arial" panose="020B0604020202020204" pitchFamily="34" charset="0"/>
              </a:rPr>
              <a:t> </a:t>
            </a:r>
          </a:p>
          <a:p>
            <a:pPr marL="285750" indent="-285750">
              <a:spcBef>
                <a:spcPts val="1200"/>
              </a:spcBef>
              <a:buFont typeface="Arial" panose="020B0604020202020204" pitchFamily="34" charset="0"/>
              <a:buChar char="•"/>
            </a:pPr>
            <a:r>
              <a:rPr lang="en-US" sz="1400" dirty="0">
                <a:latin typeface="Arial" panose="020B0604020202020204" pitchFamily="34" charset="0"/>
                <a:cs typeface="Arial" panose="020B0604020202020204" pitchFamily="34" charset="0"/>
              </a:rPr>
              <a:t>Activism also led to faster approval times for HIV/AIDS treatment.</a:t>
            </a:r>
          </a:p>
          <a:p>
            <a:pPr marL="742950" lvl="1" indent="-285750">
              <a:spcBef>
                <a:spcPts val="1200"/>
              </a:spcBef>
              <a:buFont typeface="System Font Regular"/>
              <a:buChar char="-"/>
            </a:pPr>
            <a:r>
              <a:rPr lang="en-US" sz="1400" dirty="0">
                <a:latin typeface="Arial" panose="020B0604020202020204" pitchFamily="34" charset="0"/>
                <a:cs typeface="Arial" panose="020B0604020202020204" pitchFamily="34" charset="0"/>
              </a:rPr>
              <a:t>Pushing for rapid trials led AZT to be approved in 20 months.</a:t>
            </a:r>
            <a:r>
              <a:rPr lang="en-US" sz="1400" baseline="30000" dirty="0">
                <a:latin typeface="Arial" panose="020B0604020202020204" pitchFamily="34" charset="0"/>
                <a:cs typeface="Arial" panose="020B0604020202020204" pitchFamily="34" charset="0"/>
              </a:rPr>
              <a:t>6</a:t>
            </a:r>
            <a:r>
              <a:rPr lang="en-US" sz="1400" dirty="0">
                <a:latin typeface="Arial" panose="020B0604020202020204" pitchFamily="34" charset="0"/>
                <a:cs typeface="Arial" panose="020B0604020202020204" pitchFamily="34" charset="0"/>
              </a:rPr>
              <a:t> </a:t>
            </a:r>
          </a:p>
          <a:p>
            <a:pPr marL="742950" lvl="1" indent="-285750">
              <a:spcBef>
                <a:spcPts val="1200"/>
              </a:spcBef>
              <a:buFont typeface="System Font Regular"/>
              <a:buChar char="-"/>
            </a:pPr>
            <a:r>
              <a:rPr lang="en-US" sz="1400" dirty="0">
                <a:latin typeface="Arial" panose="020B0604020202020204" pitchFamily="34" charset="0"/>
                <a:cs typeface="Arial" panose="020B0604020202020204" pitchFamily="34" charset="0"/>
              </a:rPr>
              <a:t>This was much faster than prior approval times, which were around 10 years.</a:t>
            </a:r>
            <a:r>
              <a:rPr lang="en-US" sz="1400" baseline="30000" dirty="0">
                <a:latin typeface="Arial" panose="020B0604020202020204" pitchFamily="34" charset="0"/>
                <a:cs typeface="Arial" panose="020B0604020202020204" pitchFamily="34" charset="0"/>
              </a:rPr>
              <a:t>7</a:t>
            </a:r>
          </a:p>
        </p:txBody>
      </p:sp>
      <p:sp>
        <p:nvSpPr>
          <p:cNvPr id="19" name="Rectangle 18">
            <a:extLst>
              <a:ext uri="{FF2B5EF4-FFF2-40B4-BE49-F238E27FC236}">
                <a16:creationId xmlns:a16="http://schemas.microsoft.com/office/drawing/2014/main" id="{AFB6E7C1-2C9D-A86E-C2E3-79218A973407}"/>
              </a:ext>
            </a:extLst>
          </p:cNvPr>
          <p:cNvSpPr/>
          <p:nvPr/>
        </p:nvSpPr>
        <p:spPr>
          <a:xfrm>
            <a:off x="8391909" y="1878392"/>
            <a:ext cx="3535907" cy="467253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908856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79F196-CA7D-ABED-94A0-5ED7A444843D}"/>
              </a:ext>
            </a:extLst>
          </p:cNvPr>
          <p:cNvSpPr>
            <a:spLocks noGrp="1"/>
          </p:cNvSpPr>
          <p:nvPr>
            <p:ph type="title"/>
          </p:nvPr>
        </p:nvSpPr>
        <p:spPr/>
        <p:txBody>
          <a:bodyPr/>
          <a:lstStyle/>
          <a:p>
            <a:r>
              <a:rPr lang="en-US" dirty="0"/>
              <a:t>Activists responded to the HIV/AIDS crisis in three main ways</a:t>
            </a:r>
          </a:p>
        </p:txBody>
      </p:sp>
      <p:sp>
        <p:nvSpPr>
          <p:cNvPr id="3" name="Content Placeholder 2">
            <a:extLst>
              <a:ext uri="{FF2B5EF4-FFF2-40B4-BE49-F238E27FC236}">
                <a16:creationId xmlns:a16="http://schemas.microsoft.com/office/drawing/2014/main" id="{E922AEEC-F56C-6951-A596-6481493F6654}"/>
              </a:ext>
            </a:extLst>
          </p:cNvPr>
          <p:cNvSpPr>
            <a:spLocks noGrp="1"/>
          </p:cNvSpPr>
          <p:nvPr>
            <p:ph idx="1"/>
          </p:nvPr>
        </p:nvSpPr>
        <p:spPr>
          <a:xfrm>
            <a:off x="838200" y="1825624"/>
            <a:ext cx="10826578" cy="4530725"/>
          </a:xfrm>
        </p:spPr>
        <p:txBody>
          <a:bodyPr>
            <a:normAutofit fontScale="92500" lnSpcReduction="10000"/>
          </a:bodyPr>
          <a:lstStyle/>
          <a:p>
            <a:pPr marL="285750" indent="-285750">
              <a:spcBef>
                <a:spcPts val="600"/>
              </a:spcBef>
            </a:pPr>
            <a:r>
              <a:rPr lang="en-US" b="1" dirty="0"/>
              <a:t>Community–based health organizations </a:t>
            </a:r>
            <a:r>
              <a:rPr lang="en-US" dirty="0"/>
              <a:t>offered services such as legal aid, crisis counseling, and access to social workers.</a:t>
            </a:r>
            <a:r>
              <a:rPr lang="en-US" baseline="30000" dirty="0"/>
              <a:t>1</a:t>
            </a:r>
            <a:r>
              <a:rPr lang="en-US" dirty="0"/>
              <a:t> Now, they also provide testing treatment for HIV/AIDS. For example, at the Gay Men’s Health Crisis in New York City:</a:t>
            </a:r>
          </a:p>
          <a:p>
            <a:pPr marL="742950" lvl="1" indent="-285750">
              <a:spcBef>
                <a:spcPts val="600"/>
              </a:spcBef>
            </a:pPr>
            <a:r>
              <a:rPr lang="en-US" sz="1600" dirty="0"/>
              <a:t>91% of patients who test positive are linked to care.</a:t>
            </a:r>
          </a:p>
          <a:p>
            <a:pPr marL="742950" lvl="1" indent="-285750">
              <a:spcBef>
                <a:spcPts val="600"/>
              </a:spcBef>
            </a:pPr>
            <a:r>
              <a:rPr lang="en-US" sz="1600" dirty="0"/>
              <a:t>89% of clients are adherent to their HIV medications.</a:t>
            </a:r>
          </a:p>
          <a:p>
            <a:pPr marL="742950" lvl="1" indent="-285750">
              <a:spcBef>
                <a:spcPts val="600"/>
              </a:spcBef>
            </a:pPr>
            <a:r>
              <a:rPr lang="en-US" sz="1600" dirty="0"/>
              <a:t>94% of clients are virally suppressed.</a:t>
            </a:r>
            <a:r>
              <a:rPr lang="en-US" sz="1600" baseline="30000" dirty="0"/>
              <a:t>2</a:t>
            </a:r>
          </a:p>
          <a:p>
            <a:pPr marL="285750" indent="-285750"/>
            <a:r>
              <a:rPr lang="en-US" b="1" dirty="0"/>
              <a:t>Protesting</a:t>
            </a:r>
            <a:r>
              <a:rPr lang="en-US" dirty="0"/>
              <a:t> brought attention to the government’s slow response to HIV/AIDS. </a:t>
            </a:r>
          </a:p>
          <a:p>
            <a:pPr marL="742950" lvl="1" indent="-285750"/>
            <a:r>
              <a:rPr lang="en-US" sz="1600" dirty="0"/>
              <a:t>Activists, such as those in the AIDS Coalition to Unleash Power (ACT-UP) targeted Wall Street, the FDA, and the NIH. They wanted to push these organizations to devote more resources to HIV/AIDS research.</a:t>
            </a:r>
            <a:r>
              <a:rPr lang="en-US" sz="1600" baseline="30000" dirty="0"/>
              <a:t>3</a:t>
            </a:r>
          </a:p>
          <a:p>
            <a:pPr marL="742950" lvl="1" indent="-285750"/>
            <a:r>
              <a:rPr lang="en-US" sz="1600" dirty="0"/>
              <a:t>They also protested the Catholic Church’s opposition to condom distribution.</a:t>
            </a:r>
            <a:r>
              <a:rPr lang="en-US" sz="1600" baseline="30000" dirty="0"/>
              <a:t>3</a:t>
            </a:r>
          </a:p>
          <a:p>
            <a:pPr marL="285750" indent="-285750"/>
            <a:r>
              <a:rPr lang="en-US" b="1" dirty="0"/>
              <a:t>Science activism </a:t>
            </a:r>
            <a:r>
              <a:rPr lang="en-US" dirty="0"/>
              <a:t>led to increased effort to develop treatment and to speed up the research process. </a:t>
            </a:r>
          </a:p>
          <a:p>
            <a:pPr lvl="1"/>
            <a:r>
              <a:rPr lang="en-US" sz="1600" dirty="0"/>
              <a:t>Celebrities, like Rock Hudson and Elizabeth Taylor, funded research into HIV/AIDS treatment, which reduced stigma around HIV/AIDS.</a:t>
            </a:r>
            <a:r>
              <a:rPr lang="en-US" sz="1600" baseline="30000" dirty="0"/>
              <a:t>4</a:t>
            </a:r>
          </a:p>
          <a:p>
            <a:pPr lvl="1"/>
            <a:r>
              <a:rPr lang="en-US" sz="1600" dirty="0"/>
              <a:t>Activism also led to faster approval times for treatments that were being developed. Pushing for rapid trials led AZT to be approved in 20 months, which was much faster than prior approval times, which were around 10 years.</a:t>
            </a:r>
            <a:r>
              <a:rPr lang="en-US" sz="1600" baseline="30000" dirty="0"/>
              <a:t>5,6</a:t>
            </a:r>
          </a:p>
          <a:p>
            <a:endParaRPr lang="en-US" dirty="0"/>
          </a:p>
        </p:txBody>
      </p:sp>
      <p:sp>
        <p:nvSpPr>
          <p:cNvPr id="4" name="Slide Number Placeholder 3">
            <a:extLst>
              <a:ext uri="{FF2B5EF4-FFF2-40B4-BE49-F238E27FC236}">
                <a16:creationId xmlns:a16="http://schemas.microsoft.com/office/drawing/2014/main" id="{0E78EF9D-57D5-B0EB-7AF6-3381ABEE59B4}"/>
              </a:ext>
            </a:extLst>
          </p:cNvPr>
          <p:cNvSpPr>
            <a:spLocks noGrp="1"/>
          </p:cNvSpPr>
          <p:nvPr>
            <p:ph type="sldNum" sz="quarter" idx="12"/>
          </p:nvPr>
        </p:nvSpPr>
        <p:spPr/>
        <p:txBody>
          <a:bodyPr/>
          <a:lstStyle/>
          <a:p>
            <a:fld id="{00000000-1234-1234-1234-123412341234}" type="slidenum">
              <a:rPr lang="en-US" smtClean="0"/>
              <a:pPr/>
              <a:t>22</a:t>
            </a:fld>
            <a:endParaRPr lang="en-US"/>
          </a:p>
        </p:txBody>
      </p:sp>
      <p:sp>
        <p:nvSpPr>
          <p:cNvPr id="5" name="Rectangle 4">
            <a:extLst>
              <a:ext uri="{FF2B5EF4-FFF2-40B4-BE49-F238E27FC236}">
                <a16:creationId xmlns:a16="http://schemas.microsoft.com/office/drawing/2014/main" id="{6AE1172B-4824-A92D-AA8C-BB7930E126EC}"/>
              </a:ext>
            </a:extLst>
          </p:cNvPr>
          <p:cNvSpPr/>
          <p:nvPr/>
        </p:nvSpPr>
        <p:spPr>
          <a:xfrm>
            <a:off x="0" y="0"/>
            <a:ext cx="12192000" cy="365125"/>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775D2140-C142-B08B-4FF4-FB9C211FC370}"/>
              </a:ext>
            </a:extLst>
          </p:cNvPr>
          <p:cNvSpPr txBox="1"/>
          <p:nvPr/>
        </p:nvSpPr>
        <p:spPr>
          <a:xfrm>
            <a:off x="95534" y="26571"/>
            <a:ext cx="1725152" cy="338554"/>
          </a:xfrm>
          <a:prstGeom prst="rect">
            <a:avLst/>
          </a:prstGeom>
          <a:noFill/>
        </p:spPr>
        <p:txBody>
          <a:bodyPr wrap="none" rtlCol="0">
            <a:spAutoFit/>
          </a:bodyPr>
          <a:lstStyle/>
          <a:p>
            <a:r>
              <a:rPr lang="en-US" sz="1600" b="1" i="1" dirty="0">
                <a:solidFill>
                  <a:srgbClr val="C00000"/>
                </a:solidFill>
                <a:latin typeface="Arial" panose="020B0604020202020204" pitchFamily="34" charset="0"/>
                <a:cs typeface="Arial" panose="020B0604020202020204" pitchFamily="34" charset="0"/>
              </a:rPr>
              <a:t>Example slide 3</a:t>
            </a:r>
          </a:p>
        </p:txBody>
      </p:sp>
    </p:spTree>
    <p:extLst>
      <p:ext uri="{BB962C8B-B14F-4D97-AF65-F5344CB8AC3E}">
        <p14:creationId xmlns:p14="http://schemas.microsoft.com/office/powerpoint/2010/main" val="20673814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C928CB-6049-BC67-744E-2864CAFD7023}"/>
              </a:ext>
            </a:extLst>
          </p:cNvPr>
          <p:cNvSpPr>
            <a:spLocks noGrp="1"/>
          </p:cNvSpPr>
          <p:nvPr>
            <p:ph type="title"/>
          </p:nvPr>
        </p:nvSpPr>
        <p:spPr/>
        <p:txBody>
          <a:bodyPr>
            <a:normAutofit fontScale="90000"/>
          </a:bodyPr>
          <a:lstStyle/>
          <a:p>
            <a:r>
              <a:rPr lang="en-US" dirty="0"/>
              <a:t>Activists responded to the HIV/AIDS crisis in three main ways: community-based health organizations, civil disobedience, and science activism.</a:t>
            </a:r>
          </a:p>
        </p:txBody>
      </p:sp>
      <p:sp>
        <p:nvSpPr>
          <p:cNvPr id="3" name="Content Placeholder 2">
            <a:extLst>
              <a:ext uri="{FF2B5EF4-FFF2-40B4-BE49-F238E27FC236}">
                <a16:creationId xmlns:a16="http://schemas.microsoft.com/office/drawing/2014/main" id="{809F9475-9D69-5DB8-AF73-50B6002A0789}"/>
              </a:ext>
            </a:extLst>
          </p:cNvPr>
          <p:cNvSpPr>
            <a:spLocks noGrp="1"/>
          </p:cNvSpPr>
          <p:nvPr>
            <p:ph idx="1"/>
          </p:nvPr>
        </p:nvSpPr>
        <p:spPr/>
        <p:txBody>
          <a:bodyPr>
            <a:normAutofit lnSpcReduction="10000"/>
          </a:bodyPr>
          <a:lstStyle/>
          <a:p>
            <a:pPr marL="285750" indent="-285750">
              <a:spcBef>
                <a:spcPts val="600"/>
              </a:spcBef>
            </a:pPr>
            <a:r>
              <a:rPr lang="en-US" sz="1400" dirty="0"/>
              <a:t>Community–based health organizations offered services such as legal aid, crisis counseling, and access to social workers. They stepped in in place of government social services. </a:t>
            </a:r>
          </a:p>
          <a:p>
            <a:pPr marL="285750" indent="-285750">
              <a:spcBef>
                <a:spcPts val="600"/>
              </a:spcBef>
            </a:pPr>
            <a:r>
              <a:rPr lang="en-US" sz="1400" dirty="0"/>
              <a:t>Community-based health organization also provided testing and treatment for HIV/AIDS, and they have been successful at providing this healthcare to patients. For example, at the Gay Men’s Health Crisis in New York City, 91% of patients who test positive are linked to care, 89% of clients are adherent to their HIV medications, and 94% of clients are virally suppressed.</a:t>
            </a:r>
            <a:endParaRPr lang="en-US" sz="1400" baseline="30000" dirty="0"/>
          </a:p>
          <a:p>
            <a:pPr marL="285750" indent="-285750"/>
            <a:r>
              <a:rPr lang="en-US" sz="1400" dirty="0"/>
              <a:t>Protesting brought attention to the government’s slow response to HIV/AIDS. Activists, such as those in the AIDS Coalition to Unleash Power (ACT-UP), targeted Wall Street to encourage private companies to research treatment FDA. They also targeted the FDA to increase the approval of treatments and the NIH to encourage more research into HIV/AIDS treatments. In addition to the government and private sector organizations, they protested the Catholic Church because of the Church’s opposition to condom distribution. </a:t>
            </a:r>
          </a:p>
          <a:p>
            <a:pPr marL="285750" indent="-285750"/>
            <a:r>
              <a:rPr lang="en-US" sz="1400" dirty="0"/>
              <a:t>Science activism led to increased effort to develop treatments and to speed up the research process. Activists became involved in the research process and were no longer “leaving science to the scientists”. Celebrities, like Rock Hudson, Elizabeth Taylor, funded research into HIV/AIDS treatment through the American Foundation for AIDS Research. This both increased the resources used to develop treatments (for example protease inhibitors, vaginal microbicides) and reduced stigma around HIV/AIDS. Activism also led to faster approval times for treatments that were being developed. Pushing for rapid trials led AZT to be approved in 20 months, which was faster than prior approval times, which were around 10 years.  </a:t>
            </a:r>
          </a:p>
          <a:p>
            <a:pPr marL="285750" indent="-285750"/>
            <a:r>
              <a:rPr lang="en-US" sz="1400" dirty="0"/>
              <a:t>However, the activism around science also raised ethical questions. For example, should very ill individuals be excluded from clinical trials? Is it ethical to randomize individuals with HIV/AIDS to a control group?</a:t>
            </a:r>
            <a:endParaRPr lang="en-US" dirty="0"/>
          </a:p>
        </p:txBody>
      </p:sp>
      <p:sp>
        <p:nvSpPr>
          <p:cNvPr id="4" name="Slide Number Placeholder 3">
            <a:extLst>
              <a:ext uri="{FF2B5EF4-FFF2-40B4-BE49-F238E27FC236}">
                <a16:creationId xmlns:a16="http://schemas.microsoft.com/office/drawing/2014/main" id="{C57AC480-3F84-C27B-1B13-92A6EE96D4EA}"/>
              </a:ext>
            </a:extLst>
          </p:cNvPr>
          <p:cNvSpPr>
            <a:spLocks noGrp="1"/>
          </p:cNvSpPr>
          <p:nvPr>
            <p:ph type="sldNum" sz="quarter" idx="12"/>
          </p:nvPr>
        </p:nvSpPr>
        <p:spPr/>
        <p:txBody>
          <a:bodyPr/>
          <a:lstStyle/>
          <a:p>
            <a:fld id="{00000000-1234-1234-1234-123412341234}" type="slidenum">
              <a:rPr lang="en-US" smtClean="0"/>
              <a:pPr/>
              <a:t>23</a:t>
            </a:fld>
            <a:endParaRPr lang="en-US"/>
          </a:p>
        </p:txBody>
      </p:sp>
      <p:sp>
        <p:nvSpPr>
          <p:cNvPr id="5" name="Rectangle 4">
            <a:extLst>
              <a:ext uri="{FF2B5EF4-FFF2-40B4-BE49-F238E27FC236}">
                <a16:creationId xmlns:a16="http://schemas.microsoft.com/office/drawing/2014/main" id="{07DFCC23-D582-671D-5820-A1781B66F129}"/>
              </a:ext>
            </a:extLst>
          </p:cNvPr>
          <p:cNvSpPr/>
          <p:nvPr/>
        </p:nvSpPr>
        <p:spPr>
          <a:xfrm>
            <a:off x="0" y="0"/>
            <a:ext cx="12192000" cy="365125"/>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48EFBF27-86B3-71EF-7AB2-0F573B69CBAA}"/>
              </a:ext>
            </a:extLst>
          </p:cNvPr>
          <p:cNvSpPr txBox="1"/>
          <p:nvPr/>
        </p:nvSpPr>
        <p:spPr>
          <a:xfrm>
            <a:off x="95534" y="26571"/>
            <a:ext cx="1725152" cy="338554"/>
          </a:xfrm>
          <a:prstGeom prst="rect">
            <a:avLst/>
          </a:prstGeom>
          <a:noFill/>
        </p:spPr>
        <p:txBody>
          <a:bodyPr wrap="none" rtlCol="0">
            <a:spAutoFit/>
          </a:bodyPr>
          <a:lstStyle/>
          <a:p>
            <a:r>
              <a:rPr lang="en-US" sz="1600" b="1" i="1" dirty="0">
                <a:solidFill>
                  <a:srgbClr val="C00000"/>
                </a:solidFill>
                <a:latin typeface="Arial" panose="020B0604020202020204" pitchFamily="34" charset="0"/>
                <a:cs typeface="Arial" panose="020B0604020202020204" pitchFamily="34" charset="0"/>
              </a:rPr>
              <a:t>Example slide 4</a:t>
            </a:r>
          </a:p>
        </p:txBody>
      </p:sp>
    </p:spTree>
    <p:extLst>
      <p:ext uri="{BB962C8B-B14F-4D97-AF65-F5344CB8AC3E}">
        <p14:creationId xmlns:p14="http://schemas.microsoft.com/office/powerpoint/2010/main" val="28695770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42F381-BDF6-5BAD-BCE9-AE09E80424C6}"/>
              </a:ext>
            </a:extLst>
          </p:cNvPr>
          <p:cNvSpPr>
            <a:spLocks noGrp="1"/>
          </p:cNvSpPr>
          <p:nvPr>
            <p:ph type="title"/>
          </p:nvPr>
        </p:nvSpPr>
        <p:spPr/>
        <p:txBody>
          <a:bodyPr/>
          <a:lstStyle/>
          <a:p>
            <a:r>
              <a:rPr lang="en-US" dirty="0"/>
              <a:t>Presenter Notes</a:t>
            </a:r>
          </a:p>
        </p:txBody>
      </p:sp>
      <p:sp>
        <p:nvSpPr>
          <p:cNvPr id="4" name="Slide Number Placeholder 3">
            <a:extLst>
              <a:ext uri="{FF2B5EF4-FFF2-40B4-BE49-F238E27FC236}">
                <a16:creationId xmlns:a16="http://schemas.microsoft.com/office/drawing/2014/main" id="{315741A7-5E89-6B86-4D19-2F2BFB48BD22}"/>
              </a:ext>
            </a:extLst>
          </p:cNvPr>
          <p:cNvSpPr>
            <a:spLocks noGrp="1"/>
          </p:cNvSpPr>
          <p:nvPr>
            <p:ph type="sldNum" sz="quarter" idx="12"/>
          </p:nvPr>
        </p:nvSpPr>
        <p:spPr/>
        <p:txBody>
          <a:bodyPr/>
          <a:lstStyle/>
          <a:p>
            <a:fld id="{00000000-1234-1234-1234-123412341234}" type="slidenum">
              <a:rPr lang="en-US" smtClean="0"/>
              <a:pPr/>
              <a:t>24</a:t>
            </a:fld>
            <a:endParaRPr lang="en-US"/>
          </a:p>
        </p:txBody>
      </p:sp>
      <p:pic>
        <p:nvPicPr>
          <p:cNvPr id="7" name="Picture 6">
            <a:extLst>
              <a:ext uri="{FF2B5EF4-FFF2-40B4-BE49-F238E27FC236}">
                <a16:creationId xmlns:a16="http://schemas.microsoft.com/office/drawing/2014/main" id="{4F325483-2DB3-8148-6440-F2ECE2483D0C}"/>
              </a:ext>
            </a:extLst>
          </p:cNvPr>
          <p:cNvPicPr>
            <a:picLocks noChangeAspect="1"/>
          </p:cNvPicPr>
          <p:nvPr/>
        </p:nvPicPr>
        <p:blipFill>
          <a:blip r:embed="rId3"/>
          <a:stretch>
            <a:fillRect/>
          </a:stretch>
        </p:blipFill>
        <p:spPr>
          <a:xfrm>
            <a:off x="935509" y="1473364"/>
            <a:ext cx="8208491" cy="5065548"/>
          </a:xfrm>
          <a:prstGeom prst="rect">
            <a:avLst/>
          </a:prstGeom>
        </p:spPr>
      </p:pic>
    </p:spTree>
    <p:extLst>
      <p:ext uri="{BB962C8B-B14F-4D97-AF65-F5344CB8AC3E}">
        <p14:creationId xmlns:p14="http://schemas.microsoft.com/office/powerpoint/2010/main" val="23483825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921D3C-F452-331E-1C69-403FD904E1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DAD1D4-EDD0-2D3A-234B-3FC006FA10F8}"/>
              </a:ext>
            </a:extLst>
          </p:cNvPr>
          <p:cNvSpPr>
            <a:spLocks noGrp="1"/>
          </p:cNvSpPr>
          <p:nvPr>
            <p:ph type="title"/>
          </p:nvPr>
        </p:nvSpPr>
        <p:spPr/>
        <p:txBody>
          <a:bodyPr>
            <a:normAutofit/>
          </a:bodyPr>
          <a:lstStyle/>
          <a:p>
            <a:r>
              <a:rPr lang="en-US" sz="4000" dirty="0">
                <a:solidFill>
                  <a:srgbClr val="005493"/>
                </a:solidFill>
              </a:rPr>
              <a:t>Agenda</a:t>
            </a:r>
          </a:p>
        </p:txBody>
      </p:sp>
      <p:sp>
        <p:nvSpPr>
          <p:cNvPr id="4" name="Slide Number Placeholder 3">
            <a:extLst>
              <a:ext uri="{FF2B5EF4-FFF2-40B4-BE49-F238E27FC236}">
                <a16:creationId xmlns:a16="http://schemas.microsoft.com/office/drawing/2014/main" id="{EA5B485D-4D11-989C-5FED-7126336ED88B}"/>
              </a:ext>
            </a:extLst>
          </p:cNvPr>
          <p:cNvSpPr>
            <a:spLocks noGrp="1"/>
          </p:cNvSpPr>
          <p:nvPr>
            <p:ph type="sldNum" sz="quarter" idx="12"/>
          </p:nvPr>
        </p:nvSpPr>
        <p:spPr/>
        <p:txBody>
          <a:bodyPr/>
          <a:lstStyle/>
          <a:p>
            <a:fld id="{171A6C5B-A11A-470F-8319-62E6F3F410BC}" type="slidenum">
              <a:rPr lang="en-US" smtClean="0"/>
              <a:pPr/>
              <a:t>25</a:t>
            </a:fld>
            <a:endParaRPr lang="en-US"/>
          </a:p>
        </p:txBody>
      </p:sp>
      <p:sp>
        <p:nvSpPr>
          <p:cNvPr id="3" name="Content Placeholder 2">
            <a:extLst>
              <a:ext uri="{FF2B5EF4-FFF2-40B4-BE49-F238E27FC236}">
                <a16:creationId xmlns:a16="http://schemas.microsoft.com/office/drawing/2014/main" id="{19D0F6E4-5094-E97E-C4FD-D49ECB32256D}"/>
              </a:ext>
            </a:extLst>
          </p:cNvPr>
          <p:cNvSpPr>
            <a:spLocks noGrp="1"/>
          </p:cNvSpPr>
          <p:nvPr>
            <p:ph idx="4294967295"/>
          </p:nvPr>
        </p:nvSpPr>
        <p:spPr>
          <a:xfrm>
            <a:off x="838200" y="1690688"/>
            <a:ext cx="10515600" cy="4119563"/>
          </a:xfrm>
        </p:spPr>
        <p:txBody>
          <a:bodyPr>
            <a:normAutofit/>
          </a:bodyPr>
          <a:lstStyle/>
          <a:p>
            <a:pPr marL="0" indent="0">
              <a:lnSpc>
                <a:spcPct val="100000"/>
              </a:lnSpc>
              <a:spcBef>
                <a:spcPts val="2200"/>
              </a:spcBef>
              <a:buNone/>
            </a:pPr>
            <a:r>
              <a:rPr lang="en-US" sz="2400" dirty="0">
                <a:solidFill>
                  <a:schemeClr val="tx1">
                    <a:lumMod val="50000"/>
                    <a:lumOff val="50000"/>
                  </a:schemeClr>
                </a:solidFill>
                <a:latin typeface="Arial"/>
                <a:cs typeface="Arial"/>
              </a:rPr>
              <a:t>Review SIR Model</a:t>
            </a:r>
          </a:p>
          <a:p>
            <a:pPr marL="0" indent="0">
              <a:lnSpc>
                <a:spcPct val="100000"/>
              </a:lnSpc>
              <a:spcBef>
                <a:spcPts val="2200"/>
              </a:spcBef>
              <a:buNone/>
            </a:pPr>
            <a:r>
              <a:rPr lang="en-US" sz="2400" dirty="0">
                <a:solidFill>
                  <a:schemeClr val="tx1">
                    <a:lumMod val="50000"/>
                    <a:lumOff val="50000"/>
                  </a:schemeClr>
                </a:solidFill>
                <a:latin typeface="Arial"/>
                <a:cs typeface="Arial"/>
              </a:rPr>
              <a:t>Infectious diseases around the world </a:t>
            </a:r>
          </a:p>
          <a:p>
            <a:pPr marL="0" indent="0">
              <a:lnSpc>
                <a:spcPct val="100000"/>
              </a:lnSpc>
              <a:spcBef>
                <a:spcPts val="2200"/>
              </a:spcBef>
              <a:buNone/>
            </a:pPr>
            <a:r>
              <a:rPr lang="en-US" sz="2400" dirty="0">
                <a:solidFill>
                  <a:schemeClr val="tx1">
                    <a:lumMod val="50000"/>
                    <a:lumOff val="50000"/>
                  </a:schemeClr>
                </a:solidFill>
                <a:latin typeface="Arial"/>
                <a:cs typeface="Arial"/>
              </a:rPr>
              <a:t>Unit assignment: What makes a good slide? </a:t>
            </a:r>
          </a:p>
          <a:p>
            <a:pPr marL="0" indent="0">
              <a:lnSpc>
                <a:spcPct val="100000"/>
              </a:lnSpc>
              <a:spcBef>
                <a:spcPts val="2200"/>
              </a:spcBef>
              <a:buNone/>
            </a:pPr>
            <a:r>
              <a:rPr lang="en-US" sz="2400" b="1" dirty="0"/>
              <a:t>Brainstorm and present domestic HIV/AIDS policy proposals</a:t>
            </a:r>
          </a:p>
          <a:p>
            <a:pPr marL="0" indent="0">
              <a:lnSpc>
                <a:spcPct val="100000"/>
              </a:lnSpc>
              <a:spcBef>
                <a:spcPts val="2200"/>
              </a:spcBef>
              <a:buNone/>
            </a:pPr>
            <a:endParaRPr lang="en-US" sz="2400" dirty="0"/>
          </a:p>
        </p:txBody>
      </p:sp>
    </p:spTree>
    <p:extLst>
      <p:ext uri="{BB962C8B-B14F-4D97-AF65-F5344CB8AC3E}">
        <p14:creationId xmlns:p14="http://schemas.microsoft.com/office/powerpoint/2010/main" val="142020572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EFA6DF8-03D4-B954-87AE-B7964EF731B4}"/>
              </a:ext>
            </a:extLst>
          </p:cNvPr>
          <p:cNvSpPr>
            <a:spLocks noGrp="1"/>
          </p:cNvSpPr>
          <p:nvPr>
            <p:ph type="title"/>
          </p:nvPr>
        </p:nvSpPr>
        <p:spPr/>
        <p:txBody>
          <a:bodyPr anchor="ctr"/>
          <a:lstStyle/>
          <a:p>
            <a:pPr algn="ctr"/>
            <a:r>
              <a:rPr lang="en-US" dirty="0">
                <a:solidFill>
                  <a:schemeClr val="accent1">
                    <a:lumMod val="75000"/>
                  </a:schemeClr>
                </a:solidFill>
              </a:rPr>
              <a:t>Unit 1 Assignment Groups</a:t>
            </a:r>
          </a:p>
        </p:txBody>
      </p:sp>
      <p:sp>
        <p:nvSpPr>
          <p:cNvPr id="3" name="Slide Number Placeholder 2">
            <a:extLst>
              <a:ext uri="{FF2B5EF4-FFF2-40B4-BE49-F238E27FC236}">
                <a16:creationId xmlns:a16="http://schemas.microsoft.com/office/drawing/2014/main" id="{FD867AB8-FBB4-FC39-2193-4EBAE55F99E7}"/>
              </a:ext>
            </a:extLst>
          </p:cNvPr>
          <p:cNvSpPr>
            <a:spLocks noGrp="1"/>
          </p:cNvSpPr>
          <p:nvPr>
            <p:ph type="sldNum" sz="quarter" idx="12"/>
          </p:nvPr>
        </p:nvSpPr>
        <p:spPr/>
        <p:txBody>
          <a:bodyPr/>
          <a:lstStyle/>
          <a:p>
            <a:fld id="{00000000-1234-1234-1234-123412341234}" type="slidenum">
              <a:rPr lang="en-US" smtClean="0"/>
              <a:pPr/>
              <a:t>26</a:t>
            </a:fld>
            <a:endParaRPr lang="en-US"/>
          </a:p>
        </p:txBody>
      </p:sp>
    </p:spTree>
    <p:extLst>
      <p:ext uri="{BB962C8B-B14F-4D97-AF65-F5344CB8AC3E}">
        <p14:creationId xmlns:p14="http://schemas.microsoft.com/office/powerpoint/2010/main" val="285990393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E55B459-7423-AECF-E936-B774849A982E}"/>
              </a:ext>
            </a:extLst>
          </p:cNvPr>
          <p:cNvSpPr>
            <a:spLocks noGrp="1"/>
          </p:cNvSpPr>
          <p:nvPr>
            <p:ph type="sldNum" sz="quarter" idx="12"/>
          </p:nvPr>
        </p:nvSpPr>
        <p:spPr/>
        <p:txBody>
          <a:bodyPr/>
          <a:lstStyle/>
          <a:p>
            <a:fld id="{00000000-1234-1234-1234-123412341234}" type="slidenum">
              <a:rPr lang="en-US" smtClean="0"/>
              <a:pPr/>
              <a:t>27</a:t>
            </a:fld>
            <a:endParaRPr lang="en-US"/>
          </a:p>
        </p:txBody>
      </p:sp>
      <p:pic>
        <p:nvPicPr>
          <p:cNvPr id="6" name="Picture 5">
            <a:extLst>
              <a:ext uri="{FF2B5EF4-FFF2-40B4-BE49-F238E27FC236}">
                <a16:creationId xmlns:a16="http://schemas.microsoft.com/office/drawing/2014/main" id="{298ADA3A-0AB3-F0BF-3025-74593B5C89D4}"/>
              </a:ext>
            </a:extLst>
          </p:cNvPr>
          <p:cNvPicPr>
            <a:picLocks noChangeAspect="1"/>
          </p:cNvPicPr>
          <p:nvPr/>
        </p:nvPicPr>
        <p:blipFill>
          <a:blip r:embed="rId3"/>
          <a:stretch>
            <a:fillRect/>
          </a:stretch>
        </p:blipFill>
        <p:spPr>
          <a:xfrm>
            <a:off x="2730556" y="345892"/>
            <a:ext cx="6730888" cy="6166216"/>
          </a:xfrm>
          <a:prstGeom prst="rect">
            <a:avLst/>
          </a:prstGeom>
        </p:spPr>
      </p:pic>
    </p:spTree>
    <p:extLst>
      <p:ext uri="{BB962C8B-B14F-4D97-AF65-F5344CB8AC3E}">
        <p14:creationId xmlns:p14="http://schemas.microsoft.com/office/powerpoint/2010/main" val="323097255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A3F501-1A30-6B78-42B8-A2A31436A885}"/>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E6BAC96-02BA-D59E-6549-10B81E03080D}"/>
              </a:ext>
            </a:extLst>
          </p:cNvPr>
          <p:cNvSpPr>
            <a:spLocks noGrp="1"/>
          </p:cNvSpPr>
          <p:nvPr>
            <p:ph type="sldNum" sz="quarter" idx="12"/>
          </p:nvPr>
        </p:nvSpPr>
        <p:spPr/>
        <p:txBody>
          <a:bodyPr/>
          <a:lstStyle/>
          <a:p>
            <a:fld id="{00000000-1234-1234-1234-123412341234}" type="slidenum">
              <a:rPr lang="en-US" smtClean="0"/>
              <a:pPr/>
              <a:t>28</a:t>
            </a:fld>
            <a:endParaRPr lang="en-US"/>
          </a:p>
        </p:txBody>
      </p:sp>
      <p:pic>
        <p:nvPicPr>
          <p:cNvPr id="3" name="Picture 2">
            <a:extLst>
              <a:ext uri="{FF2B5EF4-FFF2-40B4-BE49-F238E27FC236}">
                <a16:creationId xmlns:a16="http://schemas.microsoft.com/office/drawing/2014/main" id="{03EF79C2-076A-E7EB-06FF-040FF83CB3F6}"/>
              </a:ext>
            </a:extLst>
          </p:cNvPr>
          <p:cNvPicPr>
            <a:picLocks noChangeAspect="1"/>
          </p:cNvPicPr>
          <p:nvPr/>
        </p:nvPicPr>
        <p:blipFill>
          <a:blip r:embed="rId3"/>
          <a:stretch>
            <a:fillRect/>
          </a:stretch>
        </p:blipFill>
        <p:spPr>
          <a:xfrm>
            <a:off x="2508613" y="607460"/>
            <a:ext cx="7174774" cy="5643081"/>
          </a:xfrm>
          <a:prstGeom prst="rect">
            <a:avLst/>
          </a:prstGeom>
        </p:spPr>
      </p:pic>
    </p:spTree>
    <p:extLst>
      <p:ext uri="{BB962C8B-B14F-4D97-AF65-F5344CB8AC3E}">
        <p14:creationId xmlns:p14="http://schemas.microsoft.com/office/powerpoint/2010/main" val="28453956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13"/>
          <p:cNvSpPr txBox="1">
            <a:spLocks noGrp="1"/>
          </p:cNvSpPr>
          <p:nvPr>
            <p:ph type="title"/>
          </p:nvPr>
        </p:nvSpPr>
        <p:spPr/>
        <p:txBody>
          <a:bodyPr>
            <a:normAutofit/>
          </a:bodyPr>
          <a:lstStyle/>
          <a:p>
            <a:r>
              <a:rPr lang="en-US" sz="4000" dirty="0">
                <a:solidFill>
                  <a:srgbClr val="005493"/>
                </a:solidFill>
              </a:rPr>
              <a:t>Domestic HIV/AIDS Policy</a:t>
            </a:r>
          </a:p>
        </p:txBody>
      </p:sp>
      <p:sp>
        <p:nvSpPr>
          <p:cNvPr id="5" name="Content Placeholder 4">
            <a:extLst>
              <a:ext uri="{FF2B5EF4-FFF2-40B4-BE49-F238E27FC236}">
                <a16:creationId xmlns:a16="http://schemas.microsoft.com/office/drawing/2014/main" id="{89F14F51-C1B7-7DEA-10D6-2000FDEB4C2E}"/>
              </a:ext>
            </a:extLst>
          </p:cNvPr>
          <p:cNvSpPr>
            <a:spLocks noGrp="1"/>
          </p:cNvSpPr>
          <p:nvPr>
            <p:ph idx="1"/>
          </p:nvPr>
        </p:nvSpPr>
        <p:spPr/>
        <p:txBody>
          <a:bodyPr>
            <a:normAutofit/>
          </a:bodyPr>
          <a:lstStyle/>
          <a:p>
            <a:pPr marL="0" indent="0">
              <a:spcAft>
                <a:spcPts val="1800"/>
              </a:spcAft>
              <a:buClr>
                <a:schemeClr val="dk1"/>
              </a:buClr>
              <a:buSzPts val="1800"/>
              <a:buNone/>
            </a:pPr>
            <a:r>
              <a:rPr lang="en-US" sz="1800" dirty="0">
                <a:solidFill>
                  <a:schemeClr val="dk1"/>
                </a:solidFill>
              </a:rPr>
              <a:t>The United States has outlined four key strategies to achieve the goal of reducing new HIV infections in the United States by 75% by 2025 and 90% by 2030</a:t>
            </a:r>
          </a:p>
          <a:p>
            <a:pPr marL="342900" lvl="3" indent="-342900">
              <a:spcAft>
                <a:spcPts val="1800"/>
              </a:spcAft>
              <a:buClr>
                <a:schemeClr val="dk1"/>
              </a:buClr>
              <a:buSzPts val="1800"/>
            </a:pPr>
            <a:r>
              <a:rPr lang="en-US" b="1" dirty="0">
                <a:solidFill>
                  <a:schemeClr val="dk1"/>
                </a:solidFill>
                <a:ea typeface="Century Gothic"/>
                <a:sym typeface="Century Gothic"/>
              </a:rPr>
              <a:t>Diagnose </a:t>
            </a:r>
            <a:r>
              <a:rPr lang="en-US" dirty="0">
                <a:solidFill>
                  <a:schemeClr val="dk1"/>
                </a:solidFill>
                <a:ea typeface="Century Gothic"/>
                <a:sym typeface="Century Gothic"/>
              </a:rPr>
              <a:t>all people with HIV as early as possible after infection (improve testing accessibility)</a:t>
            </a:r>
          </a:p>
          <a:p>
            <a:pPr marL="342900" lvl="3" indent="-342900">
              <a:spcAft>
                <a:spcPts val="1800"/>
              </a:spcAft>
              <a:buClr>
                <a:schemeClr val="dk1"/>
              </a:buClr>
              <a:buSzPts val="1800"/>
            </a:pPr>
            <a:r>
              <a:rPr lang="en-US" b="1" dirty="0">
                <a:solidFill>
                  <a:schemeClr val="dk1"/>
                </a:solidFill>
                <a:ea typeface="Century Gothic"/>
                <a:sym typeface="Century Gothic"/>
              </a:rPr>
              <a:t>Treat </a:t>
            </a:r>
            <a:r>
              <a:rPr lang="en-US" dirty="0">
                <a:solidFill>
                  <a:schemeClr val="dk1"/>
                </a:solidFill>
                <a:ea typeface="Century Gothic"/>
                <a:sym typeface="Century Gothic"/>
              </a:rPr>
              <a:t>the infection rapidly and effectively (link individuals diagnosed with HIV/AIDS to care &amp; treatment, re-engage individuals who aren’t receiving care)</a:t>
            </a:r>
          </a:p>
          <a:p>
            <a:pPr marL="342900" lvl="3" indent="-342900">
              <a:spcAft>
                <a:spcPts val="1800"/>
              </a:spcAft>
              <a:buClr>
                <a:schemeClr val="dk1"/>
              </a:buClr>
              <a:buSzPts val="1800"/>
            </a:pPr>
            <a:r>
              <a:rPr lang="en-US" b="1" dirty="0">
                <a:solidFill>
                  <a:schemeClr val="dk1"/>
                </a:solidFill>
                <a:ea typeface="Century Gothic"/>
                <a:sym typeface="Century Gothic"/>
              </a:rPr>
              <a:t>Prevent </a:t>
            </a:r>
            <a:r>
              <a:rPr lang="en-US" dirty="0">
                <a:solidFill>
                  <a:schemeClr val="dk1"/>
                </a:solidFill>
                <a:ea typeface="Century Gothic"/>
                <a:sym typeface="Century Gothic"/>
              </a:rPr>
              <a:t>new HIV transmission by using proven interventions (e.g., pre-exposure prophylaxis (</a:t>
            </a:r>
            <a:r>
              <a:rPr lang="en-US" dirty="0" err="1">
                <a:solidFill>
                  <a:schemeClr val="dk1"/>
                </a:solidFill>
                <a:ea typeface="Century Gothic"/>
                <a:sym typeface="Century Gothic"/>
              </a:rPr>
              <a:t>PrEP</a:t>
            </a:r>
            <a:r>
              <a:rPr lang="en-US" dirty="0">
                <a:solidFill>
                  <a:schemeClr val="dk1"/>
                </a:solidFill>
                <a:ea typeface="Century Gothic"/>
                <a:sym typeface="Century Gothic"/>
              </a:rPr>
              <a:t>), syringe services programs)</a:t>
            </a:r>
          </a:p>
          <a:p>
            <a:pPr marL="342900" lvl="3" indent="-342900">
              <a:spcAft>
                <a:spcPts val="1800"/>
              </a:spcAft>
              <a:buClr>
                <a:schemeClr val="dk1"/>
              </a:buClr>
              <a:buSzPts val="1800"/>
            </a:pPr>
            <a:r>
              <a:rPr lang="en-US" b="1" dirty="0">
                <a:solidFill>
                  <a:schemeClr val="dk1"/>
                </a:solidFill>
                <a:ea typeface="Century Gothic"/>
                <a:sym typeface="Century Gothic"/>
              </a:rPr>
              <a:t>Respond </a:t>
            </a:r>
            <a:r>
              <a:rPr lang="en-US" dirty="0">
                <a:solidFill>
                  <a:schemeClr val="dk1"/>
                </a:solidFill>
                <a:ea typeface="Century Gothic"/>
                <a:sym typeface="Century Gothic"/>
              </a:rPr>
              <a:t>quickly to potential HIV outbreaks (identify where HIV is spreading, work with communities to develop locally-tailored plans)</a:t>
            </a:r>
          </a:p>
          <a:p>
            <a:endParaRPr lang="en-US" sz="1800" dirty="0"/>
          </a:p>
        </p:txBody>
      </p:sp>
      <p:sp>
        <p:nvSpPr>
          <p:cNvPr id="121" name="Google Shape;121;p13"/>
          <p:cNvSpPr txBox="1">
            <a:spLocks noGrp="1"/>
          </p:cNvSpPr>
          <p:nvPr>
            <p:ph type="sldNum" sz="quarter" idx="12"/>
          </p:nvPr>
        </p:nvSpPr>
        <p:spPr/>
        <p:txBody>
          <a:bodyPr/>
          <a:lstStyle/>
          <a:p>
            <a:fld id="{00000000-1234-1234-1234-123412341234}" type="slidenum">
              <a:rPr lang="en-US" smtClean="0"/>
              <a:pPr/>
              <a:t>29</a:t>
            </a:fld>
            <a:endParaRPr lang="en-US"/>
          </a:p>
        </p:txBody>
      </p:sp>
      <p:sp>
        <p:nvSpPr>
          <p:cNvPr id="122" name="Google Shape;122;p13"/>
          <p:cNvSpPr txBox="1"/>
          <p:nvPr/>
        </p:nvSpPr>
        <p:spPr>
          <a:xfrm>
            <a:off x="8382000" y="1676401"/>
            <a:ext cx="1828800" cy="4373563"/>
          </a:xfrm>
          <a:prstGeom prst="rect">
            <a:avLst/>
          </a:prstGeom>
          <a:noFill/>
          <a:ln>
            <a:noFill/>
          </a:ln>
        </p:spPr>
        <p:txBody>
          <a:bodyPr spcFirstLastPara="1" wrap="square" lIns="91425" tIns="45700" rIns="91425" bIns="45700" anchor="t" anchorCtr="0">
            <a:noAutofit/>
          </a:bodyPr>
          <a:lstStyle/>
          <a:p>
            <a:pPr marL="342900" indent="-76200">
              <a:buClr>
                <a:schemeClr val="accent1"/>
              </a:buClr>
              <a:buSzPts val="2400"/>
            </a:pPr>
            <a:endParaRPr sz="2400">
              <a:solidFill>
                <a:schemeClr val="dk2"/>
              </a:solidFill>
              <a:latin typeface="Century Gothic"/>
              <a:ea typeface="Century Gothic"/>
              <a:cs typeface="Century Gothic"/>
              <a:sym typeface="Century Gothic"/>
            </a:endParaRPr>
          </a:p>
        </p:txBody>
      </p:sp>
      <p:sp>
        <p:nvSpPr>
          <p:cNvPr id="2" name="TextBox 1">
            <a:extLst>
              <a:ext uri="{FF2B5EF4-FFF2-40B4-BE49-F238E27FC236}">
                <a16:creationId xmlns:a16="http://schemas.microsoft.com/office/drawing/2014/main" id="{B751EBD7-1AA9-0D48-A999-48DEE061D740}"/>
              </a:ext>
            </a:extLst>
          </p:cNvPr>
          <p:cNvSpPr txBox="1"/>
          <p:nvPr/>
        </p:nvSpPr>
        <p:spPr>
          <a:xfrm>
            <a:off x="1619454" y="5585660"/>
            <a:ext cx="7964616" cy="369332"/>
          </a:xfrm>
          <a:prstGeom prst="rect">
            <a:avLst/>
          </a:prstGeom>
          <a:noFill/>
        </p:spPr>
        <p:txBody>
          <a:bodyPr wrap="none" rtlCol="0">
            <a:spAutoFit/>
          </a:bodyPr>
          <a:lstStyle/>
          <a:p>
            <a:r>
              <a:rPr lang="en-US" dirty="0">
                <a:solidFill>
                  <a:schemeClr val="accent2"/>
                </a:solidFill>
                <a:latin typeface="Arial" panose="020B0604020202020204" pitchFamily="34" charset="0"/>
                <a:ea typeface="Century Gothic"/>
                <a:cs typeface="Arial" panose="020B0604020202020204" pitchFamily="34" charset="0"/>
                <a:sym typeface="Century Gothic"/>
                <a:hlinkClick r:id="rId3">
                  <a:extLst>
                    <a:ext uri="{A12FA001-AC4F-418D-AE19-62706E023703}">
                      <ahyp:hlinkClr xmlns:ahyp="http://schemas.microsoft.com/office/drawing/2018/hyperlinkcolor" val="tx"/>
                    </a:ext>
                  </a:extLst>
                </a:hlinkClick>
              </a:rPr>
              <a:t>https://www.hiv.gov/federal-response/ending-the-hiv-epidemic/key-strategies</a:t>
            </a:r>
            <a:endParaRPr lang="en-US" dirty="0">
              <a:solidFill>
                <a:schemeClr val="accent2"/>
              </a:solidFill>
              <a:latin typeface="Arial" panose="020B0604020202020204" pitchFamily="34" charset="0"/>
              <a:ea typeface="Century Gothic"/>
              <a:cs typeface="Arial" panose="020B0604020202020204" pitchFamily="34" charset="0"/>
            </a:endParaRPr>
          </a:p>
        </p:txBody>
      </p:sp>
    </p:spTree>
    <p:extLst>
      <p:ext uri="{BB962C8B-B14F-4D97-AF65-F5344CB8AC3E}">
        <p14:creationId xmlns:p14="http://schemas.microsoft.com/office/powerpoint/2010/main" val="22016012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22F2EE-4920-BA40-9D39-0028810DE5E2}"/>
              </a:ext>
            </a:extLst>
          </p:cNvPr>
          <p:cNvSpPr>
            <a:spLocks noGrp="1"/>
          </p:cNvSpPr>
          <p:nvPr>
            <p:ph type="title"/>
          </p:nvPr>
        </p:nvSpPr>
        <p:spPr/>
        <p:txBody>
          <a:bodyPr>
            <a:normAutofit/>
          </a:bodyPr>
          <a:lstStyle/>
          <a:p>
            <a:r>
              <a:rPr lang="en-US" sz="4000" dirty="0">
                <a:solidFill>
                  <a:srgbClr val="005493"/>
                </a:solidFill>
              </a:rPr>
              <a:t>Domestic HIV/AIDS Policy: Slides</a:t>
            </a:r>
          </a:p>
        </p:txBody>
      </p:sp>
      <p:sp>
        <p:nvSpPr>
          <p:cNvPr id="7" name="Slide Number Placeholder 6">
            <a:extLst>
              <a:ext uri="{FF2B5EF4-FFF2-40B4-BE49-F238E27FC236}">
                <a16:creationId xmlns:a16="http://schemas.microsoft.com/office/drawing/2014/main" id="{BDFFB5B7-A683-DF43-AE01-19D6D170D144}"/>
              </a:ext>
            </a:extLst>
          </p:cNvPr>
          <p:cNvSpPr>
            <a:spLocks noGrp="1"/>
          </p:cNvSpPr>
          <p:nvPr>
            <p:ph type="sldNum" sz="quarter" idx="12"/>
          </p:nvPr>
        </p:nvSpPr>
        <p:spPr/>
        <p:txBody>
          <a:bodyPr/>
          <a:lstStyle/>
          <a:p>
            <a:fld id="{00000000-1234-1234-1234-123412341234}" type="slidenum">
              <a:rPr lang="en-US" smtClean="0"/>
              <a:pPr/>
              <a:t>30</a:t>
            </a:fld>
            <a:endParaRPr lang="en-US"/>
          </a:p>
        </p:txBody>
      </p:sp>
      <p:sp>
        <p:nvSpPr>
          <p:cNvPr id="9" name="Content Placeholder 8">
            <a:extLst>
              <a:ext uri="{FF2B5EF4-FFF2-40B4-BE49-F238E27FC236}">
                <a16:creationId xmlns:a16="http://schemas.microsoft.com/office/drawing/2014/main" id="{426E1F38-A429-70B8-3B2A-B57ED8CB8E13}"/>
              </a:ext>
            </a:extLst>
          </p:cNvPr>
          <p:cNvSpPr>
            <a:spLocks noGrp="1"/>
          </p:cNvSpPr>
          <p:nvPr>
            <p:ph idx="1"/>
          </p:nvPr>
        </p:nvSpPr>
        <p:spPr/>
        <p:txBody>
          <a:bodyPr>
            <a:normAutofit fontScale="92500"/>
          </a:bodyPr>
          <a:lstStyle/>
          <a:p>
            <a:pPr marL="0" lvl="2" indent="0">
              <a:spcBef>
                <a:spcPts val="0"/>
              </a:spcBef>
              <a:spcAft>
                <a:spcPts val="1200"/>
              </a:spcAft>
              <a:buClr>
                <a:schemeClr val="dk1"/>
              </a:buClr>
              <a:buNone/>
            </a:pPr>
            <a:r>
              <a:rPr lang="en-US" sz="2400" b="1" dirty="0"/>
              <a:t>Slide 1</a:t>
            </a:r>
          </a:p>
          <a:p>
            <a:pPr marL="285750" indent="-285750">
              <a:spcBef>
                <a:spcPts val="0"/>
              </a:spcBef>
              <a:spcAft>
                <a:spcPts val="1200"/>
              </a:spcAft>
              <a:buClr>
                <a:schemeClr val="dk1"/>
              </a:buClr>
            </a:pPr>
            <a:r>
              <a:rPr lang="en-US" sz="1800" dirty="0"/>
              <a:t>Each group has been assigned one of the 4 strategies (</a:t>
            </a:r>
            <a:r>
              <a:rPr lang="en-US" sz="1800" dirty="0">
                <a:solidFill>
                  <a:schemeClr val="dk1"/>
                </a:solidFill>
              </a:rPr>
              <a:t>diagnose, treat, prevent, respond)</a:t>
            </a:r>
            <a:endParaRPr lang="en-US" sz="1800" dirty="0"/>
          </a:p>
          <a:p>
            <a:pPr marL="285750" indent="-285750">
              <a:spcBef>
                <a:spcPts val="0"/>
              </a:spcBef>
              <a:spcAft>
                <a:spcPts val="1200"/>
              </a:spcAft>
              <a:buClr>
                <a:schemeClr val="dk1"/>
              </a:buClr>
            </a:pPr>
            <a:r>
              <a:rPr lang="en-US" sz="1800" dirty="0"/>
              <a:t>Brainstorm policies that would address your strategy</a:t>
            </a:r>
          </a:p>
          <a:p>
            <a:pPr marL="742950" lvl="1" indent="-285750">
              <a:spcBef>
                <a:spcPts val="0"/>
              </a:spcBef>
              <a:spcAft>
                <a:spcPts val="1200"/>
              </a:spcAft>
              <a:buClr>
                <a:schemeClr val="dk1"/>
              </a:buClr>
              <a:buFont typeface="System Font Regular"/>
              <a:buChar char="‒"/>
            </a:pPr>
            <a:r>
              <a:rPr lang="en-US" sz="1800" dirty="0">
                <a:solidFill>
                  <a:schemeClr val="dk1"/>
                </a:solidFill>
              </a:rPr>
              <a:t>Focus on general policies or a specific subpopulation</a:t>
            </a:r>
            <a:endParaRPr lang="en-US" sz="1800" dirty="0"/>
          </a:p>
          <a:p>
            <a:pPr marL="285750" indent="-285750">
              <a:spcBef>
                <a:spcPts val="0"/>
              </a:spcBef>
              <a:spcAft>
                <a:spcPts val="1200"/>
              </a:spcAft>
              <a:buClr>
                <a:schemeClr val="dk1"/>
              </a:buClr>
            </a:pPr>
            <a:r>
              <a:rPr lang="en-US" sz="1800" dirty="0"/>
              <a:t>Create one slide explaining one or more policies that would address your strategy</a:t>
            </a:r>
          </a:p>
          <a:p>
            <a:pPr marL="0" lvl="2" indent="0">
              <a:spcBef>
                <a:spcPts val="0"/>
              </a:spcBef>
              <a:spcAft>
                <a:spcPts val="1200"/>
              </a:spcAft>
              <a:buClr>
                <a:schemeClr val="dk1"/>
              </a:buClr>
              <a:buNone/>
            </a:pPr>
            <a:endParaRPr lang="en-US" sz="2400" b="1" dirty="0"/>
          </a:p>
          <a:p>
            <a:pPr marL="0" lvl="2" indent="0">
              <a:spcBef>
                <a:spcPts val="0"/>
              </a:spcBef>
              <a:spcAft>
                <a:spcPts val="1200"/>
              </a:spcAft>
              <a:buClr>
                <a:schemeClr val="dk1"/>
              </a:buClr>
              <a:buNone/>
            </a:pPr>
            <a:r>
              <a:rPr lang="en-US" sz="2400" b="1" dirty="0"/>
              <a:t>Slide 2</a:t>
            </a:r>
          </a:p>
          <a:p>
            <a:pPr marL="0" lvl="2" indent="0">
              <a:spcBef>
                <a:spcPts val="0"/>
              </a:spcBef>
              <a:spcAft>
                <a:spcPts val="1200"/>
              </a:spcAft>
              <a:buClr>
                <a:schemeClr val="dk1"/>
              </a:buClr>
              <a:buNone/>
            </a:pPr>
            <a:r>
              <a:rPr lang="en-US" sz="1800" dirty="0"/>
              <a:t>Answer the following questions (1-2 bullet points per question):</a:t>
            </a:r>
          </a:p>
          <a:p>
            <a:pPr marL="285750" lvl="2" indent="-285750">
              <a:spcBef>
                <a:spcPts val="0"/>
              </a:spcBef>
              <a:spcAft>
                <a:spcPts val="1200"/>
              </a:spcAft>
              <a:buClr>
                <a:schemeClr val="dk1"/>
              </a:buClr>
            </a:pPr>
            <a:r>
              <a:rPr lang="en-US" sz="1800" dirty="0"/>
              <a:t>What are some challenges to or disadvantages of your proposal? What might prevent it from working?</a:t>
            </a:r>
          </a:p>
          <a:p>
            <a:pPr marL="285750" lvl="2" indent="-285750">
              <a:spcBef>
                <a:spcPts val="0"/>
              </a:spcBef>
              <a:spcAft>
                <a:spcPts val="1200"/>
              </a:spcAft>
              <a:buClr>
                <a:schemeClr val="dk1"/>
              </a:buClr>
            </a:pPr>
            <a:r>
              <a:rPr lang="en-US" sz="1800" dirty="0"/>
              <a:t>Would your policy be implementable by 2030?</a:t>
            </a:r>
          </a:p>
          <a:p>
            <a:pPr marL="285750" lvl="2" indent="-285750">
              <a:spcBef>
                <a:spcPts val="0"/>
              </a:spcBef>
              <a:spcAft>
                <a:spcPts val="1200"/>
              </a:spcAft>
              <a:buClr>
                <a:schemeClr val="dk1"/>
              </a:buClr>
            </a:pPr>
            <a:endParaRPr lang="en-US" sz="1600" dirty="0"/>
          </a:p>
          <a:p>
            <a:endParaRPr lang="en-US" sz="1800" dirty="0"/>
          </a:p>
        </p:txBody>
      </p:sp>
    </p:spTree>
    <p:extLst>
      <p:ext uri="{BB962C8B-B14F-4D97-AF65-F5344CB8AC3E}">
        <p14:creationId xmlns:p14="http://schemas.microsoft.com/office/powerpoint/2010/main" val="53167087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13"/>
          <p:cNvSpPr txBox="1">
            <a:spLocks noGrp="1"/>
          </p:cNvSpPr>
          <p:nvPr>
            <p:ph type="title"/>
          </p:nvPr>
        </p:nvSpPr>
        <p:spPr/>
        <p:txBody>
          <a:bodyPr>
            <a:normAutofit/>
          </a:bodyPr>
          <a:lstStyle/>
          <a:p>
            <a:pPr lvl="0"/>
            <a:r>
              <a:rPr lang="en-US" sz="4000" dirty="0">
                <a:solidFill>
                  <a:srgbClr val="005493"/>
                </a:solidFill>
              </a:rPr>
              <a:t>Domestic HIV/AIDS Policy: Presentation</a:t>
            </a:r>
          </a:p>
        </p:txBody>
      </p:sp>
      <p:sp>
        <p:nvSpPr>
          <p:cNvPr id="4" name="Content Placeholder 3">
            <a:extLst>
              <a:ext uri="{FF2B5EF4-FFF2-40B4-BE49-F238E27FC236}">
                <a16:creationId xmlns:a16="http://schemas.microsoft.com/office/drawing/2014/main" id="{FB4417DC-0D91-59DF-7885-68E8EDBD740A}"/>
              </a:ext>
            </a:extLst>
          </p:cNvPr>
          <p:cNvSpPr>
            <a:spLocks noGrp="1"/>
          </p:cNvSpPr>
          <p:nvPr>
            <p:ph idx="1"/>
          </p:nvPr>
        </p:nvSpPr>
        <p:spPr/>
        <p:txBody>
          <a:bodyPr>
            <a:normAutofit/>
          </a:bodyPr>
          <a:lstStyle/>
          <a:p>
            <a:r>
              <a:rPr lang="en-US" sz="1800" dirty="0">
                <a:sym typeface="Century Gothic"/>
              </a:rPr>
              <a:t>Prepare 2 slides in groups of 4-5 (~15 minutes)</a:t>
            </a:r>
          </a:p>
          <a:p>
            <a:endParaRPr lang="en-US" sz="1800" dirty="0">
              <a:sym typeface="Century Gothic"/>
            </a:endParaRPr>
          </a:p>
          <a:p>
            <a:r>
              <a:rPr lang="en-US" sz="1800" dirty="0">
                <a:sym typeface="Century Gothic"/>
              </a:rPr>
              <a:t>Present proposals (~15 minutes)</a:t>
            </a:r>
          </a:p>
          <a:p>
            <a:pPr lvl="1"/>
            <a:r>
              <a:rPr lang="en-US" sz="1600" dirty="0">
                <a:sym typeface="Century Gothic"/>
              </a:rPr>
              <a:t>2 minutes to present proposals to section (will be timed)</a:t>
            </a:r>
          </a:p>
          <a:p>
            <a:pPr lvl="1"/>
            <a:r>
              <a:rPr lang="en-US" sz="1600" dirty="0">
                <a:sym typeface="Century Gothic"/>
              </a:rPr>
              <a:t>1 minute for section to discuss proposal</a:t>
            </a:r>
          </a:p>
          <a:p>
            <a:pPr lvl="1"/>
            <a:endParaRPr lang="en-US" sz="1600" dirty="0">
              <a:sym typeface="Century Gothic"/>
            </a:endParaRPr>
          </a:p>
          <a:p>
            <a:pPr marL="0" indent="0">
              <a:buNone/>
            </a:pPr>
            <a:r>
              <a:rPr lang="en-US" sz="1800" i="1" dirty="0"/>
              <a:t>Note: 15 minutes is not a lot of time to make slides! We don’t expect these to be as detailed or comprehensive as the unit assignment slides. Think of this as a warm-up for the unit 1 assignment and a chance to ask questions about making slides / presenting. </a:t>
            </a:r>
          </a:p>
          <a:p>
            <a:pPr marL="0" indent="0">
              <a:buNone/>
            </a:pPr>
            <a:endParaRPr lang="en-US" sz="1800" dirty="0">
              <a:sym typeface="Century Gothic"/>
            </a:endParaRPr>
          </a:p>
          <a:p>
            <a:endParaRPr lang="en-US" sz="1800" dirty="0"/>
          </a:p>
        </p:txBody>
      </p:sp>
      <p:sp>
        <p:nvSpPr>
          <p:cNvPr id="121" name="Google Shape;121;p13"/>
          <p:cNvSpPr txBox="1">
            <a:spLocks noGrp="1"/>
          </p:cNvSpPr>
          <p:nvPr>
            <p:ph type="sldNum" sz="quarter" idx="12"/>
          </p:nvPr>
        </p:nvSpPr>
        <p:spPr/>
        <p:txBody>
          <a:bodyPr/>
          <a:lstStyle/>
          <a:p>
            <a:fld id="{00000000-1234-1234-1234-123412341234}" type="slidenum">
              <a:rPr lang="en-US"/>
              <a:pPr/>
              <a:t>31</a:t>
            </a:fld>
            <a:endParaRPr lang="en-US"/>
          </a:p>
        </p:txBody>
      </p:sp>
      <p:sp>
        <p:nvSpPr>
          <p:cNvPr id="122" name="Google Shape;122;p13"/>
          <p:cNvSpPr txBox="1"/>
          <p:nvPr/>
        </p:nvSpPr>
        <p:spPr>
          <a:xfrm>
            <a:off x="8382000" y="1676401"/>
            <a:ext cx="1828800" cy="4373563"/>
          </a:xfrm>
          <a:prstGeom prst="rect">
            <a:avLst/>
          </a:prstGeom>
          <a:noFill/>
          <a:ln>
            <a:noFill/>
          </a:ln>
        </p:spPr>
        <p:txBody>
          <a:bodyPr spcFirstLastPara="1" wrap="square" lIns="91425" tIns="45700" rIns="91425" bIns="45700" anchor="t" anchorCtr="0">
            <a:noAutofit/>
          </a:bodyPr>
          <a:lstStyle/>
          <a:p>
            <a:pPr marL="342900" indent="-76200">
              <a:buClr>
                <a:schemeClr val="accent1"/>
              </a:buClr>
              <a:buSzPts val="2400"/>
            </a:pPr>
            <a:endParaRPr sz="2400">
              <a:solidFill>
                <a:schemeClr val="dk2"/>
              </a:solidFill>
              <a:latin typeface="Century Gothic"/>
              <a:ea typeface="Century Gothic"/>
              <a:cs typeface="Century Gothic"/>
              <a:sym typeface="Century Gothic"/>
            </a:endParaRPr>
          </a:p>
        </p:txBody>
      </p:sp>
    </p:spTree>
    <p:extLst>
      <p:ext uri="{BB962C8B-B14F-4D97-AF65-F5344CB8AC3E}">
        <p14:creationId xmlns:p14="http://schemas.microsoft.com/office/powerpoint/2010/main" val="2695801765"/>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2013 - 2022 Theme</Template>
  <TotalTime>1015</TotalTime>
  <Words>3103</Words>
  <Application>Microsoft Macintosh PowerPoint</Application>
  <PresentationFormat>Widescreen</PresentationFormat>
  <Paragraphs>280</Paragraphs>
  <Slides>31</Slides>
  <Notes>16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31</vt:i4>
      </vt:variant>
    </vt:vector>
  </HeadingPairs>
  <TitlesOfParts>
    <vt:vector size="39" baseType="lpstr">
      <vt:lpstr>System Font Regular</vt:lpstr>
      <vt:lpstr>Arial</vt:lpstr>
      <vt:lpstr>Cambria Math</vt:lpstr>
      <vt:lpstr>Century Gothic</vt:lpstr>
      <vt:lpstr>Courier New</vt:lpstr>
      <vt:lpstr>Times New Roman</vt:lpstr>
      <vt:lpstr>Wingdings</vt:lpstr>
      <vt:lpstr>Office Theme</vt:lpstr>
      <vt:lpstr>GENED 1079 Section 2 </vt:lpstr>
      <vt:lpstr>Upcoming / Reminders</vt:lpstr>
      <vt:lpstr>Agenda</vt:lpstr>
      <vt:lpstr>Agenda</vt:lpstr>
      <vt:lpstr>When will disease spread? - Refresher</vt:lpstr>
      <vt:lpstr>Breakout groups: Let’s parameterize a single group model. Here is some information to do so.</vt:lpstr>
      <vt:lpstr>Breakout groups: Let’s parameterize a single group model. Here is some information to do so.</vt:lpstr>
      <vt:lpstr>Spreadsheet Questions – Part 1</vt:lpstr>
      <vt:lpstr>Questions – Part 1</vt:lpstr>
      <vt:lpstr>Questions – Part 2</vt:lpstr>
      <vt:lpstr>Questions – Part 2</vt:lpstr>
      <vt:lpstr>Questions – Part 3</vt:lpstr>
      <vt:lpstr>Questions – Part 3</vt:lpstr>
      <vt:lpstr>Review of 9/10 Class Activity</vt:lpstr>
      <vt:lpstr>Agenda</vt:lpstr>
      <vt:lpstr>Infectious Diseases Around the World</vt:lpstr>
      <vt:lpstr>Agenda</vt:lpstr>
      <vt:lpstr>What makes a “good” slide?</vt:lpstr>
      <vt:lpstr>A few caveats…</vt:lpstr>
      <vt:lpstr>Activism</vt:lpstr>
      <vt:lpstr>Activists responded to the HIV/AIDS crisis in three main ways</vt:lpstr>
      <vt:lpstr>Activists responded to the HIV/AIDS crisis in three main ways</vt:lpstr>
      <vt:lpstr>Activists responded to the HIV/AIDS crisis in three main ways: community-based health organizations, civil disobedience, and science activism.</vt:lpstr>
      <vt:lpstr>Presenter Notes</vt:lpstr>
      <vt:lpstr>Agenda</vt:lpstr>
      <vt:lpstr>Unit 1 Assignment Groups</vt:lpstr>
      <vt:lpstr>PowerPoint Presentation</vt:lpstr>
      <vt:lpstr>PowerPoint Presentation</vt:lpstr>
      <vt:lpstr>Domestic HIV/AIDS Policy</vt:lpstr>
      <vt:lpstr>Domestic HIV/AIDS Policy: Slides</vt:lpstr>
      <vt:lpstr>Domestic HIV/AIDS Policy: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Section 1 Overview</dc:title>
  <cp:lastModifiedBy>Jhang, Janice</cp:lastModifiedBy>
  <cp:revision>210</cp:revision>
  <dcterms:modified xsi:type="dcterms:W3CDTF">2026-09-16T19:01:01Z</dcterms:modified>
</cp:coreProperties>
</file>