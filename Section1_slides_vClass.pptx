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33"/>
  </p:notesMasterIdLst>
  <p:handoutMasterIdLst>
    <p:handoutMasterId r:id="rId34"/>
  </p:handoutMasterIdLst>
  <p:sldIdLst>
    <p:sldId id="506" r:id="rId2"/>
    <p:sldId id="540" r:id="rId3"/>
    <p:sldId id="542" r:id="rId4"/>
    <p:sldId id="541" r:id="rId5"/>
    <p:sldId id="543" r:id="rId6"/>
    <p:sldId id="613" r:id="rId7"/>
    <p:sldId id="605" r:id="rId8"/>
    <p:sldId id="548" r:id="rId9"/>
    <p:sldId id="546" r:id="rId10"/>
    <p:sldId id="545" r:id="rId11"/>
    <p:sldId id="515" r:id="rId12"/>
    <p:sldId id="547" r:id="rId13"/>
    <p:sldId id="516" r:id="rId14"/>
    <p:sldId id="519" r:id="rId15"/>
    <p:sldId id="538" r:id="rId16"/>
    <p:sldId id="539" r:id="rId17"/>
    <p:sldId id="584" r:id="rId18"/>
    <p:sldId id="585" r:id="rId19"/>
    <p:sldId id="579" r:id="rId20"/>
    <p:sldId id="604" r:id="rId21"/>
    <p:sldId id="574" r:id="rId22"/>
    <p:sldId id="603" r:id="rId23"/>
    <p:sldId id="592" r:id="rId24"/>
    <p:sldId id="597" r:id="rId25"/>
    <p:sldId id="533" r:id="rId26"/>
    <p:sldId id="583" r:id="rId27"/>
    <p:sldId id="580" r:id="rId28"/>
    <p:sldId id="395" r:id="rId29"/>
    <p:sldId id="553" r:id="rId30"/>
    <p:sldId id="571" r:id="rId31"/>
    <p:sldId id="531" r:id="rId32"/>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d Cutler" initials="DC" lastIdx="1" clrIdx="0">
    <p:extLst>
      <p:ext uri="{19B8F6BF-5375-455C-9EA6-DF929625EA0E}">
        <p15:presenceInfo xmlns:p15="http://schemas.microsoft.com/office/powerpoint/2012/main" userId="f7817227c7a45f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493"/>
    <a:srgbClr val="008000"/>
    <a:srgbClr val="DAFE04"/>
    <a:srgbClr val="DAFD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52" autoAdjust="0"/>
    <p:restoredTop sz="75654" autoAdjust="0"/>
  </p:normalViewPr>
  <p:slideViewPr>
    <p:cSldViewPr>
      <p:cViewPr varScale="1">
        <p:scale>
          <a:sx n="88" d="100"/>
          <a:sy n="88" d="100"/>
        </p:scale>
        <p:origin x="1440" y="19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7280"/>
    </p:cViewPr>
  </p:sorterViewPr>
  <p:notesViewPr>
    <p:cSldViewPr>
      <p:cViewPr varScale="1">
        <p:scale>
          <a:sx n="60" d="100"/>
          <a:sy n="60" d="100"/>
        </p:scale>
        <p:origin x="2218" y="43"/>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1"/>
            <a:ext cx="3169390" cy="480060"/>
          </a:xfrm>
          <a:prstGeom prst="rect">
            <a:avLst/>
          </a:prstGeom>
          <a:noFill/>
          <a:ln w="9525">
            <a:noFill/>
            <a:miter lim="800000"/>
            <a:headEnd/>
            <a:tailEnd/>
          </a:ln>
          <a:effectLst/>
        </p:spPr>
        <p:txBody>
          <a:bodyPr vert="horz" wrap="square" lIns="96660" tIns="48329" rIns="96660" bIns="48329" numCol="1" anchor="t" anchorCtr="0" compatLnSpc="1">
            <a:prstTxWarp prst="textNoShape">
              <a:avLst/>
            </a:prstTxWarp>
          </a:bodyPr>
          <a:lstStyle>
            <a:lvl1pPr defTabSz="966648">
              <a:defRPr sz="1300">
                <a:latin typeface="Times New Roman" pitchFamily="18" charset="0"/>
              </a:defRPr>
            </a:lvl1pPr>
          </a:lstStyle>
          <a:p>
            <a:r>
              <a:rPr lang="en-US" dirty="0" err="1"/>
              <a:t>GenEd</a:t>
            </a:r>
            <a:r>
              <a:rPr lang="en-US" dirty="0"/>
              <a:t> 1079</a:t>
            </a:r>
          </a:p>
        </p:txBody>
      </p:sp>
      <p:sp>
        <p:nvSpPr>
          <p:cNvPr id="17411" name="Rectangle 3"/>
          <p:cNvSpPr>
            <a:spLocks noGrp="1" noChangeArrowheads="1"/>
          </p:cNvSpPr>
          <p:nvPr>
            <p:ph type="dt" sz="quarter" idx="1"/>
          </p:nvPr>
        </p:nvSpPr>
        <p:spPr bwMode="auto">
          <a:xfrm>
            <a:off x="4145811" y="1"/>
            <a:ext cx="3169389" cy="480060"/>
          </a:xfrm>
          <a:prstGeom prst="rect">
            <a:avLst/>
          </a:prstGeom>
          <a:noFill/>
          <a:ln w="9525">
            <a:noFill/>
            <a:miter lim="800000"/>
            <a:headEnd/>
            <a:tailEnd/>
          </a:ln>
          <a:effectLst/>
        </p:spPr>
        <p:txBody>
          <a:bodyPr vert="horz" wrap="square" lIns="96660" tIns="48329" rIns="96660" bIns="48329" numCol="1" anchor="t" anchorCtr="0" compatLnSpc="1">
            <a:prstTxWarp prst="textNoShape">
              <a:avLst/>
            </a:prstTxWarp>
          </a:bodyPr>
          <a:lstStyle>
            <a:lvl1pPr algn="r" defTabSz="966648">
              <a:defRPr sz="1300">
                <a:latin typeface="Times New Roman" pitchFamily="18" charset="0"/>
              </a:defRPr>
            </a:lvl1pPr>
          </a:lstStyle>
          <a:p>
            <a:r>
              <a:rPr lang="en-US" dirty="0"/>
              <a:t>Session 1.2</a:t>
            </a:r>
          </a:p>
        </p:txBody>
      </p:sp>
      <p:sp>
        <p:nvSpPr>
          <p:cNvPr id="17412" name="Rectangle 4"/>
          <p:cNvSpPr>
            <a:spLocks noGrp="1" noChangeArrowheads="1"/>
          </p:cNvSpPr>
          <p:nvPr>
            <p:ph type="ftr" sz="quarter" idx="2"/>
          </p:nvPr>
        </p:nvSpPr>
        <p:spPr bwMode="auto">
          <a:xfrm>
            <a:off x="0" y="9121141"/>
            <a:ext cx="3169390" cy="480060"/>
          </a:xfrm>
          <a:prstGeom prst="rect">
            <a:avLst/>
          </a:prstGeom>
          <a:noFill/>
          <a:ln w="9525">
            <a:noFill/>
            <a:miter lim="800000"/>
            <a:headEnd/>
            <a:tailEnd/>
          </a:ln>
          <a:effectLst/>
        </p:spPr>
        <p:txBody>
          <a:bodyPr vert="horz" wrap="square" lIns="96660" tIns="48329" rIns="96660" bIns="48329" numCol="1" anchor="b" anchorCtr="0" compatLnSpc="1">
            <a:prstTxWarp prst="textNoShape">
              <a:avLst/>
            </a:prstTxWarp>
          </a:bodyPr>
          <a:lstStyle>
            <a:lvl1pPr defTabSz="966648">
              <a:defRPr sz="1300">
                <a:latin typeface="Times New Roman" pitchFamily="18" charset="0"/>
              </a:defRPr>
            </a:lvl1pPr>
          </a:lstStyle>
          <a:p>
            <a:endParaRPr lang="en-US"/>
          </a:p>
        </p:txBody>
      </p:sp>
      <p:sp>
        <p:nvSpPr>
          <p:cNvPr id="17413" name="Rectangle 5"/>
          <p:cNvSpPr>
            <a:spLocks noGrp="1" noChangeArrowheads="1"/>
          </p:cNvSpPr>
          <p:nvPr>
            <p:ph type="sldNum" sz="quarter" idx="3"/>
          </p:nvPr>
        </p:nvSpPr>
        <p:spPr bwMode="auto">
          <a:xfrm>
            <a:off x="4145811" y="9121141"/>
            <a:ext cx="3169389" cy="480060"/>
          </a:xfrm>
          <a:prstGeom prst="rect">
            <a:avLst/>
          </a:prstGeom>
          <a:noFill/>
          <a:ln w="9525">
            <a:noFill/>
            <a:miter lim="800000"/>
            <a:headEnd/>
            <a:tailEnd/>
          </a:ln>
          <a:effectLst/>
        </p:spPr>
        <p:txBody>
          <a:bodyPr vert="horz" wrap="square" lIns="96660" tIns="48329" rIns="96660" bIns="48329" numCol="1" anchor="b" anchorCtr="0" compatLnSpc="1">
            <a:prstTxWarp prst="textNoShape">
              <a:avLst/>
            </a:prstTxWarp>
          </a:bodyPr>
          <a:lstStyle>
            <a:lvl1pPr algn="r" defTabSz="966648">
              <a:defRPr sz="1300">
                <a:latin typeface="Times New Roman" pitchFamily="18" charset="0"/>
              </a:defRPr>
            </a:lvl1pPr>
          </a:lstStyle>
          <a:p>
            <a:fld id="{F63A1A5D-0E59-4256-9580-3E96B86FE8A8}" type="slidenum">
              <a:rPr lang="en-US"/>
              <a:pPr/>
              <a:t>‹#›</a:t>
            </a:fld>
            <a:endParaRPr lang="en-US"/>
          </a:p>
        </p:txBody>
      </p:sp>
    </p:spTree>
    <p:extLst>
      <p:ext uri="{BB962C8B-B14F-4D97-AF65-F5344CB8AC3E}">
        <p14:creationId xmlns:p14="http://schemas.microsoft.com/office/powerpoint/2010/main" val="2199594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1"/>
            <a:ext cx="3169390" cy="480060"/>
          </a:xfrm>
          <a:prstGeom prst="rect">
            <a:avLst/>
          </a:prstGeom>
          <a:noFill/>
          <a:ln w="9525">
            <a:noFill/>
            <a:miter lim="800000"/>
            <a:headEnd/>
            <a:tailEnd/>
          </a:ln>
          <a:effectLst/>
        </p:spPr>
        <p:txBody>
          <a:bodyPr vert="horz" wrap="square" lIns="96660" tIns="48329" rIns="96660" bIns="48329" numCol="1" anchor="t" anchorCtr="0" compatLnSpc="1">
            <a:prstTxWarp prst="textNoShape">
              <a:avLst/>
            </a:prstTxWarp>
          </a:bodyPr>
          <a:lstStyle>
            <a:lvl1pPr defTabSz="966648">
              <a:defRPr sz="1300">
                <a:latin typeface="Times New Roman" pitchFamily="18" charset="0"/>
              </a:defRPr>
            </a:lvl1pPr>
          </a:lstStyle>
          <a:p>
            <a:r>
              <a:rPr lang="en-US"/>
              <a:t>QR24, Fall 2005, Lecture 2</a:t>
            </a:r>
          </a:p>
        </p:txBody>
      </p:sp>
      <p:sp>
        <p:nvSpPr>
          <p:cNvPr id="5123" name="Rectangle 3"/>
          <p:cNvSpPr>
            <a:spLocks noGrp="1" noChangeArrowheads="1"/>
          </p:cNvSpPr>
          <p:nvPr>
            <p:ph type="dt" idx="1"/>
          </p:nvPr>
        </p:nvSpPr>
        <p:spPr bwMode="auto">
          <a:xfrm>
            <a:off x="4145811" y="1"/>
            <a:ext cx="3169389" cy="480060"/>
          </a:xfrm>
          <a:prstGeom prst="rect">
            <a:avLst/>
          </a:prstGeom>
          <a:noFill/>
          <a:ln w="9525">
            <a:noFill/>
            <a:miter lim="800000"/>
            <a:headEnd/>
            <a:tailEnd/>
          </a:ln>
          <a:effectLst/>
        </p:spPr>
        <p:txBody>
          <a:bodyPr vert="horz" wrap="square" lIns="96660" tIns="48329" rIns="96660" bIns="48329" numCol="1" anchor="t" anchorCtr="0" compatLnSpc="1">
            <a:prstTxWarp prst="textNoShape">
              <a:avLst/>
            </a:prstTxWarp>
          </a:bodyPr>
          <a:lstStyle>
            <a:lvl1pPr algn="r" defTabSz="966648">
              <a:defRPr sz="1300">
                <a:latin typeface="Times New Roman" pitchFamily="18" charset="0"/>
              </a:defRPr>
            </a:lvl1pPr>
          </a:lstStyle>
          <a:p>
            <a:endParaRPr lang="en-US"/>
          </a:p>
        </p:txBody>
      </p:sp>
      <p:sp>
        <p:nvSpPr>
          <p:cNvPr id="5124" name="Rectangle 4"/>
          <p:cNvSpPr>
            <a:spLocks noGrp="1" noRot="1" noChangeAspect="1" noChangeArrowheads="1" noTextEdit="1"/>
          </p:cNvSpPr>
          <p:nvPr>
            <p:ph type="sldImg" idx="2"/>
          </p:nvPr>
        </p:nvSpPr>
        <p:spPr bwMode="auto">
          <a:xfrm>
            <a:off x="457200" y="720725"/>
            <a:ext cx="6400800" cy="360045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974831" y="4560571"/>
            <a:ext cx="5365540" cy="4320540"/>
          </a:xfrm>
          <a:prstGeom prst="rect">
            <a:avLst/>
          </a:prstGeom>
          <a:noFill/>
          <a:ln w="9525">
            <a:noFill/>
            <a:miter lim="800000"/>
            <a:headEnd/>
            <a:tailEnd/>
          </a:ln>
          <a:effectLst/>
        </p:spPr>
        <p:txBody>
          <a:bodyPr vert="horz" wrap="square" lIns="96660" tIns="48329" rIns="96660" bIns="4832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6" name="Rectangle 6"/>
          <p:cNvSpPr>
            <a:spLocks noGrp="1" noChangeArrowheads="1"/>
          </p:cNvSpPr>
          <p:nvPr>
            <p:ph type="ftr" sz="quarter" idx="4"/>
          </p:nvPr>
        </p:nvSpPr>
        <p:spPr bwMode="auto">
          <a:xfrm>
            <a:off x="0" y="9121141"/>
            <a:ext cx="3169390" cy="480060"/>
          </a:xfrm>
          <a:prstGeom prst="rect">
            <a:avLst/>
          </a:prstGeom>
          <a:noFill/>
          <a:ln w="9525">
            <a:noFill/>
            <a:miter lim="800000"/>
            <a:headEnd/>
            <a:tailEnd/>
          </a:ln>
          <a:effectLst/>
        </p:spPr>
        <p:txBody>
          <a:bodyPr vert="horz" wrap="square" lIns="96660" tIns="48329" rIns="96660" bIns="48329" numCol="1" anchor="b" anchorCtr="0" compatLnSpc="1">
            <a:prstTxWarp prst="textNoShape">
              <a:avLst/>
            </a:prstTxWarp>
          </a:bodyPr>
          <a:lstStyle>
            <a:lvl1pPr defTabSz="966648">
              <a:defRPr sz="1300">
                <a:latin typeface="Times New Roman" pitchFamily="18" charset="0"/>
              </a:defRPr>
            </a:lvl1pPr>
          </a:lstStyle>
          <a:p>
            <a:endParaRPr lang="en-US"/>
          </a:p>
        </p:txBody>
      </p:sp>
      <p:sp>
        <p:nvSpPr>
          <p:cNvPr id="5127" name="Rectangle 7"/>
          <p:cNvSpPr>
            <a:spLocks noGrp="1" noChangeArrowheads="1"/>
          </p:cNvSpPr>
          <p:nvPr>
            <p:ph type="sldNum" sz="quarter" idx="5"/>
          </p:nvPr>
        </p:nvSpPr>
        <p:spPr bwMode="auto">
          <a:xfrm>
            <a:off x="4145811" y="9121141"/>
            <a:ext cx="3169389" cy="480060"/>
          </a:xfrm>
          <a:prstGeom prst="rect">
            <a:avLst/>
          </a:prstGeom>
          <a:noFill/>
          <a:ln w="9525">
            <a:noFill/>
            <a:miter lim="800000"/>
            <a:headEnd/>
            <a:tailEnd/>
          </a:ln>
          <a:effectLst/>
        </p:spPr>
        <p:txBody>
          <a:bodyPr vert="horz" wrap="square" lIns="96660" tIns="48329" rIns="96660" bIns="48329" numCol="1" anchor="b" anchorCtr="0" compatLnSpc="1">
            <a:prstTxWarp prst="textNoShape">
              <a:avLst/>
            </a:prstTxWarp>
          </a:bodyPr>
          <a:lstStyle>
            <a:lvl1pPr algn="r" defTabSz="966648">
              <a:defRPr sz="1300">
                <a:latin typeface="Times New Roman" pitchFamily="18" charset="0"/>
              </a:defRPr>
            </a:lvl1pPr>
          </a:lstStyle>
          <a:p>
            <a:fld id="{510FF742-9BE3-414A-87AC-D68001451B72}" type="slidenum">
              <a:rPr lang="en-US"/>
              <a:pPr/>
              <a:t>‹#›</a:t>
            </a:fld>
            <a:endParaRPr lang="en-US"/>
          </a:p>
        </p:txBody>
      </p:sp>
    </p:spTree>
    <p:extLst>
      <p:ext uri="{BB962C8B-B14F-4D97-AF65-F5344CB8AC3E}">
        <p14:creationId xmlns:p14="http://schemas.microsoft.com/office/powerpoint/2010/main" val="1695932229"/>
      </p:ext>
    </p:extLst>
  </p:cSld>
  <p:clrMap bg1="lt1" tx1="dk1" bg2="lt2" tx2="dk2" accent1="accent1" accent2="accent2" accent3="accent3" accent4="accent4" accent5="accent5" accent6="accent6" hlink="hlink" folHlink="folHlink"/>
  <p:hf ftr="0" dt="0"/>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disease modeling – meaning of. Why we do. Need simplification. </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a:t>
            </a:fld>
            <a:endParaRPr lang="en-US"/>
          </a:p>
        </p:txBody>
      </p:sp>
    </p:spTree>
    <p:extLst>
      <p:ext uri="{BB962C8B-B14F-4D97-AF65-F5344CB8AC3E}">
        <p14:creationId xmlns:p14="http://schemas.microsoft.com/office/powerpoint/2010/main" val="2902068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send you photos of themselves over the summer, put together in PowerPoint, have everyone introduce themselves with </a:t>
            </a:r>
            <a:r>
              <a:rPr lang="en-US" b="1" dirty="0"/>
              <a:t>names, pronouns, what they’re doing in the photo, their house, concentration</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3</a:t>
            </a:fld>
            <a:endParaRPr lang="en-US"/>
          </a:p>
        </p:txBody>
      </p:sp>
    </p:spTree>
    <p:extLst>
      <p:ext uri="{BB962C8B-B14F-4D97-AF65-F5344CB8AC3E}">
        <p14:creationId xmlns:p14="http://schemas.microsoft.com/office/powerpoint/2010/main" val="1914786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00A1D-1B16-CE92-5100-857E9585E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8D5DA-0E25-F913-6468-526A15B655A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84241BB-E5D8-7A88-D1A1-13347E5C36DA}"/>
              </a:ext>
            </a:extLst>
          </p:cNvPr>
          <p:cNvSpPr>
            <a:spLocks noGrp="1"/>
          </p:cNvSpPr>
          <p:nvPr>
            <p:ph type="body" sz="quarter" idx="3"/>
          </p:nvPr>
        </p:nvSpPr>
        <p:spPr/>
        <p:txBody>
          <a:bodyPr/>
          <a:lstStyle/>
          <a:p>
            <a:r>
              <a:rPr dirty="0"/>
              <a:t>DISCUSSION PROMPT (2-3 min). Ask before revealing anything: "We can already count cases. Why build a model?" Most students go straight to prediction. Push them toward intervention and complexity — those are the ones they won't produce on their own.</a:t>
            </a:r>
          </a:p>
          <a:p>
            <a:endParaRPr dirty="0"/>
          </a:p>
          <a:p>
            <a:r>
              <a:rPr dirty="0"/>
              <a:t>1. PREDICTION / PREPAREDNESS. A model turns today's parameters into tomorrow's caseload: peak timing, peak height, beds, doses, staff. Worth flagging the paradox: models that forecast a severe epidemic often "look wrong" afterward precisely because they prompted the response that averted it.</a:t>
            </a:r>
          </a:p>
          <a:p>
            <a:r>
              <a:rPr dirty="0"/>
              <a:t>Source: Lofgren ET, Halloran ME, Rivers CM, et al. Opinion: Mathematical models: a key tool for outbreak response. PNAS 2014;111(51):18095-18096. doi:10.1073/pnas.1421551111</a:t>
            </a:r>
          </a:p>
          <a:p>
            <a:endParaRPr dirty="0"/>
          </a:p>
          <a:p>
            <a:r>
              <a:rPr dirty="0"/>
              <a:t>2. INTERVENTION. You cannot randomize a pandemic. The model is the experimental apparatus for policy: quarantine vs. vaccination vs. school closure, and how to allocate a scarce dose supply. Connect this directly to the SIR spreadsheet later in section — changing beta, N, or delta IS a policy lever (masks/condoms lower beta, distancing lowers N, treatment raises delta).</a:t>
            </a:r>
          </a:p>
          <a:p>
            <a:r>
              <a:rPr dirty="0"/>
              <a:t>Sources: </a:t>
            </a:r>
            <a:r>
              <a:rPr dirty="0" err="1"/>
              <a:t>Heesterbeek</a:t>
            </a:r>
            <a:r>
              <a:rPr dirty="0"/>
              <a:t> H, Anderson RM, Andreasen V, et al. Modeling infectious disease dynamics in the complex landscape of global health. Science 2015;347(6227):aaa4339. doi:10.1126/science.aaa4339 | </a:t>
            </a:r>
            <a:r>
              <a:rPr dirty="0" err="1"/>
              <a:t>Grassly</a:t>
            </a:r>
            <a:r>
              <a:rPr dirty="0"/>
              <a:t> NC, Fraser C. Mathematical models of infectious disease transmission. Nature Reviews Microbiology 2008;6:477-487. doi:10.1038/nrmicro1845</a:t>
            </a:r>
          </a:p>
          <a:p>
            <a:endParaRPr dirty="0"/>
          </a:p>
          <a:p>
            <a:r>
              <a:rPr dirty="0"/>
              <a:t>3. COMPLEXITY. Transmission is nonlinear: every infection depletes the susceptible pool, so outputs are not proportional to inputs. This is exactly why R0 = beta*N/delta is worth deriving, and where the herd immunity threshold 1 - 1/R0 comes from — you never have to reach everyone. If there is time, the counterintuitive case: partial rubella vaccination raises the average age of infection and, in persistently high-transmission settings, can increase congenital rubella syndrome. That result is invisible without a model.</a:t>
            </a:r>
          </a:p>
          <a:p>
            <a:r>
              <a:rPr dirty="0"/>
              <a:t>Sources: </a:t>
            </a:r>
            <a:r>
              <a:rPr dirty="0" err="1"/>
              <a:t>Grassly</a:t>
            </a:r>
            <a:r>
              <a:rPr dirty="0"/>
              <a:t> &amp; Fraser 2008 (above) | Winter AK, et al. The impact of rubella vaccine introduction on rubella infection and congenital rubella syndrome: a systematic review of mathematical modelling studies. PMC7912610</a:t>
            </a:r>
          </a:p>
          <a:p>
            <a:endParaRPr dirty="0"/>
          </a:p>
          <a:p>
            <a:r>
              <a:rPr dirty="0"/>
              <a:t>4. EVALUATION. Models supply the counterfactual for retrospective attribution — what would have happened otherwise. The COVID vaccine figure: 19.8 million deaths averted in year one when benchmarked against excess-mortality estimates (14.4 million against reported COVID deaths). Note the correction published in 2023.</a:t>
            </a:r>
          </a:p>
          <a:p>
            <a:r>
              <a:rPr dirty="0"/>
              <a:t>Source: Watson OJ, Barnsley G, Toor J, Hogan AB, Winskill P, Ghani AC. Global impact of the first year of COVID-19 vaccination: a mathematical modelling study. Lancet Infect Dis 2022;22(9):1293-1302. doi:10.1016/S1473-3099(22)00320-6</a:t>
            </a:r>
          </a:p>
          <a:p>
            <a:endParaRPr dirty="0"/>
          </a:p>
          <a:p>
            <a:r>
              <a:rPr dirty="0"/>
              <a:t>THE HONEST CAVEAT (raise it yourself if a student doesn't). Early in an outbreak, data are scarce and forecasts carry wide uncertainty; the value of the model is often in making assumptions explicit and comparable, not in the point estimate. "All models are wrong, some are useful."</a:t>
            </a:r>
          </a:p>
          <a:p>
            <a:r>
              <a:rPr dirty="0"/>
              <a:t>Source: Metcalf CJE, Lessler J. Opportunities and challenges in modeling emerging infectious diseases. Science 2017;357(6347):149-152. doi:10.1126/science.aam8335</a:t>
            </a:r>
          </a:p>
          <a:p>
            <a:endParaRPr dirty="0"/>
          </a:p>
          <a:p>
            <a:r>
              <a:rPr dirty="0"/>
              <a:t>TO REVEAL THE FOUR REASONS ONE AT A TIME: select the body text box, Animations &gt; Appear, then Effect Options &gt; By Paragraph.</a:t>
            </a:r>
          </a:p>
        </p:txBody>
      </p:sp>
      <p:sp>
        <p:nvSpPr>
          <p:cNvPr id="4" name="Slide Number Placeholder 3">
            <a:extLst>
              <a:ext uri="{FF2B5EF4-FFF2-40B4-BE49-F238E27FC236}">
                <a16:creationId xmlns:a16="http://schemas.microsoft.com/office/drawing/2014/main" id="{2A206C04-EED1-62C9-F2A6-D4466BDF8401}"/>
              </a:ext>
            </a:extLst>
          </p:cNvPr>
          <p:cNvSpPr>
            <a:spLocks noGrp="1"/>
          </p:cNvSpPr>
          <p:nvPr>
            <p:ph type="sldNum" sz="quarter" idx="5"/>
          </p:nvPr>
        </p:nvSpPr>
        <p:spPr/>
      </p:sp>
    </p:spTree>
    <p:extLst>
      <p:ext uri="{BB962C8B-B14F-4D97-AF65-F5344CB8AC3E}">
        <p14:creationId xmlns:p14="http://schemas.microsoft.com/office/powerpoint/2010/main" val="3151105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DISCUSSION PROMPT (2-3 min). Ask before revealing anything: "We can already count cases. Why build a model?" Most students go straight to prediction. Push them toward intervention and complexity — those are the ones they won't produce on their own.</a:t>
            </a:r>
          </a:p>
          <a:p>
            <a:endParaRPr dirty="0"/>
          </a:p>
          <a:p>
            <a:r>
              <a:rPr dirty="0"/>
              <a:t>1. PREDICTION / PREPAREDNESS. A model turns today's parameters into tomorrow's caseload: peak timing, peak height, beds, doses, staff. Worth flagging the paradox: models that forecast a severe epidemic often "look wrong" afterward precisely because they prompted the response that averted it.</a:t>
            </a:r>
          </a:p>
          <a:p>
            <a:r>
              <a:rPr dirty="0"/>
              <a:t>Source: Lofgren ET, Halloran ME, Rivers CM, et al. Opinion: Mathematical models: a key tool for outbreak response. PNAS 2014;111(51):18095-18096. doi:10.1073/pnas.1421551111</a:t>
            </a:r>
          </a:p>
          <a:p>
            <a:endParaRPr dirty="0"/>
          </a:p>
          <a:p>
            <a:r>
              <a:rPr dirty="0"/>
              <a:t>2. INTERVENTION. You cannot randomize a pandemic. The model is the experimental apparatus for policy: quarantine vs. vaccination vs. school closure, and how to allocate a scarce dose supply. Connect this directly to the SIR spreadsheet later in section — changing beta, N, or delta IS a policy lever (masks/condoms lower beta, distancing lowers N, treatment raises delta).</a:t>
            </a:r>
          </a:p>
          <a:p>
            <a:r>
              <a:rPr dirty="0"/>
              <a:t>Sources: </a:t>
            </a:r>
            <a:r>
              <a:rPr dirty="0" err="1"/>
              <a:t>Heesterbeek</a:t>
            </a:r>
            <a:r>
              <a:rPr dirty="0"/>
              <a:t> H, Anderson RM, Andreasen V, et al. Modeling infectious disease dynamics in the complex landscape of global health. Science 2015;347(6227):aaa4339. doi:10.1126/science.aaa4339 | </a:t>
            </a:r>
            <a:r>
              <a:rPr dirty="0" err="1"/>
              <a:t>Grassly</a:t>
            </a:r>
            <a:r>
              <a:rPr dirty="0"/>
              <a:t> NC, Fraser C. Mathematical models of infectious disease transmission. Nature Reviews Microbiology 2008;6:477-487. doi:10.1038/nrmicro1845</a:t>
            </a:r>
          </a:p>
          <a:p>
            <a:endParaRPr dirty="0"/>
          </a:p>
          <a:p>
            <a:r>
              <a:rPr dirty="0"/>
              <a:t>3. COMPLEXITY. Transmission is nonlinear: every infection depletes the susceptible pool, so outputs are not proportional to inputs. This is exactly why R0 = beta*N/delta is worth deriving, and where the herd immunity threshold 1 - 1/R0 comes from — you never have to reach everyone. If there is time, the counterintuitive case: partial rubella vaccination raises the average age of infection and, in persistently high-transmission settings, can increase congenital rubella syndrome. That result is invisible without a model.</a:t>
            </a:r>
          </a:p>
          <a:p>
            <a:r>
              <a:rPr dirty="0"/>
              <a:t>Sources: </a:t>
            </a:r>
            <a:r>
              <a:rPr dirty="0" err="1"/>
              <a:t>Grassly</a:t>
            </a:r>
            <a:r>
              <a:rPr dirty="0"/>
              <a:t> &amp; Fraser 2008 (above) | Winter AK, et al. The impact of rubella vaccine introduction on rubella infection and congenital rubella syndrome: a systematic review of mathematical modelling studies. PMC7912610</a:t>
            </a:r>
          </a:p>
          <a:p>
            <a:endParaRPr dirty="0"/>
          </a:p>
          <a:p>
            <a:r>
              <a:rPr dirty="0"/>
              <a:t>4. EVALUATION. Models supply the counterfactual for retrospective attribution — what would have happened otherwise. The COVID vaccine figure: 19.8 million deaths averted in year one when benchmarked against excess-mortality estimates (14.4 million against reported COVID deaths). Note the correction published in 2023.</a:t>
            </a:r>
          </a:p>
          <a:p>
            <a:r>
              <a:rPr dirty="0"/>
              <a:t>Source: Watson OJ, Barnsley G, Toor J, Hogan AB, Winskill P, Ghani AC. Global impact of the first year of COVID-19 vaccination: a mathematical modelling study. Lancet Infect Dis 2022;22(9):1293-1302. doi:10.1016/S1473-3099(22)00320-6</a:t>
            </a:r>
          </a:p>
          <a:p>
            <a:endParaRPr dirty="0"/>
          </a:p>
          <a:p>
            <a:r>
              <a:rPr dirty="0"/>
              <a:t>THE HONEST CAVEAT (raise it yourself if a student doesn't). Early in an outbreak, data are scarce and forecasts carry wide uncertainty; the value of the model is often in making assumptions explicit and comparable, not in the point estimate. "All models are wrong, some are useful."</a:t>
            </a:r>
          </a:p>
          <a:p>
            <a:r>
              <a:rPr dirty="0"/>
              <a:t>Source: Metcalf CJE, Lessler J. Opportunities and challenges in modeling emerging infectious diseases. Science 2017;357(6347):149-152. doi:10.1126/science.aam8335</a:t>
            </a:r>
          </a:p>
          <a:p>
            <a:endParaRPr dirty="0"/>
          </a:p>
          <a:p>
            <a:r>
              <a:rPr dirty="0"/>
              <a:t>TO REVEAL THE FOUR REASONS ONE AT A TIME: select the body text box, Animations &gt; Appear, then Effect Options &gt; By Paragraph.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some time to explain “a point in time”, because people were confused about this on the PSET in previous years.</a:t>
            </a:r>
          </a:p>
          <a:p>
            <a:r>
              <a:rPr lang="en-US" dirty="0"/>
              <a:t> Example of a point in time: in the PSET you will be asked the prevalence on 1/1/YYYY – think about this as the prevalence of a disease in the moment that the clock strikes midnight in the new year.</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8</a:t>
            </a:fld>
            <a:endParaRPr lang="en-US"/>
          </a:p>
        </p:txBody>
      </p:sp>
    </p:spTree>
    <p:extLst>
      <p:ext uri="{BB962C8B-B14F-4D97-AF65-F5344CB8AC3E}">
        <p14:creationId xmlns:p14="http://schemas.microsoft.com/office/powerpoint/2010/main" val="4050827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Period of time = over a day, week, in one month, during a quarter</a:t>
            </a:r>
          </a:p>
          <a:p>
            <a:r>
              <a:rPr lang="en-US" dirty="0"/>
              <a:t>Remove infected and died from population amount to get susceptible pop. </a:t>
            </a:r>
          </a:p>
          <a:p>
            <a:endParaRPr lang="en-US" dirty="0"/>
          </a:p>
          <a:p>
            <a:r>
              <a:rPr lang="en-US" dirty="0"/>
              <a:t>Can walk through examples of who goes in the denominator/numerator. Examples:</a:t>
            </a:r>
          </a:p>
          <a:p>
            <a:r>
              <a:rPr lang="en-US" dirty="0"/>
              <a:t>- Someone sick before the defined time period does not go in the numerator or denominator</a:t>
            </a:r>
          </a:p>
          <a:p>
            <a:r>
              <a:rPr lang="en-US" dirty="0"/>
              <a:t>- Someone who becomes sick within the time period goes in both the numerator and the denominator</a:t>
            </a:r>
          </a:p>
          <a:p>
            <a:r>
              <a:rPr lang="en-US" dirty="0"/>
              <a:t>- Someone who never was and never becomes sick goes in the denominator, but not the numerator</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9</a:t>
            </a:fld>
            <a:endParaRPr lang="en-US"/>
          </a:p>
        </p:txBody>
      </p:sp>
    </p:spTree>
    <p:extLst>
      <p:ext uri="{BB962C8B-B14F-4D97-AF65-F5344CB8AC3E}">
        <p14:creationId xmlns:p14="http://schemas.microsoft.com/office/powerpoint/2010/main" val="4284223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Ask if one person can volunteer to share the prevalence, and another volunteer can share the incidence</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10</a:t>
            </a:fld>
            <a:endParaRPr lang="en-US"/>
          </a:p>
        </p:txBody>
      </p:sp>
    </p:spTree>
    <p:extLst>
      <p:ext uri="{BB962C8B-B14F-4D97-AF65-F5344CB8AC3E}">
        <p14:creationId xmlns:p14="http://schemas.microsoft.com/office/powerpoint/2010/main" val="570390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For prevalence, think of the moment in time as the very end of tomorrow</a:t>
            </a:r>
          </a:p>
          <a:p>
            <a:r>
              <a:rPr lang="en-US" dirty="0"/>
              <a:t># in population = 100</a:t>
            </a:r>
          </a:p>
          <a:p>
            <a:r>
              <a:rPr lang="en-US" dirty="0"/>
              <a:t># infected by end of tomorrow = 25</a:t>
            </a:r>
          </a:p>
          <a:p>
            <a:r>
              <a:rPr lang="en-US" dirty="0"/>
              <a:t>Prevalence = 25/100 = .25</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11</a:t>
            </a:fld>
            <a:endParaRPr lang="en-US"/>
          </a:p>
        </p:txBody>
      </p:sp>
    </p:spTree>
    <p:extLst>
      <p:ext uri="{BB962C8B-B14F-4D97-AF65-F5344CB8AC3E}">
        <p14:creationId xmlns:p14="http://schemas.microsoft.com/office/powerpoint/2010/main" val="3542297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For incidence, think of time period as between today and tomorrow (a day)</a:t>
            </a:r>
          </a:p>
          <a:p>
            <a:r>
              <a:rPr lang="en-US" dirty="0"/>
              <a:t># newly infected = 15</a:t>
            </a:r>
          </a:p>
          <a:p>
            <a:r>
              <a:rPr lang="en-US" dirty="0"/>
              <a:t># susceptible = total population – those already infected = 90</a:t>
            </a:r>
          </a:p>
          <a:p>
            <a:r>
              <a:rPr lang="en-US" dirty="0"/>
              <a:t>Incidence: 15/90 = 0.1666</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12</a:t>
            </a:fld>
            <a:endParaRPr lang="en-US"/>
          </a:p>
        </p:txBody>
      </p:sp>
    </p:spTree>
    <p:extLst>
      <p:ext uri="{BB962C8B-B14F-4D97-AF65-F5344CB8AC3E}">
        <p14:creationId xmlns:p14="http://schemas.microsoft.com/office/powerpoint/2010/main" val="3183703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br>
              <a:rPr lang="en-US" dirty="0"/>
            </a:br>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13</a:t>
            </a:fld>
            <a:endParaRPr lang="en-US"/>
          </a:p>
        </p:txBody>
      </p:sp>
    </p:spTree>
    <p:extLst>
      <p:ext uri="{BB962C8B-B14F-4D97-AF65-F5344CB8AC3E}">
        <p14:creationId xmlns:p14="http://schemas.microsoft.com/office/powerpoint/2010/main" val="1087252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Explain that the source of infection could be an infected person, or it could be other carriers – mosquitoes, contaminated water, etc.</a:t>
            </a:r>
          </a:p>
          <a:p>
            <a:r>
              <a:rPr lang="en-US" dirty="0"/>
              <a:t>Be clear that an encounter that counts for N is a </a:t>
            </a:r>
            <a:r>
              <a:rPr lang="en-US" b="1" dirty="0"/>
              <a:t>potential</a:t>
            </a:r>
            <a:r>
              <a:rPr lang="en-US" b="0" dirty="0"/>
              <a:t> encounter with the infection, i.e. an encounter with a carrier of the infection.</a:t>
            </a:r>
          </a:p>
          <a:p>
            <a:r>
              <a:rPr lang="en-US" b="0" dirty="0"/>
              <a:t>We often think of N as the population.  </a:t>
            </a:r>
          </a:p>
          <a:p>
            <a:r>
              <a:rPr lang="en-US" b="0" dirty="0"/>
              <a:t>Beta is the effective contact rate – contact rate x transmission probability</a:t>
            </a:r>
            <a:endParaRPr lang="en-US" dirty="0"/>
          </a:p>
          <a:p>
            <a:endParaRPr lang="en-US" dirty="0"/>
          </a:p>
          <a:p>
            <a:r>
              <a:rPr lang="en-US" sz="1800" dirty="0">
                <a:effectLst/>
                <a:latin typeface="Calibri" panose="020F0502020204030204" pitchFamily="34" charset="0"/>
                <a:ea typeface="Calibri" panose="020F0502020204030204" pitchFamily="34" charset="0"/>
                <a:cs typeface="Times New Roman" panose="02020603050405020304" pitchFamily="18" charset="0"/>
              </a:rPr>
              <a:t>N means humans/mosquitos/wells, rather than infected humans / infected mosquitos / infected wells</a:t>
            </a:r>
            <a:r>
              <a:rPr lang="en-US" dirty="0">
                <a:effectLst/>
              </a:rPr>
              <a:t> </a:t>
            </a:r>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14</a:t>
            </a:fld>
            <a:endParaRPr lang="en-US"/>
          </a:p>
        </p:txBody>
      </p:sp>
    </p:spTree>
    <p:extLst>
      <p:ext uri="{BB962C8B-B14F-4D97-AF65-F5344CB8AC3E}">
        <p14:creationId xmlns:p14="http://schemas.microsoft.com/office/powerpoint/2010/main" val="2744890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Again, calculate for the end of tomorrow</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15</a:t>
            </a:fld>
            <a:endParaRPr lang="en-US"/>
          </a:p>
        </p:txBody>
      </p:sp>
    </p:spTree>
    <p:extLst>
      <p:ext uri="{BB962C8B-B14F-4D97-AF65-F5344CB8AC3E}">
        <p14:creationId xmlns:p14="http://schemas.microsoft.com/office/powerpoint/2010/main" val="3715312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16</a:t>
            </a:fld>
            <a:endParaRPr lang="en-US"/>
          </a:p>
        </p:txBody>
      </p:sp>
    </p:spTree>
    <p:extLst>
      <p:ext uri="{BB962C8B-B14F-4D97-AF65-F5344CB8AC3E}">
        <p14:creationId xmlns:p14="http://schemas.microsoft.com/office/powerpoint/2010/main" val="20223415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17</a:t>
            </a:fld>
            <a:endParaRPr lang="en-US"/>
          </a:p>
        </p:txBody>
      </p:sp>
    </p:spTree>
    <p:extLst>
      <p:ext uri="{BB962C8B-B14F-4D97-AF65-F5344CB8AC3E}">
        <p14:creationId xmlns:p14="http://schemas.microsoft.com/office/powerpoint/2010/main" val="734764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18</a:t>
            </a:fld>
            <a:endParaRPr lang="en-US"/>
          </a:p>
        </p:txBody>
      </p:sp>
    </p:spTree>
    <p:extLst>
      <p:ext uri="{BB962C8B-B14F-4D97-AF65-F5344CB8AC3E}">
        <p14:creationId xmlns:p14="http://schemas.microsoft.com/office/powerpoint/2010/main" val="40535292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Explain the bones of the assignment and disease groups we’ll focus on and how they spread, but don’t break out into groups yet.</a:t>
            </a:r>
          </a:p>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20</a:t>
            </a:fld>
            <a:endParaRPr lang="en-US"/>
          </a:p>
        </p:txBody>
      </p:sp>
    </p:spTree>
    <p:extLst>
      <p:ext uri="{BB962C8B-B14F-4D97-AF65-F5344CB8AC3E}">
        <p14:creationId xmlns:p14="http://schemas.microsoft.com/office/powerpoint/2010/main" val="96268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Assign students to the groups. Ask them to discuss, for each type of disease, under what circumstances they would expect beta, N or delta to be high vs. low. Have them discuss for ~5-10 minutes.</a:t>
            </a:r>
          </a:p>
          <a:p>
            <a:endParaRPr lang="en-US" dirty="0"/>
          </a:p>
          <a:p>
            <a:r>
              <a:rPr lang="en-US" dirty="0"/>
              <a:t>Have them assign a spokesperson based on who has the next upcoming birthday and report out to the class at the end. </a:t>
            </a:r>
          </a:p>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21</a:t>
            </a:fld>
            <a:endParaRPr lang="en-US"/>
          </a:p>
        </p:txBody>
      </p:sp>
    </p:spTree>
    <p:extLst>
      <p:ext uri="{BB962C8B-B14F-4D97-AF65-F5344CB8AC3E}">
        <p14:creationId xmlns:p14="http://schemas.microsoft.com/office/powerpoint/2010/main" val="893454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2CCB9-11AF-2979-6B43-C6C3B2489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AF53D-AB3B-01AC-9707-AC0438AB9F16}"/>
              </a:ext>
            </a:extLst>
          </p:cNvPr>
          <p:cNvSpPr>
            <a:spLocks noGrp="1" noRot="1" noChangeAspect="1"/>
          </p:cNvSpPr>
          <p:nvPr>
            <p:ph type="sldImg"/>
          </p:nvPr>
        </p:nvSpPr>
        <p:spPr>
          <a:xfrm>
            <a:off x="457200" y="720725"/>
            <a:ext cx="6400800" cy="3600450"/>
          </a:xfrm>
        </p:spPr>
      </p:sp>
      <p:sp>
        <p:nvSpPr>
          <p:cNvPr id="3" name="Notes Placeholder 2">
            <a:extLst>
              <a:ext uri="{FF2B5EF4-FFF2-40B4-BE49-F238E27FC236}">
                <a16:creationId xmlns:a16="http://schemas.microsoft.com/office/drawing/2014/main" id="{48B681B8-5BD6-EB8D-30F9-1F9CCB1C31EB}"/>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CE3CBF9C-4C35-2987-F5F0-2261C3BC7091}"/>
              </a:ext>
            </a:extLst>
          </p:cNvPr>
          <p:cNvSpPr>
            <a:spLocks noGrp="1"/>
          </p:cNvSpPr>
          <p:nvPr>
            <p:ph type="hdr" sz="quarter"/>
          </p:nvPr>
        </p:nvSpPr>
        <p:spPr/>
        <p:txBody>
          <a:bodyPr/>
          <a:lstStyle/>
          <a:p>
            <a:r>
              <a:rPr lang="en-US"/>
              <a:t>QR24, Fall 2005, Lecture 2</a:t>
            </a:r>
          </a:p>
        </p:txBody>
      </p:sp>
      <p:sp>
        <p:nvSpPr>
          <p:cNvPr id="5" name="Slide Number Placeholder 4">
            <a:extLst>
              <a:ext uri="{FF2B5EF4-FFF2-40B4-BE49-F238E27FC236}">
                <a16:creationId xmlns:a16="http://schemas.microsoft.com/office/drawing/2014/main" id="{DBC5D555-4CB4-2EBC-4319-651332D07E60}"/>
              </a:ext>
            </a:extLst>
          </p:cNvPr>
          <p:cNvSpPr>
            <a:spLocks noGrp="1"/>
          </p:cNvSpPr>
          <p:nvPr>
            <p:ph type="sldNum" sz="quarter" idx="5"/>
          </p:nvPr>
        </p:nvSpPr>
        <p:spPr/>
        <p:txBody>
          <a:bodyPr/>
          <a:lstStyle/>
          <a:p>
            <a:fld id="{510FF742-9BE3-414A-87AC-D68001451B72}" type="slidenum">
              <a:rPr lang="en-US" smtClean="0"/>
              <a:pPr/>
              <a:t>22</a:t>
            </a:fld>
            <a:endParaRPr lang="en-US"/>
          </a:p>
        </p:txBody>
      </p:sp>
    </p:spTree>
    <p:extLst>
      <p:ext uri="{BB962C8B-B14F-4D97-AF65-F5344CB8AC3E}">
        <p14:creationId xmlns:p14="http://schemas.microsoft.com/office/powerpoint/2010/main" val="41164009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23</a:t>
            </a:fld>
            <a:endParaRPr lang="en-US"/>
          </a:p>
        </p:txBody>
      </p:sp>
    </p:spTree>
    <p:extLst>
      <p:ext uri="{BB962C8B-B14F-4D97-AF65-F5344CB8AC3E}">
        <p14:creationId xmlns:p14="http://schemas.microsoft.com/office/powerpoint/2010/main" val="10859898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Be sure to note that delta is made up of two components: the recovery rate and the death rate, thus whether delta is high or low depends on whether both elements are high or low. Maybe have students give examples of what would make likelihood of dying lower</a:t>
            </a:r>
          </a:p>
          <a:p>
            <a:endParaRPr lang="en-US" dirty="0"/>
          </a:p>
          <a:p>
            <a:r>
              <a:rPr lang="en-US" dirty="0"/>
              <a:t>Also note that across all illnesses</a:t>
            </a:r>
          </a:p>
          <a:p>
            <a:pPr marL="171450" indent="-171450">
              <a:buFontTx/>
              <a:buChar char="-"/>
            </a:pPr>
            <a:r>
              <a:rPr lang="en-US" dirty="0"/>
              <a:t>Death rate is high when disease is severe and few treatments are available, and low if the disease is not as severe and there are effective treatments available</a:t>
            </a:r>
          </a:p>
          <a:p>
            <a:pPr marL="171450" indent="-171450">
              <a:buFontTx/>
              <a:buChar char="-"/>
            </a:pPr>
            <a:r>
              <a:rPr lang="en-US" dirty="0"/>
              <a:t>Recovery rate is high when there are effective treatments that people can access and afford, and low if people are not getting tested and/or treatments are not effective/accessible/affordable</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24</a:t>
            </a:fld>
            <a:endParaRPr lang="en-US"/>
          </a:p>
        </p:txBody>
      </p:sp>
    </p:spTree>
    <p:extLst>
      <p:ext uri="{BB962C8B-B14F-4D97-AF65-F5344CB8AC3E}">
        <p14:creationId xmlns:p14="http://schemas.microsoft.com/office/powerpoint/2010/main" val="37710265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25</a:t>
            </a:fld>
            <a:endParaRPr lang="en-US"/>
          </a:p>
        </p:txBody>
      </p:sp>
    </p:spTree>
    <p:extLst>
      <p:ext uri="{BB962C8B-B14F-4D97-AF65-F5344CB8AC3E}">
        <p14:creationId xmlns:p14="http://schemas.microsoft.com/office/powerpoint/2010/main" val="40229842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Again, have groups research and discuss for ~5-10 minutes. Suggest they pick a specific region or country.</a:t>
            </a:r>
          </a:p>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26</a:t>
            </a:fld>
            <a:endParaRPr lang="en-US"/>
          </a:p>
        </p:txBody>
      </p:sp>
    </p:spTree>
    <p:extLst>
      <p:ext uri="{BB962C8B-B14F-4D97-AF65-F5344CB8AC3E}">
        <p14:creationId xmlns:p14="http://schemas.microsoft.com/office/powerpoint/2010/main" val="39436268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27</a:t>
            </a:fld>
            <a:endParaRPr lang="en-US"/>
          </a:p>
        </p:txBody>
      </p:sp>
    </p:spTree>
    <p:extLst>
      <p:ext uri="{BB962C8B-B14F-4D97-AF65-F5344CB8AC3E}">
        <p14:creationId xmlns:p14="http://schemas.microsoft.com/office/powerpoint/2010/main" val="38819304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that </a:t>
            </a:r>
            <a:r>
              <a:rPr lang="en-US" sz="1200" b="0" i="0" u="none" strike="noStrike" kern="1200" dirty="0">
                <a:solidFill>
                  <a:schemeClr val="tx1"/>
                </a:solidFill>
                <a:effectLst/>
                <a:latin typeface="Times New Roman" pitchFamily="18" charset="0"/>
                <a:ea typeface="+mn-ea"/>
                <a:cs typeface="+mn-cs"/>
              </a:rPr>
              <a:t>not all components of equation are fixed, e.g., b</a:t>
            </a:r>
            <a:r>
              <a:rPr lang="en-US" dirty="0"/>
              <a:t>eta is influenced by both the frequency of contact and the chance of transmission during each contact</a:t>
            </a:r>
          </a:p>
          <a:p>
            <a:endParaRPr lang="en-US" sz="1200" b="0" i="0" u="none" strike="noStrike" kern="1200" dirty="0">
              <a:solidFill>
                <a:schemeClr val="tx1"/>
              </a:solidFill>
              <a:effectLst/>
              <a:latin typeface="Times New Roman" pitchFamily="18" charset="0"/>
              <a:ea typeface="+mn-ea"/>
              <a:cs typeface="+mn-cs"/>
            </a:endParaRPr>
          </a:p>
          <a:p>
            <a:r>
              <a:rPr lang="en-US" sz="1200" b="0" i="0" u="none" strike="noStrike" kern="1200" dirty="0">
                <a:solidFill>
                  <a:schemeClr val="tx1"/>
                </a:solidFill>
                <a:effectLst/>
                <a:latin typeface="Times New Roman" pitchFamily="18" charset="0"/>
                <a:ea typeface="+mn-ea"/>
                <a:cs typeface="+mn-cs"/>
              </a:rPr>
              <a:t>Key policy question - how to reduce disease spread by reducing Beta and/or N</a:t>
            </a:r>
            <a:br>
              <a:rPr lang="en-US" dirty="0"/>
            </a:br>
            <a:br>
              <a:rPr lang="en-US" dirty="0"/>
            </a:br>
            <a:r>
              <a:rPr lang="en-US" dirty="0"/>
              <a:t>If inflow &gt; outflow -&gt; there will be an epidemic</a:t>
            </a:r>
          </a:p>
          <a:p>
            <a:r>
              <a:rPr lang="en-US" dirty="0"/>
              <a:t>If inflow &lt; outflow -&gt; disease will “die” overtime</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28</a:t>
            </a:fld>
            <a:endParaRPr lang="en-US"/>
          </a:p>
        </p:txBody>
      </p:sp>
    </p:spTree>
    <p:extLst>
      <p:ext uri="{BB962C8B-B14F-4D97-AF65-F5344CB8AC3E}">
        <p14:creationId xmlns:p14="http://schemas.microsoft.com/office/powerpoint/2010/main" val="31580892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change y-axis</a:t>
            </a:r>
          </a:p>
          <a:p>
            <a:r>
              <a:rPr lang="en-US" dirty="0"/>
              <a:t>Concepts students struggled with in class </a:t>
            </a:r>
            <a:r>
              <a:rPr lang="en-US" b="1" dirty="0">
                <a:highlight>
                  <a:srgbClr val="FFFF00"/>
                </a:highlight>
              </a:rPr>
              <a:t>[note from Marema – this is from prior years, so we will need to update after the 9/9 Lecture]: </a:t>
            </a:r>
          </a:p>
          <a:p>
            <a:pPr marL="171450" indent="-171450">
              <a:buFontTx/>
              <a:buChar char="-"/>
            </a:pPr>
            <a:r>
              <a:rPr lang="en-US" dirty="0"/>
              <a:t>Delta (is equal to rate of death + rate of recovery, not just rate of recovery)</a:t>
            </a:r>
          </a:p>
          <a:p>
            <a:pPr marL="171450" indent="-171450">
              <a:buFontTx/>
              <a:buChar char="-"/>
            </a:pPr>
            <a:r>
              <a:rPr lang="en-US" dirty="0"/>
              <a:t>How to figure out how many people have ever gotten the disease at day 75 (explain why is it we only look at row 75, why not add across each day)</a:t>
            </a:r>
          </a:p>
          <a:p>
            <a:pPr marL="171450" indent="-171450">
              <a:buFontTx/>
              <a:buChar char="-"/>
            </a:pPr>
            <a:r>
              <a:rPr lang="en-US" dirty="0"/>
              <a:t>70% efficacy of masks is built into the model (read notes to the right side)</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29</a:t>
            </a:fld>
            <a:endParaRPr lang="en-US"/>
          </a:p>
        </p:txBody>
      </p:sp>
    </p:spTree>
    <p:extLst>
      <p:ext uri="{BB962C8B-B14F-4D97-AF65-F5344CB8AC3E}">
        <p14:creationId xmlns:p14="http://schemas.microsoft.com/office/powerpoint/2010/main" val="28691753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30</a:t>
            </a:fld>
            <a:endParaRPr lang="en-US"/>
          </a:p>
        </p:txBody>
      </p:sp>
    </p:spTree>
    <p:extLst>
      <p:ext uri="{BB962C8B-B14F-4D97-AF65-F5344CB8AC3E}">
        <p14:creationId xmlns:p14="http://schemas.microsoft.com/office/powerpoint/2010/main" val="1742555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80ED9-4C31-540B-CB2C-F05D04F167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86CB5B-C0CE-80ED-3E90-07EDDBA369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D54D57-3FC9-A7A7-B02F-EE8A6F7165C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E5A4485-6819-900A-D5E6-C5C231FE17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C12602-1712-B139-DEC1-BF38F7DF0280}"/>
              </a:ext>
            </a:extLst>
          </p:cNvPr>
          <p:cNvSpPr>
            <a:spLocks noGrp="1"/>
          </p:cNvSpPr>
          <p:nvPr>
            <p:ph type="sldNum" sz="quarter" idx="12"/>
          </p:nvPr>
        </p:nvSpPr>
        <p:spPr/>
        <p:txBody>
          <a:bodyPr/>
          <a:lstStyle/>
          <a:p>
            <a:fld id="{AD9E4465-94D5-4431-84CA-14A88314D356}" type="slidenum">
              <a:rPr lang="en-US" smtClean="0"/>
              <a:pPr/>
              <a:t>‹#›</a:t>
            </a:fld>
            <a:endParaRPr lang="en-US"/>
          </a:p>
        </p:txBody>
      </p:sp>
    </p:spTree>
    <p:extLst>
      <p:ext uri="{BB962C8B-B14F-4D97-AF65-F5344CB8AC3E}">
        <p14:creationId xmlns:p14="http://schemas.microsoft.com/office/powerpoint/2010/main" val="1360443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EFED8-3252-7855-642B-72D6875E699B}"/>
              </a:ext>
            </a:extLst>
          </p:cNvPr>
          <p:cNvSpPr>
            <a:spLocks noGrp="1"/>
          </p:cNvSpPr>
          <p:nvPr>
            <p:ph type="title"/>
          </p:nvPr>
        </p:nvSpPr>
        <p:spPr/>
        <p:txBody>
          <a:bodyPr/>
          <a:lstStyle>
            <a:lvl1pPr>
              <a:defRPr b="1">
                <a:solidFill>
                  <a:srgbClr val="005493"/>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C273B7E2-76D0-A3C9-9C50-0E41B40CC054}"/>
              </a:ext>
            </a:extLst>
          </p:cNvPr>
          <p:cNvSpPr>
            <a:spLocks noGrp="1"/>
          </p:cNvSpPr>
          <p:nvPr>
            <p:ph idx="1"/>
          </p:nvPr>
        </p:nvSpPr>
        <p:spPr>
          <a:xfrm>
            <a:off x="838200" y="2057399"/>
            <a:ext cx="10515600" cy="4119563"/>
          </a:xfrm>
        </p:spPr>
        <p:txBody>
          <a:bodyPr/>
          <a:lstStyle>
            <a:lvl1pPr>
              <a:defRPr sz="2400" b="0"/>
            </a:lvl1pPr>
            <a:lvl2pPr>
              <a:defRPr sz="2000" b="0"/>
            </a:lvl2pPr>
            <a:lvl3pPr>
              <a:defRPr sz="1800" b="0"/>
            </a:lvl3pPr>
            <a:lvl4pPr>
              <a:defRPr sz="1600" b="0"/>
            </a:lvl4pPr>
            <a:lvl5pPr>
              <a:defRPr sz="16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661042-569A-96D0-08A0-8A876F294CC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7A2E647-95B8-CAFB-D060-324624D2BA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A3065E-12CC-A73D-A46B-1C57C5A4E3B3}"/>
              </a:ext>
            </a:extLst>
          </p:cNvPr>
          <p:cNvSpPr>
            <a:spLocks noGrp="1"/>
          </p:cNvSpPr>
          <p:nvPr>
            <p:ph type="sldNum" sz="quarter" idx="12"/>
          </p:nvPr>
        </p:nvSpPr>
        <p:spPr/>
        <p:txBody>
          <a:bodyPr/>
          <a:lstStyle/>
          <a:p>
            <a:fld id="{171A6C5B-A11A-470F-8319-62E6F3F410BC}" type="slidenum">
              <a:rPr lang="en-US" smtClean="0"/>
              <a:pPr/>
              <a:t>‹#›</a:t>
            </a:fld>
            <a:endParaRPr lang="en-US"/>
          </a:p>
        </p:txBody>
      </p:sp>
    </p:spTree>
    <p:extLst>
      <p:ext uri="{BB962C8B-B14F-4D97-AF65-F5344CB8AC3E}">
        <p14:creationId xmlns:p14="http://schemas.microsoft.com/office/powerpoint/2010/main" val="2591000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F2B03-067C-3A57-41CF-E7DF11A214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BF7628-1D67-8007-B8DD-1039A12580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94247E-9B27-7CE1-4877-D87BD5579C7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032AD81-FCF1-E2EE-3A18-05C7717A88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DBDD80-6647-D54C-1110-94147F3C390A}"/>
              </a:ext>
            </a:extLst>
          </p:cNvPr>
          <p:cNvSpPr>
            <a:spLocks noGrp="1"/>
          </p:cNvSpPr>
          <p:nvPr>
            <p:ph type="sldNum" sz="quarter" idx="12"/>
          </p:nvPr>
        </p:nvSpPr>
        <p:spPr/>
        <p:txBody>
          <a:bodyPr/>
          <a:lstStyle/>
          <a:p>
            <a:fld id="{5BA7088D-159D-45B9-837C-DC989E28F571}" type="slidenum">
              <a:rPr lang="en-US" smtClean="0"/>
              <a:pPr/>
              <a:t>‹#›</a:t>
            </a:fld>
            <a:endParaRPr lang="en-US"/>
          </a:p>
        </p:txBody>
      </p:sp>
    </p:spTree>
    <p:extLst>
      <p:ext uri="{BB962C8B-B14F-4D97-AF65-F5344CB8AC3E}">
        <p14:creationId xmlns:p14="http://schemas.microsoft.com/office/powerpoint/2010/main" val="2663056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0AEA-913A-592D-F5FE-4D1E7A44CA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CDD3C4-B058-5EE7-2A55-C95088C935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CFCF8F-8994-E5A5-D5D3-5139DC4E53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9971BB-05F2-740F-5B5E-CC7063398D5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9D0354D-86C5-BA89-7509-17D424A5E3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5BFC28-C9E8-307A-D59B-5B13614BC4F6}"/>
              </a:ext>
            </a:extLst>
          </p:cNvPr>
          <p:cNvSpPr>
            <a:spLocks noGrp="1"/>
          </p:cNvSpPr>
          <p:nvPr>
            <p:ph type="sldNum" sz="quarter" idx="12"/>
          </p:nvPr>
        </p:nvSpPr>
        <p:spPr/>
        <p:txBody>
          <a:bodyPr/>
          <a:lstStyle/>
          <a:p>
            <a:fld id="{91099942-4C55-43D4-88D5-9841C8810E16}" type="slidenum">
              <a:rPr lang="en-US" smtClean="0"/>
              <a:pPr/>
              <a:t>‹#›</a:t>
            </a:fld>
            <a:endParaRPr lang="en-US"/>
          </a:p>
        </p:txBody>
      </p:sp>
    </p:spTree>
    <p:extLst>
      <p:ext uri="{BB962C8B-B14F-4D97-AF65-F5344CB8AC3E}">
        <p14:creationId xmlns:p14="http://schemas.microsoft.com/office/powerpoint/2010/main" val="2654380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E071F-4F4D-E599-145C-8AD69EE2C3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F6233D-B14D-E1D7-4404-02279079DA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BAA5C4-E928-CB2A-D427-2704478596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28D6C6-6706-21FA-8E3E-293ED88EFC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0F69B7-6554-8A96-06A2-4B5529A752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65865D-FB1D-D91E-81F3-32A598045FFF}"/>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CCAE2688-2C42-E19A-C5FD-A2903E2184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70351AA-1F43-8F6A-B72B-2F17E58CED56}"/>
              </a:ext>
            </a:extLst>
          </p:cNvPr>
          <p:cNvSpPr>
            <a:spLocks noGrp="1"/>
          </p:cNvSpPr>
          <p:nvPr>
            <p:ph type="sldNum" sz="quarter" idx="12"/>
          </p:nvPr>
        </p:nvSpPr>
        <p:spPr/>
        <p:txBody>
          <a:bodyPr/>
          <a:lstStyle/>
          <a:p>
            <a:fld id="{4C7E9727-91FB-4A9E-8138-5CF2914F2F17}" type="slidenum">
              <a:rPr lang="en-US" smtClean="0"/>
              <a:pPr/>
              <a:t>‹#›</a:t>
            </a:fld>
            <a:endParaRPr lang="en-US"/>
          </a:p>
        </p:txBody>
      </p:sp>
    </p:spTree>
    <p:extLst>
      <p:ext uri="{BB962C8B-B14F-4D97-AF65-F5344CB8AC3E}">
        <p14:creationId xmlns:p14="http://schemas.microsoft.com/office/powerpoint/2010/main" val="3987104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2E62-E094-AD3D-1FBE-F22FB7E4D800}"/>
              </a:ext>
            </a:extLst>
          </p:cNvPr>
          <p:cNvSpPr>
            <a:spLocks noGrp="1"/>
          </p:cNvSpPr>
          <p:nvPr>
            <p:ph type="title"/>
          </p:nvPr>
        </p:nvSpPr>
        <p:spPr/>
        <p:txBody>
          <a:bodyPr/>
          <a:lstStyle>
            <a:lvl1pPr>
              <a:defRPr b="1">
                <a:solidFill>
                  <a:srgbClr val="005493"/>
                </a:solidFill>
              </a:defRPr>
            </a:lvl1pPr>
          </a:lstStyle>
          <a:p>
            <a:r>
              <a:rPr lang="en-US"/>
              <a:t>Click to edit Master title style</a:t>
            </a:r>
          </a:p>
        </p:txBody>
      </p:sp>
      <p:sp>
        <p:nvSpPr>
          <p:cNvPr id="3" name="Date Placeholder 2">
            <a:extLst>
              <a:ext uri="{FF2B5EF4-FFF2-40B4-BE49-F238E27FC236}">
                <a16:creationId xmlns:a16="http://schemas.microsoft.com/office/drawing/2014/main" id="{99D12F13-D384-7BDB-C27E-D978C83A24DF}"/>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476FF4BE-4D1B-5CAA-532A-8F2066418E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3EBDC9-33B8-A9C2-78F1-80A8C409B891}"/>
              </a:ext>
            </a:extLst>
          </p:cNvPr>
          <p:cNvSpPr>
            <a:spLocks noGrp="1"/>
          </p:cNvSpPr>
          <p:nvPr>
            <p:ph type="sldNum" sz="quarter" idx="12"/>
          </p:nvPr>
        </p:nvSpPr>
        <p:spPr/>
        <p:txBody>
          <a:bodyPr/>
          <a:lstStyle/>
          <a:p>
            <a:fld id="{C4E5501E-8159-4510-A10A-BA57CB33C493}" type="slidenum">
              <a:rPr lang="en-US" smtClean="0"/>
              <a:pPr/>
              <a:t>‹#›</a:t>
            </a:fld>
            <a:endParaRPr lang="en-US"/>
          </a:p>
        </p:txBody>
      </p:sp>
    </p:spTree>
    <p:extLst>
      <p:ext uri="{BB962C8B-B14F-4D97-AF65-F5344CB8AC3E}">
        <p14:creationId xmlns:p14="http://schemas.microsoft.com/office/powerpoint/2010/main" val="563265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111853-A376-751A-6EA2-5A03FB06EFB9}"/>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FE17FBD8-099A-A23D-BE87-A66BA01B8E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BB3B8C-0D14-EDB1-9192-ED13B5F96CBB}"/>
              </a:ext>
            </a:extLst>
          </p:cNvPr>
          <p:cNvSpPr>
            <a:spLocks noGrp="1"/>
          </p:cNvSpPr>
          <p:nvPr>
            <p:ph type="sldNum" sz="quarter" idx="12"/>
          </p:nvPr>
        </p:nvSpPr>
        <p:spPr/>
        <p:txBody>
          <a:bodyPr/>
          <a:lstStyle/>
          <a:p>
            <a:fld id="{AC0FA5F5-E8F6-4452-92CE-D3E7786ECDA7}" type="slidenum">
              <a:rPr lang="en-US" smtClean="0"/>
              <a:pPr/>
              <a:t>‹#›</a:t>
            </a:fld>
            <a:endParaRPr lang="en-US"/>
          </a:p>
        </p:txBody>
      </p:sp>
    </p:spTree>
    <p:extLst>
      <p:ext uri="{BB962C8B-B14F-4D97-AF65-F5344CB8AC3E}">
        <p14:creationId xmlns:p14="http://schemas.microsoft.com/office/powerpoint/2010/main" val="1030077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914CD-A1C7-629F-17F5-CD143CFAAB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65238E-B7A5-1C72-750B-CE88B8E171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D593B8-2C94-01BA-ABCF-96885C9A05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376458-F051-7349-2E95-151816BCA57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0D7208B-3672-1795-AC0E-04293618B1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B217AA-B2C4-0A7F-1616-86D8A2F62B3B}"/>
              </a:ext>
            </a:extLst>
          </p:cNvPr>
          <p:cNvSpPr>
            <a:spLocks noGrp="1"/>
          </p:cNvSpPr>
          <p:nvPr>
            <p:ph type="sldNum" sz="quarter" idx="12"/>
          </p:nvPr>
        </p:nvSpPr>
        <p:spPr/>
        <p:txBody>
          <a:bodyPr/>
          <a:lstStyle/>
          <a:p>
            <a:fld id="{5E4D0D55-E9CB-48F4-8233-40C895D00295}" type="slidenum">
              <a:rPr lang="en-US" smtClean="0"/>
              <a:pPr/>
              <a:t>‹#›</a:t>
            </a:fld>
            <a:endParaRPr lang="en-US"/>
          </a:p>
        </p:txBody>
      </p:sp>
    </p:spTree>
    <p:extLst>
      <p:ext uri="{BB962C8B-B14F-4D97-AF65-F5344CB8AC3E}">
        <p14:creationId xmlns:p14="http://schemas.microsoft.com/office/powerpoint/2010/main" val="2706635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3052F-54F0-F4F8-286D-9AD6F6FB80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D64922-AB49-62B9-F1B9-3373DC6936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A3EDD6-A342-10E9-D46D-ABCF33FEDB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267448-A355-2C22-A99D-F30FB2B298C3}"/>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4BA2236-7883-B87E-FFFD-84D5DD76FB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091AB9-1794-8A8E-95DE-99D0E59BF099}"/>
              </a:ext>
            </a:extLst>
          </p:cNvPr>
          <p:cNvSpPr>
            <a:spLocks noGrp="1"/>
          </p:cNvSpPr>
          <p:nvPr>
            <p:ph type="sldNum" sz="quarter" idx="12"/>
          </p:nvPr>
        </p:nvSpPr>
        <p:spPr/>
        <p:txBody>
          <a:bodyPr/>
          <a:lstStyle/>
          <a:p>
            <a:fld id="{83DE2C7B-AAC9-47EF-99E5-B567BA2FF760}" type="slidenum">
              <a:rPr lang="en-US" smtClean="0"/>
              <a:pPr/>
              <a:t>‹#›</a:t>
            </a:fld>
            <a:endParaRPr lang="en-US"/>
          </a:p>
        </p:txBody>
      </p:sp>
    </p:spTree>
    <p:extLst>
      <p:ext uri="{BB962C8B-B14F-4D97-AF65-F5344CB8AC3E}">
        <p14:creationId xmlns:p14="http://schemas.microsoft.com/office/powerpoint/2010/main" val="3697507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0064A-E10D-507D-A1E6-2A415C4867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23080F-060A-FEF2-85FA-E2D441A222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5B5289-284D-9F6B-2C19-534B6D384B5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45A50E2-3C2C-9719-88C2-C9B3D61545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508E05-6127-4228-5388-E5C6B1E6C57C}"/>
              </a:ext>
            </a:extLst>
          </p:cNvPr>
          <p:cNvSpPr>
            <a:spLocks noGrp="1"/>
          </p:cNvSpPr>
          <p:nvPr>
            <p:ph type="sldNum" sz="quarter" idx="12"/>
          </p:nvPr>
        </p:nvSpPr>
        <p:spPr/>
        <p:txBody>
          <a:bodyPr/>
          <a:lstStyle/>
          <a:p>
            <a:fld id="{CC69673D-AD18-4A6A-9E1A-B90E573BC376}" type="slidenum">
              <a:rPr lang="en-US" smtClean="0"/>
              <a:pPr/>
              <a:t>‹#›</a:t>
            </a:fld>
            <a:endParaRPr lang="en-US"/>
          </a:p>
        </p:txBody>
      </p:sp>
    </p:spTree>
    <p:extLst>
      <p:ext uri="{BB962C8B-B14F-4D97-AF65-F5344CB8AC3E}">
        <p14:creationId xmlns:p14="http://schemas.microsoft.com/office/powerpoint/2010/main" val="1017639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F9858D-9B49-CFBF-86AB-061F53A190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DF3788-15A6-0112-E08F-F6286388F8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4D88A8-518B-E592-6693-AAD21F65B10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4BD7C2F-B3AF-7529-1D98-C817AC91B3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C303B1-82C4-CC13-3211-4BEE343DE661}"/>
              </a:ext>
            </a:extLst>
          </p:cNvPr>
          <p:cNvSpPr>
            <a:spLocks noGrp="1"/>
          </p:cNvSpPr>
          <p:nvPr>
            <p:ph type="sldNum" sz="quarter" idx="12"/>
          </p:nvPr>
        </p:nvSpPr>
        <p:spPr/>
        <p:txBody>
          <a:bodyPr/>
          <a:lstStyle/>
          <a:p>
            <a:fld id="{8CFDD8C9-508E-40AA-9518-E128BF01C191}" type="slidenum">
              <a:rPr lang="en-US" smtClean="0"/>
              <a:pPr/>
              <a:t>‹#›</a:t>
            </a:fld>
            <a:endParaRPr lang="en-US"/>
          </a:p>
        </p:txBody>
      </p:sp>
    </p:spTree>
    <p:extLst>
      <p:ext uri="{BB962C8B-B14F-4D97-AF65-F5344CB8AC3E}">
        <p14:creationId xmlns:p14="http://schemas.microsoft.com/office/powerpoint/2010/main" val="3123067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158BB0-2911-904A-A548-EFE1F492CC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25C5C8-B545-B005-36F8-2C948BF49C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80A1C21-9F48-212B-46E9-79C676B5B2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5" name="Footer Placeholder 4">
            <a:extLst>
              <a:ext uri="{FF2B5EF4-FFF2-40B4-BE49-F238E27FC236}">
                <a16:creationId xmlns:a16="http://schemas.microsoft.com/office/drawing/2014/main" id="{E2E90B06-3CB7-C996-8F4B-E38845E2F5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368DC98D-058E-3D18-81EE-7E9F7D8547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1C4B5A-0C5A-4FE8-B95C-2F3DC08F7AE8}" type="slidenum">
              <a:rPr lang="en-US" smtClean="0"/>
              <a:pPr/>
              <a:t>‹#›</a:t>
            </a:fld>
            <a:endParaRPr lang="en-US"/>
          </a:p>
        </p:txBody>
      </p:sp>
    </p:spTree>
    <p:extLst>
      <p:ext uri="{BB962C8B-B14F-4D97-AF65-F5344CB8AC3E}">
        <p14:creationId xmlns:p14="http://schemas.microsoft.com/office/powerpoint/2010/main" val="3173400619"/>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ourworldindata.org/coronavirus" TargetMode="External"/><Relationship Id="rId7" Type="http://schemas.openxmlformats.org/officeDocument/2006/relationships/hyperlink" Target="https://coronavirus.jhu.edu/map.ht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https://www.cdc.gov/mumps/outbreaks.html" TargetMode="External"/><Relationship Id="rId5" Type="http://schemas.openxmlformats.org/officeDocument/2006/relationships/hyperlink" Target="https://covid.cdc.gov/covid-data-tracker/#datatracker-home" TargetMode="External"/><Relationship Id="rId4" Type="http://schemas.openxmlformats.org/officeDocument/2006/relationships/hyperlink" Target="https://www.nytimes.com/interactive/2021/us/covid-cases.html"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5493"/>
                </a:solidFill>
              </a:rPr>
              <a:t>Welcome to GENED 1079 Section!</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1464209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2</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normAutofit/>
          </a:bodyPr>
          <a:lstStyle/>
          <a:p>
            <a:pPr marL="0" indent="0">
              <a:lnSpc>
                <a:spcPct val="100000"/>
              </a:lnSpc>
              <a:spcBef>
                <a:spcPts val="2200"/>
              </a:spcBef>
              <a:buNone/>
            </a:pPr>
            <a:r>
              <a:rPr lang="en-US" dirty="0"/>
              <a:t>Introductory activity</a:t>
            </a:r>
          </a:p>
          <a:p>
            <a:pPr marL="0" indent="0">
              <a:lnSpc>
                <a:spcPct val="100000"/>
              </a:lnSpc>
              <a:spcBef>
                <a:spcPts val="2200"/>
              </a:spcBef>
              <a:buNone/>
            </a:pPr>
            <a:r>
              <a:rPr lang="en-US" dirty="0"/>
              <a:t>Section expectations: review document</a:t>
            </a:r>
          </a:p>
          <a:p>
            <a:pPr marL="0" indent="0">
              <a:lnSpc>
                <a:spcPct val="100000"/>
              </a:lnSpc>
              <a:spcBef>
                <a:spcPts val="2200"/>
              </a:spcBef>
              <a:buNone/>
            </a:pPr>
            <a:r>
              <a:rPr lang="en-US" dirty="0"/>
              <a:t>Modeling epidemics</a:t>
            </a:r>
          </a:p>
          <a:p>
            <a:pPr marL="0" indent="0">
              <a:lnSpc>
                <a:spcPct val="100000"/>
              </a:lnSpc>
              <a:spcBef>
                <a:spcPts val="2200"/>
              </a:spcBef>
              <a:buNone/>
            </a:pPr>
            <a:r>
              <a:rPr lang="en-US" dirty="0"/>
              <a:t>Group Exercise: Review of </a:t>
            </a:r>
            <a:r>
              <a:rPr lang="el-GR" dirty="0"/>
              <a:t>β, </a:t>
            </a:r>
            <a:r>
              <a:rPr lang="en-US" dirty="0"/>
              <a:t>N, and </a:t>
            </a:r>
            <a:r>
              <a:rPr lang="el-GR" dirty="0"/>
              <a:t>δ </a:t>
            </a:r>
            <a:endParaRPr lang="en-US" dirty="0"/>
          </a:p>
        </p:txBody>
      </p:sp>
    </p:spTree>
    <p:extLst>
      <p:ext uri="{BB962C8B-B14F-4D97-AF65-F5344CB8AC3E}">
        <p14:creationId xmlns:p14="http://schemas.microsoft.com/office/powerpoint/2010/main" val="783577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3</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lstStyle/>
          <a:p>
            <a:pPr marL="0" indent="0">
              <a:lnSpc>
                <a:spcPct val="100000"/>
              </a:lnSpc>
              <a:spcBef>
                <a:spcPts val="2200"/>
              </a:spcBef>
              <a:buNone/>
            </a:pPr>
            <a:r>
              <a:rPr lang="en-US" b="1" dirty="0"/>
              <a:t>Introductory activity</a:t>
            </a:r>
          </a:p>
          <a:p>
            <a:pPr marL="0" indent="0">
              <a:lnSpc>
                <a:spcPct val="100000"/>
              </a:lnSpc>
              <a:spcBef>
                <a:spcPts val="2200"/>
              </a:spcBef>
              <a:buNone/>
            </a:pPr>
            <a:r>
              <a:rPr lang="en-US" dirty="0">
                <a:solidFill>
                  <a:schemeClr val="bg1">
                    <a:lumMod val="75000"/>
                  </a:schemeClr>
                </a:solidFill>
              </a:rPr>
              <a:t>Section expectations: review document</a:t>
            </a:r>
          </a:p>
          <a:p>
            <a:pPr marL="0" indent="0">
              <a:lnSpc>
                <a:spcPct val="100000"/>
              </a:lnSpc>
              <a:spcBef>
                <a:spcPts val="2200"/>
              </a:spcBef>
              <a:buNone/>
            </a:pPr>
            <a:r>
              <a:rPr lang="en-US" dirty="0">
                <a:solidFill>
                  <a:schemeClr val="bg1">
                    <a:lumMod val="75000"/>
                  </a:schemeClr>
                </a:solidFill>
              </a:rPr>
              <a:t>Modeling epidemics</a:t>
            </a:r>
          </a:p>
          <a:p>
            <a:pPr marL="0" indent="0">
              <a:lnSpc>
                <a:spcPct val="100000"/>
              </a:lnSpc>
              <a:spcBef>
                <a:spcPts val="2200"/>
              </a:spcBef>
              <a:buNone/>
            </a:pPr>
            <a:r>
              <a:rPr lang="en-US" dirty="0">
                <a:solidFill>
                  <a:schemeClr val="bg1">
                    <a:lumMod val="75000"/>
                  </a:schemeClr>
                </a:solidFill>
              </a:rPr>
              <a:t>Group Exercise: Review of </a:t>
            </a:r>
            <a:r>
              <a:rPr lang="el-GR" dirty="0">
                <a:solidFill>
                  <a:schemeClr val="bg1">
                    <a:lumMod val="75000"/>
                  </a:schemeClr>
                </a:solidFill>
              </a:rPr>
              <a:t>β, </a:t>
            </a:r>
            <a:r>
              <a:rPr lang="en-US" dirty="0">
                <a:solidFill>
                  <a:schemeClr val="bg1">
                    <a:lumMod val="75000"/>
                  </a:schemeClr>
                </a:solidFill>
              </a:rPr>
              <a:t>N, and </a:t>
            </a:r>
            <a:r>
              <a:rPr lang="el-GR" dirty="0">
                <a:solidFill>
                  <a:schemeClr val="bg1">
                    <a:lumMod val="75000"/>
                  </a:schemeClr>
                </a:solidFill>
              </a:rPr>
              <a:t>δ </a:t>
            </a:r>
            <a:endParaRPr lang="en-US" dirty="0">
              <a:solidFill>
                <a:schemeClr val="bg1">
                  <a:lumMod val="75000"/>
                </a:schemeClr>
              </a:solidFill>
            </a:endParaRPr>
          </a:p>
          <a:p>
            <a:pPr marL="0" indent="0">
              <a:lnSpc>
                <a:spcPct val="100000"/>
              </a:lnSpc>
              <a:spcBef>
                <a:spcPts val="2200"/>
              </a:spcBef>
              <a:buNone/>
            </a:pPr>
            <a:endParaRPr lang="en-US" dirty="0"/>
          </a:p>
        </p:txBody>
      </p:sp>
    </p:spTree>
    <p:extLst>
      <p:ext uri="{BB962C8B-B14F-4D97-AF65-F5344CB8AC3E}">
        <p14:creationId xmlns:p14="http://schemas.microsoft.com/office/powerpoint/2010/main" val="2083330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4</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lstStyle/>
          <a:p>
            <a:pPr marL="0" indent="0">
              <a:lnSpc>
                <a:spcPct val="100000"/>
              </a:lnSpc>
              <a:spcBef>
                <a:spcPts val="2200"/>
              </a:spcBef>
              <a:buNone/>
            </a:pPr>
            <a:r>
              <a:rPr lang="en-US" dirty="0">
                <a:solidFill>
                  <a:schemeClr val="bg1">
                    <a:lumMod val="75000"/>
                  </a:schemeClr>
                </a:solidFill>
              </a:rPr>
              <a:t>Introductory activity</a:t>
            </a:r>
          </a:p>
          <a:p>
            <a:pPr marL="0" indent="0">
              <a:lnSpc>
                <a:spcPct val="100000"/>
              </a:lnSpc>
              <a:spcBef>
                <a:spcPts val="2200"/>
              </a:spcBef>
              <a:buNone/>
            </a:pPr>
            <a:r>
              <a:rPr lang="en-US" b="1" dirty="0"/>
              <a:t>Section expectations: review document</a:t>
            </a:r>
          </a:p>
          <a:p>
            <a:pPr marL="0" indent="0">
              <a:lnSpc>
                <a:spcPct val="100000"/>
              </a:lnSpc>
              <a:spcBef>
                <a:spcPts val="2200"/>
              </a:spcBef>
              <a:buNone/>
            </a:pPr>
            <a:r>
              <a:rPr lang="en-US" dirty="0">
                <a:solidFill>
                  <a:schemeClr val="bg1">
                    <a:lumMod val="75000"/>
                  </a:schemeClr>
                </a:solidFill>
              </a:rPr>
              <a:t>Modeling epidemics</a:t>
            </a:r>
          </a:p>
          <a:p>
            <a:pPr marL="0" indent="0">
              <a:lnSpc>
                <a:spcPct val="100000"/>
              </a:lnSpc>
              <a:spcBef>
                <a:spcPts val="2200"/>
              </a:spcBef>
              <a:buNone/>
            </a:pPr>
            <a:r>
              <a:rPr lang="en-US" dirty="0">
                <a:solidFill>
                  <a:schemeClr val="bg1">
                    <a:lumMod val="75000"/>
                  </a:schemeClr>
                </a:solidFill>
              </a:rPr>
              <a:t>Group Exercise: Review of </a:t>
            </a:r>
            <a:r>
              <a:rPr lang="el-GR" dirty="0">
                <a:solidFill>
                  <a:schemeClr val="bg1">
                    <a:lumMod val="75000"/>
                  </a:schemeClr>
                </a:solidFill>
              </a:rPr>
              <a:t>β, </a:t>
            </a:r>
            <a:r>
              <a:rPr lang="en-US" dirty="0">
                <a:solidFill>
                  <a:schemeClr val="bg1">
                    <a:lumMod val="75000"/>
                  </a:schemeClr>
                </a:solidFill>
              </a:rPr>
              <a:t>N, and </a:t>
            </a:r>
            <a:r>
              <a:rPr lang="el-GR" dirty="0">
                <a:solidFill>
                  <a:schemeClr val="bg1">
                    <a:lumMod val="75000"/>
                  </a:schemeClr>
                </a:solidFill>
              </a:rPr>
              <a:t>δ </a:t>
            </a:r>
            <a:endParaRPr lang="en-US" dirty="0">
              <a:solidFill>
                <a:schemeClr val="bg1">
                  <a:lumMod val="75000"/>
                </a:schemeClr>
              </a:solidFill>
            </a:endParaRPr>
          </a:p>
          <a:p>
            <a:pPr marL="0" indent="0">
              <a:lnSpc>
                <a:spcPct val="100000"/>
              </a:lnSpc>
              <a:spcBef>
                <a:spcPts val="2200"/>
              </a:spcBef>
              <a:buNone/>
            </a:pPr>
            <a:endParaRPr lang="en-US" dirty="0"/>
          </a:p>
        </p:txBody>
      </p:sp>
    </p:spTree>
    <p:extLst>
      <p:ext uri="{BB962C8B-B14F-4D97-AF65-F5344CB8AC3E}">
        <p14:creationId xmlns:p14="http://schemas.microsoft.com/office/powerpoint/2010/main" val="1524529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5</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lstStyle/>
          <a:p>
            <a:pPr marL="0" indent="0">
              <a:lnSpc>
                <a:spcPct val="100000"/>
              </a:lnSpc>
              <a:spcBef>
                <a:spcPts val="2200"/>
              </a:spcBef>
              <a:buNone/>
            </a:pPr>
            <a:r>
              <a:rPr lang="en-US" dirty="0">
                <a:solidFill>
                  <a:schemeClr val="bg1">
                    <a:lumMod val="75000"/>
                  </a:schemeClr>
                </a:solidFill>
              </a:rPr>
              <a:t>Introductory activity</a:t>
            </a:r>
          </a:p>
          <a:p>
            <a:pPr marL="0" indent="0">
              <a:lnSpc>
                <a:spcPct val="100000"/>
              </a:lnSpc>
              <a:spcBef>
                <a:spcPts val="2200"/>
              </a:spcBef>
              <a:buNone/>
            </a:pPr>
            <a:r>
              <a:rPr lang="en-US" dirty="0">
                <a:solidFill>
                  <a:schemeClr val="bg1">
                    <a:lumMod val="75000"/>
                  </a:schemeClr>
                </a:solidFill>
              </a:rPr>
              <a:t>Section expectations: review document</a:t>
            </a:r>
          </a:p>
          <a:p>
            <a:pPr marL="0" indent="0">
              <a:lnSpc>
                <a:spcPct val="100000"/>
              </a:lnSpc>
              <a:spcBef>
                <a:spcPts val="2200"/>
              </a:spcBef>
              <a:buNone/>
            </a:pPr>
            <a:r>
              <a:rPr lang="en-US" b="1" dirty="0"/>
              <a:t>Modeling epidemics</a:t>
            </a:r>
          </a:p>
          <a:p>
            <a:pPr marL="0" indent="0">
              <a:lnSpc>
                <a:spcPct val="100000"/>
              </a:lnSpc>
              <a:spcBef>
                <a:spcPts val="2200"/>
              </a:spcBef>
              <a:buNone/>
            </a:pPr>
            <a:r>
              <a:rPr lang="en-US" dirty="0">
                <a:solidFill>
                  <a:schemeClr val="bg1">
                    <a:lumMod val="75000"/>
                  </a:schemeClr>
                </a:solidFill>
              </a:rPr>
              <a:t>Group Exercise: Review of </a:t>
            </a:r>
            <a:r>
              <a:rPr lang="el-GR" dirty="0">
                <a:solidFill>
                  <a:schemeClr val="bg1">
                    <a:lumMod val="75000"/>
                  </a:schemeClr>
                </a:solidFill>
              </a:rPr>
              <a:t>β, </a:t>
            </a:r>
            <a:r>
              <a:rPr lang="en-US" dirty="0">
                <a:solidFill>
                  <a:schemeClr val="bg1">
                    <a:lumMod val="75000"/>
                  </a:schemeClr>
                </a:solidFill>
              </a:rPr>
              <a:t>N, and </a:t>
            </a:r>
            <a:r>
              <a:rPr lang="el-GR" dirty="0">
                <a:solidFill>
                  <a:schemeClr val="bg1">
                    <a:lumMod val="75000"/>
                  </a:schemeClr>
                </a:solidFill>
              </a:rPr>
              <a:t>δ </a:t>
            </a:r>
            <a:endParaRPr lang="en-US" dirty="0">
              <a:solidFill>
                <a:schemeClr val="bg1">
                  <a:lumMod val="75000"/>
                </a:schemeClr>
              </a:solidFill>
            </a:endParaRPr>
          </a:p>
          <a:p>
            <a:pPr marL="0" indent="0">
              <a:lnSpc>
                <a:spcPct val="100000"/>
              </a:lnSpc>
              <a:spcBef>
                <a:spcPts val="2200"/>
              </a:spcBef>
              <a:buNone/>
            </a:pPr>
            <a:endParaRPr lang="en-US" dirty="0"/>
          </a:p>
        </p:txBody>
      </p:sp>
    </p:spTree>
    <p:extLst>
      <p:ext uri="{BB962C8B-B14F-4D97-AF65-F5344CB8AC3E}">
        <p14:creationId xmlns:p14="http://schemas.microsoft.com/office/powerpoint/2010/main" val="3936774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408DE-AF95-BE54-EA04-3B7C40493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D41EB-44D8-0718-86AF-A251CAF95227}"/>
              </a:ext>
            </a:extLst>
          </p:cNvPr>
          <p:cNvSpPr>
            <a:spLocks noGrp="1"/>
          </p:cNvSpPr>
          <p:nvPr>
            <p:ph type="title"/>
          </p:nvPr>
        </p:nvSpPr>
        <p:spPr/>
        <p:txBody>
          <a:bodyPr/>
          <a:lstStyle/>
          <a:p>
            <a:r>
              <a:rPr lang="en-US" dirty="0"/>
              <a:t>Why Model Epidemics?</a:t>
            </a:r>
          </a:p>
        </p:txBody>
      </p:sp>
      <p:sp>
        <p:nvSpPr>
          <p:cNvPr id="7" name="Discussion Prompt">
            <a:extLst>
              <a:ext uri="{FF2B5EF4-FFF2-40B4-BE49-F238E27FC236}">
                <a16:creationId xmlns:a16="http://schemas.microsoft.com/office/drawing/2014/main" id="{597FD04E-5AA7-BB28-003E-B5E12AC60FC1}"/>
              </a:ext>
            </a:extLst>
          </p:cNvPr>
          <p:cNvSpPr/>
          <p:nvPr/>
        </p:nvSpPr>
        <p:spPr>
          <a:xfrm>
            <a:off x="838200" y="1600200"/>
            <a:ext cx="10515600" cy="906462"/>
          </a:xfrm>
          <a:prstGeom prst="roundRect">
            <a:avLst/>
          </a:prstGeom>
          <a:solidFill>
            <a:srgbClr val="DEEBF7"/>
          </a:solidFill>
          <a:ln w="12700">
            <a:solidFill>
              <a:srgbClr val="0070C0"/>
            </a:solidFill>
          </a:ln>
        </p:spPr>
        <p:txBody>
          <a:bodyPr lIns="182880" tIns="45720" rIns="182880" bIns="45720" rtlCol="0" anchor="ctr">
            <a:normAutofit/>
          </a:bodyPr>
          <a:lstStyle/>
          <a:p>
            <a:pPr algn="l"/>
            <a:r>
              <a:rPr lang="en-US" sz="2000" b="1" dirty="0">
                <a:solidFill>
                  <a:srgbClr val="1F3864"/>
                </a:solidFill>
              </a:rPr>
              <a:t>Discuss: we can already count cases. So why bother building a model?</a:t>
            </a:r>
          </a:p>
          <a:p>
            <a:pPr algn="l"/>
            <a:r>
              <a:rPr lang="en-US" sz="1400" i="1" dirty="0">
                <a:solidFill>
                  <a:srgbClr val="1F3864"/>
                </a:solidFill>
              </a:rPr>
              <a:t>Take 60 seconds with a neighbor: what could a model tell you that the case counts alone cannot?</a:t>
            </a:r>
          </a:p>
        </p:txBody>
      </p:sp>
      <p:sp>
        <p:nvSpPr>
          <p:cNvPr id="4" name="Slide Number Placeholder 3">
            <a:extLst>
              <a:ext uri="{FF2B5EF4-FFF2-40B4-BE49-F238E27FC236}">
                <a16:creationId xmlns:a16="http://schemas.microsoft.com/office/drawing/2014/main" id="{44FDE1BA-96B2-107F-0994-29436BF9AA1B}"/>
              </a:ext>
            </a:extLst>
          </p:cNvPr>
          <p:cNvSpPr>
            <a:spLocks noGrp="1"/>
          </p:cNvSpPr>
          <p:nvPr>
            <p:ph type="sldNum" sz="quarter" idx="12"/>
          </p:nvPr>
        </p:nvSpPr>
        <p:spPr/>
        <p:txBody>
          <a:bodyPr/>
          <a:lstStyle/>
          <a:p>
            <a:fld id="{171A6C5B-A11A-470F-8319-62E6F3F410BC}" type="slidenum">
              <a:rPr lang="en-US" smtClean="0"/>
              <a:pPr/>
              <a:t>6</a:t>
            </a:fld>
            <a:endParaRPr lang="en-US"/>
          </a:p>
        </p:txBody>
      </p:sp>
    </p:spTree>
    <p:extLst>
      <p:ext uri="{BB962C8B-B14F-4D97-AF65-F5344CB8AC3E}">
        <p14:creationId xmlns:p14="http://schemas.microsoft.com/office/powerpoint/2010/main" val="1609171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Model Epidemics?</a:t>
            </a:r>
          </a:p>
        </p:txBody>
      </p:sp>
      <p:sp>
        <p:nvSpPr>
          <p:cNvPr id="7" name="Discussion Prompt"/>
          <p:cNvSpPr/>
          <p:nvPr/>
        </p:nvSpPr>
        <p:spPr>
          <a:xfrm>
            <a:off x="838200" y="1600200"/>
            <a:ext cx="10515600" cy="906462"/>
          </a:xfrm>
          <a:prstGeom prst="roundRect">
            <a:avLst/>
          </a:prstGeom>
          <a:solidFill>
            <a:srgbClr val="DEEBF7"/>
          </a:solidFill>
          <a:ln w="12700">
            <a:solidFill>
              <a:srgbClr val="0070C0"/>
            </a:solidFill>
          </a:ln>
        </p:spPr>
        <p:txBody>
          <a:bodyPr lIns="182880" tIns="45720" rIns="182880" bIns="45720" rtlCol="0" anchor="ctr">
            <a:normAutofit/>
          </a:bodyPr>
          <a:lstStyle/>
          <a:p>
            <a:pPr algn="l"/>
            <a:r>
              <a:rPr lang="en-US" sz="2000" b="1" dirty="0">
                <a:solidFill>
                  <a:srgbClr val="1F3864"/>
                </a:solidFill>
              </a:rPr>
              <a:t>Discuss: we can already count cases. So why bother building a model?</a:t>
            </a:r>
          </a:p>
          <a:p>
            <a:pPr algn="l"/>
            <a:r>
              <a:rPr lang="en-US" sz="1400" i="1" dirty="0">
                <a:solidFill>
                  <a:srgbClr val="1F3864"/>
                </a:solidFill>
              </a:rPr>
              <a:t>Take 60 seconds with a neighbor: what could a model tell you that the case counts alone cannot?</a:t>
            </a:r>
          </a:p>
        </p:txBody>
      </p:sp>
      <p:sp>
        <p:nvSpPr>
          <p:cNvPr id="6" name="Content Placeholder 5"/>
          <p:cNvSpPr>
            <a:spLocks noGrp="1"/>
          </p:cNvSpPr>
          <p:nvPr>
            <p:ph idx="1"/>
          </p:nvPr>
        </p:nvSpPr>
        <p:spPr>
          <a:xfrm>
            <a:off x="838200" y="2679700"/>
            <a:ext cx="10515600" cy="3352800"/>
          </a:xfrm>
        </p:spPr>
        <p:txBody>
          <a:bodyPr>
            <a:normAutofit/>
          </a:bodyPr>
          <a:lstStyle/>
          <a:p>
            <a:pPr marL="342900" lvl="0" indent="-342900">
              <a:spcBef>
                <a:spcPts val="600"/>
              </a:spcBef>
            </a:pPr>
            <a:r>
              <a:rPr lang="en-US" sz="1800" b="1" dirty="0">
                <a:solidFill>
                  <a:srgbClr val="0070C0"/>
                </a:solidFill>
              </a:rPr>
              <a:t>Prediction — </a:t>
            </a:r>
            <a:r>
              <a:rPr lang="en-US" sz="1800" dirty="0"/>
              <a:t>see the epidemic before it arrives: how big, how fast, how many at once.</a:t>
            </a:r>
          </a:p>
          <a:p>
            <a:pPr marL="342900" indent="0">
              <a:spcBef>
                <a:spcPts val="200"/>
              </a:spcBef>
              <a:buNone/>
            </a:pPr>
            <a:r>
              <a:rPr lang="en-US" sz="1300" i="1" dirty="0">
                <a:solidFill>
                  <a:srgbClr val="595959"/>
                </a:solidFill>
              </a:rPr>
              <a:t>Ebola forecasts in 2014 drove the scale and timing of the international response (Lofgren et al., PNAS 2014).</a:t>
            </a:r>
          </a:p>
          <a:p>
            <a:pPr marL="342900" lvl="0" indent="-342900">
              <a:spcBef>
                <a:spcPts val="600"/>
              </a:spcBef>
            </a:pPr>
            <a:r>
              <a:rPr lang="en-US" sz="1800" b="1" dirty="0">
                <a:solidFill>
                  <a:srgbClr val="0070C0"/>
                </a:solidFill>
              </a:rPr>
              <a:t>Intervention — </a:t>
            </a:r>
            <a:r>
              <a:rPr lang="en-US" sz="1800" dirty="0"/>
              <a:t>compare control strategies we can never ethically or practically randomize.</a:t>
            </a:r>
          </a:p>
          <a:p>
            <a:pPr marL="342900" indent="0">
              <a:spcBef>
                <a:spcPts val="200"/>
              </a:spcBef>
              <a:buNone/>
            </a:pPr>
            <a:r>
              <a:rPr lang="en-US" sz="1300" i="1" dirty="0">
                <a:solidFill>
                  <a:srgbClr val="595959"/>
                </a:solidFill>
              </a:rPr>
              <a:t>Close schools, or vaccinate the elderly first? A model is the only counterfactual we get.</a:t>
            </a:r>
          </a:p>
          <a:p>
            <a:pPr marL="342900" lvl="0" indent="-342900">
              <a:spcBef>
                <a:spcPts val="600"/>
              </a:spcBef>
            </a:pPr>
            <a:r>
              <a:rPr lang="en-US" sz="1800" b="1" dirty="0">
                <a:solidFill>
                  <a:srgbClr val="0070C0"/>
                </a:solidFill>
              </a:rPr>
              <a:t>Complexity — </a:t>
            </a:r>
            <a:r>
              <a:rPr lang="en-US" sz="1800" dirty="0"/>
              <a:t>transmission is not straightforward. Imagine a network of people.</a:t>
            </a:r>
          </a:p>
          <a:p>
            <a:pPr marL="342900" indent="0">
              <a:spcBef>
                <a:spcPts val="200"/>
              </a:spcBef>
              <a:buNone/>
            </a:pPr>
            <a:r>
              <a:rPr lang="en-US" sz="1300" i="1" dirty="0">
                <a:solidFill>
                  <a:srgbClr val="595959"/>
                </a:solidFill>
              </a:rPr>
              <a:t>We will see this a little later. Can help answer if an outbreak will burnout or become epidemic. </a:t>
            </a:r>
          </a:p>
          <a:p>
            <a:pPr marL="342900" lvl="0" indent="-342900">
              <a:spcBef>
                <a:spcPts val="600"/>
              </a:spcBef>
            </a:pPr>
            <a:r>
              <a:rPr lang="en-US" sz="1800" b="1" dirty="0">
                <a:solidFill>
                  <a:srgbClr val="0070C0"/>
                </a:solidFill>
              </a:rPr>
              <a:t>Evaluation — </a:t>
            </a:r>
            <a:r>
              <a:rPr lang="en-US" sz="1800" dirty="0"/>
              <a:t>put a number on what a policy actually bought, after the fact.</a:t>
            </a:r>
          </a:p>
          <a:p>
            <a:pPr marL="342900" indent="0">
              <a:spcBef>
                <a:spcPts val="200"/>
              </a:spcBef>
              <a:buNone/>
            </a:pPr>
            <a:r>
              <a:rPr lang="en-US" sz="1300" i="1" dirty="0">
                <a:solidFill>
                  <a:srgbClr val="595959"/>
                </a:solidFill>
              </a:rPr>
              <a:t>COVID-19 vaccines are estimated to have averted 19.8 million deaths in their first year.</a:t>
            </a:r>
          </a:p>
          <a:p>
            <a:pPr marL="342900" indent="-342900">
              <a:spcBef>
                <a:spcPts val="600"/>
              </a:spcBef>
            </a:pPr>
            <a:r>
              <a:rPr lang="en-US" sz="1800" b="1" dirty="0">
                <a:solidFill>
                  <a:srgbClr val="0070C0"/>
                </a:solidFill>
              </a:rPr>
              <a:t>Resources — </a:t>
            </a:r>
            <a:r>
              <a:rPr lang="en-US" sz="1800" dirty="0"/>
              <a:t>see where resources are most needed.</a:t>
            </a:r>
          </a:p>
          <a:p>
            <a:pPr marL="0" indent="0">
              <a:spcBef>
                <a:spcPts val="600"/>
              </a:spcBef>
              <a:buNone/>
            </a:pPr>
            <a:r>
              <a:rPr lang="en-US" sz="1300" i="1" dirty="0">
                <a:solidFill>
                  <a:srgbClr val="595959"/>
                </a:solidFill>
              </a:rPr>
              <a:t>       Hospital beds, ventilators, PPE during COVID-19.</a:t>
            </a:r>
          </a:p>
          <a:p>
            <a:pPr marL="0" indent="0">
              <a:spcBef>
                <a:spcPts val="600"/>
              </a:spcBef>
              <a:buNone/>
            </a:pPr>
            <a:endParaRPr lang="en-US" sz="1300" i="1" dirty="0">
              <a:solidFill>
                <a:srgbClr val="595959"/>
              </a:solidFill>
            </a:endParaRPr>
          </a:p>
          <a:p>
            <a:pPr marL="0" indent="0">
              <a:spcBef>
                <a:spcPts val="600"/>
              </a:spcBef>
              <a:buNone/>
            </a:pPr>
            <a:endParaRPr lang="en-US" sz="1300" i="1" dirty="0">
              <a:solidFill>
                <a:srgbClr val="595959"/>
              </a:solidFill>
            </a:endParaRPr>
          </a:p>
        </p:txBody>
      </p:sp>
      <p:sp>
        <p:nvSpPr>
          <p:cNvPr id="8" name="Closing Line"/>
          <p:cNvSpPr txBox="1"/>
          <p:nvPr/>
        </p:nvSpPr>
        <p:spPr>
          <a:xfrm>
            <a:off x="838200" y="5782500"/>
            <a:ext cx="10515600" cy="500000"/>
          </a:xfrm>
          <a:prstGeom prst="rect">
            <a:avLst/>
          </a:prstGeom>
          <a:noFill/>
        </p:spPr>
        <p:txBody>
          <a:bodyPr wrap="square" lIns="0" tIns="45720" rIns="0" bIns="45720" rtlCol="0">
            <a:normAutofit/>
          </a:bodyPr>
          <a:lstStyle/>
          <a:p>
            <a:r>
              <a:rPr lang="en-US" sz="1600" b="1" i="1" dirty="0">
                <a:solidFill>
                  <a:srgbClr val="1F3864"/>
                </a:solidFill>
              </a:rPr>
              <a:t>What follows today — β, c, </a:t>
            </a:r>
            <a:r>
              <a:rPr lang="en-US" sz="1600" b="1" i="1" dirty="0" err="1">
                <a:solidFill>
                  <a:srgbClr val="1F3864"/>
                </a:solidFill>
              </a:rPr>
              <a:t>δ</a:t>
            </a:r>
            <a:r>
              <a:rPr lang="en-US" sz="1600" b="1" i="1" dirty="0">
                <a:solidFill>
                  <a:srgbClr val="1F3864"/>
                </a:solidFill>
              </a:rPr>
              <a:t> is machinery for answering “what if?”. With more to come Thursday and next week. </a:t>
            </a:r>
          </a:p>
        </p:txBody>
      </p:sp>
      <p:sp>
        <p:nvSpPr>
          <p:cNvPr id="4" name="Slide Number Placeholder 3"/>
          <p:cNvSpPr>
            <a:spLocks noGrp="1"/>
          </p:cNvSpPr>
          <p:nvPr>
            <p:ph type="sldNum" sz="quarter" idx="12"/>
          </p:nvPr>
        </p:nvSpPr>
        <p:spPr/>
        <p:txBody>
          <a:bodyPr/>
          <a:lstStyle/>
          <a:p>
            <a:fld id="{171A6C5B-A11A-470F-8319-62E6F3F410BC}" type="slidenum">
              <a:rPr lang="en-US" smtClean="0"/>
              <a:pPr/>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48BDD-06CE-9802-A424-0947F4E4EBF7}"/>
              </a:ext>
            </a:extLst>
          </p:cNvPr>
          <p:cNvSpPr>
            <a:spLocks noGrp="1"/>
          </p:cNvSpPr>
          <p:nvPr>
            <p:ph type="title"/>
          </p:nvPr>
        </p:nvSpPr>
        <p:spPr/>
        <p:txBody>
          <a:bodyPr/>
          <a:lstStyle/>
          <a:p>
            <a:r>
              <a:rPr lang="en-US" dirty="0"/>
              <a:t>Modeling Epidemics: Refresher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25EC0E-BD07-C037-D0DB-4109B16704A6}"/>
                  </a:ext>
                </a:extLst>
              </p:cNvPr>
              <p:cNvSpPr>
                <a:spLocks noGrp="1"/>
              </p:cNvSpPr>
              <p:nvPr>
                <p:ph idx="1"/>
              </p:nvPr>
            </p:nvSpPr>
            <p:spPr/>
            <p:txBody>
              <a:bodyPr/>
              <a:lstStyle/>
              <a:p>
                <a:pPr marL="0" indent="0">
                  <a:buNone/>
                </a:pPr>
                <a:r>
                  <a:rPr lang="en-US" b="1" dirty="0"/>
                  <a:t>Prevalence</a:t>
                </a:r>
                <a:r>
                  <a:rPr lang="en-US" dirty="0"/>
                  <a:t>: what share of people have the disease at a </a:t>
                </a:r>
                <a:r>
                  <a:rPr lang="en-US" u="sng" dirty="0"/>
                  <a:t>point in time</a:t>
                </a:r>
                <a:r>
                  <a:rPr lang="en-US" dirty="0"/>
                  <a:t>?</a:t>
                </a:r>
              </a:p>
              <a:p>
                <a:pPr marL="0" indent="0">
                  <a:buNone/>
                </a:pPr>
                <a:endParaRPr lang="en-US" sz="1050" dirty="0"/>
              </a:p>
              <a:p>
                <a:pPr marL="0" indent="0">
                  <a:buNone/>
                </a:pPr>
                <a14:m>
                  <m:oMathPara xmlns:m="http://schemas.openxmlformats.org/officeDocument/2006/math">
                    <m:oMath>
                      <m:r>
                        <a:rPr lang="en-US" b="1" i="1" smtClean="0">
                          <a:latin typeface="Cambria Math" panose="02040503050406030204" pitchFamily="18" charset="0"/>
                        </a:rPr>
                        <m:t>𝑷𝒓𝒆𝒗𝒂𝒍𝒆𝒏𝒄𝒆</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 </m:t>
                          </m:r>
                          <m:r>
                            <a:rPr lang="en-US" b="0" i="1" smtClean="0">
                              <a:latin typeface="Cambria Math" panose="02040503050406030204" pitchFamily="18" charset="0"/>
                            </a:rPr>
                            <m:t>𝑖𝑛𝑓𝑒𝑐𝑡𝑒𝑑</m:t>
                          </m:r>
                        </m:num>
                        <m:den>
                          <m:r>
                            <a:rPr lang="en-US" b="0" i="1" smtClean="0">
                              <a:latin typeface="Cambria Math" panose="02040503050406030204" pitchFamily="18" charset="0"/>
                            </a:rPr>
                            <m:t># </m:t>
                          </m:r>
                          <m:r>
                            <a:rPr lang="en-US" b="0" i="1" smtClean="0">
                              <a:latin typeface="Cambria Math" panose="02040503050406030204" pitchFamily="18" charset="0"/>
                            </a:rPr>
                            <m:t>𝑖𝑛</m:t>
                          </m:r>
                          <m:r>
                            <a:rPr lang="en-US" b="0" i="1" smtClean="0">
                              <a:latin typeface="Cambria Math" panose="02040503050406030204" pitchFamily="18" charset="0"/>
                            </a:rPr>
                            <m:t> </m:t>
                          </m:r>
                          <m:r>
                            <a:rPr lang="en-US" b="0" i="1" smtClean="0">
                              <a:latin typeface="Cambria Math" panose="02040503050406030204" pitchFamily="18" charset="0"/>
                            </a:rPr>
                            <m:t>𝑡ℎ𝑒</m:t>
                          </m:r>
                          <m:r>
                            <a:rPr lang="en-US" b="0" i="1" smtClean="0">
                              <a:latin typeface="Cambria Math" panose="02040503050406030204" pitchFamily="18" charset="0"/>
                            </a:rPr>
                            <m:t> </m:t>
                          </m:r>
                          <m:r>
                            <a:rPr lang="en-US" b="0" i="1" smtClean="0">
                              <a:latin typeface="Cambria Math" panose="02040503050406030204" pitchFamily="18" charset="0"/>
                            </a:rPr>
                            <m:t>𝑝𝑜𝑝𝑢𝑙𝑎𝑡𝑖𝑜𝑛</m:t>
                          </m:r>
                        </m:den>
                      </m:f>
                    </m:oMath>
                  </m:oMathPara>
                </a14:m>
                <a:endParaRPr lang="en-US" dirty="0"/>
              </a:p>
              <a:p>
                <a:pPr marL="0" indent="0">
                  <a:buNone/>
                </a:pPr>
                <a:endParaRPr lang="en-US" b="1"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0725EC0E-BD07-C037-D0DB-4109B16704A6}"/>
                  </a:ext>
                </a:extLst>
              </p:cNvPr>
              <p:cNvSpPr>
                <a:spLocks noGrp="1" noRot="1" noChangeAspect="1" noMove="1" noResize="1" noEditPoints="1" noAdjustHandles="1" noChangeArrowheads="1" noChangeShapeType="1" noTextEdit="1"/>
              </p:cNvSpPr>
              <p:nvPr>
                <p:ph idx="1"/>
              </p:nvPr>
            </p:nvSpPr>
            <p:spPr>
              <a:blipFill>
                <a:blip r:embed="rId3"/>
                <a:stretch>
                  <a:fillRect l="-928" t="-177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75F3C9A-CFE2-FD48-1AA6-00C20A97751E}"/>
              </a:ext>
            </a:extLst>
          </p:cNvPr>
          <p:cNvSpPr>
            <a:spLocks noGrp="1"/>
          </p:cNvSpPr>
          <p:nvPr>
            <p:ph type="sldNum" sz="quarter" idx="12"/>
          </p:nvPr>
        </p:nvSpPr>
        <p:spPr/>
        <p:txBody>
          <a:bodyPr/>
          <a:lstStyle/>
          <a:p>
            <a:fld id="{171A6C5B-A11A-470F-8319-62E6F3F410BC}" type="slidenum">
              <a:rPr lang="en-US" smtClean="0"/>
              <a:pPr/>
              <a:t>8</a:t>
            </a:fld>
            <a:endParaRPr lang="en-US"/>
          </a:p>
        </p:txBody>
      </p:sp>
    </p:spTree>
    <p:extLst>
      <p:ext uri="{BB962C8B-B14F-4D97-AF65-F5344CB8AC3E}">
        <p14:creationId xmlns:p14="http://schemas.microsoft.com/office/powerpoint/2010/main" val="2328476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48BDD-06CE-9802-A424-0947F4E4EBF7}"/>
              </a:ext>
            </a:extLst>
          </p:cNvPr>
          <p:cNvSpPr>
            <a:spLocks noGrp="1"/>
          </p:cNvSpPr>
          <p:nvPr>
            <p:ph type="title"/>
          </p:nvPr>
        </p:nvSpPr>
        <p:spPr/>
        <p:txBody>
          <a:bodyPr/>
          <a:lstStyle/>
          <a:p>
            <a:r>
              <a:rPr lang="en-US" dirty="0"/>
              <a:t>Modeling Epidemics: Refresher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25EC0E-BD07-C037-D0DB-4109B16704A6}"/>
                  </a:ext>
                </a:extLst>
              </p:cNvPr>
              <p:cNvSpPr>
                <a:spLocks noGrp="1"/>
              </p:cNvSpPr>
              <p:nvPr>
                <p:ph idx="1"/>
              </p:nvPr>
            </p:nvSpPr>
            <p:spPr/>
            <p:txBody>
              <a:bodyPr/>
              <a:lstStyle/>
              <a:p>
                <a:pPr marL="0" indent="0">
                  <a:buNone/>
                </a:pPr>
                <a:r>
                  <a:rPr lang="en-US" b="1" dirty="0"/>
                  <a:t>Incidence</a:t>
                </a:r>
                <a:r>
                  <a:rPr lang="en-US" dirty="0"/>
                  <a:t>: what share of people who are susceptible to contracting the disease become infected by it in </a:t>
                </a:r>
                <a:r>
                  <a:rPr lang="en-US" u="sng" dirty="0"/>
                  <a:t>a period of time</a:t>
                </a:r>
                <a:r>
                  <a:rPr lang="en-US" dirty="0"/>
                  <a:t>?</a:t>
                </a:r>
              </a:p>
              <a:p>
                <a:pPr marL="0" indent="0">
                  <a:buNone/>
                </a:pPr>
                <a:endParaRPr lang="en-US" dirty="0"/>
              </a:p>
              <a:p>
                <a:pPr marL="0" indent="0">
                  <a:buNone/>
                </a:pPr>
                <a14:m>
                  <m:oMathPara xmlns:m="http://schemas.openxmlformats.org/officeDocument/2006/math">
                    <m:oMath>
                      <m:r>
                        <a:rPr lang="en-US" b="1" i="1" smtClean="0">
                          <a:latin typeface="Cambria Math" panose="02040503050406030204" pitchFamily="18" charset="0"/>
                        </a:rPr>
                        <m:t>𝑰𝒏𝒄𝒊𝒅𝒆𝒏𝒄𝒆</m:t>
                      </m:r>
                      <m:r>
                        <a:rPr lang="en-US" b="1" i="1" smtClean="0">
                          <a:latin typeface="Cambria Math" panose="02040503050406030204" pitchFamily="18" charset="0"/>
                        </a:rPr>
                        <m:t>= </m:t>
                      </m:r>
                      <m:f>
                        <m:fPr>
                          <m:ctrlPr>
                            <a:rPr lang="en-US" b="1" i="1" smtClean="0">
                              <a:latin typeface="Cambria Math" panose="02040503050406030204" pitchFamily="18" charset="0"/>
                            </a:rPr>
                          </m:ctrlPr>
                        </m:fPr>
                        <m:num>
                          <m:r>
                            <a:rPr lang="en-US" b="1" i="1" smtClean="0">
                              <a:latin typeface="Cambria Math" panose="02040503050406030204" pitchFamily="18" charset="0"/>
                            </a:rPr>
                            <m:t># </m:t>
                          </m:r>
                          <m:r>
                            <a:rPr lang="en-US" b="0" i="1" smtClean="0">
                              <a:latin typeface="Cambria Math" panose="02040503050406030204" pitchFamily="18" charset="0"/>
                            </a:rPr>
                            <m:t>𝑛𝑒𝑤𝑙𝑦</m:t>
                          </m:r>
                          <m:r>
                            <a:rPr lang="en-US" b="0" i="1" smtClean="0">
                              <a:latin typeface="Cambria Math" panose="02040503050406030204" pitchFamily="18" charset="0"/>
                            </a:rPr>
                            <m:t> </m:t>
                          </m:r>
                          <m:r>
                            <a:rPr lang="en-US" b="0" i="1" smtClean="0">
                              <a:latin typeface="Cambria Math" panose="02040503050406030204" pitchFamily="18" charset="0"/>
                            </a:rPr>
                            <m:t>𝑖𝑛𝑓𝑒𝑐𝑡𝑒𝑑</m:t>
                          </m:r>
                        </m:num>
                        <m:den>
                          <m:r>
                            <a:rPr lang="en-US" b="1" i="1" smtClean="0">
                              <a:latin typeface="Cambria Math" panose="02040503050406030204" pitchFamily="18" charset="0"/>
                            </a:rPr>
                            <m:t># </m:t>
                          </m:r>
                          <m:r>
                            <a:rPr lang="en-US" b="0" i="1" smtClean="0">
                              <a:latin typeface="Cambria Math" panose="02040503050406030204" pitchFamily="18" charset="0"/>
                            </a:rPr>
                            <m:t>𝑠𝑢𝑠𝑐𝑒𝑝𝑡𝑖𝑏𝑙𝑒</m:t>
                          </m:r>
                        </m:den>
                      </m:f>
                    </m:oMath>
                  </m:oMathPara>
                </a14:m>
                <a:endParaRPr lang="en-US" b="1"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0725EC0E-BD07-C037-D0DB-4109B16704A6}"/>
                  </a:ext>
                </a:extLst>
              </p:cNvPr>
              <p:cNvSpPr>
                <a:spLocks noGrp="1" noRot="1" noChangeAspect="1" noMove="1" noResize="1" noEditPoints="1" noAdjustHandles="1" noChangeArrowheads="1" noChangeShapeType="1" noTextEdit="1"/>
              </p:cNvSpPr>
              <p:nvPr>
                <p:ph idx="1"/>
              </p:nvPr>
            </p:nvSpPr>
            <p:spPr>
              <a:blipFill>
                <a:blip r:embed="rId3"/>
                <a:stretch>
                  <a:fillRect l="-928" t="-177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75F3C9A-CFE2-FD48-1AA6-00C20A97751E}"/>
              </a:ext>
            </a:extLst>
          </p:cNvPr>
          <p:cNvSpPr>
            <a:spLocks noGrp="1"/>
          </p:cNvSpPr>
          <p:nvPr>
            <p:ph type="sldNum" sz="quarter" idx="12"/>
          </p:nvPr>
        </p:nvSpPr>
        <p:spPr/>
        <p:txBody>
          <a:bodyPr/>
          <a:lstStyle/>
          <a:p>
            <a:fld id="{171A6C5B-A11A-470F-8319-62E6F3F410BC}" type="slidenum">
              <a:rPr lang="en-US" smtClean="0"/>
              <a:pPr/>
              <a:t>9</a:t>
            </a:fld>
            <a:endParaRPr lang="en-US"/>
          </a:p>
        </p:txBody>
      </p:sp>
    </p:spTree>
    <p:extLst>
      <p:ext uri="{BB962C8B-B14F-4D97-AF65-F5344CB8AC3E}">
        <p14:creationId xmlns:p14="http://schemas.microsoft.com/office/powerpoint/2010/main" val="3079675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D611A48D-09D1-C297-2AD5-08054091B0C9}"/>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the </a:t>
            </a:r>
            <a:r>
              <a:rPr lang="en-US" b="1" dirty="0"/>
              <a:t>prevalence</a:t>
            </a:r>
            <a:r>
              <a:rPr lang="en-US" dirty="0"/>
              <a:t> and the </a:t>
            </a:r>
            <a:r>
              <a:rPr lang="en-US" b="1" dirty="0"/>
              <a:t>incidence</a:t>
            </a:r>
            <a:r>
              <a:rPr lang="en-US" dirty="0"/>
              <a:t> be at the end of the day?</a:t>
            </a:r>
          </a:p>
          <a:p>
            <a:endParaRPr lang="en-US" dirty="0"/>
          </a:p>
          <a:p>
            <a:r>
              <a:rPr lang="en-US" dirty="0"/>
              <a:t>Prevalence: </a:t>
            </a:r>
          </a:p>
          <a:p>
            <a:r>
              <a:rPr lang="en-US" dirty="0"/>
              <a:t>Incidence:</a:t>
            </a:r>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10</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3300807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108490F5-9E5B-1AA8-55EE-0D0EECA10247}"/>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the </a:t>
            </a:r>
            <a:r>
              <a:rPr lang="en-US" b="1" dirty="0"/>
              <a:t>prevalence</a:t>
            </a:r>
            <a:r>
              <a:rPr lang="en-US" dirty="0"/>
              <a:t> and the </a:t>
            </a:r>
            <a:r>
              <a:rPr lang="en-US" b="1" dirty="0"/>
              <a:t>incidence</a:t>
            </a:r>
            <a:r>
              <a:rPr lang="en-US" dirty="0"/>
              <a:t> be at the end of the day?</a:t>
            </a:r>
          </a:p>
          <a:p>
            <a:endParaRPr lang="en-US" dirty="0"/>
          </a:p>
          <a:p>
            <a:r>
              <a:rPr lang="en-US" dirty="0"/>
              <a:t>Prevalence: 	25 / 100 = 0.25</a:t>
            </a:r>
          </a:p>
          <a:p>
            <a:r>
              <a:rPr lang="en-US" dirty="0"/>
              <a:t>Incidence:</a:t>
            </a:r>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11</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2706640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the </a:t>
            </a:r>
            <a:r>
              <a:rPr lang="en-US" b="1" dirty="0"/>
              <a:t>prevalence</a:t>
            </a:r>
            <a:r>
              <a:rPr lang="en-US" dirty="0"/>
              <a:t> and the </a:t>
            </a:r>
            <a:r>
              <a:rPr lang="en-US" b="1" dirty="0"/>
              <a:t>incidence</a:t>
            </a:r>
            <a:r>
              <a:rPr lang="en-US" dirty="0"/>
              <a:t> be at the end of the day?</a:t>
            </a:r>
          </a:p>
          <a:p>
            <a:endParaRPr lang="en-US" dirty="0"/>
          </a:p>
          <a:p>
            <a:r>
              <a:rPr lang="en-US" dirty="0"/>
              <a:t>Prevalence: 	25 / 100 = 0.25</a:t>
            </a:r>
          </a:p>
          <a:p>
            <a:r>
              <a:rPr lang="en-US" dirty="0"/>
              <a:t>Incidence: 		15 / 90 = 0.166</a:t>
            </a:r>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12</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1304328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the </a:t>
            </a:r>
            <a:r>
              <a:rPr lang="en-US" b="1" dirty="0"/>
              <a:t>prevalence</a:t>
            </a:r>
            <a:r>
              <a:rPr lang="en-US" dirty="0"/>
              <a:t> and the </a:t>
            </a:r>
            <a:r>
              <a:rPr lang="en-US" b="1" dirty="0"/>
              <a:t>incidence</a:t>
            </a:r>
            <a:r>
              <a:rPr lang="en-US" dirty="0"/>
              <a:t> be today?</a:t>
            </a:r>
          </a:p>
          <a:p>
            <a:endParaRPr lang="en-US" dirty="0"/>
          </a:p>
          <a:p>
            <a:r>
              <a:rPr lang="en-US" dirty="0"/>
              <a:t>Prevalence: 	</a:t>
            </a:r>
            <a:r>
              <a:rPr lang="en-US" dirty="0">
                <a:solidFill>
                  <a:srgbClr val="005493"/>
                </a:solidFill>
              </a:rPr>
              <a:t>25 / 100 = 0.25</a:t>
            </a:r>
          </a:p>
          <a:p>
            <a:r>
              <a:rPr lang="en-US" dirty="0"/>
              <a:t>Incidence: 		</a:t>
            </a:r>
            <a:r>
              <a:rPr lang="en-US" dirty="0">
                <a:solidFill>
                  <a:srgbClr val="005493"/>
                </a:solidFill>
              </a:rPr>
              <a:t>15 / 90 = 0.166</a:t>
            </a:r>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13</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
        <p:nvSpPr>
          <p:cNvPr id="11" name="Rectangular Callout 10">
            <a:extLst>
              <a:ext uri="{FF2B5EF4-FFF2-40B4-BE49-F238E27FC236}">
                <a16:creationId xmlns:a16="http://schemas.microsoft.com/office/drawing/2014/main" id="{4F6F0D94-02E2-FBB5-21D5-C71CB720F4F1}"/>
              </a:ext>
            </a:extLst>
          </p:cNvPr>
          <p:cNvSpPr/>
          <p:nvPr/>
        </p:nvSpPr>
        <p:spPr>
          <a:xfrm>
            <a:off x="5829300" y="5122863"/>
            <a:ext cx="2819400" cy="990600"/>
          </a:xfrm>
          <a:prstGeom prst="wedgeRectCallout">
            <a:avLst>
              <a:gd name="adj1" fmla="val -94749"/>
              <a:gd name="adj2" fmla="val -94727"/>
            </a:avLst>
          </a:prstGeom>
          <a:ln>
            <a:solidFill>
              <a:srgbClr val="0054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i="1" dirty="0">
                <a:solidFill>
                  <a:schemeClr val="tx1"/>
                </a:solidFill>
                <a:latin typeface="Arial" panose="020B0604020202020204" pitchFamily="34" charset="0"/>
                <a:cs typeface="Arial" panose="020B0604020202020204" pitchFamily="34" charset="0"/>
              </a:rPr>
              <a:t>Why are the denominators different?</a:t>
            </a:r>
          </a:p>
        </p:txBody>
      </p:sp>
    </p:spTree>
    <p:extLst>
      <p:ext uri="{BB962C8B-B14F-4D97-AF65-F5344CB8AC3E}">
        <p14:creationId xmlns:p14="http://schemas.microsoft.com/office/powerpoint/2010/main" val="1288584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1125200" cy="1325563"/>
          </a:xfrm>
        </p:spPr>
        <p:txBody>
          <a:bodyPr/>
          <a:lstStyle/>
          <a:p>
            <a:r>
              <a:rPr lang="en-US" dirty="0"/>
              <a:t>Modeling Epidemics: Key Abbreviations</a:t>
            </a:r>
          </a:p>
        </p:txBody>
      </p:sp>
      <p:sp>
        <p:nvSpPr>
          <p:cNvPr id="6" name="Content Placeholder 5">
            <a:extLst>
              <a:ext uri="{FF2B5EF4-FFF2-40B4-BE49-F238E27FC236}">
                <a16:creationId xmlns:a16="http://schemas.microsoft.com/office/drawing/2014/main" id="{3768D510-EFCE-FE40-BE16-A1A81A88263C}"/>
              </a:ext>
            </a:extLst>
          </p:cNvPr>
          <p:cNvSpPr>
            <a:spLocks noGrp="1"/>
          </p:cNvSpPr>
          <p:nvPr>
            <p:ph idx="1"/>
          </p:nvPr>
        </p:nvSpPr>
        <p:spPr>
          <a:xfrm>
            <a:off x="838200" y="2051267"/>
            <a:ext cx="1143000" cy="4119563"/>
          </a:xfrm>
        </p:spPr>
        <p:txBody>
          <a:bodyPr>
            <a:normAutofit fontScale="85000" lnSpcReduction="20000"/>
          </a:bodyPr>
          <a:lstStyle/>
          <a:p>
            <a:pPr marL="0" indent="0">
              <a:buNone/>
            </a:pPr>
            <a:r>
              <a:rPr lang="en-US" b="1" dirty="0"/>
              <a:t>S</a:t>
            </a:r>
            <a:r>
              <a:rPr lang="en-US" dirty="0"/>
              <a:t>: 	</a:t>
            </a:r>
          </a:p>
          <a:p>
            <a:pPr marL="0" indent="0">
              <a:buNone/>
            </a:pPr>
            <a:r>
              <a:rPr lang="en-US" b="1" dirty="0"/>
              <a:t>I</a:t>
            </a:r>
            <a:r>
              <a:rPr lang="en-US" dirty="0"/>
              <a:t>: 	</a:t>
            </a:r>
          </a:p>
          <a:p>
            <a:pPr marL="0" indent="0">
              <a:buNone/>
            </a:pPr>
            <a:r>
              <a:rPr lang="en-US" b="1" dirty="0"/>
              <a:t>R</a:t>
            </a:r>
            <a:r>
              <a:rPr lang="en-US" dirty="0"/>
              <a:t>: 	</a:t>
            </a:r>
          </a:p>
          <a:p>
            <a:pPr marL="0" indent="0">
              <a:buNone/>
            </a:pPr>
            <a:r>
              <a:rPr lang="en-US" b="1" dirty="0"/>
              <a:t>N</a:t>
            </a:r>
            <a:r>
              <a:rPr lang="en-US" dirty="0"/>
              <a:t>: </a:t>
            </a:r>
          </a:p>
          <a:p>
            <a:pPr marL="0" indent="0">
              <a:buNone/>
            </a:pPr>
            <a:endParaRPr lang="en-US" dirty="0"/>
          </a:p>
          <a:p>
            <a:pPr marL="0" indent="0">
              <a:buNone/>
            </a:pPr>
            <a:r>
              <a:rPr lang="en-US" b="1" dirty="0"/>
              <a:t>s</a:t>
            </a:r>
            <a:r>
              <a:rPr lang="en-US" dirty="0"/>
              <a:t>: 	</a:t>
            </a:r>
          </a:p>
          <a:p>
            <a:pPr marL="0" indent="0">
              <a:buNone/>
            </a:pPr>
            <a:r>
              <a:rPr lang="en-US" b="1" dirty="0" err="1"/>
              <a:t>i</a:t>
            </a:r>
            <a:r>
              <a:rPr lang="en-US" dirty="0"/>
              <a:t>: 	</a:t>
            </a:r>
          </a:p>
          <a:p>
            <a:pPr marL="0" indent="0">
              <a:buNone/>
            </a:pPr>
            <a:r>
              <a:rPr lang="en-US" b="1" dirty="0"/>
              <a:t>r</a:t>
            </a:r>
            <a:r>
              <a:rPr lang="en-US" dirty="0"/>
              <a:t>: 	</a:t>
            </a:r>
          </a:p>
          <a:p>
            <a:pPr marL="0" indent="0">
              <a:buNone/>
            </a:pPr>
            <a:endParaRPr lang="en-US" dirty="0"/>
          </a:p>
          <a:p>
            <a:pPr marL="0" indent="0">
              <a:buNone/>
            </a:pPr>
            <a:r>
              <a:rPr lang="en-US" dirty="0"/>
              <a:t>𝛃: 	</a:t>
            </a:r>
          </a:p>
          <a:p>
            <a:pPr marL="0" indent="0">
              <a:buNone/>
            </a:pPr>
            <a:r>
              <a:rPr lang="en-US" b="1" dirty="0"/>
              <a:t>N or c</a:t>
            </a:r>
            <a:r>
              <a:rPr lang="en-US" dirty="0"/>
              <a:t>: 	</a:t>
            </a:r>
          </a:p>
          <a:p>
            <a:pPr marL="0" indent="0">
              <a:buNone/>
            </a:pPr>
            <a:r>
              <a:rPr lang="en-US" dirty="0"/>
              <a:t>𝛅: 	</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14</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
        <p:nvSpPr>
          <p:cNvPr id="11" name="Content Placeholder 5">
            <a:extLst>
              <a:ext uri="{FF2B5EF4-FFF2-40B4-BE49-F238E27FC236}">
                <a16:creationId xmlns:a16="http://schemas.microsoft.com/office/drawing/2014/main" id="{84B78FD3-E16E-B96A-F335-292801C7B853}"/>
              </a:ext>
            </a:extLst>
          </p:cNvPr>
          <p:cNvSpPr txBox="1">
            <a:spLocks/>
          </p:cNvSpPr>
          <p:nvPr/>
        </p:nvSpPr>
        <p:spPr>
          <a:xfrm>
            <a:off x="2109355" y="2051267"/>
            <a:ext cx="8101445" cy="411956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Number susceptible</a:t>
            </a:r>
          </a:p>
          <a:p>
            <a:pPr marL="0" indent="0">
              <a:buFont typeface="Arial" panose="020B0604020202020204" pitchFamily="34" charset="0"/>
              <a:buNone/>
            </a:pPr>
            <a:r>
              <a:rPr lang="en-US" dirty="0"/>
              <a:t>Number infected</a:t>
            </a:r>
          </a:p>
          <a:p>
            <a:pPr marL="0" indent="0">
              <a:buFont typeface="Arial" panose="020B0604020202020204" pitchFamily="34" charset="0"/>
              <a:buNone/>
            </a:pPr>
            <a:r>
              <a:rPr lang="en-US" dirty="0"/>
              <a:t>Number recovered or deceased</a:t>
            </a:r>
          </a:p>
          <a:p>
            <a:pPr marL="0" indent="0">
              <a:buFont typeface="Arial" panose="020B0604020202020204" pitchFamily="34" charset="0"/>
              <a:buNone/>
            </a:pPr>
            <a:r>
              <a:rPr lang="en-US" dirty="0"/>
              <a:t>Total population size (N = S + I + R)</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Percentage susceptible (s = S/N)</a:t>
            </a:r>
          </a:p>
          <a:p>
            <a:pPr marL="0" indent="0">
              <a:buFont typeface="Arial" panose="020B0604020202020204" pitchFamily="34" charset="0"/>
              <a:buNone/>
            </a:pPr>
            <a:r>
              <a:rPr lang="en-US" dirty="0"/>
              <a:t>Percentage infected (</a:t>
            </a:r>
            <a:r>
              <a:rPr lang="en-US" dirty="0" err="1"/>
              <a:t>i</a:t>
            </a:r>
            <a:r>
              <a:rPr lang="en-US" dirty="0"/>
              <a:t> = I/N)</a:t>
            </a:r>
          </a:p>
          <a:p>
            <a:pPr marL="0" indent="0">
              <a:buFont typeface="Arial" panose="020B0604020202020204" pitchFamily="34" charset="0"/>
              <a:buNone/>
            </a:pPr>
            <a:r>
              <a:rPr lang="en-US" dirty="0"/>
              <a:t>Percentage recovered or deceased (r = R/N)</a:t>
            </a:r>
          </a:p>
          <a:p>
            <a:pPr marL="0" indent="0">
              <a:buFont typeface="Arial" panose="020B0604020202020204" pitchFamily="34" charset="0"/>
              <a:buNone/>
            </a:pPr>
            <a:endParaRPr lang="en-US" dirty="0"/>
          </a:p>
          <a:p>
            <a:pPr marL="0" indent="0">
              <a:buNone/>
            </a:pPr>
            <a:r>
              <a:rPr lang="en-US" dirty="0"/>
              <a:t>Probability that contacting an infectious source transmits infection</a:t>
            </a:r>
          </a:p>
          <a:p>
            <a:pPr marL="0" indent="0">
              <a:buFont typeface="Arial" panose="020B0604020202020204" pitchFamily="34" charset="0"/>
              <a:buNone/>
            </a:pPr>
            <a:r>
              <a:rPr lang="en-US" dirty="0"/>
              <a:t>Number contacts with </a:t>
            </a:r>
            <a:r>
              <a:rPr lang="en-US" b="1" dirty="0"/>
              <a:t>potential</a:t>
            </a:r>
            <a:r>
              <a:rPr lang="en-US" dirty="0"/>
              <a:t> source of infection </a:t>
            </a:r>
          </a:p>
          <a:p>
            <a:pPr marL="0" indent="0">
              <a:buFont typeface="Arial" panose="020B0604020202020204" pitchFamily="34" charset="0"/>
              <a:buNone/>
            </a:pPr>
            <a:r>
              <a:rPr lang="en-US" dirty="0"/>
              <a:t>Rate of recovery or death </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3577958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S, I, and R equal </a:t>
            </a:r>
            <a:r>
              <a:rPr lang="en-US" b="1" dirty="0"/>
              <a:t>at the end of the day</a:t>
            </a:r>
            <a:r>
              <a:rPr lang="en-US" dirty="0"/>
              <a:t>?</a:t>
            </a:r>
          </a:p>
          <a:p>
            <a:endParaRPr lang="en-US" dirty="0"/>
          </a:p>
          <a:p>
            <a:pPr marL="0" indent="0">
              <a:buNone/>
            </a:pPr>
            <a:r>
              <a:rPr lang="en-US" dirty="0"/>
              <a:t>S (Number susceptible) 			= </a:t>
            </a:r>
          </a:p>
          <a:p>
            <a:pPr marL="0" indent="0">
              <a:buNone/>
            </a:pPr>
            <a:r>
              <a:rPr lang="en-US" dirty="0"/>
              <a:t>I (Number infected) 				= </a:t>
            </a:r>
          </a:p>
          <a:p>
            <a:pPr marL="0" indent="0">
              <a:buNone/>
            </a:pPr>
            <a:r>
              <a:rPr lang="en-US" dirty="0"/>
              <a:t>R (Number recovered / deceased) 	= </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15</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195978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S, I, and R equal </a:t>
            </a:r>
            <a:r>
              <a:rPr lang="en-US" b="1" dirty="0"/>
              <a:t>at the end of the day</a:t>
            </a:r>
            <a:r>
              <a:rPr lang="en-US" dirty="0"/>
              <a:t>?</a:t>
            </a:r>
          </a:p>
          <a:p>
            <a:endParaRPr lang="en-US" dirty="0"/>
          </a:p>
          <a:p>
            <a:pPr marL="0" indent="0">
              <a:buNone/>
            </a:pPr>
            <a:r>
              <a:rPr lang="en-US" dirty="0"/>
              <a:t>S (Number susceptible)			= 100 – 10 – 15 = 75</a:t>
            </a:r>
          </a:p>
          <a:p>
            <a:pPr marL="0" indent="0">
              <a:buNone/>
            </a:pPr>
            <a:r>
              <a:rPr lang="en-US" dirty="0"/>
              <a:t>I (Number infected) 				=</a:t>
            </a:r>
          </a:p>
          <a:p>
            <a:pPr marL="0" indent="0">
              <a:buNone/>
            </a:pPr>
            <a:r>
              <a:rPr lang="en-US" dirty="0"/>
              <a:t>R (Number recovered / deceased) 	= </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16</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2736054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S, I, and R equal </a:t>
            </a:r>
            <a:r>
              <a:rPr lang="en-US" b="1" dirty="0"/>
              <a:t>at the end of the day</a:t>
            </a:r>
            <a:r>
              <a:rPr lang="en-US" dirty="0"/>
              <a:t>?</a:t>
            </a:r>
          </a:p>
          <a:p>
            <a:endParaRPr lang="en-US" dirty="0"/>
          </a:p>
          <a:p>
            <a:pPr marL="0" indent="0">
              <a:buNone/>
            </a:pPr>
            <a:r>
              <a:rPr lang="en-US" dirty="0"/>
              <a:t>S (Number susceptible)			= 100 – 10 – 15 = 75</a:t>
            </a:r>
          </a:p>
          <a:p>
            <a:pPr marL="0" indent="0">
              <a:buNone/>
            </a:pPr>
            <a:r>
              <a:rPr lang="en-US" dirty="0"/>
              <a:t>I (Number infected) 				= 10 + 15 = 25</a:t>
            </a:r>
          </a:p>
          <a:p>
            <a:pPr marL="0" indent="0">
              <a:buNone/>
            </a:pPr>
            <a:r>
              <a:rPr lang="en-US" dirty="0"/>
              <a:t>R (Number recovered / deceased) 	= </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17</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1898567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Epidemics: Refresher</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p:txBody>
          <a:bodyPr/>
          <a:lstStyle/>
          <a:p>
            <a:pPr marL="0" indent="0">
              <a:buNone/>
            </a:pPr>
            <a:r>
              <a:rPr lang="en-US" dirty="0"/>
              <a:t>There are 100 people in a population. 10 are already sick. If another 15 get sick today and no one recovers, what will S, I, and R equal </a:t>
            </a:r>
            <a:r>
              <a:rPr lang="en-US" b="1" dirty="0"/>
              <a:t>at the end of the day</a:t>
            </a:r>
            <a:r>
              <a:rPr lang="en-US" dirty="0"/>
              <a:t>?</a:t>
            </a:r>
          </a:p>
          <a:p>
            <a:endParaRPr lang="en-US" dirty="0"/>
          </a:p>
          <a:p>
            <a:pPr marL="0" indent="0">
              <a:buNone/>
            </a:pPr>
            <a:r>
              <a:rPr lang="en-US" dirty="0"/>
              <a:t>S (Number susceptible)			= 100 – 10 – 15 = 75</a:t>
            </a:r>
          </a:p>
          <a:p>
            <a:pPr marL="0" indent="0">
              <a:buNone/>
            </a:pPr>
            <a:r>
              <a:rPr lang="en-US" dirty="0"/>
              <a:t>I (Number infected) 				= 10 + 15 = 25</a:t>
            </a:r>
          </a:p>
          <a:p>
            <a:pPr marL="0" indent="0">
              <a:buNone/>
            </a:pPr>
            <a:r>
              <a:rPr lang="en-US" dirty="0"/>
              <a:t>R (Number recovered / deceased) 	= 0</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18</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2705694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19</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lstStyle/>
          <a:p>
            <a:pPr marL="0" indent="0">
              <a:lnSpc>
                <a:spcPct val="100000"/>
              </a:lnSpc>
              <a:spcBef>
                <a:spcPts val="2200"/>
              </a:spcBef>
              <a:buNone/>
            </a:pPr>
            <a:r>
              <a:rPr lang="en-US" dirty="0">
                <a:solidFill>
                  <a:schemeClr val="bg1">
                    <a:lumMod val="75000"/>
                  </a:schemeClr>
                </a:solidFill>
              </a:rPr>
              <a:t>Introductory activity</a:t>
            </a:r>
          </a:p>
          <a:p>
            <a:pPr marL="0" indent="0">
              <a:lnSpc>
                <a:spcPct val="100000"/>
              </a:lnSpc>
              <a:spcBef>
                <a:spcPts val="2200"/>
              </a:spcBef>
              <a:buNone/>
            </a:pPr>
            <a:r>
              <a:rPr lang="en-US" dirty="0">
                <a:solidFill>
                  <a:schemeClr val="bg1">
                    <a:lumMod val="75000"/>
                  </a:schemeClr>
                </a:solidFill>
              </a:rPr>
              <a:t>Section expectations: review document</a:t>
            </a:r>
          </a:p>
          <a:p>
            <a:pPr marL="0" indent="0">
              <a:lnSpc>
                <a:spcPct val="100000"/>
              </a:lnSpc>
              <a:spcBef>
                <a:spcPts val="2200"/>
              </a:spcBef>
              <a:buNone/>
            </a:pPr>
            <a:r>
              <a:rPr lang="en-US" dirty="0">
                <a:solidFill>
                  <a:schemeClr val="bg1">
                    <a:lumMod val="75000"/>
                  </a:schemeClr>
                </a:solidFill>
              </a:rPr>
              <a:t>Modeling epidemics</a:t>
            </a:r>
          </a:p>
          <a:p>
            <a:pPr marL="0" indent="0">
              <a:lnSpc>
                <a:spcPct val="100000"/>
              </a:lnSpc>
              <a:spcBef>
                <a:spcPts val="2200"/>
              </a:spcBef>
              <a:buNone/>
            </a:pPr>
            <a:r>
              <a:rPr lang="en-US" b="1" dirty="0"/>
              <a:t>Group Exercise: Review of </a:t>
            </a:r>
            <a:r>
              <a:rPr lang="el-GR" b="1" dirty="0"/>
              <a:t>β, </a:t>
            </a:r>
            <a:r>
              <a:rPr lang="en-US" b="1" dirty="0"/>
              <a:t>N, and </a:t>
            </a:r>
            <a:r>
              <a:rPr lang="el-GR" b="1" dirty="0"/>
              <a:t>δ </a:t>
            </a:r>
            <a:endParaRPr lang="en-US" b="1" dirty="0"/>
          </a:p>
        </p:txBody>
      </p:sp>
    </p:spTree>
    <p:extLst>
      <p:ext uri="{BB962C8B-B14F-4D97-AF65-F5344CB8AC3E}">
        <p14:creationId xmlns:p14="http://schemas.microsoft.com/office/powerpoint/2010/main" val="2926184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Exercise: Review of </a:t>
            </a:r>
            <a:r>
              <a:rPr lang="el-GR" dirty="0"/>
              <a:t>β</a:t>
            </a:r>
            <a:r>
              <a:rPr lang="en-US" dirty="0"/>
              <a:t>, N, and </a:t>
            </a:r>
            <a:r>
              <a:rPr lang="el-GR" dirty="0"/>
              <a:t>δ</a:t>
            </a:r>
            <a:r>
              <a:rPr lang="en-US" dirty="0"/>
              <a:t> </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a:xfrm>
            <a:off x="838200" y="1752600"/>
            <a:ext cx="10515600" cy="4119563"/>
          </a:xfrm>
        </p:spPr>
        <p:txBody>
          <a:bodyPr>
            <a:normAutofit/>
          </a:bodyPr>
          <a:lstStyle/>
          <a:p>
            <a:pPr marL="0" indent="0">
              <a:buNone/>
            </a:pPr>
            <a:r>
              <a:rPr lang="en-US" b="1" u="sng" dirty="0"/>
              <a:t>Preview</a:t>
            </a:r>
          </a:p>
          <a:p>
            <a:pPr marL="0" indent="0">
              <a:buNone/>
            </a:pPr>
            <a:r>
              <a:rPr lang="en-US" b="1" dirty="0"/>
              <a:t>Part 1: </a:t>
            </a:r>
            <a:r>
              <a:rPr lang="en-US" dirty="0"/>
              <a:t>When would you expect </a:t>
            </a:r>
            <a:r>
              <a:rPr lang="el-GR" dirty="0"/>
              <a:t>β</a:t>
            </a:r>
            <a:r>
              <a:rPr lang="en-US" dirty="0"/>
              <a:t>, N, and </a:t>
            </a:r>
            <a:r>
              <a:rPr lang="el-GR" dirty="0"/>
              <a:t>δ </a:t>
            </a:r>
            <a:r>
              <a:rPr lang="en-US" dirty="0"/>
              <a:t>to be high or low?</a:t>
            </a:r>
          </a:p>
          <a:p>
            <a:pPr marL="0" indent="0">
              <a:buNone/>
            </a:pPr>
            <a:r>
              <a:rPr lang="en-US" b="1" dirty="0"/>
              <a:t>Part 2: </a:t>
            </a:r>
            <a:r>
              <a:rPr lang="en-US" dirty="0"/>
              <a:t>Pick a disease within your group’s illness category and research true values of </a:t>
            </a:r>
            <a:r>
              <a:rPr lang="el-GR" dirty="0"/>
              <a:t>β</a:t>
            </a:r>
            <a:r>
              <a:rPr lang="en-US" dirty="0"/>
              <a:t>, N, </a:t>
            </a:r>
            <a:r>
              <a:rPr lang="el-GR" dirty="0"/>
              <a:t>δ</a:t>
            </a:r>
            <a:r>
              <a:rPr lang="en-US" dirty="0"/>
              <a:t>, incidence, and prevalence.</a:t>
            </a:r>
          </a:p>
          <a:p>
            <a:pPr marL="0" indent="0">
              <a:buNone/>
            </a:pPr>
            <a:endParaRPr lang="en-US" dirty="0"/>
          </a:p>
          <a:p>
            <a:pPr marL="0" indent="0">
              <a:buNone/>
            </a:pPr>
            <a:r>
              <a:rPr lang="en-US" b="1" u="sng" dirty="0"/>
              <a:t>Illness categories (and </a:t>
            </a:r>
            <a:r>
              <a:rPr lang="en-US" b="1" u="sng"/>
              <a:t>how illness </a:t>
            </a:r>
            <a:r>
              <a:rPr lang="en-US" b="1" u="sng" dirty="0"/>
              <a:t>spreads)</a:t>
            </a:r>
          </a:p>
          <a:p>
            <a:r>
              <a:rPr lang="en-US" dirty="0"/>
              <a:t>Group 1 - Waterborne illnesses (fecal-to-oral)</a:t>
            </a:r>
          </a:p>
          <a:p>
            <a:r>
              <a:rPr lang="en-US" dirty="0"/>
              <a:t>Group 2 - Sexually transmitted diseases (person-to-person)</a:t>
            </a:r>
          </a:p>
          <a:p>
            <a:r>
              <a:rPr lang="en-US" dirty="0"/>
              <a:t>Group 3 - Mosquito-borne diseases (person-to-mosquito-to-person)</a:t>
            </a:r>
          </a:p>
          <a:p>
            <a:endParaRPr lang="en-US" dirty="0"/>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20</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34015086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Exercise: Review of </a:t>
            </a:r>
            <a:r>
              <a:rPr lang="el-GR" dirty="0"/>
              <a:t>β</a:t>
            </a:r>
            <a:r>
              <a:rPr lang="en-US" dirty="0"/>
              <a:t>, N, and </a:t>
            </a:r>
            <a:r>
              <a:rPr lang="el-GR" dirty="0"/>
              <a:t>δ</a:t>
            </a:r>
            <a:r>
              <a:rPr lang="en-US" dirty="0"/>
              <a:t> </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a:xfrm>
            <a:off x="838200" y="1752600"/>
            <a:ext cx="10515600" cy="4119563"/>
          </a:xfrm>
        </p:spPr>
        <p:txBody>
          <a:bodyPr/>
          <a:lstStyle/>
          <a:p>
            <a:pPr marL="0" indent="0">
              <a:buNone/>
            </a:pPr>
            <a:r>
              <a:rPr lang="en-US" b="1" dirty="0"/>
              <a:t>Part 1: When would you expect </a:t>
            </a:r>
            <a:r>
              <a:rPr lang="el-GR" b="1" dirty="0"/>
              <a:t>β</a:t>
            </a:r>
            <a:r>
              <a:rPr lang="en-US" b="1" dirty="0"/>
              <a:t>, N, and </a:t>
            </a:r>
            <a:r>
              <a:rPr lang="el-GR" b="1" dirty="0"/>
              <a:t>δ </a:t>
            </a:r>
            <a:r>
              <a:rPr lang="en-US" b="1" dirty="0"/>
              <a:t>to be high or low?</a:t>
            </a:r>
          </a:p>
          <a:p>
            <a:pPr algn="l"/>
            <a:r>
              <a:rPr lang="el-GR" dirty="0"/>
              <a:t>β</a:t>
            </a:r>
            <a:r>
              <a:rPr lang="en-US" dirty="0"/>
              <a:t>: </a:t>
            </a:r>
            <a:r>
              <a:rPr lang="en-US" sz="2400" dirty="0"/>
              <a:t>“Likelihood of getting infected when in contact with source of infection”</a:t>
            </a:r>
          </a:p>
          <a:p>
            <a:pPr algn="l"/>
            <a:r>
              <a:rPr lang="en-US" dirty="0"/>
              <a:t>N</a:t>
            </a:r>
            <a:r>
              <a:rPr lang="en-US" sz="2400" dirty="0"/>
              <a:t>: “Average number of contacts with potential source of infection”</a:t>
            </a:r>
          </a:p>
          <a:p>
            <a:pPr algn="l"/>
            <a:r>
              <a:rPr lang="el-GR" dirty="0"/>
              <a:t>δ</a:t>
            </a:r>
            <a:r>
              <a:rPr lang="en-US" sz="2400" dirty="0"/>
              <a:t>: “Rate of recovery from infection or dying from infection”</a:t>
            </a:r>
          </a:p>
          <a:p>
            <a:pPr marL="0" indent="0">
              <a:buNone/>
            </a:pPr>
            <a:endParaRPr lang="en-US" dirty="0"/>
          </a:p>
          <a:p>
            <a:r>
              <a:rPr lang="en-US" dirty="0"/>
              <a:t>Group 1 (Waterborne illnesses)</a:t>
            </a:r>
          </a:p>
          <a:p>
            <a:r>
              <a:rPr lang="en-US" dirty="0"/>
              <a:t>Group 2 (Sexually transmitted infections)</a:t>
            </a:r>
          </a:p>
          <a:p>
            <a:r>
              <a:rPr lang="en-US" dirty="0"/>
              <a:t>Group 3 (Mosquito-borne diseases)</a:t>
            </a:r>
          </a:p>
          <a:p>
            <a:endParaRPr lang="en-US" dirty="0"/>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21</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
        <p:nvSpPr>
          <p:cNvPr id="3" name="Text Placeholder 4">
            <a:extLst>
              <a:ext uri="{FF2B5EF4-FFF2-40B4-BE49-F238E27FC236}">
                <a16:creationId xmlns:a16="http://schemas.microsoft.com/office/drawing/2014/main" id="{22B9949F-C3DA-3618-68F7-13DADFA80E24}"/>
              </a:ext>
            </a:extLst>
          </p:cNvPr>
          <p:cNvSpPr txBox="1">
            <a:spLocks/>
          </p:cNvSpPr>
          <p:nvPr/>
        </p:nvSpPr>
        <p:spPr>
          <a:xfrm>
            <a:off x="2133600" y="5791200"/>
            <a:ext cx="8001000" cy="457200"/>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Clr>
                <a:schemeClr val="accent1"/>
              </a:buClr>
              <a:buFont typeface="Arial" pitchFamily="34" charset="0"/>
              <a:buNone/>
              <a:defRPr sz="2200" b="1" kern="1200">
                <a:solidFill>
                  <a:schemeClr val="tx2"/>
                </a:solidFill>
                <a:latin typeface="+mn-lt"/>
                <a:ea typeface="+mn-ea"/>
                <a:cs typeface="+mn-cs"/>
              </a:defRPr>
            </a:lvl1pPr>
            <a:lvl2pPr marL="457200" indent="0" algn="l" defTabSz="914400" rtl="0" eaLnBrk="1" latinLnBrk="0" hangingPunct="1">
              <a:spcBef>
                <a:spcPct val="20000"/>
              </a:spcBef>
              <a:buClr>
                <a:schemeClr val="accent2"/>
              </a:buClr>
              <a:buFont typeface="Arial" pitchFamily="34" charset="0"/>
              <a:buNone/>
              <a:defRPr sz="2000" b="1" kern="1200">
                <a:solidFill>
                  <a:schemeClr val="tx2"/>
                </a:solidFill>
                <a:latin typeface="+mn-lt"/>
                <a:ea typeface="+mn-ea"/>
                <a:cs typeface="+mn-cs"/>
              </a:defRPr>
            </a:lvl2pPr>
            <a:lvl3pPr marL="914400" indent="0" algn="l" defTabSz="914400" rtl="0" eaLnBrk="1" latinLnBrk="0" hangingPunct="1">
              <a:spcBef>
                <a:spcPct val="20000"/>
              </a:spcBef>
              <a:buClr>
                <a:schemeClr val="accent3"/>
              </a:buClr>
              <a:buFont typeface="Arial" pitchFamily="34" charset="0"/>
              <a:buNone/>
              <a:defRPr sz="1800" b="1" kern="1200">
                <a:solidFill>
                  <a:schemeClr val="tx2"/>
                </a:solidFill>
                <a:latin typeface="+mn-lt"/>
                <a:ea typeface="+mn-ea"/>
                <a:cs typeface="+mn-cs"/>
              </a:defRPr>
            </a:lvl3pPr>
            <a:lvl4pPr marL="1371600" indent="0" algn="l" defTabSz="914400" rtl="0" eaLnBrk="1" latinLnBrk="0" hangingPunct="1">
              <a:spcBef>
                <a:spcPct val="20000"/>
              </a:spcBef>
              <a:buClr>
                <a:schemeClr val="accent4"/>
              </a:buClr>
              <a:buFont typeface="Arial" pitchFamily="34" charset="0"/>
              <a:buNone/>
              <a:defRPr sz="1600" b="1" kern="1200">
                <a:solidFill>
                  <a:schemeClr val="tx2"/>
                </a:solidFill>
                <a:latin typeface="+mn-lt"/>
                <a:ea typeface="+mn-ea"/>
                <a:cs typeface="+mn-cs"/>
              </a:defRPr>
            </a:lvl4pPr>
            <a:lvl5pPr marL="1828800" indent="0" algn="l" defTabSz="914400" rtl="0" eaLnBrk="1" latinLnBrk="0" hangingPunct="1">
              <a:spcBef>
                <a:spcPct val="20000"/>
              </a:spcBef>
              <a:buClr>
                <a:schemeClr val="accent5"/>
              </a:buClr>
              <a:buFont typeface="Arial" pitchFamily="34" charset="0"/>
              <a:buNone/>
              <a:defRPr sz="1600" b="1" kern="1200" baseline="0">
                <a:solidFill>
                  <a:schemeClr val="tx2"/>
                </a:solidFill>
                <a:latin typeface="+mn-lt"/>
                <a:ea typeface="+mn-ea"/>
                <a:cs typeface="+mn-cs"/>
              </a:defRPr>
            </a:lvl5pPr>
            <a:lvl6pPr marL="2286000" indent="0" algn="l" defTabSz="914400" rtl="0" eaLnBrk="1" latinLnBrk="0" hangingPunct="1">
              <a:spcBef>
                <a:spcPct val="20000"/>
              </a:spcBef>
              <a:buClr>
                <a:schemeClr val="accent1"/>
              </a:buClr>
              <a:buFont typeface="Arial" pitchFamily="34" charset="0"/>
              <a:buNone/>
              <a:defRPr sz="1600" b="1" kern="1200">
                <a:solidFill>
                  <a:schemeClr val="tx2"/>
                </a:solidFill>
                <a:latin typeface="+mn-lt"/>
                <a:ea typeface="+mn-ea"/>
                <a:cs typeface="+mn-cs"/>
              </a:defRPr>
            </a:lvl6pPr>
            <a:lvl7pPr marL="2743200" indent="0" algn="l" defTabSz="914400" rtl="0" eaLnBrk="1" latinLnBrk="0" hangingPunct="1">
              <a:spcBef>
                <a:spcPct val="20000"/>
              </a:spcBef>
              <a:buClr>
                <a:schemeClr val="accent2"/>
              </a:buClr>
              <a:buFont typeface="Arial" pitchFamily="34" charset="0"/>
              <a:buNone/>
              <a:defRPr sz="1600" b="1" kern="1200">
                <a:solidFill>
                  <a:schemeClr val="tx2"/>
                </a:solidFill>
                <a:latin typeface="+mn-lt"/>
                <a:ea typeface="+mn-ea"/>
                <a:cs typeface="+mn-cs"/>
              </a:defRPr>
            </a:lvl7pPr>
            <a:lvl8pPr marL="3200400" indent="0" algn="l" defTabSz="914400" rtl="0" eaLnBrk="1" latinLnBrk="0" hangingPunct="1">
              <a:spcBef>
                <a:spcPct val="20000"/>
              </a:spcBef>
              <a:buClr>
                <a:schemeClr val="accent3"/>
              </a:buClr>
              <a:buFont typeface="Arial" pitchFamily="34" charset="0"/>
              <a:buNone/>
              <a:defRPr sz="1600" b="1" kern="1200">
                <a:solidFill>
                  <a:schemeClr val="tx2"/>
                </a:solidFill>
                <a:latin typeface="+mn-lt"/>
                <a:ea typeface="+mn-ea"/>
                <a:cs typeface="+mn-cs"/>
              </a:defRPr>
            </a:lvl8pPr>
            <a:lvl9pPr marL="3657600" indent="0" algn="l" defTabSz="914400" rtl="0" eaLnBrk="1" latinLnBrk="0" hangingPunct="1">
              <a:spcBef>
                <a:spcPct val="20000"/>
              </a:spcBef>
              <a:buClr>
                <a:schemeClr val="accent4"/>
              </a:buClr>
              <a:buFont typeface="Arial" pitchFamily="34" charset="0"/>
              <a:buNone/>
              <a:defRPr sz="1600" b="1" kern="1200">
                <a:solidFill>
                  <a:schemeClr val="tx2"/>
                </a:solidFill>
                <a:latin typeface="+mn-lt"/>
                <a:ea typeface="+mn-ea"/>
                <a:cs typeface="+mn-cs"/>
              </a:defRPr>
            </a:lvl9pPr>
          </a:lstStyle>
          <a:p>
            <a:r>
              <a:rPr lang="en-US" sz="1800" i="1" dirty="0">
                <a:latin typeface="Arial" panose="020B0604020202020204" pitchFamily="34" charset="0"/>
                <a:cs typeface="Arial" panose="020B0604020202020204" pitchFamily="34" charset="0"/>
              </a:rPr>
              <a:t>Nominate the person with the next upcoming birthday to share out</a:t>
            </a:r>
          </a:p>
        </p:txBody>
      </p:sp>
    </p:spTree>
    <p:extLst>
      <p:ext uri="{BB962C8B-B14F-4D97-AF65-F5344CB8AC3E}">
        <p14:creationId xmlns:p14="http://schemas.microsoft.com/office/powerpoint/2010/main" val="3931952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0B402-E7A7-2578-9029-6E0ABEE75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17C1E-C2BF-6378-F18D-FD6F04A1552C}"/>
              </a:ext>
            </a:extLst>
          </p:cNvPr>
          <p:cNvSpPr>
            <a:spLocks noGrp="1"/>
          </p:cNvSpPr>
          <p:nvPr>
            <p:ph type="title"/>
          </p:nvPr>
        </p:nvSpPr>
        <p:spPr/>
        <p:txBody>
          <a:bodyPr/>
          <a:lstStyle/>
          <a:p>
            <a:r>
              <a:rPr lang="en-US" dirty="0"/>
              <a:t>Group Exercise: Review of </a:t>
            </a:r>
            <a:r>
              <a:rPr lang="el-GR" dirty="0"/>
              <a:t>β</a:t>
            </a:r>
            <a:r>
              <a:rPr lang="en-US" dirty="0"/>
              <a:t>, N, and </a:t>
            </a:r>
            <a:r>
              <a:rPr lang="el-GR" dirty="0"/>
              <a:t>δ</a:t>
            </a:r>
            <a:r>
              <a:rPr lang="en-US" dirty="0"/>
              <a:t> </a:t>
            </a:r>
          </a:p>
        </p:txBody>
      </p:sp>
      <p:sp>
        <p:nvSpPr>
          <p:cNvPr id="6" name="Content Placeholder 5">
            <a:extLst>
              <a:ext uri="{FF2B5EF4-FFF2-40B4-BE49-F238E27FC236}">
                <a16:creationId xmlns:a16="http://schemas.microsoft.com/office/drawing/2014/main" id="{ED69D602-9A3D-5F00-389B-A4EBDCDA0749}"/>
              </a:ext>
            </a:extLst>
          </p:cNvPr>
          <p:cNvSpPr>
            <a:spLocks noGrp="1"/>
          </p:cNvSpPr>
          <p:nvPr>
            <p:ph idx="1"/>
          </p:nvPr>
        </p:nvSpPr>
        <p:spPr>
          <a:xfrm>
            <a:off x="838200" y="1752600"/>
            <a:ext cx="10515600" cy="4968875"/>
          </a:xfrm>
        </p:spPr>
        <p:txBody>
          <a:bodyPr>
            <a:normAutofit fontScale="92500" lnSpcReduction="20000"/>
          </a:bodyPr>
          <a:lstStyle/>
          <a:p>
            <a:pPr marL="0" indent="0">
              <a:buNone/>
            </a:pPr>
            <a:r>
              <a:rPr lang="en-US" b="1" dirty="0"/>
              <a:t>When would you expect to be high or low: </a:t>
            </a:r>
            <a:r>
              <a:rPr lang="el-GR" b="1" dirty="0"/>
              <a:t>β</a:t>
            </a:r>
            <a:endParaRPr lang="en-US" b="1" dirty="0"/>
          </a:p>
          <a:p>
            <a:pPr marL="0" indent="0" algn="l">
              <a:buNone/>
            </a:pPr>
            <a:r>
              <a:rPr lang="el-GR" dirty="0"/>
              <a:t>β</a:t>
            </a:r>
            <a:r>
              <a:rPr lang="en-US" dirty="0"/>
              <a:t>: “Likelihood of getting infected when in contact with source of infection”</a:t>
            </a:r>
          </a:p>
          <a:p>
            <a:pPr algn="l"/>
            <a:endParaRPr lang="en-US" dirty="0"/>
          </a:p>
          <a:p>
            <a:r>
              <a:rPr lang="en-US" b="1" dirty="0"/>
              <a:t>Group 1 (Waterborne illnesses)</a:t>
            </a:r>
          </a:p>
          <a:p>
            <a:pPr lvl="1"/>
            <a:r>
              <a:rPr lang="en-US" dirty="0"/>
              <a:t>Higher when: people do not boil or filter drinking water</a:t>
            </a:r>
          </a:p>
          <a:p>
            <a:pPr lvl="1"/>
            <a:r>
              <a:rPr lang="en-US" dirty="0"/>
              <a:t>Lower when: individuals are vaccinated (e.g., hepatitis A)</a:t>
            </a:r>
          </a:p>
          <a:p>
            <a:pPr marL="457200" lvl="1" indent="0">
              <a:buNone/>
            </a:pPr>
            <a:endParaRPr lang="en-US" dirty="0"/>
          </a:p>
          <a:p>
            <a:r>
              <a:rPr lang="en-US" b="1" dirty="0"/>
              <a:t>Group 2 (Sexually transmitted infections)</a:t>
            </a:r>
          </a:p>
          <a:p>
            <a:pPr lvl="1"/>
            <a:r>
              <a:rPr lang="en-US" dirty="0"/>
              <a:t>Higher when: people do not use condoms</a:t>
            </a:r>
          </a:p>
          <a:p>
            <a:pPr lvl="1"/>
            <a:r>
              <a:rPr lang="en-US" dirty="0"/>
              <a:t>Lower when: people use condoms, are vaccinated (e.g., HPV vaccine), and/or use prophylactic treatments (e.g. HIV </a:t>
            </a:r>
            <a:r>
              <a:rPr lang="en-US" dirty="0" err="1"/>
              <a:t>PrEP</a:t>
            </a:r>
            <a:r>
              <a:rPr lang="en-US" dirty="0"/>
              <a:t>)</a:t>
            </a:r>
          </a:p>
          <a:p>
            <a:endParaRPr lang="en-US" dirty="0"/>
          </a:p>
          <a:p>
            <a:r>
              <a:rPr lang="en-US" b="1" dirty="0"/>
              <a:t>Group 3 (Mosquito-borne diseases)</a:t>
            </a:r>
          </a:p>
          <a:p>
            <a:pPr lvl="1"/>
            <a:r>
              <a:rPr lang="en-US" dirty="0"/>
              <a:t>Higher when: food is left uncovered or there is standing water</a:t>
            </a:r>
          </a:p>
          <a:p>
            <a:pPr lvl="1"/>
            <a:r>
              <a:rPr lang="en-US" dirty="0"/>
              <a:t>Lower when: people use prophylactic treatments (e.g., chloroquine for malaria, new malaria vaccines)</a:t>
            </a:r>
          </a:p>
          <a:p>
            <a:endParaRPr lang="en-US" dirty="0"/>
          </a:p>
          <a:p>
            <a:endParaRPr lang="en-US" dirty="0"/>
          </a:p>
        </p:txBody>
      </p:sp>
      <p:sp>
        <p:nvSpPr>
          <p:cNvPr id="4" name="Slide Number Placeholder 3">
            <a:extLst>
              <a:ext uri="{FF2B5EF4-FFF2-40B4-BE49-F238E27FC236}">
                <a16:creationId xmlns:a16="http://schemas.microsoft.com/office/drawing/2014/main" id="{7FC2689C-9A11-533F-A7D1-4CB0F4885D83}"/>
              </a:ext>
            </a:extLst>
          </p:cNvPr>
          <p:cNvSpPr>
            <a:spLocks noGrp="1"/>
          </p:cNvSpPr>
          <p:nvPr>
            <p:ph type="sldNum" sz="quarter" idx="12"/>
          </p:nvPr>
        </p:nvSpPr>
        <p:spPr/>
        <p:txBody>
          <a:bodyPr/>
          <a:lstStyle/>
          <a:p>
            <a:fld id="{171A6C5B-A11A-470F-8319-62E6F3F410BC}" type="slidenum">
              <a:rPr lang="en-US" smtClean="0"/>
              <a:pPr/>
              <a:t>22</a:t>
            </a:fld>
            <a:endParaRPr lang="en-US"/>
          </a:p>
        </p:txBody>
      </p:sp>
      <p:sp>
        <p:nvSpPr>
          <p:cNvPr id="10" name="Content Placeholder 2">
            <a:extLst>
              <a:ext uri="{FF2B5EF4-FFF2-40B4-BE49-F238E27FC236}">
                <a16:creationId xmlns:a16="http://schemas.microsoft.com/office/drawing/2014/main" id="{29EDD99D-0CB9-9210-8DDB-BD4237FE2732}"/>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2458089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Exercise: Review of </a:t>
            </a:r>
            <a:r>
              <a:rPr lang="el-GR" dirty="0"/>
              <a:t>β</a:t>
            </a:r>
            <a:r>
              <a:rPr lang="en-US" dirty="0"/>
              <a:t>, N, and </a:t>
            </a:r>
            <a:r>
              <a:rPr lang="el-GR" dirty="0"/>
              <a:t>δ</a:t>
            </a:r>
            <a:r>
              <a:rPr lang="en-US" dirty="0"/>
              <a:t> </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a:xfrm>
            <a:off x="838200" y="1752600"/>
            <a:ext cx="10896600" cy="4968875"/>
          </a:xfrm>
        </p:spPr>
        <p:txBody>
          <a:bodyPr>
            <a:normAutofit fontScale="85000" lnSpcReduction="10000"/>
          </a:bodyPr>
          <a:lstStyle/>
          <a:p>
            <a:pPr marL="0" indent="0">
              <a:buNone/>
            </a:pPr>
            <a:r>
              <a:rPr lang="en-US" b="1" dirty="0"/>
              <a:t>When would you expect to be high or low: N</a:t>
            </a:r>
          </a:p>
          <a:p>
            <a:pPr marL="0" indent="0" algn="l">
              <a:buNone/>
            </a:pPr>
            <a:r>
              <a:rPr lang="en-US" dirty="0"/>
              <a:t>N: “Average number of contacts with source of infection”</a:t>
            </a:r>
          </a:p>
          <a:p>
            <a:pPr algn="l"/>
            <a:endParaRPr lang="en-US" dirty="0"/>
          </a:p>
          <a:p>
            <a:r>
              <a:rPr lang="en-US" b="1" dirty="0"/>
              <a:t>Group 1 (Waterborne illnesses)</a:t>
            </a:r>
          </a:p>
          <a:p>
            <a:pPr lvl="1"/>
            <a:r>
              <a:rPr lang="en-US" dirty="0"/>
              <a:t>Higher with: poor sanitation or hygiene (e.g., drinking water contaminated with feces)</a:t>
            </a:r>
          </a:p>
          <a:p>
            <a:pPr lvl="1"/>
            <a:r>
              <a:rPr lang="en-US" dirty="0"/>
              <a:t>Lower with: good water sanitation/hygiene</a:t>
            </a:r>
          </a:p>
          <a:p>
            <a:pPr lvl="1"/>
            <a:endParaRPr lang="en-US" dirty="0"/>
          </a:p>
          <a:p>
            <a:r>
              <a:rPr lang="en-US" b="1" dirty="0"/>
              <a:t>Group 2 (Sexually transmitted infections)</a:t>
            </a:r>
          </a:p>
          <a:p>
            <a:pPr lvl="1">
              <a:lnSpc>
                <a:spcPct val="120000"/>
              </a:lnSpc>
            </a:pPr>
            <a:r>
              <a:rPr lang="en-US" dirty="0"/>
              <a:t>Higher when: people have more sexual partners, do not get regular STD testing (they may think they are healthy leading to more risky behavior)</a:t>
            </a:r>
          </a:p>
          <a:p>
            <a:pPr lvl="1">
              <a:lnSpc>
                <a:spcPct val="120000"/>
              </a:lnSpc>
            </a:pPr>
            <a:r>
              <a:rPr lang="en-US" dirty="0"/>
              <a:t>Lower when: people have fewer sexual partners, are tested regularly</a:t>
            </a:r>
            <a:br>
              <a:rPr lang="en-US" dirty="0"/>
            </a:br>
            <a:endParaRPr lang="en-US" dirty="0"/>
          </a:p>
          <a:p>
            <a:r>
              <a:rPr lang="en-US" b="1" dirty="0"/>
              <a:t>Group 3 (Mosquito-borne diseases)</a:t>
            </a:r>
          </a:p>
          <a:p>
            <a:pPr lvl="1">
              <a:lnSpc>
                <a:spcPct val="120000"/>
              </a:lnSpc>
            </a:pPr>
            <a:r>
              <a:rPr lang="en-US" dirty="0"/>
              <a:t>Higher with: tropical and subtropical climates, higher temperatures, rainfall</a:t>
            </a:r>
          </a:p>
          <a:p>
            <a:pPr lvl="1">
              <a:lnSpc>
                <a:spcPct val="120000"/>
              </a:lnSpc>
            </a:pPr>
            <a:r>
              <a:rPr lang="en-US" dirty="0"/>
              <a:t>Lower with: bed nets, air conditioning, bug repellants, loose long-sleeved clothing, improved sanitation</a:t>
            </a:r>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23</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1740057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Exercise: Review of </a:t>
            </a:r>
            <a:r>
              <a:rPr lang="el-GR" dirty="0"/>
              <a:t>β</a:t>
            </a:r>
            <a:r>
              <a:rPr lang="en-US" dirty="0"/>
              <a:t>, N, and </a:t>
            </a:r>
            <a:r>
              <a:rPr lang="el-GR" dirty="0"/>
              <a:t>δ</a:t>
            </a:r>
            <a:r>
              <a:rPr lang="en-US" dirty="0"/>
              <a:t> </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a:xfrm>
            <a:off x="838200" y="1752600"/>
            <a:ext cx="10896600" cy="4968875"/>
          </a:xfrm>
        </p:spPr>
        <p:txBody>
          <a:bodyPr>
            <a:normAutofit fontScale="85000" lnSpcReduction="20000"/>
          </a:bodyPr>
          <a:lstStyle/>
          <a:p>
            <a:pPr marL="0" indent="0">
              <a:buNone/>
            </a:pPr>
            <a:r>
              <a:rPr lang="en-US" b="1" dirty="0"/>
              <a:t>When would you expect to be high or low: </a:t>
            </a:r>
            <a:r>
              <a:rPr lang="el-GR" b="1" dirty="0"/>
              <a:t>δ</a:t>
            </a:r>
            <a:endParaRPr lang="en-US" b="1" dirty="0"/>
          </a:p>
          <a:p>
            <a:pPr marL="0" indent="0" algn="l">
              <a:buNone/>
            </a:pPr>
            <a:r>
              <a:rPr lang="el-GR" dirty="0"/>
              <a:t>δ</a:t>
            </a:r>
            <a:r>
              <a:rPr lang="en-US" dirty="0"/>
              <a:t>: “Rate of recovery from infection or dying from infection”</a:t>
            </a:r>
          </a:p>
          <a:p>
            <a:pPr algn="l"/>
            <a:endParaRPr lang="en-US" dirty="0"/>
          </a:p>
          <a:p>
            <a:r>
              <a:rPr lang="en-US" b="1" dirty="0"/>
              <a:t>Group 1 (Waterborne illnesses)</a:t>
            </a:r>
          </a:p>
          <a:p>
            <a:pPr lvl="1">
              <a:lnSpc>
                <a:spcPct val="120000"/>
              </a:lnSpc>
            </a:pPr>
            <a:r>
              <a:rPr lang="en-US" dirty="0"/>
              <a:t>Lower when: bacterial diseases are treated with antibiotics</a:t>
            </a:r>
          </a:p>
          <a:p>
            <a:pPr lvl="1">
              <a:lnSpc>
                <a:spcPct val="120000"/>
              </a:lnSpc>
            </a:pPr>
            <a:r>
              <a:rPr lang="en-US" i="1" dirty="0"/>
              <a:t>Remember that those who are infected are not directly transmitting to others, but they may indirectly transmit (e.g., poor hygiene, fecal-to-oral transmission)</a:t>
            </a:r>
          </a:p>
          <a:p>
            <a:pPr marL="114300" indent="0">
              <a:buNone/>
            </a:pPr>
            <a:endParaRPr lang="en-US" dirty="0"/>
          </a:p>
          <a:p>
            <a:r>
              <a:rPr lang="en-US" b="1" dirty="0"/>
              <a:t>Group 2 (Sexually transmitted infections)</a:t>
            </a:r>
          </a:p>
          <a:p>
            <a:pPr lvl="1"/>
            <a:r>
              <a:rPr lang="en-US" dirty="0"/>
              <a:t>Lower when: people are tested frequently and treated when diagnosed</a:t>
            </a:r>
            <a:br>
              <a:rPr lang="en-US" dirty="0"/>
            </a:br>
            <a:br>
              <a:rPr lang="en-US" dirty="0"/>
            </a:br>
            <a:endParaRPr lang="en-US" dirty="0"/>
          </a:p>
          <a:p>
            <a:r>
              <a:rPr lang="en-US" b="1" dirty="0"/>
              <a:t>Group 3 (Mosquito-borne diseases)</a:t>
            </a:r>
          </a:p>
          <a:p>
            <a:pPr lvl="1">
              <a:lnSpc>
                <a:spcPct val="120000"/>
              </a:lnSpc>
            </a:pPr>
            <a:r>
              <a:rPr lang="en-US" dirty="0"/>
              <a:t>Lower when: people are effectively treated or if people die quickly</a:t>
            </a:r>
          </a:p>
          <a:p>
            <a:pPr lvl="1">
              <a:lnSpc>
                <a:spcPct val="120000"/>
              </a:lnSpc>
            </a:pPr>
            <a:r>
              <a:rPr lang="en-US" i="1" dirty="0"/>
              <a:t>Remember that mosquitos are transmitting the disease, so clearing the disease faster may not have much direct effect on disease transmission</a:t>
            </a:r>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24</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195266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Resources for Infectious Diseases Around the World:</a:t>
            </a:r>
          </a:p>
        </p:txBody>
      </p:sp>
      <p:sp>
        <p:nvSpPr>
          <p:cNvPr id="6" name="Content Placeholder 5">
            <a:extLst>
              <a:ext uri="{FF2B5EF4-FFF2-40B4-BE49-F238E27FC236}">
                <a16:creationId xmlns:a16="http://schemas.microsoft.com/office/drawing/2014/main" id="{9776906D-645C-E744-2458-395EC4F2F84C}"/>
              </a:ext>
            </a:extLst>
          </p:cNvPr>
          <p:cNvSpPr>
            <a:spLocks noGrp="1"/>
          </p:cNvSpPr>
          <p:nvPr>
            <p:ph idx="1"/>
          </p:nvPr>
        </p:nvSpPr>
        <p:spPr/>
        <p:txBody>
          <a:bodyPr>
            <a:normAutofit fontScale="92500" lnSpcReduction="10000"/>
          </a:bodyPr>
          <a:lstStyle/>
          <a:p>
            <a:r>
              <a:rPr lang="en-US" dirty="0"/>
              <a:t>Our world in data (Many infectious diseases): </a:t>
            </a:r>
            <a:r>
              <a:rPr lang="en-US" dirty="0">
                <a:hlinkClick r:id="rId3"/>
              </a:rPr>
              <a:t>https://ourworldindata.org/coronavirus</a:t>
            </a:r>
            <a:r>
              <a:rPr lang="en-US" dirty="0"/>
              <a:t> </a:t>
            </a:r>
          </a:p>
          <a:p>
            <a:endParaRPr lang="en-US" dirty="0"/>
          </a:p>
          <a:p>
            <a:r>
              <a:rPr lang="en-US" dirty="0"/>
              <a:t>NYTimes (Covid): </a:t>
            </a:r>
            <a:r>
              <a:rPr lang="en-US" dirty="0">
                <a:hlinkClick r:id="rId4"/>
              </a:rPr>
              <a:t>https://www.nytimes.com/interactive/2021/us/covid-cases.html</a:t>
            </a:r>
            <a:r>
              <a:rPr lang="en-US" dirty="0"/>
              <a:t> </a:t>
            </a:r>
          </a:p>
          <a:p>
            <a:endParaRPr lang="en-US" dirty="0"/>
          </a:p>
          <a:p>
            <a:r>
              <a:rPr lang="en-US" dirty="0"/>
              <a:t>CDC (Covid): </a:t>
            </a:r>
            <a:r>
              <a:rPr lang="en-US" dirty="0">
                <a:hlinkClick r:id="rId5"/>
              </a:rPr>
              <a:t>https://covid.cdc.gov/covid-data-tracker/#datatracker-home</a:t>
            </a:r>
            <a:endParaRPr lang="en-US" dirty="0"/>
          </a:p>
          <a:p>
            <a:endParaRPr lang="en-US" dirty="0"/>
          </a:p>
          <a:p>
            <a:r>
              <a:rPr lang="en-US" dirty="0"/>
              <a:t>CDC (Mumps): </a:t>
            </a:r>
            <a:r>
              <a:rPr lang="en-US" dirty="0">
                <a:hlinkClick r:id="rId6"/>
              </a:rPr>
              <a:t>https://www.cdc.gov/mumps/outbreaks.html</a:t>
            </a:r>
            <a:r>
              <a:rPr lang="en-US" dirty="0"/>
              <a:t> </a:t>
            </a:r>
          </a:p>
          <a:p>
            <a:endParaRPr lang="en-US" dirty="0"/>
          </a:p>
          <a:p>
            <a:r>
              <a:rPr lang="en-US" dirty="0"/>
              <a:t>Johns Hopkins (Covid): </a:t>
            </a:r>
            <a:r>
              <a:rPr lang="en-US" dirty="0">
                <a:hlinkClick r:id="rId7"/>
              </a:rPr>
              <a:t>https://coronavirus.jhu.edu/map.html</a:t>
            </a:r>
            <a:r>
              <a:rPr lang="en-US" dirty="0"/>
              <a:t> </a:t>
            </a:r>
          </a:p>
          <a:p>
            <a:endParaRPr lang="en-US" dirty="0"/>
          </a:p>
          <a:p>
            <a:pPr lvl="1"/>
            <a:endParaRPr lang="en-US" dirty="0"/>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25</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38411583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Exercise: Review of </a:t>
            </a:r>
            <a:r>
              <a:rPr lang="el-GR" dirty="0"/>
              <a:t>β</a:t>
            </a:r>
            <a:r>
              <a:rPr lang="en-US" dirty="0"/>
              <a:t>, N, and </a:t>
            </a:r>
            <a:r>
              <a:rPr lang="el-GR" dirty="0"/>
              <a:t>δ</a:t>
            </a:r>
            <a:r>
              <a:rPr lang="en-US" dirty="0"/>
              <a:t> </a:t>
            </a:r>
          </a:p>
        </p:txBody>
      </p:sp>
      <p:sp>
        <p:nvSpPr>
          <p:cNvPr id="6" name="Content Placeholder 5">
            <a:extLst>
              <a:ext uri="{FF2B5EF4-FFF2-40B4-BE49-F238E27FC236}">
                <a16:creationId xmlns:a16="http://schemas.microsoft.com/office/drawing/2014/main" id="{C605A0F6-BA8C-D7FE-F277-1D25FF94D3B2}"/>
              </a:ext>
            </a:extLst>
          </p:cNvPr>
          <p:cNvSpPr>
            <a:spLocks noGrp="1"/>
          </p:cNvSpPr>
          <p:nvPr>
            <p:ph idx="1"/>
          </p:nvPr>
        </p:nvSpPr>
        <p:spPr>
          <a:xfrm>
            <a:off x="838200" y="1752600"/>
            <a:ext cx="10896600" cy="4968875"/>
          </a:xfrm>
        </p:spPr>
        <p:txBody>
          <a:bodyPr>
            <a:normAutofit/>
          </a:bodyPr>
          <a:lstStyle/>
          <a:p>
            <a:pPr marL="0" indent="0">
              <a:buNone/>
            </a:pPr>
            <a:r>
              <a:rPr lang="en-US" sz="3100" b="1" dirty="0"/>
              <a:t>Part 2: Pick a disease in your illness category and research the true values of:</a:t>
            </a:r>
          </a:p>
          <a:p>
            <a:pPr algn="l"/>
            <a:r>
              <a:rPr lang="el-GR" dirty="0"/>
              <a:t>β </a:t>
            </a:r>
            <a:endParaRPr lang="en-US" dirty="0"/>
          </a:p>
          <a:p>
            <a:pPr algn="l"/>
            <a:r>
              <a:rPr lang="en-US" dirty="0"/>
              <a:t>N</a:t>
            </a:r>
          </a:p>
          <a:p>
            <a:pPr algn="l"/>
            <a:r>
              <a:rPr lang="el-GR" dirty="0"/>
              <a:t>δ</a:t>
            </a:r>
            <a:endParaRPr lang="en-US" dirty="0"/>
          </a:p>
          <a:p>
            <a:r>
              <a:rPr lang="en-US" dirty="0"/>
              <a:t>Prevalence</a:t>
            </a:r>
          </a:p>
          <a:p>
            <a:r>
              <a:rPr lang="en-US" dirty="0"/>
              <a:t>Incidence</a:t>
            </a:r>
          </a:p>
          <a:p>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26</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
        <p:nvSpPr>
          <p:cNvPr id="3" name="Text Placeholder 4">
            <a:extLst>
              <a:ext uri="{FF2B5EF4-FFF2-40B4-BE49-F238E27FC236}">
                <a16:creationId xmlns:a16="http://schemas.microsoft.com/office/drawing/2014/main" id="{3DD3D087-DC29-A028-1CB8-A3FE1E058CB6}"/>
              </a:ext>
            </a:extLst>
          </p:cNvPr>
          <p:cNvSpPr txBox="1">
            <a:spLocks/>
          </p:cNvSpPr>
          <p:nvPr/>
        </p:nvSpPr>
        <p:spPr>
          <a:xfrm>
            <a:off x="2133600" y="5791200"/>
            <a:ext cx="8001000" cy="457200"/>
          </a:xfrm>
          <a:prstGeom prst="rect">
            <a:avLst/>
          </a:prstGeom>
        </p:spPr>
        <p:txBody>
          <a:bodyPr vert="horz" lIns="91440" tIns="45720" rIns="91440" bIns="45720" rtlCol="0" anchor="b">
            <a:noAutofit/>
          </a:bodyPr>
          <a:lstStyle>
            <a:lvl1pPr marL="0" indent="0" algn="ctr" defTabSz="914400" rtl="0" eaLnBrk="1" latinLnBrk="0" hangingPunct="1">
              <a:spcBef>
                <a:spcPct val="20000"/>
              </a:spcBef>
              <a:buClr>
                <a:schemeClr val="accent1"/>
              </a:buClr>
              <a:buFont typeface="Arial" pitchFamily="34" charset="0"/>
              <a:buNone/>
              <a:defRPr sz="2200" b="1" kern="1200">
                <a:solidFill>
                  <a:schemeClr val="tx2"/>
                </a:solidFill>
                <a:latin typeface="+mn-lt"/>
                <a:ea typeface="+mn-ea"/>
                <a:cs typeface="+mn-cs"/>
              </a:defRPr>
            </a:lvl1pPr>
            <a:lvl2pPr marL="457200" indent="0" algn="l" defTabSz="914400" rtl="0" eaLnBrk="1" latinLnBrk="0" hangingPunct="1">
              <a:spcBef>
                <a:spcPct val="20000"/>
              </a:spcBef>
              <a:buClr>
                <a:schemeClr val="accent2"/>
              </a:buClr>
              <a:buFont typeface="Arial" pitchFamily="34" charset="0"/>
              <a:buNone/>
              <a:defRPr sz="2000" b="1" kern="1200">
                <a:solidFill>
                  <a:schemeClr val="tx2"/>
                </a:solidFill>
                <a:latin typeface="+mn-lt"/>
                <a:ea typeface="+mn-ea"/>
                <a:cs typeface="+mn-cs"/>
              </a:defRPr>
            </a:lvl2pPr>
            <a:lvl3pPr marL="914400" indent="0" algn="l" defTabSz="914400" rtl="0" eaLnBrk="1" latinLnBrk="0" hangingPunct="1">
              <a:spcBef>
                <a:spcPct val="20000"/>
              </a:spcBef>
              <a:buClr>
                <a:schemeClr val="accent3"/>
              </a:buClr>
              <a:buFont typeface="Arial" pitchFamily="34" charset="0"/>
              <a:buNone/>
              <a:defRPr sz="1800" b="1" kern="1200">
                <a:solidFill>
                  <a:schemeClr val="tx2"/>
                </a:solidFill>
                <a:latin typeface="+mn-lt"/>
                <a:ea typeface="+mn-ea"/>
                <a:cs typeface="+mn-cs"/>
              </a:defRPr>
            </a:lvl3pPr>
            <a:lvl4pPr marL="1371600" indent="0" algn="l" defTabSz="914400" rtl="0" eaLnBrk="1" latinLnBrk="0" hangingPunct="1">
              <a:spcBef>
                <a:spcPct val="20000"/>
              </a:spcBef>
              <a:buClr>
                <a:schemeClr val="accent4"/>
              </a:buClr>
              <a:buFont typeface="Arial" pitchFamily="34" charset="0"/>
              <a:buNone/>
              <a:defRPr sz="1600" b="1" kern="1200">
                <a:solidFill>
                  <a:schemeClr val="tx2"/>
                </a:solidFill>
                <a:latin typeface="+mn-lt"/>
                <a:ea typeface="+mn-ea"/>
                <a:cs typeface="+mn-cs"/>
              </a:defRPr>
            </a:lvl4pPr>
            <a:lvl5pPr marL="1828800" indent="0" algn="l" defTabSz="914400" rtl="0" eaLnBrk="1" latinLnBrk="0" hangingPunct="1">
              <a:spcBef>
                <a:spcPct val="20000"/>
              </a:spcBef>
              <a:buClr>
                <a:schemeClr val="accent5"/>
              </a:buClr>
              <a:buFont typeface="Arial" pitchFamily="34" charset="0"/>
              <a:buNone/>
              <a:defRPr sz="1600" b="1" kern="1200" baseline="0">
                <a:solidFill>
                  <a:schemeClr val="tx2"/>
                </a:solidFill>
                <a:latin typeface="+mn-lt"/>
                <a:ea typeface="+mn-ea"/>
                <a:cs typeface="+mn-cs"/>
              </a:defRPr>
            </a:lvl5pPr>
            <a:lvl6pPr marL="2286000" indent="0" algn="l" defTabSz="914400" rtl="0" eaLnBrk="1" latinLnBrk="0" hangingPunct="1">
              <a:spcBef>
                <a:spcPct val="20000"/>
              </a:spcBef>
              <a:buClr>
                <a:schemeClr val="accent1"/>
              </a:buClr>
              <a:buFont typeface="Arial" pitchFamily="34" charset="0"/>
              <a:buNone/>
              <a:defRPr sz="1600" b="1" kern="1200">
                <a:solidFill>
                  <a:schemeClr val="tx2"/>
                </a:solidFill>
                <a:latin typeface="+mn-lt"/>
                <a:ea typeface="+mn-ea"/>
                <a:cs typeface="+mn-cs"/>
              </a:defRPr>
            </a:lvl6pPr>
            <a:lvl7pPr marL="2743200" indent="0" algn="l" defTabSz="914400" rtl="0" eaLnBrk="1" latinLnBrk="0" hangingPunct="1">
              <a:spcBef>
                <a:spcPct val="20000"/>
              </a:spcBef>
              <a:buClr>
                <a:schemeClr val="accent2"/>
              </a:buClr>
              <a:buFont typeface="Arial" pitchFamily="34" charset="0"/>
              <a:buNone/>
              <a:defRPr sz="1600" b="1" kern="1200">
                <a:solidFill>
                  <a:schemeClr val="tx2"/>
                </a:solidFill>
                <a:latin typeface="+mn-lt"/>
                <a:ea typeface="+mn-ea"/>
                <a:cs typeface="+mn-cs"/>
              </a:defRPr>
            </a:lvl7pPr>
            <a:lvl8pPr marL="3200400" indent="0" algn="l" defTabSz="914400" rtl="0" eaLnBrk="1" latinLnBrk="0" hangingPunct="1">
              <a:spcBef>
                <a:spcPct val="20000"/>
              </a:spcBef>
              <a:buClr>
                <a:schemeClr val="accent3"/>
              </a:buClr>
              <a:buFont typeface="Arial" pitchFamily="34" charset="0"/>
              <a:buNone/>
              <a:defRPr sz="1600" b="1" kern="1200">
                <a:solidFill>
                  <a:schemeClr val="tx2"/>
                </a:solidFill>
                <a:latin typeface="+mn-lt"/>
                <a:ea typeface="+mn-ea"/>
                <a:cs typeface="+mn-cs"/>
              </a:defRPr>
            </a:lvl8pPr>
            <a:lvl9pPr marL="3657600" indent="0" algn="l" defTabSz="914400" rtl="0" eaLnBrk="1" latinLnBrk="0" hangingPunct="1">
              <a:spcBef>
                <a:spcPct val="20000"/>
              </a:spcBef>
              <a:buClr>
                <a:schemeClr val="accent4"/>
              </a:buClr>
              <a:buFont typeface="Arial" pitchFamily="34" charset="0"/>
              <a:buNone/>
              <a:defRPr sz="1600" b="1" kern="1200">
                <a:solidFill>
                  <a:schemeClr val="tx2"/>
                </a:solidFill>
                <a:latin typeface="+mn-lt"/>
                <a:ea typeface="+mn-ea"/>
                <a:cs typeface="+mn-cs"/>
              </a:defRPr>
            </a:lvl9pPr>
          </a:lstStyle>
          <a:p>
            <a:r>
              <a:rPr lang="en-US" sz="1800" i="1" dirty="0">
                <a:latin typeface="Arial" panose="020B0604020202020204" pitchFamily="34" charset="0"/>
                <a:cs typeface="Arial" panose="020B0604020202020204" pitchFamily="34" charset="0"/>
              </a:rPr>
              <a:t>Nominate the person with the next upcoming birthday to share out</a:t>
            </a:r>
          </a:p>
        </p:txBody>
      </p:sp>
    </p:spTree>
    <p:extLst>
      <p:ext uri="{BB962C8B-B14F-4D97-AF65-F5344CB8AC3E}">
        <p14:creationId xmlns:p14="http://schemas.microsoft.com/office/powerpoint/2010/main" val="3442839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27</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lstStyle/>
          <a:p>
            <a:pPr marL="0" indent="0">
              <a:lnSpc>
                <a:spcPct val="100000"/>
              </a:lnSpc>
              <a:spcBef>
                <a:spcPts val="2200"/>
              </a:spcBef>
              <a:buNone/>
            </a:pPr>
            <a:r>
              <a:rPr lang="en-US" dirty="0">
                <a:solidFill>
                  <a:schemeClr val="bg1">
                    <a:lumMod val="75000"/>
                  </a:schemeClr>
                </a:solidFill>
              </a:rPr>
              <a:t>Introductory activity</a:t>
            </a:r>
          </a:p>
          <a:p>
            <a:pPr marL="0" indent="0">
              <a:lnSpc>
                <a:spcPct val="100000"/>
              </a:lnSpc>
              <a:spcBef>
                <a:spcPts val="2200"/>
              </a:spcBef>
              <a:buNone/>
            </a:pPr>
            <a:r>
              <a:rPr lang="en-US" dirty="0">
                <a:solidFill>
                  <a:schemeClr val="bg1">
                    <a:lumMod val="75000"/>
                  </a:schemeClr>
                </a:solidFill>
              </a:rPr>
              <a:t>Section expectations: review document</a:t>
            </a:r>
          </a:p>
          <a:p>
            <a:pPr marL="0" indent="0">
              <a:lnSpc>
                <a:spcPct val="100000"/>
              </a:lnSpc>
              <a:spcBef>
                <a:spcPts val="2200"/>
              </a:spcBef>
              <a:buNone/>
            </a:pPr>
            <a:r>
              <a:rPr lang="en-US" dirty="0">
                <a:solidFill>
                  <a:schemeClr val="bg1">
                    <a:lumMod val="75000"/>
                  </a:schemeClr>
                </a:solidFill>
              </a:rPr>
              <a:t>Modeling epidemics</a:t>
            </a:r>
          </a:p>
          <a:p>
            <a:pPr marL="0" indent="0">
              <a:lnSpc>
                <a:spcPct val="100000"/>
              </a:lnSpc>
              <a:spcBef>
                <a:spcPts val="2200"/>
              </a:spcBef>
              <a:buNone/>
            </a:pPr>
            <a:r>
              <a:rPr lang="en-US" dirty="0">
                <a:solidFill>
                  <a:schemeClr val="bg1">
                    <a:lumMod val="75000"/>
                  </a:schemeClr>
                </a:solidFill>
              </a:rPr>
              <a:t>Group Exercise: Review of </a:t>
            </a:r>
            <a:r>
              <a:rPr lang="el-GR" dirty="0">
                <a:solidFill>
                  <a:schemeClr val="bg1">
                    <a:lumMod val="75000"/>
                  </a:schemeClr>
                </a:solidFill>
              </a:rPr>
              <a:t>β, </a:t>
            </a:r>
            <a:r>
              <a:rPr lang="en-US" dirty="0">
                <a:solidFill>
                  <a:schemeClr val="bg1">
                    <a:lumMod val="75000"/>
                  </a:schemeClr>
                </a:solidFill>
              </a:rPr>
              <a:t>N, and </a:t>
            </a:r>
            <a:r>
              <a:rPr lang="el-GR" dirty="0">
                <a:solidFill>
                  <a:schemeClr val="bg1">
                    <a:lumMod val="75000"/>
                  </a:schemeClr>
                </a:solidFill>
              </a:rPr>
              <a:t>δ </a:t>
            </a:r>
            <a:endParaRPr lang="en-US" dirty="0">
              <a:solidFill>
                <a:schemeClr val="bg1">
                  <a:lumMod val="75000"/>
                </a:schemeClr>
              </a:solidFill>
            </a:endParaRPr>
          </a:p>
          <a:p>
            <a:pPr marL="0" indent="0">
              <a:lnSpc>
                <a:spcPct val="100000"/>
              </a:lnSpc>
              <a:spcBef>
                <a:spcPts val="2200"/>
              </a:spcBef>
              <a:buNone/>
            </a:pPr>
            <a:r>
              <a:rPr lang="en-US" b="1" dirty="0"/>
              <a:t>Review of SIR spreadsheet – Move to section 2 to </a:t>
            </a:r>
            <a:r>
              <a:rPr lang="en-US" b="1"/>
              <a:t>start class.</a:t>
            </a:r>
            <a:endParaRPr lang="en-US" b="1" dirty="0"/>
          </a:p>
          <a:p>
            <a:pPr marL="0" indent="0">
              <a:lnSpc>
                <a:spcPct val="100000"/>
              </a:lnSpc>
              <a:spcBef>
                <a:spcPts val="2200"/>
              </a:spcBef>
              <a:buNone/>
            </a:pPr>
            <a:endParaRPr lang="en-US" dirty="0"/>
          </a:p>
        </p:txBody>
      </p:sp>
    </p:spTree>
    <p:extLst>
      <p:ext uri="{BB962C8B-B14F-4D97-AF65-F5344CB8AC3E}">
        <p14:creationId xmlns:p14="http://schemas.microsoft.com/office/powerpoint/2010/main" val="4027098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When will disease spread? - Refresher</a:t>
            </a:r>
          </a:p>
        </p:txBody>
      </p:sp>
      <p:sp>
        <p:nvSpPr>
          <p:cNvPr id="3" name="Content Placeholder 2"/>
          <p:cNvSpPr>
            <a:spLocks noGrp="1"/>
          </p:cNvSpPr>
          <p:nvPr>
            <p:ph idx="1"/>
          </p:nvPr>
        </p:nvSpPr>
        <p:spPr/>
        <p:txBody>
          <a:bodyPr>
            <a:normAutofit/>
          </a:bodyPr>
          <a:lstStyle/>
          <a:p>
            <a:r>
              <a:rPr lang="en-US" dirty="0"/>
              <a:t>Change in           =       Inflow    -    Outflow</a:t>
            </a:r>
          </a:p>
          <a:p>
            <a:pPr marL="114300" indent="0">
              <a:spcBef>
                <a:spcPts val="0"/>
              </a:spcBef>
              <a:buNone/>
            </a:pPr>
            <a:r>
              <a:rPr lang="en-US" dirty="0"/>
              <a:t>   prevalence</a:t>
            </a:r>
          </a:p>
          <a:p>
            <a:pPr marL="114300" indent="0">
              <a:buNone/>
            </a:pPr>
            <a:r>
              <a:rPr lang="en-US" dirty="0"/>
              <a:t>				</a:t>
            </a:r>
            <a:r>
              <a:rPr lang="el-GR" dirty="0"/>
              <a:t>β</a:t>
            </a:r>
            <a:r>
              <a:rPr lang="en-US" dirty="0"/>
              <a:t> ∙ N ∙ s ∙ i       -        </a:t>
            </a:r>
            <a:r>
              <a:rPr lang="el-GR" dirty="0"/>
              <a:t>δ</a:t>
            </a:r>
            <a:r>
              <a:rPr lang="en-US" dirty="0"/>
              <a:t> ∙ i</a:t>
            </a:r>
          </a:p>
          <a:p>
            <a:pPr lvl="1"/>
            <a:endParaRPr lang="en-US" dirty="0"/>
          </a:p>
          <a:p>
            <a:pPr lvl="1"/>
            <a:endParaRPr lang="en-US" dirty="0"/>
          </a:p>
          <a:p>
            <a:endParaRPr lang="en-US" dirty="0"/>
          </a:p>
          <a:p>
            <a:r>
              <a:rPr lang="en-US" dirty="0"/>
              <a:t>At the start of an epidemic, s ≈ 1.  Thus, the change in prevalence is positive if:</a:t>
            </a:r>
          </a:p>
          <a:p>
            <a:pPr marL="114300" indent="0">
              <a:buNone/>
            </a:pPr>
            <a:r>
              <a:rPr lang="en-US" dirty="0"/>
              <a:t>		 </a:t>
            </a:r>
            <a:r>
              <a:rPr lang="el-GR" dirty="0"/>
              <a:t>β</a:t>
            </a:r>
            <a:r>
              <a:rPr lang="en-US" dirty="0"/>
              <a:t> ∙ N / </a:t>
            </a:r>
            <a:r>
              <a:rPr lang="el-GR" dirty="0"/>
              <a:t>δ</a:t>
            </a:r>
            <a:r>
              <a:rPr lang="en-US" dirty="0"/>
              <a:t>   ≡     R</a:t>
            </a:r>
            <a:r>
              <a:rPr lang="en-US" baseline="-25000" dirty="0"/>
              <a:t>0</a:t>
            </a:r>
            <a:r>
              <a:rPr lang="en-US" dirty="0"/>
              <a:t>    &gt;    1</a:t>
            </a:r>
          </a:p>
          <a:p>
            <a:pPr marL="411480" lvl="1" indent="0">
              <a:buNone/>
            </a:pPr>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28</a:t>
            </a:fld>
            <a:endParaRPr lang="en-US"/>
          </a:p>
        </p:txBody>
      </p:sp>
      <p:sp>
        <p:nvSpPr>
          <p:cNvPr id="5" name="Rectangle: Rounded Corners 4">
            <a:extLst>
              <a:ext uri="{FF2B5EF4-FFF2-40B4-BE49-F238E27FC236}">
                <a16:creationId xmlns:a16="http://schemas.microsoft.com/office/drawing/2014/main" id="{67CB1B61-9B71-464A-A707-59F3BA180437}"/>
              </a:ext>
            </a:extLst>
          </p:cNvPr>
          <p:cNvSpPr/>
          <p:nvPr/>
        </p:nvSpPr>
        <p:spPr>
          <a:xfrm>
            <a:off x="4343400" y="2751266"/>
            <a:ext cx="1828800" cy="533400"/>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E414C681-EF50-4108-BE2F-9D605F6C9743}"/>
              </a:ext>
            </a:extLst>
          </p:cNvPr>
          <p:cNvSpPr/>
          <p:nvPr/>
        </p:nvSpPr>
        <p:spPr>
          <a:xfrm>
            <a:off x="7124702" y="2751266"/>
            <a:ext cx="838200" cy="533400"/>
          </a:xfrm>
          <a:prstGeom prst="round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75000"/>
                </a:schemeClr>
              </a:solidFill>
            </a:endParaRPr>
          </a:p>
        </p:txBody>
      </p:sp>
      <p:sp>
        <p:nvSpPr>
          <p:cNvPr id="7" name="TextBox 6">
            <a:extLst>
              <a:ext uri="{FF2B5EF4-FFF2-40B4-BE49-F238E27FC236}">
                <a16:creationId xmlns:a16="http://schemas.microsoft.com/office/drawing/2014/main" id="{E0F80C70-E7C6-4B77-B0A4-86F21E3E17F2}"/>
              </a:ext>
            </a:extLst>
          </p:cNvPr>
          <p:cNvSpPr txBox="1"/>
          <p:nvPr/>
        </p:nvSpPr>
        <p:spPr>
          <a:xfrm>
            <a:off x="4560277" y="6033651"/>
            <a:ext cx="1219200" cy="369332"/>
          </a:xfrm>
          <a:prstGeom prst="rect">
            <a:avLst/>
          </a:prstGeom>
          <a:noFill/>
        </p:spPr>
        <p:txBody>
          <a:bodyPr wrap="square" rtlCol="0">
            <a:spAutoFit/>
          </a:bodyPr>
          <a:lstStyle/>
          <a:p>
            <a:r>
              <a:rPr lang="en-US" dirty="0"/>
              <a:t>R-naught</a:t>
            </a:r>
          </a:p>
        </p:txBody>
      </p:sp>
      <p:sp>
        <p:nvSpPr>
          <p:cNvPr id="8" name="Rectangle 7">
            <a:extLst>
              <a:ext uri="{FF2B5EF4-FFF2-40B4-BE49-F238E27FC236}">
                <a16:creationId xmlns:a16="http://schemas.microsoft.com/office/drawing/2014/main" id="{16BC4D0D-CD65-4237-86BB-38F75D3C3EE7}"/>
              </a:ext>
            </a:extLst>
          </p:cNvPr>
          <p:cNvSpPr/>
          <p:nvPr/>
        </p:nvSpPr>
        <p:spPr>
          <a:xfrm>
            <a:off x="2667000" y="5175716"/>
            <a:ext cx="3581400" cy="533400"/>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Right Brace 8">
            <a:extLst>
              <a:ext uri="{FF2B5EF4-FFF2-40B4-BE49-F238E27FC236}">
                <a16:creationId xmlns:a16="http://schemas.microsoft.com/office/drawing/2014/main" id="{89A915A5-B6F9-4361-8F34-B49FE936F073}"/>
              </a:ext>
            </a:extLst>
          </p:cNvPr>
          <p:cNvSpPr/>
          <p:nvPr/>
        </p:nvSpPr>
        <p:spPr>
          <a:xfrm rot="5400000">
            <a:off x="4868256" y="5674490"/>
            <a:ext cx="257411" cy="521676"/>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EC3CB65F-F012-489A-B02C-B2F8E5005CAB}"/>
              </a:ext>
            </a:extLst>
          </p:cNvPr>
          <p:cNvSpPr txBox="1"/>
          <p:nvPr/>
        </p:nvSpPr>
        <p:spPr>
          <a:xfrm>
            <a:off x="2667000" y="3356401"/>
            <a:ext cx="1981200" cy="369332"/>
          </a:xfrm>
          <a:prstGeom prst="rect">
            <a:avLst/>
          </a:prstGeom>
          <a:noFill/>
        </p:spPr>
        <p:txBody>
          <a:bodyPr wrap="square" rtlCol="0">
            <a:spAutoFit/>
          </a:bodyPr>
          <a:lstStyle/>
          <a:p>
            <a:r>
              <a:rPr lang="en-US" dirty="0">
                <a:solidFill>
                  <a:srgbClr val="0070C0"/>
                </a:solidFill>
              </a:rPr>
              <a:t>Transmission</a:t>
            </a:r>
          </a:p>
        </p:txBody>
      </p:sp>
      <p:sp>
        <p:nvSpPr>
          <p:cNvPr id="11" name="TextBox 10">
            <a:extLst>
              <a:ext uri="{FF2B5EF4-FFF2-40B4-BE49-F238E27FC236}">
                <a16:creationId xmlns:a16="http://schemas.microsoft.com/office/drawing/2014/main" id="{0DC57DD0-EDE6-40C5-B298-26B0276B8B1A}"/>
              </a:ext>
            </a:extLst>
          </p:cNvPr>
          <p:cNvSpPr txBox="1"/>
          <p:nvPr/>
        </p:nvSpPr>
        <p:spPr>
          <a:xfrm>
            <a:off x="6667502" y="3524934"/>
            <a:ext cx="2743200" cy="369332"/>
          </a:xfrm>
          <a:prstGeom prst="rect">
            <a:avLst/>
          </a:prstGeom>
          <a:noFill/>
        </p:spPr>
        <p:txBody>
          <a:bodyPr wrap="square" rtlCol="0">
            <a:spAutoFit/>
          </a:bodyPr>
          <a:lstStyle/>
          <a:p>
            <a:r>
              <a:rPr lang="en-US" dirty="0">
                <a:solidFill>
                  <a:schemeClr val="accent5">
                    <a:lumMod val="75000"/>
                  </a:schemeClr>
                </a:solidFill>
              </a:rPr>
              <a:t>Recover/remove</a:t>
            </a:r>
          </a:p>
        </p:txBody>
      </p:sp>
      <p:cxnSp>
        <p:nvCxnSpPr>
          <p:cNvPr id="13" name="Connector: Elbow 12">
            <a:extLst>
              <a:ext uri="{FF2B5EF4-FFF2-40B4-BE49-F238E27FC236}">
                <a16:creationId xmlns:a16="http://schemas.microsoft.com/office/drawing/2014/main" id="{C0B54648-8556-4776-9501-5174C1C58C4B}"/>
              </a:ext>
            </a:extLst>
          </p:cNvPr>
          <p:cNvCxnSpPr>
            <a:cxnSpLocks/>
          </p:cNvCxnSpPr>
          <p:nvPr/>
        </p:nvCxnSpPr>
        <p:spPr>
          <a:xfrm rot="10800000" flipV="1">
            <a:off x="3505202" y="3056066"/>
            <a:ext cx="838199" cy="300335"/>
          </a:xfrm>
          <a:prstGeom prst="bentConnector2">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7F3A479-55B6-4A53-A6D7-58F6B5273D06}"/>
              </a:ext>
            </a:extLst>
          </p:cNvPr>
          <p:cNvCxnSpPr/>
          <p:nvPr/>
        </p:nvCxnSpPr>
        <p:spPr>
          <a:xfrm>
            <a:off x="7543802" y="3284667"/>
            <a:ext cx="0" cy="267493"/>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6000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Chart&#10;&#10;Description automatically generated">
            <a:extLst>
              <a:ext uri="{FF2B5EF4-FFF2-40B4-BE49-F238E27FC236}">
                <a16:creationId xmlns:a16="http://schemas.microsoft.com/office/drawing/2014/main" id="{4B18CCFC-09E3-7349-924E-5CEA669AAF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0705" y="1907380"/>
            <a:ext cx="8859518" cy="4295777"/>
          </a:xfrm>
          <a:prstGeom prst="rect">
            <a:avLst/>
          </a:prstGeom>
        </p:spPr>
      </p:pic>
      <p:sp>
        <p:nvSpPr>
          <p:cNvPr id="2" name="Title 1"/>
          <p:cNvSpPr>
            <a:spLocks noGrp="1"/>
          </p:cNvSpPr>
          <p:nvPr>
            <p:ph type="title"/>
          </p:nvPr>
        </p:nvSpPr>
        <p:spPr/>
        <p:txBody>
          <a:bodyPr/>
          <a:lstStyle/>
          <a:p>
            <a:r>
              <a:rPr lang="en-US" dirty="0"/>
              <a:t>Review of SIR Spreadsheet</a:t>
            </a:r>
          </a:p>
        </p:txBody>
      </p:sp>
      <p:sp>
        <p:nvSpPr>
          <p:cNvPr id="4" name="Slide Number Placeholder 3"/>
          <p:cNvSpPr>
            <a:spLocks noGrp="1"/>
          </p:cNvSpPr>
          <p:nvPr>
            <p:ph type="sldNum" sz="quarter" idx="12"/>
          </p:nvPr>
        </p:nvSpPr>
        <p:spPr/>
        <p:txBody>
          <a:bodyPr/>
          <a:lstStyle/>
          <a:p>
            <a:fld id="{171A6C5B-A11A-470F-8319-62E6F3F410BC}" type="slidenum">
              <a:rPr lang="en-US" smtClean="0"/>
              <a:pPr/>
              <a:t>29</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endParaRPr lang="en-US" dirty="0"/>
          </a:p>
        </p:txBody>
      </p:sp>
      <p:sp>
        <p:nvSpPr>
          <p:cNvPr id="7" name="TextBox 6">
            <a:extLst>
              <a:ext uri="{FF2B5EF4-FFF2-40B4-BE49-F238E27FC236}">
                <a16:creationId xmlns:a16="http://schemas.microsoft.com/office/drawing/2014/main" id="{B54461F6-5665-034B-8358-123E4505C503}"/>
              </a:ext>
            </a:extLst>
          </p:cNvPr>
          <p:cNvSpPr txBox="1"/>
          <p:nvPr/>
        </p:nvSpPr>
        <p:spPr>
          <a:xfrm>
            <a:off x="6477001" y="1530893"/>
            <a:ext cx="2493247" cy="369332"/>
          </a:xfrm>
          <a:prstGeom prst="rect">
            <a:avLst/>
          </a:prstGeom>
          <a:noFill/>
        </p:spPr>
        <p:txBody>
          <a:bodyPr wrap="none" rtlCol="0">
            <a:spAutoFit/>
          </a:bodyPr>
          <a:lstStyle/>
          <a:p>
            <a:r>
              <a:rPr lang="en-US" dirty="0">
                <a:solidFill>
                  <a:schemeClr val="accent2"/>
                </a:solidFill>
              </a:rPr>
              <a:t>Change parameters here</a:t>
            </a:r>
          </a:p>
        </p:txBody>
      </p:sp>
      <p:sp>
        <p:nvSpPr>
          <p:cNvPr id="9" name="Rounded Rectangle 8">
            <a:extLst>
              <a:ext uri="{FF2B5EF4-FFF2-40B4-BE49-F238E27FC236}">
                <a16:creationId xmlns:a16="http://schemas.microsoft.com/office/drawing/2014/main" id="{8C96F41B-70AF-C943-A819-019DC2619EFB}"/>
              </a:ext>
            </a:extLst>
          </p:cNvPr>
          <p:cNvSpPr/>
          <p:nvPr/>
        </p:nvSpPr>
        <p:spPr>
          <a:xfrm>
            <a:off x="5486400" y="2105298"/>
            <a:ext cx="3657600" cy="144780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03730D39-26F3-FC48-8D5C-AA4CB4AF84AD}"/>
              </a:ext>
            </a:extLst>
          </p:cNvPr>
          <p:cNvSpPr/>
          <p:nvPr/>
        </p:nvSpPr>
        <p:spPr>
          <a:xfrm>
            <a:off x="1631655" y="2058987"/>
            <a:ext cx="3854745" cy="4295777"/>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3" name="TextBox 12">
            <a:extLst>
              <a:ext uri="{FF2B5EF4-FFF2-40B4-BE49-F238E27FC236}">
                <a16:creationId xmlns:a16="http://schemas.microsoft.com/office/drawing/2014/main" id="{2DAF0D12-6FA4-4F49-8F44-768B6578B9E4}"/>
              </a:ext>
            </a:extLst>
          </p:cNvPr>
          <p:cNvSpPr txBox="1"/>
          <p:nvPr/>
        </p:nvSpPr>
        <p:spPr>
          <a:xfrm>
            <a:off x="1664991" y="6308079"/>
            <a:ext cx="3163687" cy="369332"/>
          </a:xfrm>
          <a:prstGeom prst="rect">
            <a:avLst/>
          </a:prstGeom>
          <a:noFill/>
        </p:spPr>
        <p:txBody>
          <a:bodyPr wrap="none" rtlCol="0">
            <a:spAutoFit/>
          </a:bodyPr>
          <a:lstStyle/>
          <a:p>
            <a:r>
              <a:rPr lang="en-US" dirty="0">
                <a:solidFill>
                  <a:srgbClr val="00B050"/>
                </a:solidFill>
              </a:rPr>
              <a:t>Calculate incidence/prevalence</a:t>
            </a:r>
            <a:r>
              <a:rPr lang="en-US" dirty="0">
                <a:solidFill>
                  <a:schemeClr val="accent2"/>
                </a:solidFill>
              </a:rPr>
              <a:t> </a:t>
            </a:r>
          </a:p>
        </p:txBody>
      </p:sp>
      <p:sp>
        <p:nvSpPr>
          <p:cNvPr id="15" name="Rounded Rectangle 14">
            <a:extLst>
              <a:ext uri="{FF2B5EF4-FFF2-40B4-BE49-F238E27FC236}">
                <a16:creationId xmlns:a16="http://schemas.microsoft.com/office/drawing/2014/main" id="{AE91CEC4-7D1F-D14B-BF9E-9297DC8AE3A5}"/>
              </a:ext>
            </a:extLst>
          </p:cNvPr>
          <p:cNvSpPr/>
          <p:nvPr/>
        </p:nvSpPr>
        <p:spPr>
          <a:xfrm>
            <a:off x="5486399" y="3553098"/>
            <a:ext cx="5073947" cy="2801665"/>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sp>
        <p:nvSpPr>
          <p:cNvPr id="16" name="TextBox 15">
            <a:extLst>
              <a:ext uri="{FF2B5EF4-FFF2-40B4-BE49-F238E27FC236}">
                <a16:creationId xmlns:a16="http://schemas.microsoft.com/office/drawing/2014/main" id="{D491392B-16A8-2A4B-911B-876806AD58DC}"/>
              </a:ext>
            </a:extLst>
          </p:cNvPr>
          <p:cNvSpPr txBox="1"/>
          <p:nvPr/>
        </p:nvSpPr>
        <p:spPr>
          <a:xfrm>
            <a:off x="6093215" y="6308078"/>
            <a:ext cx="2683363" cy="369332"/>
          </a:xfrm>
          <a:prstGeom prst="rect">
            <a:avLst/>
          </a:prstGeom>
          <a:noFill/>
        </p:spPr>
        <p:txBody>
          <a:bodyPr wrap="none" rtlCol="0">
            <a:spAutoFit/>
          </a:bodyPr>
          <a:lstStyle/>
          <a:p>
            <a:r>
              <a:rPr lang="en-US" dirty="0">
                <a:solidFill>
                  <a:srgbClr val="7030A0"/>
                </a:solidFill>
              </a:rPr>
              <a:t>Visualize disease dynamics</a:t>
            </a:r>
          </a:p>
        </p:txBody>
      </p:sp>
    </p:spTree>
    <p:extLst>
      <p:ext uri="{BB962C8B-B14F-4D97-AF65-F5344CB8AC3E}">
        <p14:creationId xmlns:p14="http://schemas.microsoft.com/office/powerpoint/2010/main" val="1938769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of 9/9 Class Activity</a:t>
            </a:r>
          </a:p>
        </p:txBody>
      </p:sp>
      <p:sp>
        <p:nvSpPr>
          <p:cNvPr id="4" name="Slide Number Placeholder 3"/>
          <p:cNvSpPr>
            <a:spLocks noGrp="1"/>
          </p:cNvSpPr>
          <p:nvPr>
            <p:ph type="sldNum" sz="quarter" idx="12"/>
          </p:nvPr>
        </p:nvSpPr>
        <p:spPr/>
        <p:txBody>
          <a:bodyPr/>
          <a:lstStyle/>
          <a:p>
            <a:fld id="{171A6C5B-A11A-470F-8319-62E6F3F410BC}" type="slidenum">
              <a:rPr lang="en-US" smtClean="0"/>
              <a:pPr/>
              <a:t>30</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endParaRPr lang="en-US"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0766967-1D0E-FF40-A8AC-68EEB16543F6}"/>
                  </a:ext>
                </a:extLst>
              </p:cNvPr>
              <p:cNvSpPr txBox="1"/>
              <p:nvPr/>
            </p:nvSpPr>
            <p:spPr>
              <a:xfrm>
                <a:off x="838200" y="1981201"/>
                <a:ext cx="10515600" cy="4247317"/>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When asked to calculate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𝑹</m:t>
                        </m:r>
                      </m:e>
                      <m:sub>
                        <m:r>
                          <a:rPr lang="en-US" b="1" i="1">
                            <a:latin typeface="Cambria Math" panose="02040503050406030204" pitchFamily="18" charset="0"/>
                          </a:rPr>
                          <m:t>𝟎</m:t>
                        </m:r>
                      </m:sub>
                    </m:sSub>
                  </m:oMath>
                </a14:m>
                <a:r>
                  <a:rPr lang="en-US" b="1" dirty="0">
                    <a:latin typeface="Arial" panose="020B0604020202020204" pitchFamily="34" charset="0"/>
                    <a:cs typeface="Arial" panose="020B0604020202020204" pitchFamily="34" charset="0"/>
                  </a:rPr>
                  <a:t> </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Use formula (spreadsheet won’t give you this)</a:t>
                </a:r>
              </a:p>
              <a:p>
                <a:pPr marL="742950" lvl="1"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When asked to find what % masking and vaccination are needed</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Use SIR spreadsheet simulation</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Trial and error</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Common issues:</a:t>
                </a:r>
              </a:p>
              <a:p>
                <a:pPr marL="742950" lvl="1" indent="-285750">
                  <a:buFont typeface="Courier New" panose="02070309020205020404" pitchFamily="49" charset="0"/>
                  <a:buChar char="o"/>
                </a:pPr>
                <a:r>
                  <a:rPr lang="el-GR" dirty="0"/>
                  <a:t>δ</a:t>
                </a:r>
                <a:r>
                  <a:rPr lang="en-US" dirty="0">
                    <a:latin typeface="Arial" panose="020B0604020202020204" pitchFamily="34" charset="0"/>
                    <a:cs typeface="Arial" panose="020B0604020202020204" pitchFamily="34" charset="0"/>
                  </a:rPr>
                  <a:t> is the rate of exit from infection, which includes death </a:t>
                </a:r>
                <a:r>
                  <a:rPr lang="en-US" b="1" dirty="0">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recovery</a:t>
                </a:r>
              </a:p>
              <a:p>
                <a:pPr marL="1200150" lvl="2" indent="-285750">
                  <a:buFont typeface="Wingdings" panose="05000000000000000000" pitchFamily="2" charset="2"/>
                  <a:buChar char="§"/>
                </a:pPr>
                <a:r>
                  <a:rPr lang="en-US" dirty="0">
                    <a:latin typeface="Arial" panose="020B0604020202020204" pitchFamily="34" charset="0"/>
                    <a:cs typeface="Arial" panose="020B0604020202020204" pitchFamily="34" charset="0"/>
                  </a:rPr>
                  <a:t>That means adding the two probabilities</a:t>
                </a:r>
              </a:p>
              <a:p>
                <a:pPr marL="1200150" lvl="2" indent="-285750">
                  <a:buFont typeface="Wingdings" panose="05000000000000000000" pitchFamily="2" charset="2"/>
                  <a:buChar char="§"/>
                </a:pPr>
                <a:r>
                  <a:rPr lang="en-US" dirty="0">
                    <a:latin typeface="Arial" panose="020B0604020202020204" pitchFamily="34" charset="0"/>
                    <a:cs typeface="Arial" panose="020B0604020202020204" pitchFamily="34" charset="0"/>
                  </a:rPr>
                  <a:t>Half of 1 percent = 0.005, not 0.05</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Total who ever got infected by day 75 </a:t>
                </a:r>
              </a:p>
              <a:p>
                <a:pPr lvl="2"/>
                <a:r>
                  <a:rPr lang="en-US" dirty="0">
                    <a:latin typeface="Arial" panose="020B0604020202020204" pitchFamily="34" charset="0"/>
                    <a:cs typeface="Arial" panose="020B0604020202020204" pitchFamily="34" charset="0"/>
                  </a:rPr>
                  <a:t>= Total recovered on day 75 + Total dead on day 75 + Total sick on day 75 </a:t>
                </a:r>
              </a:p>
              <a:p>
                <a:pPr lvl="2"/>
                <a:r>
                  <a:rPr lang="en-US" dirty="0">
                    <a:latin typeface="Arial" panose="020B0604020202020204" pitchFamily="34" charset="0"/>
                    <a:cs typeface="Arial" panose="020B0604020202020204" pitchFamily="34" charset="0"/>
                  </a:rPr>
                  <a:t>= Total population – (Total susceptible on day 75 + Total effectively vaccinated on day 75)</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Efficacy rate of masks is built into the model</a:t>
                </a:r>
              </a:p>
            </p:txBody>
          </p:sp>
        </mc:Choice>
        <mc:Fallback xmlns="">
          <p:sp>
            <p:nvSpPr>
              <p:cNvPr id="14" name="TextBox 13">
                <a:extLst>
                  <a:ext uri="{FF2B5EF4-FFF2-40B4-BE49-F238E27FC236}">
                    <a16:creationId xmlns:a16="http://schemas.microsoft.com/office/drawing/2014/main" id="{E0766967-1D0E-FF40-A8AC-68EEB16543F6}"/>
                  </a:ext>
                </a:extLst>
              </p:cNvPr>
              <p:cNvSpPr txBox="1">
                <a:spLocks noRot="1" noChangeAspect="1" noMove="1" noResize="1" noEditPoints="1" noAdjustHandles="1" noChangeArrowheads="1" noChangeShapeType="1" noTextEdit="1"/>
              </p:cNvSpPr>
              <p:nvPr/>
            </p:nvSpPr>
            <p:spPr>
              <a:xfrm>
                <a:off x="838200" y="1981201"/>
                <a:ext cx="10515600" cy="4247317"/>
              </a:xfrm>
              <a:prstGeom prst="rect">
                <a:avLst/>
              </a:prstGeom>
              <a:blipFill>
                <a:blip r:embed="rId3"/>
                <a:stretch>
                  <a:fillRect l="-406" t="-717" b="-1291"/>
                </a:stretch>
              </a:blipFill>
            </p:spPr>
            <p:txBody>
              <a:bodyPr/>
              <a:lstStyle/>
              <a:p>
                <a:r>
                  <a:rPr lang="en-US">
                    <a:noFill/>
                  </a:rPr>
                  <a:t> </a:t>
                </a:r>
              </a:p>
            </p:txBody>
          </p:sp>
        </mc:Fallback>
      </mc:AlternateContent>
    </p:spTree>
    <p:extLst>
      <p:ext uri="{BB962C8B-B14F-4D97-AF65-F5344CB8AC3E}">
        <p14:creationId xmlns:p14="http://schemas.microsoft.com/office/powerpoint/2010/main" val="1300729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Reminders</a:t>
            </a:r>
          </a:p>
        </p:txBody>
      </p:sp>
      <p:sp>
        <p:nvSpPr>
          <p:cNvPr id="3" name="Content Placeholder 2">
            <a:extLst>
              <a:ext uri="{FF2B5EF4-FFF2-40B4-BE49-F238E27FC236}">
                <a16:creationId xmlns:a16="http://schemas.microsoft.com/office/drawing/2014/main" id="{E77921D4-361C-5893-B0A5-B200F21385ED}"/>
              </a:ext>
            </a:extLst>
          </p:cNvPr>
          <p:cNvSpPr>
            <a:spLocks noGrp="1"/>
          </p:cNvSpPr>
          <p:nvPr>
            <p:ph idx="1"/>
          </p:nvPr>
        </p:nvSpPr>
        <p:spPr/>
        <p:txBody>
          <a:bodyPr/>
          <a:lstStyle/>
          <a:p>
            <a:pPr>
              <a:lnSpc>
                <a:spcPct val="100000"/>
              </a:lnSpc>
              <a:spcBef>
                <a:spcPts val="1600"/>
              </a:spcBef>
            </a:pPr>
            <a:r>
              <a:rPr lang="en-US" dirty="0"/>
              <a:t>Unit assignment 1 given out </a:t>
            </a:r>
            <a:r>
              <a:rPr lang="en-US" b="1" dirty="0"/>
              <a:t>Tuesday, September 8</a:t>
            </a:r>
            <a:r>
              <a:rPr lang="en-US" b="1" baseline="30000" dirty="0"/>
              <a:t>th</a:t>
            </a:r>
          </a:p>
          <a:p>
            <a:pPr>
              <a:lnSpc>
                <a:spcPct val="100000"/>
              </a:lnSpc>
              <a:spcBef>
                <a:spcPts val="1600"/>
              </a:spcBef>
            </a:pPr>
            <a:r>
              <a:rPr lang="en-US" dirty="0"/>
              <a:t>We will </a:t>
            </a:r>
            <a:r>
              <a:rPr lang="en-US"/>
              <a:t>collect Unit 1 preferences </a:t>
            </a:r>
            <a:r>
              <a:rPr lang="en-US" dirty="0"/>
              <a:t>(Harvard/Louisiana) due </a:t>
            </a:r>
            <a:r>
              <a:rPr lang="en-US" b="1" dirty="0"/>
              <a:t>Tuesday, September 15</a:t>
            </a:r>
            <a:r>
              <a:rPr lang="en-US" b="1" baseline="30000" dirty="0"/>
              <a:t>th</a:t>
            </a:r>
            <a:r>
              <a:rPr lang="en-US" b="1" dirty="0"/>
              <a:t> at 5pm EST</a:t>
            </a:r>
            <a:endParaRPr lang="en-US" dirty="0"/>
          </a:p>
          <a:p>
            <a:pPr>
              <a:lnSpc>
                <a:spcPct val="100000"/>
              </a:lnSpc>
              <a:spcBef>
                <a:spcPts val="1600"/>
              </a:spcBef>
            </a:pPr>
            <a:r>
              <a:rPr lang="en-US" dirty="0"/>
              <a:t>Problem Set 1 handed out </a:t>
            </a:r>
            <a:r>
              <a:rPr lang="en-US" b="1" dirty="0"/>
              <a:t>Thursday, September 10th </a:t>
            </a:r>
          </a:p>
          <a:p>
            <a:pPr>
              <a:lnSpc>
                <a:spcPct val="100000"/>
              </a:lnSpc>
              <a:spcBef>
                <a:spcPts val="1600"/>
              </a:spcBef>
            </a:pPr>
            <a:r>
              <a:rPr lang="en-US" dirty="0"/>
              <a:t>Problem Set 1 due </a:t>
            </a:r>
            <a:r>
              <a:rPr lang="en-US" b="1" dirty="0"/>
              <a:t>Monday, September 21</a:t>
            </a:r>
            <a:r>
              <a:rPr lang="en-US" b="1" baseline="30000" dirty="0"/>
              <a:t>st</a:t>
            </a:r>
            <a:r>
              <a:rPr lang="en-US" b="1" dirty="0"/>
              <a:t> at 5pm EST</a:t>
            </a:r>
            <a:r>
              <a:rPr lang="en-US" dirty="0"/>
              <a:t> </a:t>
            </a:r>
          </a:p>
          <a:p>
            <a:pPr>
              <a:lnSpc>
                <a:spcPct val="100000"/>
              </a:lnSpc>
              <a:spcBef>
                <a:spcPts val="1600"/>
              </a:spcBef>
            </a:pPr>
            <a:r>
              <a:rPr lang="en-US" dirty="0"/>
              <a:t>Unit 1 assignment due </a:t>
            </a:r>
            <a:r>
              <a:rPr lang="en-US" b="1" dirty="0"/>
              <a:t>Friday, September 25 at 5pm EST</a:t>
            </a: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31</a:t>
            </a:fld>
            <a:endParaRPr lang="en-US"/>
          </a:p>
        </p:txBody>
      </p:sp>
    </p:spTree>
    <p:extLst>
      <p:ext uri="{BB962C8B-B14F-4D97-AF65-F5344CB8AC3E}">
        <p14:creationId xmlns:p14="http://schemas.microsoft.com/office/powerpoint/2010/main" val="184825433"/>
      </p:ext>
    </p:extLst>
  </p:cSld>
  <p:clrMapOvr>
    <a:masterClrMapping/>
  </p:clrMapOvr>
</p:sld>
</file>

<file path=ppt/theme/theme1.xml><?xml version="1.0" encoding="utf-8"?>
<a:theme xmlns:a="http://schemas.openxmlformats.org/drawingml/2006/main" name="Office Theme">
  <a:themeElements>
    <a:clrScheme name="Custom 8">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5392"/>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5686</TotalTime>
  <Words>4417</Words>
  <Application>Microsoft Macintosh PowerPoint</Application>
  <PresentationFormat>Widescreen</PresentationFormat>
  <Paragraphs>408</Paragraphs>
  <Slides>31</Slides>
  <Notes>26</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Cambria Math</vt:lpstr>
      <vt:lpstr>Courier New</vt:lpstr>
      <vt:lpstr>Times New Roman</vt:lpstr>
      <vt:lpstr>Wingdings</vt:lpstr>
      <vt:lpstr>Office Theme</vt:lpstr>
      <vt:lpstr>Welcome to GENED 1079 Section!</vt:lpstr>
      <vt:lpstr>Agenda</vt:lpstr>
      <vt:lpstr>Agenda</vt:lpstr>
      <vt:lpstr>Agenda</vt:lpstr>
      <vt:lpstr>Agenda</vt:lpstr>
      <vt:lpstr>Why Model Epidemics?</vt:lpstr>
      <vt:lpstr>Why Model Epidemics?</vt:lpstr>
      <vt:lpstr>Modeling Epidemics: Refresher</vt:lpstr>
      <vt:lpstr>Modeling Epidemics: Refresher</vt:lpstr>
      <vt:lpstr>Modeling Epidemics: Refresher</vt:lpstr>
      <vt:lpstr>Modeling Epidemics: Refresher</vt:lpstr>
      <vt:lpstr>Modeling Epidemics: Refresher</vt:lpstr>
      <vt:lpstr>Modeling Epidemics: Refresher</vt:lpstr>
      <vt:lpstr>Modeling Epidemics: Key Abbreviations</vt:lpstr>
      <vt:lpstr>Modeling Epidemics: Refresher</vt:lpstr>
      <vt:lpstr>Modeling Epidemics: Refresher</vt:lpstr>
      <vt:lpstr>Modeling Epidemics: Refresher</vt:lpstr>
      <vt:lpstr>Modeling Epidemics: Refresher</vt:lpstr>
      <vt:lpstr>Agenda</vt:lpstr>
      <vt:lpstr>Group Exercise: Review of β, N, and δ </vt:lpstr>
      <vt:lpstr>Group Exercise: Review of β, N, and δ </vt:lpstr>
      <vt:lpstr>Group Exercise: Review of β, N, and δ </vt:lpstr>
      <vt:lpstr>Group Exercise: Review of β, N, and δ </vt:lpstr>
      <vt:lpstr>Group Exercise: Review of β, N, and δ </vt:lpstr>
      <vt:lpstr>Resources for Infectious Diseases Around the World:</vt:lpstr>
      <vt:lpstr>Group Exercise: Review of β, N, and δ </vt:lpstr>
      <vt:lpstr>Agenda</vt:lpstr>
      <vt:lpstr>When will disease spread? - Refresher</vt:lpstr>
      <vt:lpstr>Review of SIR Spreadsheet</vt:lpstr>
      <vt:lpstr>Review of 9/9 Class Activity</vt:lpstr>
      <vt:lpstr>Reminders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Epidemics</dc:title>
  <dc:creator>David Cutler</dc:creator>
  <cp:lastModifiedBy>Jhang, Janice</cp:lastModifiedBy>
  <cp:revision>148</cp:revision>
  <dcterms:created xsi:type="dcterms:W3CDTF">2020-08-12T16:21:11Z</dcterms:created>
  <dcterms:modified xsi:type="dcterms:W3CDTF">2026-09-23T19:15:03Z</dcterms:modified>
</cp:coreProperties>
</file>